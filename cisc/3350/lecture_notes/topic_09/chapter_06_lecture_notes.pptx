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9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3" r:id="rId38"/>
    <p:sldId id="291" r:id="rId3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924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35175" y="2132428"/>
            <a:ext cx="8121649" cy="176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23469"/>
            <a:ext cx="670623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1225" y="1729745"/>
            <a:ext cx="10369549" cy="4070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66438" y="6464985"/>
            <a:ext cx="36607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.brooklyn.cuny.edu/~briskman/cisc/3320/lecture_notes/topic_05/concurrency_vs_parallelism.gif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6893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2905"/>
              </a:spcBef>
            </a:pPr>
            <a:r>
              <a:rPr spc="-35" dirty="0"/>
              <a:t>Linux </a:t>
            </a:r>
            <a:r>
              <a:rPr spc="-80" dirty="0"/>
              <a:t>System</a:t>
            </a:r>
            <a:r>
              <a:rPr spc="-265" dirty="0"/>
              <a:t> </a:t>
            </a:r>
            <a:r>
              <a:rPr spc="-80" dirty="0"/>
              <a:t>Programming</a:t>
            </a:r>
          </a:p>
          <a:p>
            <a:pPr marL="8255" marR="3175" algn="ctr">
              <a:lnSpc>
                <a:spcPct val="100000"/>
              </a:lnSpc>
              <a:spcBef>
                <a:spcPts val="1025"/>
              </a:spcBef>
            </a:pPr>
            <a:r>
              <a:rPr sz="2200" b="0" spc="-30" dirty="0">
                <a:solidFill>
                  <a:srgbClr val="000000"/>
                </a:solidFill>
                <a:latin typeface="Calibri"/>
                <a:cs typeface="Calibri"/>
              </a:rPr>
              <a:t>Talking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directly </a:t>
            </a:r>
            <a:r>
              <a:rPr sz="2200" b="0" spc="-20" dirty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sz="2200" b="0" spc="-15" dirty="0">
                <a:solidFill>
                  <a:srgbClr val="000000"/>
                </a:solidFill>
                <a:latin typeface="Calibri"/>
                <a:cs typeface="Calibri"/>
              </a:rPr>
              <a:t>kernel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and C</a:t>
            </a:r>
            <a:r>
              <a:rPr sz="2200" b="0" spc="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library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90825" y="4534027"/>
            <a:ext cx="66090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"/>
                <a:cs typeface="Calibri"/>
              </a:rPr>
              <a:t>Advanced </a:t>
            </a:r>
            <a:r>
              <a:rPr sz="4000" spc="-15" dirty="0">
                <a:latin typeface="Calibri"/>
                <a:cs typeface="Calibri"/>
              </a:rPr>
              <a:t>Process</a:t>
            </a:r>
            <a:r>
              <a:rPr sz="4000" spc="-6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Management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251EC-EDE1-DA67-0EF9-D84820384BF0}"/>
              </a:ext>
            </a:extLst>
          </p:cNvPr>
          <p:cNvSpPr txBox="1"/>
          <p:nvPr/>
        </p:nvSpPr>
        <p:spPr>
          <a:xfrm>
            <a:off x="2776854" y="6019800"/>
            <a:ext cx="663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Adapted from slides of </a:t>
            </a:r>
            <a:r>
              <a:rPr lang="en-US" b="1" dirty="0"/>
              <a:t>Professor Yongqing Xiang </a:t>
            </a:r>
            <a:r>
              <a:rPr lang="en-US" dirty="0"/>
              <a:t>of Brooklyn College.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4359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Ch6 </a:t>
            </a:r>
            <a:r>
              <a:rPr dirty="0"/>
              <a:t>– </a:t>
            </a:r>
            <a:r>
              <a:rPr spc="-45" dirty="0"/>
              <a:t>Advanced </a:t>
            </a:r>
            <a:r>
              <a:rPr spc="-50" dirty="0"/>
              <a:t>Process</a:t>
            </a:r>
            <a:r>
              <a:rPr spc="-310" dirty="0"/>
              <a:t> </a:t>
            </a:r>
            <a:r>
              <a:rPr spc="-5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73377"/>
            <a:ext cx="10589261" cy="4180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Process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Scheduling</a:t>
            </a:r>
            <a:endParaRPr sz="2400" dirty="0">
              <a:latin typeface="Calibri"/>
              <a:cs typeface="Calibri"/>
            </a:endParaRPr>
          </a:p>
          <a:p>
            <a:pPr marL="698500" marR="171450" lvl="1" indent="-228600">
              <a:lnSpc>
                <a:spcPct val="80000"/>
              </a:lnSpc>
              <a:spcBef>
                <a:spcPts val="52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i="1" spc="-5" dirty="0">
                <a:latin typeface="Calibri"/>
                <a:cs typeface="Calibri"/>
              </a:rPr>
              <a:t>process scheduler </a:t>
            </a:r>
            <a:r>
              <a:rPr sz="2000" dirty="0">
                <a:latin typeface="Calibri"/>
                <a:cs typeface="Calibri"/>
              </a:rPr>
              <a:t>is the </a:t>
            </a:r>
            <a:r>
              <a:rPr sz="2000" spc="-10" dirty="0">
                <a:latin typeface="Calibri"/>
                <a:cs typeface="Calibri"/>
              </a:rPr>
              <a:t>kernel </a:t>
            </a:r>
            <a:r>
              <a:rPr sz="2000" spc="-15" dirty="0">
                <a:latin typeface="Calibri"/>
                <a:cs typeface="Calibri"/>
              </a:rPr>
              <a:t>subsystem </a:t>
            </a:r>
            <a:r>
              <a:rPr lang="en-US" sz="2000" spc="-15" dirty="0">
                <a:latin typeface="Calibri"/>
                <a:cs typeface="Calibri"/>
              </a:rPr>
              <a:t>software </a:t>
            </a:r>
            <a:r>
              <a:rPr sz="2000" spc="-5" dirty="0">
                <a:latin typeface="Calibri"/>
                <a:cs typeface="Calibri"/>
              </a:rPr>
              <a:t>that </a:t>
            </a:r>
            <a:r>
              <a:rPr sz="2000" dirty="0">
                <a:latin typeface="Calibri"/>
                <a:cs typeface="Calibri"/>
              </a:rPr>
              <a:t>divides </a:t>
            </a:r>
            <a:r>
              <a:rPr sz="2000" spc="-10" dirty="0">
                <a:latin typeface="Calibri"/>
                <a:cs typeface="Calibri"/>
              </a:rPr>
              <a:t>processor </a:t>
            </a:r>
            <a:r>
              <a:rPr sz="2000" spc="-5" dirty="0">
                <a:latin typeface="Calibri"/>
                <a:cs typeface="Calibri"/>
              </a:rPr>
              <a:t>time </a:t>
            </a:r>
            <a:r>
              <a:rPr sz="2000" dirty="0">
                <a:latin typeface="Calibri"/>
                <a:cs typeface="Calibri"/>
              </a:rPr>
              <a:t>among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system’s </a:t>
            </a:r>
            <a:r>
              <a:rPr sz="2000" spc="-10" dirty="0">
                <a:latin typeface="Calibri"/>
                <a:cs typeface="Calibri"/>
              </a:rPr>
              <a:t>processes</a:t>
            </a:r>
            <a:r>
              <a:rPr lang="en-US" sz="2000" spc="-10" dirty="0">
                <a:latin typeface="Calibri"/>
                <a:cs typeface="Calibri"/>
              </a:rPr>
              <a:t>,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spc="-5" dirty="0">
                <a:latin typeface="Calibri"/>
                <a:cs typeface="Calibri"/>
              </a:rPr>
              <a:t>It is r</a:t>
            </a:r>
            <a:r>
              <a:rPr sz="2000" spc="-5" dirty="0">
                <a:latin typeface="Calibri"/>
                <a:cs typeface="Calibri"/>
              </a:rPr>
              <a:t>esponsible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maximizing processor </a:t>
            </a:r>
            <a:r>
              <a:rPr sz="2000" spc="-5" dirty="0">
                <a:latin typeface="Calibri"/>
                <a:cs typeface="Calibri"/>
              </a:rPr>
              <a:t>usage,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</a:p>
          <a:p>
            <a:pPr marL="698500" lvl="1" indent="-22923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spc="-10" dirty="0">
                <a:latin typeface="Calibri"/>
                <a:cs typeface="Calibri"/>
              </a:rPr>
              <a:t>It p</a:t>
            </a:r>
            <a:r>
              <a:rPr sz="2000" spc="-10" dirty="0">
                <a:latin typeface="Calibri"/>
                <a:cs typeface="Calibri"/>
              </a:rPr>
              <a:t>roviding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illusion that multiple </a:t>
            </a:r>
            <a:r>
              <a:rPr sz="2000" spc="-10" dirty="0">
                <a:latin typeface="Calibri"/>
                <a:cs typeface="Calibri"/>
              </a:rPr>
              <a:t>processes are </a:t>
            </a:r>
            <a:r>
              <a:rPr sz="2000" dirty="0">
                <a:latin typeface="Calibri"/>
                <a:cs typeface="Calibri"/>
              </a:rPr>
              <a:t>running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concurrently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Runnable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 </a:t>
            </a:r>
            <a:r>
              <a:rPr sz="2000" i="1" dirty="0">
                <a:latin typeface="Calibri"/>
                <a:cs typeface="Calibri"/>
              </a:rPr>
              <a:t>runnable </a:t>
            </a:r>
            <a:r>
              <a:rPr sz="2000" i="1" spc="-10" dirty="0">
                <a:latin typeface="Calibri"/>
                <a:cs typeface="Calibri"/>
              </a:rPr>
              <a:t>process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5" dirty="0">
                <a:latin typeface="Calibri"/>
                <a:cs typeface="Calibri"/>
              </a:rPr>
              <a:t>one </a:t>
            </a:r>
            <a:r>
              <a:rPr sz="2000" spc="-15" dirty="0">
                <a:latin typeface="Calibri"/>
                <a:cs typeface="Calibri"/>
              </a:rPr>
              <a:t>that’s </a:t>
            </a:r>
            <a:r>
              <a:rPr sz="2000" spc="-5" dirty="0">
                <a:latin typeface="Calibri"/>
                <a:cs typeface="Calibri"/>
              </a:rPr>
              <a:t>not</a:t>
            </a:r>
            <a:r>
              <a:rPr sz="2000" spc="-10" dirty="0">
                <a:latin typeface="Calibri"/>
                <a:cs typeface="Calibri"/>
              </a:rPr>
              <a:t> blocked</a:t>
            </a:r>
            <a:r>
              <a:rPr lang="en-US" sz="2000" spc="-10" dirty="0">
                <a:latin typeface="Calibri"/>
                <a:cs typeface="Calibri"/>
              </a:rPr>
              <a:t> (not waiting for I/O, e.g., keyboard input.)</a:t>
            </a:r>
            <a:endParaRPr sz="2000" dirty="0">
              <a:latin typeface="Calibri"/>
              <a:cs typeface="Calibri"/>
            </a:endParaRPr>
          </a:p>
          <a:p>
            <a:pPr marL="698500" marR="539115" lvl="1" indent="-228600">
              <a:lnSpc>
                <a:spcPct val="8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0" dirty="0">
                <a:latin typeface="Calibri"/>
                <a:cs typeface="Calibri"/>
              </a:rPr>
              <a:t>Processes </a:t>
            </a:r>
            <a:r>
              <a:rPr sz="2000" spc="-5" dirty="0">
                <a:latin typeface="Calibri"/>
                <a:cs typeface="Calibri"/>
              </a:rPr>
              <a:t>that </a:t>
            </a:r>
            <a:r>
              <a:rPr sz="2000" spc="-15" dirty="0">
                <a:latin typeface="Calibri"/>
                <a:cs typeface="Calibri"/>
              </a:rPr>
              <a:t>interact </a:t>
            </a:r>
            <a:r>
              <a:rPr sz="2000" spc="-5" dirty="0">
                <a:latin typeface="Calibri"/>
                <a:cs typeface="Calibri"/>
              </a:rPr>
              <a:t>with </a:t>
            </a:r>
            <a:r>
              <a:rPr sz="2000" spc="-15" dirty="0">
                <a:latin typeface="Calibri"/>
                <a:cs typeface="Calibri"/>
              </a:rPr>
              <a:t>users, </a:t>
            </a:r>
            <a:r>
              <a:rPr sz="2000" spc="-5" dirty="0">
                <a:latin typeface="Calibri"/>
                <a:cs typeface="Calibri"/>
              </a:rPr>
              <a:t>read/write files, respond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network events are often  blocked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lang="en-US" sz="2000" dirty="0">
                <a:latin typeface="Calibri"/>
                <a:cs typeface="Calibri"/>
              </a:rPr>
              <a:t>and are, therefore,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runnable</a:t>
            </a:r>
            <a:r>
              <a:rPr lang="en-US" sz="2000" dirty="0">
                <a:latin typeface="Calibri"/>
                <a:cs typeface="Calibri"/>
              </a:rPr>
              <a:t>.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marL="241300" indent="-228600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scheduler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essential </a:t>
            </a:r>
            <a:r>
              <a:rPr sz="2400" dirty="0">
                <a:latin typeface="Calibri"/>
                <a:cs typeface="Calibri"/>
              </a:rPr>
              <a:t>when </a:t>
            </a:r>
            <a:r>
              <a:rPr sz="2400" spc="-10" dirty="0">
                <a:latin typeface="Calibri"/>
                <a:cs typeface="Calibri"/>
              </a:rPr>
              <a:t>there are more </a:t>
            </a:r>
            <a:r>
              <a:rPr sz="2400" spc="-5" dirty="0">
                <a:latin typeface="Calibri"/>
                <a:cs typeface="Calibri"/>
              </a:rPr>
              <a:t>runnable </a:t>
            </a: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processors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spc="-5" dirty="0">
                <a:latin typeface="Calibri"/>
                <a:cs typeface="Calibri"/>
              </a:rPr>
              <a:t>It d</a:t>
            </a:r>
            <a:r>
              <a:rPr sz="2000" spc="-5" dirty="0">
                <a:latin typeface="Calibri"/>
                <a:cs typeface="Calibri"/>
              </a:rPr>
              <a:t>ecid</a:t>
            </a:r>
            <a:r>
              <a:rPr lang="en-US" sz="2000" spc="-5" dirty="0">
                <a:latin typeface="Calibri"/>
                <a:cs typeface="Calibri"/>
              </a:rPr>
              <a:t>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 </a:t>
            </a:r>
            <a:r>
              <a:rPr sz="2000" spc="-10" dirty="0">
                <a:latin typeface="Calibri"/>
                <a:cs typeface="Calibri"/>
              </a:rPr>
              <a:t>processes </a:t>
            </a:r>
            <a:r>
              <a:rPr sz="2000" dirty="0">
                <a:latin typeface="Calibri"/>
                <a:cs typeface="Calibri"/>
              </a:rPr>
              <a:t>run, when, and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5" dirty="0">
                <a:latin typeface="Calibri"/>
                <a:cs typeface="Calibri"/>
              </a:rPr>
              <a:t>how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long</a:t>
            </a:r>
            <a:r>
              <a:rPr lang="en-US" sz="200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alibri"/>
                <a:cs typeface="Calibri"/>
              </a:rPr>
              <a:t>On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single-</a:t>
            </a:r>
            <a:r>
              <a:rPr lang="en-US" sz="2000" spc="-10" dirty="0">
                <a:latin typeface="Calibri"/>
                <a:cs typeface="Calibri"/>
              </a:rPr>
              <a:t>CPU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machine, </a:t>
            </a:r>
            <a:r>
              <a:rPr sz="2000" spc="-5" dirty="0">
                <a:latin typeface="Calibri"/>
                <a:cs typeface="Calibri"/>
              </a:rPr>
              <a:t>multitasking </a:t>
            </a:r>
            <a:r>
              <a:rPr sz="2000" spc="-15" dirty="0">
                <a:latin typeface="Calibri"/>
                <a:cs typeface="Calibri"/>
              </a:rPr>
              <a:t>interleaves </a:t>
            </a:r>
            <a:r>
              <a:rPr lang="en-US" sz="2000" spc="-15" dirty="0">
                <a:latin typeface="Calibri"/>
                <a:cs typeface="Calibri"/>
              </a:rPr>
              <a:t>(switches) </a:t>
            </a:r>
            <a:r>
              <a:rPr sz="2000" spc="-10" dirty="0">
                <a:latin typeface="Calibri"/>
                <a:cs typeface="Calibri"/>
              </a:rPr>
              <a:t>execution </a:t>
            </a:r>
            <a:r>
              <a:rPr sz="2000" spc="-5" dirty="0">
                <a:latin typeface="Calibri"/>
                <a:cs typeface="Calibri"/>
              </a:rPr>
              <a:t>of multiple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processes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On a </a:t>
            </a:r>
            <a:r>
              <a:rPr sz="2000" spc="-5" dirty="0">
                <a:latin typeface="Calibri"/>
                <a:cs typeface="Calibri"/>
              </a:rPr>
              <a:t>multiprocessor </a:t>
            </a:r>
            <a:r>
              <a:rPr sz="2000" dirty="0">
                <a:latin typeface="Calibri"/>
                <a:cs typeface="Calibri"/>
              </a:rPr>
              <a:t>machine, </a:t>
            </a:r>
            <a:r>
              <a:rPr sz="2000" spc="-10" dirty="0">
                <a:latin typeface="Calibri"/>
                <a:cs typeface="Calibri"/>
              </a:rPr>
              <a:t>processes </a:t>
            </a:r>
            <a:r>
              <a:rPr lang="en-US" sz="2000" spc="-10" dirty="0">
                <a:latin typeface="Calibri"/>
                <a:cs typeface="Calibri"/>
              </a:rPr>
              <a:t>can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run in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parallel</a:t>
            </a:r>
            <a:r>
              <a:rPr lang="en-US" sz="2000" spc="-10" dirty="0">
                <a:latin typeface="Calibri"/>
                <a:cs typeface="Calibri"/>
              </a:rPr>
              <a:t>!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4359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Ch6 </a:t>
            </a:r>
            <a:r>
              <a:rPr dirty="0"/>
              <a:t>– </a:t>
            </a:r>
            <a:r>
              <a:rPr spc="-45" dirty="0"/>
              <a:t>Advanced </a:t>
            </a:r>
            <a:r>
              <a:rPr spc="-50" dirty="0"/>
              <a:t>Process</a:t>
            </a:r>
            <a:r>
              <a:rPr spc="-310" dirty="0"/>
              <a:t> </a:t>
            </a:r>
            <a:r>
              <a:rPr spc="-50" dirty="0"/>
              <a:t>Management</a:t>
            </a:r>
          </a:p>
        </p:txBody>
      </p:sp>
      <p:pic>
        <p:nvPicPr>
          <p:cNvPr id="1026" name="Picture 2" descr="Concurrency vs. Parallelism of processes.">
            <a:extLst>
              <a:ext uri="{FF2B5EF4-FFF2-40B4-BE49-F238E27FC236}">
                <a16:creationId xmlns:a16="http://schemas.microsoft.com/office/drawing/2014/main" id="{D9DBF8C2-E4F9-F660-5942-329CC4992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8300"/>
            <a:ext cx="12192000" cy="30099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3DEA8A-A387-BE24-A08C-9B44760FCF38}"/>
              </a:ext>
            </a:extLst>
          </p:cNvPr>
          <p:cNvSpPr txBox="1"/>
          <p:nvPr/>
        </p:nvSpPr>
        <p:spPr>
          <a:xfrm>
            <a:off x="838200" y="4800600"/>
            <a:ext cx="106680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the above GIF file doesn’t play within your version of PowerPoint, you may instead play this GIF via the browser by opening: </a:t>
            </a:r>
            <a:r>
              <a:rPr lang="en-US" sz="2400" dirty="0">
                <a:hlinkClick r:id="rId3"/>
              </a:rPr>
              <a:t>https://www.sci.brooklyn.cuny.edu/~briskman/cisc/3320/lecture_notes/topic_05/concurrency_vs_parallelism.gif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229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9306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Multitasking: </a:t>
            </a:r>
            <a:r>
              <a:rPr spc="-50" dirty="0"/>
              <a:t>Cooperative </a:t>
            </a:r>
            <a:r>
              <a:rPr spc="-15" dirty="0"/>
              <a:t>or</a:t>
            </a:r>
            <a:r>
              <a:rPr spc="-195" dirty="0"/>
              <a:t> </a:t>
            </a:r>
            <a:r>
              <a:rPr spc="-50" dirty="0"/>
              <a:t>Preemptive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661"/>
            <a:ext cx="11122661" cy="44320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33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i="1" spc="-10" dirty="0">
                <a:latin typeface="Calibri"/>
                <a:cs typeface="Calibri"/>
              </a:rPr>
              <a:t>cooperative</a:t>
            </a:r>
            <a:r>
              <a:rPr sz="2800" i="1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multitasking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doesn’t </a:t>
            </a:r>
            <a:r>
              <a:rPr sz="2400" spc="-20" dirty="0">
                <a:latin typeface="Calibri"/>
                <a:cs typeface="Calibri"/>
              </a:rPr>
              <a:t>stop </a:t>
            </a:r>
            <a:r>
              <a:rPr sz="2400" dirty="0">
                <a:latin typeface="Calibri"/>
                <a:cs typeface="Calibri"/>
              </a:rPr>
              <a:t>running </a:t>
            </a:r>
            <a:r>
              <a:rPr sz="2400" spc="-10" dirty="0">
                <a:latin typeface="Calibri"/>
                <a:cs typeface="Calibri"/>
              </a:rPr>
              <a:t>until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10" dirty="0">
                <a:latin typeface="Calibri"/>
                <a:cs typeface="Calibri"/>
              </a:rPr>
              <a:t>voluntarily </a:t>
            </a:r>
            <a:r>
              <a:rPr sz="2400" spc="-5" dirty="0">
                <a:latin typeface="Calibri"/>
                <a:cs typeface="Calibri"/>
              </a:rPr>
              <a:t>decides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lang="en-US" sz="2400" spc="-15" dirty="0">
                <a:latin typeface="Calibri"/>
                <a:cs typeface="Calibri"/>
              </a:rPr>
              <a:t>pause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i="1" dirty="0">
                <a:latin typeface="Calibri"/>
                <a:cs typeface="Calibri"/>
              </a:rPr>
              <a:t>yield</a:t>
            </a:r>
            <a:r>
              <a:rPr lang="en-US" sz="2400" dirty="0">
                <a:latin typeface="Calibri"/>
                <a:cs typeface="Calibri"/>
              </a:rPr>
              <a:t>.</a:t>
            </a:r>
            <a:r>
              <a:rPr sz="2400" dirty="0">
                <a:latin typeface="Calibri"/>
                <a:cs typeface="Calibri"/>
              </a:rPr>
              <a:t>)</a:t>
            </a:r>
          </a:p>
          <a:p>
            <a:pPr marL="698500" lvl="1" indent="-229235">
              <a:lnSpc>
                <a:spcPts val="2800"/>
              </a:lnSpc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Ideally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dirty="0">
                <a:latin typeface="Calibri"/>
                <a:cs typeface="Calibri"/>
              </a:rPr>
              <a:t>yield </a:t>
            </a:r>
            <a:r>
              <a:rPr sz="2400" spc="-10" dirty="0">
                <a:latin typeface="Calibri"/>
                <a:cs typeface="Calibri"/>
              </a:rPr>
              <a:t>often, </a:t>
            </a:r>
            <a:r>
              <a:rPr sz="2400" spc="-5" dirty="0">
                <a:latin typeface="Calibri"/>
                <a:cs typeface="Calibri"/>
              </a:rPr>
              <a:t>but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OS can’t </a:t>
            </a:r>
            <a:r>
              <a:rPr sz="2400" spc="-15" dirty="0">
                <a:latin typeface="Calibri"/>
                <a:cs typeface="Calibri"/>
              </a:rPr>
              <a:t>enforce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lang="en-US" sz="2400" dirty="0">
                <a:latin typeface="Calibri"/>
                <a:cs typeface="Calibri"/>
              </a:rPr>
              <a:t>E.g., a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broken </a:t>
            </a:r>
            <a:r>
              <a:rPr sz="2400" spc="-15" dirty="0">
                <a:latin typeface="Calibri"/>
                <a:cs typeface="Calibri"/>
              </a:rPr>
              <a:t>program </a:t>
            </a:r>
            <a:r>
              <a:rPr sz="2400" spc="-10" dirty="0">
                <a:latin typeface="Calibri"/>
                <a:cs typeface="Calibri"/>
              </a:rPr>
              <a:t>could </a:t>
            </a:r>
            <a:r>
              <a:rPr sz="2400" dirty="0">
                <a:latin typeface="Calibri"/>
                <a:cs typeface="Calibri"/>
              </a:rPr>
              <a:t>run </a:t>
            </a:r>
            <a:r>
              <a:rPr sz="2400" spc="-10" dirty="0">
                <a:latin typeface="Calibri"/>
                <a:cs typeface="Calibri"/>
              </a:rPr>
              <a:t>indefinitely </a:t>
            </a:r>
            <a:r>
              <a:rPr lang="en-US" sz="2400" spc="-10" dirty="0">
                <a:latin typeface="Calibri"/>
                <a:cs typeface="Calibri"/>
              </a:rPr>
              <a:t>(e.g., using </a:t>
            </a:r>
            <a:r>
              <a:rPr lang="en-US" sz="2000" dirty="0">
                <a:solidFill>
                  <a:srgbClr val="0070C0"/>
                </a:solidFill>
                <a:latin typeface="Consolas"/>
                <a:cs typeface="Consolas"/>
              </a:rPr>
              <a:t>while(1)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;</a:t>
            </a:r>
            <a:r>
              <a:rPr lang="en-US" sz="2400" spc="-10" dirty="0">
                <a:latin typeface="Calibri"/>
                <a:cs typeface="Calibri"/>
              </a:rPr>
              <a:t>)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bring </a:t>
            </a:r>
            <a:r>
              <a:rPr sz="2400" spc="-10" dirty="0">
                <a:latin typeface="Calibri"/>
                <a:cs typeface="Calibri"/>
              </a:rPr>
              <a:t>down </a:t>
            </a:r>
            <a:r>
              <a:rPr sz="2400" dirty="0">
                <a:latin typeface="Calibri"/>
                <a:cs typeface="Calibri"/>
              </a:rPr>
              <a:t>the whole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lang="en-US"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45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Modern </a:t>
            </a:r>
            <a:r>
              <a:rPr lang="en-US" sz="2400" spc="-45" dirty="0">
                <a:latin typeface="Calibri"/>
                <a:cs typeface="Calibri"/>
              </a:rPr>
              <a:t>Operating System</a:t>
            </a:r>
            <a:r>
              <a:rPr sz="2400" spc="-45" dirty="0">
                <a:latin typeface="Calibri"/>
                <a:cs typeface="Calibri"/>
              </a:rPr>
              <a:t>s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almost </a:t>
            </a:r>
            <a:r>
              <a:rPr sz="2400" spc="-15" dirty="0">
                <a:latin typeface="Calibri"/>
                <a:cs typeface="Calibri"/>
              </a:rPr>
              <a:t>always </a:t>
            </a:r>
            <a:r>
              <a:rPr sz="2400" spc="-10" dirty="0">
                <a:latin typeface="Calibri"/>
                <a:cs typeface="Calibri"/>
              </a:rPr>
              <a:t>preemptively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multitasked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3329"/>
              </a:lnSpc>
              <a:spcBef>
                <a:spcPts val="3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Linux implements </a:t>
            </a:r>
            <a:r>
              <a:rPr sz="2800" i="1" spc="-5" dirty="0">
                <a:latin typeface="Calibri"/>
                <a:cs typeface="Calibri"/>
              </a:rPr>
              <a:t>preemptive</a:t>
            </a:r>
            <a:r>
              <a:rPr sz="2800" i="1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multitasking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Scheduler decides </a:t>
            </a:r>
            <a:r>
              <a:rPr sz="2400" dirty="0">
                <a:latin typeface="Calibri"/>
                <a:cs typeface="Calibri"/>
              </a:rPr>
              <a:t>when a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lang="en-US" sz="2400" dirty="0">
                <a:latin typeface="Calibri"/>
                <a:cs typeface="Calibri"/>
              </a:rPr>
              <a:t>must pause,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another </a:t>
            </a:r>
            <a:r>
              <a:rPr lang="en-US" sz="2400" dirty="0">
                <a:latin typeface="Calibri"/>
                <a:cs typeface="Calibri"/>
              </a:rPr>
              <a:t>must </a:t>
            </a:r>
            <a:r>
              <a:rPr lang="en-US" sz="2400" spc="-10" dirty="0">
                <a:latin typeface="Calibri"/>
                <a:cs typeface="Calibri"/>
              </a:rPr>
              <a:t>run.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05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Preemption</a:t>
            </a:r>
            <a:r>
              <a:rPr lang="en-US" sz="2400" spc="-5" dirty="0">
                <a:latin typeface="Calibri"/>
                <a:cs typeface="Calibri"/>
              </a:rPr>
              <a:t> 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suspending one </a:t>
            </a:r>
            <a:r>
              <a:rPr lang="en-US" sz="2400" spc="-5" dirty="0">
                <a:latin typeface="Calibri"/>
                <a:cs typeface="Calibri"/>
              </a:rPr>
              <a:t>process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" dirty="0">
                <a:latin typeface="Calibri"/>
                <a:cs typeface="Calibri"/>
              </a:rPr>
              <a:t>place of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length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time a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lang="en-US" sz="2400" spc="-10" dirty="0">
                <a:latin typeface="Calibri"/>
                <a:cs typeface="Calibri"/>
              </a:rPr>
              <a:t>is allowed 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continually </a:t>
            </a:r>
            <a:r>
              <a:rPr lang="en-US" sz="2400" dirty="0">
                <a:cs typeface="Calibri"/>
              </a:rPr>
              <a:t>run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lang="en-US" sz="2400" spc="-5" dirty="0">
                <a:latin typeface="Calibri"/>
                <a:cs typeface="Calibri"/>
              </a:rPr>
              <a:t>called the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time</a:t>
            </a:r>
            <a:r>
              <a:rPr lang="en-US" sz="2400" i="1" spc="-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slice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4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lang="en-US" sz="2400" spc="-10" dirty="0">
                <a:latin typeface="Calibri"/>
                <a:cs typeface="Calibri"/>
              </a:rPr>
              <a:t>modern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Linux </a:t>
            </a:r>
            <a:r>
              <a:rPr lang="en-US" sz="2400" spc="-1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cheduler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called </a:t>
            </a:r>
            <a:r>
              <a:rPr sz="2400" spc="-10" dirty="0">
                <a:latin typeface="Calibri"/>
                <a:cs typeface="Calibri"/>
              </a:rPr>
              <a:t>Completely </a:t>
            </a:r>
            <a:r>
              <a:rPr sz="2400" spc="-15" dirty="0">
                <a:latin typeface="Calibri"/>
                <a:cs typeface="Calibri"/>
              </a:rPr>
              <a:t>Fair </a:t>
            </a:r>
            <a:r>
              <a:rPr sz="2400" spc="-5" dirty="0">
                <a:latin typeface="Calibri"/>
                <a:cs typeface="Calibri"/>
              </a:rPr>
              <a:t>Scheduler </a:t>
            </a:r>
            <a:r>
              <a:rPr sz="2400" spc="-10" dirty="0">
                <a:latin typeface="Calibri"/>
                <a:cs typeface="Calibri"/>
              </a:rPr>
              <a:t>(CFS)</a:t>
            </a:r>
            <a:r>
              <a:rPr sz="2400" dirty="0">
                <a:latin typeface="Calibri"/>
                <a:cs typeface="Calibri"/>
              </a:rPr>
              <a:t>, </a:t>
            </a:r>
            <a:r>
              <a:rPr sz="2400" spc="-10" dirty="0">
                <a:latin typeface="Calibri"/>
                <a:cs typeface="Calibri"/>
              </a:rPr>
              <a:t>where </a:t>
            </a:r>
            <a:r>
              <a:rPr sz="2400" i="1" spc="-10" dirty="0">
                <a:latin typeface="Calibri"/>
                <a:cs typeface="Calibri"/>
              </a:rPr>
              <a:t>fair </a:t>
            </a:r>
            <a:r>
              <a:rPr sz="2400" i="1" spc="-5" dirty="0">
                <a:latin typeface="Calibri"/>
                <a:cs typeface="Calibri"/>
              </a:rPr>
              <a:t>queuing </a:t>
            </a:r>
            <a:r>
              <a:rPr sz="2400" spc="-25" dirty="0">
                <a:latin typeface="Calibri"/>
                <a:cs typeface="Calibri"/>
              </a:rPr>
              <a:t>refers </a:t>
            </a:r>
            <a:r>
              <a:rPr sz="2400" spc="-10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scheduling algorithm </a:t>
            </a:r>
            <a:r>
              <a:rPr sz="2400" spc="-15" dirty="0">
                <a:latin typeface="Calibri"/>
                <a:cs typeface="Calibri"/>
              </a:rPr>
              <a:t>enforcing fair </a:t>
            </a:r>
            <a:r>
              <a:rPr sz="2400" dirty="0">
                <a:latin typeface="Calibri"/>
                <a:cs typeface="Calibri"/>
              </a:rPr>
              <a:t>access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resource</a:t>
            </a:r>
            <a:r>
              <a:rPr lang="en-US" sz="2400" spc="-1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6644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Time</a:t>
            </a:r>
            <a:r>
              <a:rPr lang="en-US" spc="-30" dirty="0"/>
              <a:t> S</a:t>
            </a:r>
            <a:r>
              <a:rPr spc="-30" dirty="0"/>
              <a:t>lices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661"/>
            <a:ext cx="10589261" cy="4719882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1695450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0" dirty="0">
                <a:latin typeface="Calibri"/>
                <a:cs typeface="Calibri"/>
              </a:rPr>
              <a:t>A t</a:t>
            </a:r>
            <a:r>
              <a:rPr sz="2800" spc="-10" dirty="0">
                <a:latin typeface="Calibri"/>
                <a:cs typeface="Calibri"/>
              </a:rPr>
              <a:t>ime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slice </a:t>
            </a:r>
            <a:r>
              <a:rPr lang="en-US" sz="2800" spc="-15" dirty="0">
                <a:latin typeface="Calibri"/>
                <a:cs typeface="Calibri"/>
              </a:rPr>
              <a:t>is an</a:t>
            </a:r>
            <a:r>
              <a:rPr sz="2800" spc="-15" dirty="0">
                <a:latin typeface="Calibri"/>
                <a:cs typeface="Calibri"/>
              </a:rPr>
              <a:t> important </a:t>
            </a:r>
            <a:r>
              <a:rPr lang="en-US" sz="2800" spc="-10" dirty="0">
                <a:latin typeface="Calibri"/>
                <a:cs typeface="Calibri"/>
              </a:rPr>
              <a:t>constant</a:t>
            </a:r>
            <a:r>
              <a:rPr sz="2800" spc="-10" dirty="0">
                <a:latin typeface="Calibri"/>
                <a:cs typeface="Calibri"/>
              </a:rPr>
              <a:t> determining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overall </a:t>
            </a:r>
            <a:r>
              <a:rPr sz="2800" spc="-15" dirty="0">
                <a:latin typeface="Calibri"/>
                <a:cs typeface="Calibri"/>
              </a:rPr>
              <a:t>performance </a:t>
            </a:r>
            <a:r>
              <a:rPr sz="2800" spc="-5" dirty="0">
                <a:latin typeface="Calibri"/>
                <a:cs typeface="Calibri"/>
              </a:rPr>
              <a:t>of a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lang="en-US" sz="2800" spc="-3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833755" lvl="1" indent="-228600">
              <a:lnSpc>
                <a:spcPts val="2300"/>
              </a:lnSpc>
              <a:spcBef>
                <a:spcPts val="52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sz="2400" spc="-20" dirty="0">
                <a:latin typeface="Calibri"/>
                <a:cs typeface="Calibri"/>
              </a:rPr>
              <a:t>it’s </a:t>
            </a:r>
            <a:r>
              <a:rPr sz="2400" spc="-10" dirty="0">
                <a:latin typeface="Calibri"/>
                <a:cs typeface="Calibri"/>
              </a:rPr>
              <a:t>too </a:t>
            </a:r>
            <a:r>
              <a:rPr sz="2400" spc="-15" dirty="0">
                <a:latin typeface="Calibri"/>
                <a:cs typeface="Calibri"/>
              </a:rPr>
              <a:t>large, </a:t>
            </a:r>
            <a:r>
              <a:rPr sz="2400" spc="-10" dirty="0">
                <a:latin typeface="Calibri"/>
                <a:cs typeface="Calibri"/>
              </a:rPr>
              <a:t>processes must wait </a:t>
            </a:r>
            <a:r>
              <a:rPr sz="2400" dirty="0">
                <a:latin typeface="Calibri"/>
                <a:cs typeface="Calibri"/>
              </a:rPr>
              <a:t>a long time in </a:t>
            </a:r>
            <a:r>
              <a:rPr sz="2400" spc="-10" dirty="0">
                <a:latin typeface="Calibri"/>
                <a:cs typeface="Calibri"/>
              </a:rPr>
              <a:t>between </a:t>
            </a:r>
            <a:r>
              <a:rPr sz="2400" spc="-15" dirty="0">
                <a:latin typeface="Calibri"/>
                <a:cs typeface="Calibri"/>
              </a:rPr>
              <a:t>executions,  </a:t>
            </a:r>
            <a:r>
              <a:rPr lang="en-US" sz="2400" spc="-15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minimiz</a:t>
            </a:r>
            <a:r>
              <a:rPr lang="en-US" sz="2400" dirty="0">
                <a:latin typeface="Calibri"/>
                <a:cs typeface="Calibri"/>
              </a:rPr>
              <a:t>es</a:t>
            </a:r>
            <a:r>
              <a:rPr sz="2400" dirty="0">
                <a:latin typeface="Calibri"/>
                <a:cs typeface="Calibri"/>
              </a:rPr>
              <a:t> the </a:t>
            </a:r>
            <a:r>
              <a:rPr sz="2400" spc="-5" dirty="0">
                <a:latin typeface="Calibri"/>
                <a:cs typeface="Calibri"/>
              </a:rPr>
              <a:t>appearance of </a:t>
            </a:r>
            <a:r>
              <a:rPr sz="2400" spc="-10" dirty="0">
                <a:latin typeface="Calibri"/>
                <a:cs typeface="Calibri"/>
              </a:rPr>
              <a:t>concurrent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execution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535"/>
              </a:lnSpc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sz="2400" spc="-20" dirty="0">
                <a:latin typeface="Calibri"/>
                <a:cs typeface="Calibri"/>
              </a:rPr>
              <a:t>it’s </a:t>
            </a:r>
            <a:r>
              <a:rPr sz="2400" spc="-10" dirty="0">
                <a:latin typeface="Calibri"/>
                <a:cs typeface="Calibri"/>
              </a:rPr>
              <a:t>too </a:t>
            </a:r>
            <a:r>
              <a:rPr sz="2400" spc="-5" dirty="0">
                <a:latin typeface="Calibri"/>
                <a:cs typeface="Calibri"/>
              </a:rPr>
              <a:t>small, </a:t>
            </a:r>
            <a:r>
              <a:rPr lang="en-US" sz="2400" dirty="0">
                <a:latin typeface="Calibri"/>
                <a:cs typeface="Calibri"/>
              </a:rPr>
              <a:t>the OS will </a:t>
            </a:r>
            <a:r>
              <a:rPr sz="2400" spc="-10" dirty="0">
                <a:latin typeface="Calibri"/>
                <a:cs typeface="Calibri"/>
              </a:rPr>
              <a:t>spen</a:t>
            </a:r>
            <a:r>
              <a:rPr lang="en-US" sz="2400" spc="-10" dirty="0">
                <a:latin typeface="Calibri"/>
                <a:cs typeface="Calibri"/>
              </a:rPr>
              <a:t>d a lot of time on </a:t>
            </a:r>
            <a:r>
              <a:rPr sz="2400" spc="-5" dirty="0">
                <a:latin typeface="Calibri"/>
                <a:cs typeface="Calibri"/>
              </a:rPr>
              <a:t>switching</a:t>
            </a:r>
            <a:r>
              <a:rPr lang="en-US" sz="2400" spc="-5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benefits </a:t>
            </a:r>
            <a:r>
              <a:rPr sz="2400" spc="-5" dirty="0">
                <a:latin typeface="Calibri"/>
                <a:cs typeface="Calibri"/>
              </a:rPr>
              <a:t>such </a:t>
            </a:r>
            <a:r>
              <a:rPr sz="2400" dirty="0">
                <a:latin typeface="Calibri"/>
                <a:cs typeface="Calibri"/>
              </a:rPr>
              <a:t>as </a:t>
            </a:r>
            <a:r>
              <a:rPr sz="2400" spc="-10" dirty="0">
                <a:latin typeface="Calibri"/>
                <a:cs typeface="Calibri"/>
              </a:rPr>
              <a:t>temporal </a:t>
            </a:r>
            <a:r>
              <a:rPr sz="2400" spc="-5" dirty="0">
                <a:latin typeface="Calibri"/>
                <a:cs typeface="Calibri"/>
              </a:rPr>
              <a:t>locality </a:t>
            </a:r>
            <a:r>
              <a:rPr lang="en-US" sz="2400" spc="-15" dirty="0">
                <a:latin typeface="Calibri"/>
                <a:cs typeface="Calibri"/>
              </a:rPr>
              <a:t>will 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lost</a:t>
            </a:r>
            <a:r>
              <a:rPr lang="en-US" sz="2400" spc="-10" dirty="0">
                <a:latin typeface="Calibri"/>
                <a:cs typeface="Calibri"/>
              </a:rPr>
              <a:t>.</a:t>
            </a:r>
          </a:p>
          <a:p>
            <a:pPr marL="1041400" indent="-342900">
              <a:lnSpc>
                <a:spcPts val="2595"/>
              </a:lnSpc>
              <a:buFont typeface="Arial" panose="020B0604020202020204" pitchFamily="34" charset="0"/>
              <a:buChar char="•"/>
            </a:pPr>
            <a:r>
              <a:rPr lang="en-US" sz="2400" i="1" spc="-10" dirty="0">
                <a:latin typeface="Calibri"/>
                <a:cs typeface="Calibri"/>
              </a:rPr>
              <a:t>Temporal </a:t>
            </a:r>
            <a:r>
              <a:rPr lang="en-US" sz="2400" i="1" spc="-5" dirty="0">
                <a:latin typeface="Calibri"/>
                <a:cs typeface="Calibri"/>
              </a:rPr>
              <a:t>locality</a:t>
            </a:r>
            <a:r>
              <a:rPr lang="en-US" sz="2400" spc="-5" dirty="0">
                <a:latin typeface="Calibri"/>
                <a:cs typeface="Calibri"/>
              </a:rPr>
              <a:t> = </a:t>
            </a:r>
            <a:r>
              <a:rPr lang="en-US" sz="2400" dirty="0">
                <a:latin typeface="Calibri"/>
                <a:cs typeface="Calibri"/>
              </a:rPr>
              <a:t>the reuse of specific data and/or resources within a relatively small-time duration by the same process.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3325"/>
              </a:lnSpc>
              <a:spcBef>
                <a:spcPts val="3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Determining </a:t>
            </a:r>
            <a:r>
              <a:rPr sz="2800" spc="-5" dirty="0">
                <a:latin typeface="Calibri"/>
                <a:cs typeface="Calibri"/>
              </a:rPr>
              <a:t>the ideal time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slice is </a:t>
            </a:r>
            <a:r>
              <a:rPr sz="2800" spc="-10" dirty="0">
                <a:latin typeface="Calibri"/>
                <a:cs typeface="Calibri"/>
              </a:rPr>
              <a:t>not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easy</a:t>
            </a:r>
            <a:r>
              <a:rPr lang="en-US" sz="2800" spc="-15" dirty="0">
                <a:latin typeface="Calibri"/>
                <a:cs typeface="Calibri"/>
              </a:rPr>
              <a:t>!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560"/>
              </a:lnSpc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It </a:t>
            </a:r>
            <a:r>
              <a:rPr sz="2400" spc="-5" dirty="0">
                <a:latin typeface="Calibri"/>
                <a:cs typeface="Calibri"/>
              </a:rPr>
              <a:t>depends on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OS</a:t>
            </a:r>
            <a:r>
              <a:rPr lang="en-US" sz="2400" spc="-5" dirty="0">
                <a:latin typeface="Calibri"/>
                <a:cs typeface="Calibri"/>
              </a:rPr>
              <a:t>: </a:t>
            </a:r>
            <a:r>
              <a:rPr sz="2400" spc="-5" dirty="0">
                <a:latin typeface="Calibri"/>
                <a:cs typeface="Calibri"/>
              </a:rPr>
              <a:t>whether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30" dirty="0">
                <a:latin typeface="Calibri"/>
                <a:cs typeface="Calibri"/>
              </a:rPr>
              <a:t>favors </a:t>
            </a:r>
            <a:r>
              <a:rPr sz="2400" spc="-10" dirty="0">
                <a:latin typeface="Calibri"/>
                <a:cs typeface="Calibri"/>
              </a:rPr>
              <a:t>maximizing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spc="-10" dirty="0">
                <a:latin typeface="Calibri"/>
                <a:cs typeface="Calibri"/>
              </a:rPr>
              <a:t>throughput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</a:p>
          <a:p>
            <a:pPr marL="698500">
              <a:lnSpc>
                <a:spcPts val="2560"/>
              </a:lnSpc>
            </a:pPr>
            <a:r>
              <a:rPr sz="2400" spc="-15" dirty="0">
                <a:latin typeface="Calibri"/>
                <a:cs typeface="Calibri"/>
              </a:rPr>
              <a:t>overall </a:t>
            </a:r>
            <a:r>
              <a:rPr sz="2400" spc="-10" dirty="0">
                <a:latin typeface="Calibri"/>
                <a:cs typeface="Calibri"/>
              </a:rPr>
              <a:t>performance, </a:t>
            </a:r>
            <a:r>
              <a:rPr sz="2400" spc="-5" dirty="0">
                <a:latin typeface="Calibri"/>
                <a:cs typeface="Calibri"/>
              </a:rPr>
              <a:t>or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45"/>
              </a:lnSpc>
              <a:buFont typeface="Arial"/>
              <a:buChar char="•"/>
              <a:tabLst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Whether </a:t>
            </a:r>
            <a:r>
              <a:rPr lang="en-US" sz="2400" dirty="0">
                <a:latin typeface="Calibri"/>
                <a:cs typeface="Calibri"/>
              </a:rPr>
              <a:t>it </a:t>
            </a:r>
            <a:r>
              <a:rPr lang="en-US" sz="2400" spc="-30" dirty="0">
                <a:latin typeface="Calibri"/>
                <a:cs typeface="Calibri"/>
              </a:rPr>
              <a:t>f</a:t>
            </a:r>
            <a:r>
              <a:rPr sz="2400" spc="-30" dirty="0">
                <a:latin typeface="Calibri"/>
                <a:cs typeface="Calibri"/>
              </a:rPr>
              <a:t>avors </a:t>
            </a:r>
            <a:r>
              <a:rPr sz="2400" spc="-10" dirty="0">
                <a:latin typeface="Calibri"/>
                <a:cs typeface="Calibri"/>
              </a:rPr>
              <a:t>providing </a:t>
            </a:r>
            <a:r>
              <a:rPr sz="2400" spc="-15" dirty="0">
                <a:latin typeface="Calibri"/>
                <a:cs typeface="Calibri"/>
              </a:rPr>
              <a:t>excellent interactive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(I/O) </a:t>
            </a:r>
            <a:r>
              <a:rPr sz="2400" spc="-10" dirty="0">
                <a:latin typeface="Calibri"/>
                <a:cs typeface="Calibri"/>
              </a:rPr>
              <a:t>performance</a:t>
            </a:r>
            <a:r>
              <a:rPr lang="en-US" sz="2400" spc="-10" dirty="0">
                <a:latin typeface="Calibri"/>
                <a:cs typeface="Calibri"/>
              </a:rPr>
              <a:t>/responses.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Linux’s CFS </a:t>
            </a:r>
            <a:r>
              <a:rPr lang="en-US" sz="2800" spc="-20" dirty="0">
                <a:latin typeface="Calibri"/>
                <a:cs typeface="Calibri"/>
              </a:rPr>
              <a:t>addresses this conflict by… eliminating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slices</a:t>
            </a:r>
            <a:r>
              <a:rPr lang="en-US" sz="2800" spc="-5" dirty="0">
                <a:latin typeface="Calibri"/>
                <a:cs typeface="Calibri"/>
              </a:rPr>
              <a:t>!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104368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I/O-</a:t>
            </a:r>
            <a:r>
              <a:rPr lang="en-US" spc="-45" dirty="0"/>
              <a:t>Bound</a:t>
            </a:r>
            <a:r>
              <a:rPr spc="-20" dirty="0"/>
              <a:t> </a:t>
            </a:r>
            <a:r>
              <a:rPr spc="-80" dirty="0"/>
              <a:t>Versus </a:t>
            </a:r>
            <a:r>
              <a:rPr spc="-45" dirty="0"/>
              <a:t>Processor-Boun</a:t>
            </a:r>
            <a:r>
              <a:rPr lang="en-US" spc="-45" dirty="0"/>
              <a:t>d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916938" y="1736801"/>
            <a:ext cx="10894062" cy="4652043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233679" indent="-228600">
              <a:lnSpc>
                <a:spcPct val="701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Processes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i="1" spc="-5" dirty="0">
                <a:latin typeface="Calibri"/>
                <a:cs typeface="Calibri"/>
              </a:rPr>
              <a:t>processor-bound </a:t>
            </a:r>
            <a:r>
              <a:rPr sz="2600" dirty="0">
                <a:latin typeface="Calibri"/>
                <a:cs typeface="Calibri"/>
              </a:rPr>
              <a:t>if </a:t>
            </a:r>
            <a:r>
              <a:rPr sz="2600" spc="-5" dirty="0">
                <a:latin typeface="Calibri"/>
                <a:cs typeface="Calibri"/>
              </a:rPr>
              <a:t>they continually </a:t>
            </a:r>
            <a:r>
              <a:rPr sz="2600" spc="-10" dirty="0">
                <a:latin typeface="Calibri"/>
                <a:cs typeface="Calibri"/>
              </a:rPr>
              <a:t>consume</a:t>
            </a:r>
            <a:r>
              <a:rPr sz="2600" dirty="0">
                <a:latin typeface="Calibri"/>
                <a:cs typeface="Calibri"/>
              </a:rPr>
              <a:t> time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slices</a:t>
            </a:r>
            <a:r>
              <a:rPr lang="en-US" sz="2600" dirty="0">
                <a:latin typeface="Calibri"/>
                <a:cs typeface="Calibri"/>
              </a:rPr>
              <a:t> entirely. Examples: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20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5" dirty="0">
                <a:latin typeface="Calibri"/>
                <a:cs typeface="Calibri"/>
              </a:rPr>
              <a:t>The infinite loop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while(1)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;</a:t>
            </a:r>
            <a:endParaRPr sz="22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698500" lvl="1" indent="-229235">
              <a:lnSpc>
                <a:spcPts val="24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or those </a:t>
            </a:r>
            <a:r>
              <a:rPr lang="en-US" sz="2200" spc="-5" dirty="0">
                <a:latin typeface="Calibri"/>
                <a:cs typeface="Calibri"/>
              </a:rPr>
              <a:t>processes </a:t>
            </a:r>
            <a:r>
              <a:rPr sz="2200" spc="-10" dirty="0">
                <a:latin typeface="Calibri"/>
                <a:cs typeface="Calibri"/>
              </a:rPr>
              <a:t>doing </a:t>
            </a:r>
            <a:r>
              <a:rPr sz="2200" spc="-15" dirty="0">
                <a:latin typeface="Calibri"/>
                <a:cs typeface="Calibri"/>
              </a:rPr>
              <a:t>intense </a:t>
            </a:r>
            <a:r>
              <a:rPr sz="2200" spc="-10" dirty="0">
                <a:latin typeface="Calibri"/>
                <a:cs typeface="Calibri"/>
              </a:rPr>
              <a:t>scientific computation, </a:t>
            </a:r>
            <a:r>
              <a:rPr sz="2200" spc="-5" dirty="0">
                <a:latin typeface="Calibri"/>
                <a:cs typeface="Calibri"/>
              </a:rPr>
              <a:t>video processing,</a:t>
            </a:r>
            <a:r>
              <a:rPr sz="2200" spc="1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etc</a:t>
            </a:r>
            <a:r>
              <a:rPr lang="en-US" sz="2200" spc="-2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1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Processes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i="1" spc="-5" dirty="0">
                <a:latin typeface="Calibri"/>
                <a:cs typeface="Calibri"/>
              </a:rPr>
              <a:t>I/O-bound </a:t>
            </a:r>
            <a:r>
              <a:rPr sz="2600" dirty="0">
                <a:latin typeface="Calibri"/>
                <a:cs typeface="Calibri"/>
              </a:rPr>
              <a:t>if </a:t>
            </a:r>
            <a:r>
              <a:rPr sz="2600" spc="-5" dirty="0">
                <a:latin typeface="Calibri"/>
                <a:cs typeface="Calibri"/>
              </a:rPr>
              <a:t>they spend </a:t>
            </a:r>
            <a:r>
              <a:rPr sz="2600" spc="-10" dirty="0">
                <a:latin typeface="Calibri"/>
                <a:cs typeface="Calibri"/>
              </a:rPr>
              <a:t>more </a:t>
            </a:r>
            <a:r>
              <a:rPr sz="2600" dirty="0">
                <a:latin typeface="Calibri"/>
                <a:cs typeface="Calibri"/>
              </a:rPr>
              <a:t>time </a:t>
            </a:r>
            <a:r>
              <a:rPr sz="2600" spc="-15" dirty="0">
                <a:latin typeface="Calibri"/>
                <a:cs typeface="Calibri"/>
              </a:rPr>
              <a:t>blocked</a:t>
            </a:r>
            <a:r>
              <a:rPr lang="en-US" sz="2600" spc="-15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waiting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5" dirty="0">
                <a:latin typeface="Calibri"/>
                <a:cs typeface="Calibri"/>
              </a:rPr>
              <a:t>some resource</a:t>
            </a:r>
            <a:r>
              <a:rPr lang="en-US" sz="2600" spc="-5" dirty="0">
                <a:latin typeface="Calibri"/>
                <a:cs typeface="Calibri"/>
              </a:rPr>
              <a:t> to become available</a:t>
            </a:r>
            <a:r>
              <a:rPr sz="2600" spc="-5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lang="en-US" sz="2600" dirty="0">
                <a:latin typeface="Calibri"/>
                <a:cs typeface="Calibri"/>
              </a:rPr>
              <a:t> in</a:t>
            </a:r>
            <a:r>
              <a:rPr sz="2600" dirty="0">
                <a:latin typeface="Calibri"/>
                <a:cs typeface="Calibri"/>
              </a:rPr>
              <a:t>:</a:t>
            </a:r>
          </a:p>
          <a:p>
            <a:pPr marL="698500" lvl="1" indent="-229235">
              <a:lnSpc>
                <a:spcPts val="221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Waiting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5" dirty="0">
                <a:latin typeface="Calibri"/>
                <a:cs typeface="Calibri"/>
              </a:rPr>
              <a:t>file </a:t>
            </a:r>
            <a:r>
              <a:rPr sz="2200" dirty="0">
                <a:latin typeface="Calibri"/>
                <a:cs typeface="Calibri"/>
              </a:rPr>
              <a:t>or </a:t>
            </a:r>
            <a:r>
              <a:rPr sz="2200" spc="-10" dirty="0">
                <a:latin typeface="Calibri"/>
                <a:cs typeface="Calibri"/>
              </a:rPr>
              <a:t>network </a:t>
            </a:r>
            <a:r>
              <a:rPr sz="2200" spc="-5" dirty="0">
                <a:latin typeface="Calibri"/>
                <a:cs typeface="Calibri"/>
              </a:rPr>
              <a:t>I/O </a:t>
            </a:r>
            <a:r>
              <a:rPr sz="2200" spc="-10" dirty="0">
                <a:latin typeface="Calibri"/>
                <a:cs typeface="Calibri"/>
              </a:rPr>
              <a:t>(</a:t>
            </a:r>
            <a:r>
              <a:rPr lang="en-US" sz="2200" spc="-10" dirty="0">
                <a:latin typeface="Calibri"/>
                <a:cs typeface="Calibri"/>
              </a:rPr>
              <a:t>e.g., Linux </a:t>
            </a:r>
            <a:r>
              <a:rPr sz="2200" spc="-10" dirty="0">
                <a:latin typeface="Calibri"/>
                <a:cs typeface="Calibri"/>
              </a:rPr>
              <a:t>file </a:t>
            </a:r>
            <a:r>
              <a:rPr lang="en-US" sz="2200" spc="-10" dirty="0">
                <a:latin typeface="Calibri"/>
                <a:cs typeface="Calibri"/>
              </a:rPr>
              <a:t>commands</a:t>
            </a:r>
            <a:r>
              <a:rPr sz="2200" spc="-10" dirty="0">
                <a:latin typeface="Calibri"/>
                <a:cs typeface="Calibri"/>
              </a:rPr>
              <a:t> such </a:t>
            </a:r>
            <a:r>
              <a:rPr sz="2200" spc="-5" dirty="0">
                <a:latin typeface="Calibri"/>
                <a:cs typeface="Calibri"/>
              </a:rPr>
              <a:t>as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cp</a:t>
            </a:r>
            <a:r>
              <a:rPr sz="2200" spc="-57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200" spc="-5" dirty="0">
                <a:latin typeface="Calibri"/>
                <a:cs typeface="Calibri"/>
              </a:rPr>
              <a:t>or </a:t>
            </a:r>
            <a:r>
              <a:rPr sz="2000" spc="-5" dirty="0">
                <a:solidFill>
                  <a:srgbClr val="0070C0"/>
                </a:solidFill>
                <a:latin typeface="Consolas"/>
              </a:rPr>
              <a:t>mv</a:t>
            </a:r>
            <a:r>
              <a:rPr lang="en-US" sz="2200" spc="-20" dirty="0">
                <a:latin typeface="Calibri"/>
                <a:cs typeface="Calibri"/>
              </a:rPr>
              <a:t>.</a:t>
            </a:r>
            <a:r>
              <a:rPr sz="2200" spc="-5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4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Blocking </a:t>
            </a:r>
            <a:r>
              <a:rPr sz="2200" dirty="0">
                <a:latin typeface="Calibri"/>
                <a:cs typeface="Calibri"/>
              </a:rPr>
              <a:t>on </a:t>
            </a:r>
            <a:r>
              <a:rPr sz="2200" spc="-20" dirty="0">
                <a:latin typeface="Calibri"/>
                <a:cs typeface="Calibri"/>
              </a:rPr>
              <a:t>keyboard </a:t>
            </a:r>
            <a:r>
              <a:rPr lang="en-US" sz="2200" spc="-10" dirty="0">
                <a:latin typeface="Calibri"/>
                <a:cs typeface="Calibri"/>
              </a:rPr>
              <a:t>input or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waiting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5" dirty="0">
                <a:latin typeface="Calibri"/>
                <a:cs typeface="Calibri"/>
              </a:rPr>
              <a:t>mouse </a:t>
            </a:r>
            <a:r>
              <a:rPr sz="2200" spc="-10" dirty="0">
                <a:latin typeface="Calibri"/>
                <a:cs typeface="Calibri"/>
              </a:rPr>
              <a:t>move (most GUI</a:t>
            </a:r>
            <a:r>
              <a:rPr sz="2200" spc="1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apps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r>
              <a:rPr sz="2200" spc="-10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The two </a:t>
            </a:r>
            <a:r>
              <a:rPr sz="2600" dirty="0">
                <a:latin typeface="Calibri"/>
                <a:cs typeface="Calibri"/>
              </a:rPr>
              <a:t>types </a:t>
            </a:r>
            <a:r>
              <a:rPr lang="en-US" sz="2600" dirty="0">
                <a:latin typeface="Calibri"/>
                <a:cs typeface="Calibri"/>
              </a:rPr>
              <a:t>of processes </a:t>
            </a:r>
            <a:r>
              <a:rPr sz="2600" spc="-5" dirty="0">
                <a:latin typeface="Calibri"/>
                <a:cs typeface="Calibri"/>
              </a:rPr>
              <a:t>benefit </a:t>
            </a:r>
            <a:r>
              <a:rPr sz="2600" spc="-10" dirty="0">
                <a:latin typeface="Calibri"/>
                <a:cs typeface="Calibri"/>
              </a:rPr>
              <a:t>from </a:t>
            </a:r>
            <a:r>
              <a:rPr sz="2600" spc="-20" dirty="0">
                <a:latin typeface="Calibri"/>
                <a:cs typeface="Calibri"/>
              </a:rPr>
              <a:t>different </a:t>
            </a:r>
            <a:r>
              <a:rPr sz="2600" dirty="0">
                <a:latin typeface="Calibri"/>
                <a:cs typeface="Calibri"/>
              </a:rPr>
              <a:t>scheduler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behaviors</a:t>
            </a:r>
            <a:r>
              <a:rPr lang="en-US" sz="2600" spc="-1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The processor-bound need </a:t>
            </a:r>
            <a:r>
              <a:rPr lang="en-US" sz="2200" spc="-10" dirty="0">
                <a:latin typeface="Calibri"/>
                <a:cs typeface="Calibri"/>
              </a:rPr>
              <a:t>the </a:t>
            </a:r>
            <a:r>
              <a:rPr sz="2200" spc="-15" dirty="0">
                <a:latin typeface="Calibri"/>
                <a:cs typeface="Calibri"/>
              </a:rPr>
              <a:t>largest </a:t>
            </a:r>
            <a:r>
              <a:rPr sz="2200" spc="-5" dirty="0">
                <a:latin typeface="Calibri"/>
                <a:cs typeface="Calibri"/>
              </a:rPr>
              <a:t>time</a:t>
            </a:r>
            <a:r>
              <a:rPr lang="en-US" sz="2200" spc="-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slices possible </a:t>
            </a:r>
            <a:r>
              <a:rPr sz="2200" spc="-15" dirty="0">
                <a:latin typeface="Calibri"/>
                <a:cs typeface="Calibri"/>
              </a:rPr>
              <a:t>(</a:t>
            </a:r>
            <a:r>
              <a:rPr lang="en-US" sz="2200" spc="-15" dirty="0">
                <a:latin typeface="Calibri"/>
                <a:cs typeface="Calibri"/>
              </a:rPr>
              <a:t>= </a:t>
            </a:r>
            <a:r>
              <a:rPr sz="2200" spc="-15" dirty="0">
                <a:latin typeface="Calibri"/>
                <a:cs typeface="Calibri"/>
              </a:rPr>
              <a:t>maximize</a:t>
            </a:r>
            <a:r>
              <a:rPr lang="en-US" sz="2200" spc="-15" dirty="0">
                <a:latin typeface="Calibri"/>
                <a:cs typeface="Calibri"/>
              </a:rPr>
              <a:t>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cache </a:t>
            </a:r>
            <a:r>
              <a:rPr sz="2200" spc="-5" dirty="0">
                <a:latin typeface="Calibri"/>
                <a:cs typeface="Calibri"/>
              </a:rPr>
              <a:t>hit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rates</a:t>
            </a:r>
            <a:r>
              <a:rPr lang="en-US" sz="2200" spc="-20" dirty="0">
                <a:latin typeface="Calibri"/>
                <a:cs typeface="Calibri"/>
              </a:rPr>
              <a:t>.</a:t>
            </a:r>
            <a:r>
              <a:rPr sz="2200" spc="-20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4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I/O-bound </a:t>
            </a:r>
            <a:r>
              <a:rPr sz="2200" spc="-10" dirty="0">
                <a:latin typeface="Calibri"/>
                <a:cs typeface="Calibri"/>
              </a:rPr>
              <a:t>need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scheduler </a:t>
            </a:r>
            <a:r>
              <a:rPr lang="en-US" sz="2200" spc="-10" dirty="0">
                <a:latin typeface="Calibri"/>
                <a:cs typeface="Calibri"/>
              </a:rPr>
              <a:t>to run them as soon as possible on the CPU to after such processes </a:t>
            </a:r>
            <a:r>
              <a:rPr sz="2200" spc="-15" dirty="0">
                <a:latin typeface="Calibri"/>
                <a:cs typeface="Calibri"/>
              </a:rPr>
              <a:t>r</a:t>
            </a:r>
            <a:r>
              <a:rPr lang="en-US" sz="2200" spc="-15" dirty="0">
                <a:latin typeface="Calibri"/>
                <a:cs typeface="Calibri"/>
              </a:rPr>
              <a:t>eturn</a:t>
            </a:r>
            <a:r>
              <a:rPr sz="2200" spc="-15" dirty="0">
                <a:latin typeface="Calibri"/>
                <a:cs typeface="Calibri"/>
              </a:rPr>
              <a:t> from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lang="en-US" sz="2200" spc="-5" dirty="0">
                <a:latin typeface="Calibri"/>
                <a:cs typeface="Calibri"/>
              </a:rPr>
              <a:t>waiting, so they benefit from smaller time slices.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Most apps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dirty="0">
                <a:latin typeface="Calibri"/>
                <a:cs typeface="Calibri"/>
              </a:rPr>
              <a:t>a mix</a:t>
            </a:r>
            <a:r>
              <a:rPr lang="en-US" sz="2600" dirty="0">
                <a:latin typeface="Calibri"/>
                <a:cs typeface="Calibri"/>
              </a:rPr>
              <a:t>ture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I/O-bound and process-bound behaviors: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4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Audio/video editing</a:t>
            </a:r>
            <a:r>
              <a:rPr lang="en-US" sz="2200" spc="-5" dirty="0">
                <a:latin typeface="Calibri"/>
                <a:cs typeface="Calibri"/>
              </a:rPr>
              <a:t>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games</a:t>
            </a:r>
            <a:r>
              <a:rPr lang="en-US" sz="2200" spc="15" dirty="0">
                <a:latin typeface="Calibri"/>
                <a:cs typeface="Calibri"/>
              </a:rPr>
              <a:t>, </a:t>
            </a:r>
            <a:r>
              <a:rPr sz="2200" spc="-25" dirty="0">
                <a:latin typeface="Calibri"/>
                <a:cs typeface="Calibri"/>
              </a:rPr>
              <a:t>etc</a:t>
            </a:r>
            <a:r>
              <a:rPr lang="en-US" sz="2200" spc="-2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0698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Preemptive</a:t>
            </a:r>
            <a:r>
              <a:rPr spc="-155" dirty="0"/>
              <a:t> </a:t>
            </a:r>
            <a:r>
              <a:rPr spc="-35" dirty="0"/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56565"/>
            <a:ext cx="10208261" cy="3845283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20" dirty="0">
                <a:latin typeface="Calibri"/>
                <a:cs typeface="Calibri"/>
              </a:rPr>
              <a:t>Preemptive scheduling is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traditional </a:t>
            </a:r>
            <a:r>
              <a:rPr sz="2800" spc="-5" dirty="0">
                <a:latin typeface="Calibri"/>
                <a:cs typeface="Calibri"/>
              </a:rPr>
              <a:t>Unix </a:t>
            </a:r>
            <a:r>
              <a:rPr sz="2800" spc="-10" dirty="0">
                <a:latin typeface="Calibri"/>
                <a:cs typeface="Calibri"/>
              </a:rPr>
              <a:t>process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scheduling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spc="-10" dirty="0">
                <a:latin typeface="Calibri"/>
                <a:cs typeface="Calibri"/>
              </a:rPr>
              <a:t>Each 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lang="en-US" sz="2400" spc="-10" dirty="0">
                <a:latin typeface="Calibri"/>
                <a:cs typeface="Calibri"/>
              </a:rPr>
              <a:t> 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assigned 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time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slice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64135" lvl="1" indent="-228600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When a </a:t>
            </a:r>
            <a:r>
              <a:rPr sz="2400" spc="-10" dirty="0">
                <a:latin typeface="Calibri"/>
                <a:cs typeface="Calibri"/>
              </a:rPr>
              <a:t>process exhausts </a:t>
            </a:r>
            <a:r>
              <a:rPr sz="2400" dirty="0">
                <a:latin typeface="Calibri"/>
                <a:cs typeface="Calibri"/>
              </a:rPr>
              <a:t>its time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slice, </a:t>
            </a:r>
            <a:r>
              <a:rPr lang="en-US"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spc="-5" dirty="0">
                <a:latin typeface="Calibri"/>
                <a:cs typeface="Calibri"/>
              </a:rPr>
              <a:t>suspends </a:t>
            </a:r>
            <a:r>
              <a:rPr sz="2400" dirty="0">
                <a:latin typeface="Calibri"/>
                <a:cs typeface="Calibri"/>
              </a:rPr>
              <a:t>it and runs another 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lang="en-US" sz="2400" spc="-10" dirty="0">
                <a:latin typeface="Calibri"/>
                <a:cs typeface="Calibri"/>
              </a:rPr>
              <a:t> on the CPU (i.e., switches between the processes.)</a:t>
            </a:r>
            <a:endParaRPr sz="2400" dirty="0">
              <a:latin typeface="Calibri"/>
              <a:cs typeface="Calibri"/>
            </a:endParaRPr>
          </a:p>
          <a:p>
            <a:pPr marL="698500" marR="299085" lvl="1" indent="-228600">
              <a:lnSpc>
                <a:spcPts val="2590"/>
              </a:lnSpc>
              <a:spcBef>
                <a:spcPts val="500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sz="2400" spc="-10" dirty="0">
                <a:latin typeface="Calibri"/>
                <a:cs typeface="Calibri"/>
              </a:rPr>
              <a:t>there are </a:t>
            </a:r>
            <a:r>
              <a:rPr sz="2400" spc="-5" dirty="0">
                <a:latin typeface="Calibri"/>
                <a:cs typeface="Calibri"/>
              </a:rPr>
              <a:t>no </a:t>
            </a:r>
            <a:r>
              <a:rPr lang="en-US" sz="2400" dirty="0">
                <a:latin typeface="Calibri"/>
                <a:cs typeface="Calibri"/>
              </a:rPr>
              <a:t>other </a:t>
            </a:r>
            <a:r>
              <a:rPr sz="2400" spc="-10" dirty="0">
                <a:latin typeface="Calibri"/>
                <a:cs typeface="Calibri"/>
              </a:rPr>
              <a:t>processes</a:t>
            </a:r>
            <a:r>
              <a:rPr lang="en-US" sz="2400" spc="-10" dirty="0">
                <a:latin typeface="Calibri"/>
                <a:cs typeface="Calibri"/>
              </a:rPr>
              <a:t> ready to run on the CPU</a:t>
            </a:r>
            <a:r>
              <a:rPr sz="2400" spc="-10" dirty="0">
                <a:latin typeface="Calibri"/>
                <a:cs typeface="Calibri"/>
              </a:rPr>
              <a:t>, </a:t>
            </a:r>
            <a:r>
              <a:rPr sz="2400" spc="-15" dirty="0">
                <a:latin typeface="Calibri"/>
                <a:cs typeface="Calibri"/>
              </a:rPr>
              <a:t>expired </a:t>
            </a:r>
            <a:r>
              <a:rPr sz="2400" spc="-10" dirty="0">
                <a:latin typeface="Calibri"/>
                <a:cs typeface="Calibri"/>
              </a:rPr>
              <a:t>processes get </a:t>
            </a:r>
            <a:r>
              <a:rPr sz="2400" dirty="0">
                <a:latin typeface="Calibri"/>
                <a:cs typeface="Calibri"/>
              </a:rPr>
              <a:t>their time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slices </a:t>
            </a:r>
            <a:r>
              <a:rPr sz="2400" spc="-5" dirty="0">
                <a:latin typeface="Calibri"/>
                <a:cs typeface="Calibri"/>
              </a:rPr>
              <a:t>replenished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5" dirty="0">
                <a:latin typeface="Calibri"/>
                <a:cs typeface="Calibri"/>
              </a:rPr>
              <a:t>start </a:t>
            </a:r>
            <a:r>
              <a:rPr sz="2400" dirty="0">
                <a:latin typeface="Calibri"/>
                <a:cs typeface="Calibri"/>
              </a:rPr>
              <a:t>running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again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Process</a:t>
            </a:r>
            <a:r>
              <a:rPr lang="en-US" sz="2400" spc="-10" dirty="0">
                <a:latin typeface="Calibri"/>
                <a:cs typeface="Calibri"/>
              </a:rPr>
              <a:t>es pause execution </a:t>
            </a:r>
            <a:r>
              <a:rPr sz="2400" dirty="0">
                <a:latin typeface="Calibri"/>
                <a:cs typeface="Calibri"/>
              </a:rPr>
              <a:t>when </a:t>
            </a:r>
            <a:r>
              <a:rPr sz="2400" spc="-5" dirty="0">
                <a:latin typeface="Calibri"/>
                <a:cs typeface="Calibri"/>
              </a:rPr>
              <a:t>they block 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(wait for) </a:t>
            </a:r>
            <a:r>
              <a:rPr sz="2400" spc="-10" dirty="0">
                <a:latin typeface="Calibri"/>
                <a:cs typeface="Calibri"/>
              </a:rPr>
              <a:t>I/O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Lower-priority processes </a:t>
            </a:r>
            <a:r>
              <a:rPr lang="en-US" sz="2400" spc="-20" dirty="0">
                <a:latin typeface="Calibri"/>
                <a:cs typeface="Calibri"/>
              </a:rPr>
              <a:t>must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wait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5" dirty="0">
                <a:latin typeface="Calibri"/>
                <a:cs typeface="Calibri"/>
              </a:rPr>
              <a:t>higher-priority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to </a:t>
            </a:r>
            <a:r>
              <a:rPr lang="en-US" sz="2400" spc="-5" dirty="0">
                <a:latin typeface="Calibri"/>
                <a:cs typeface="Calibri"/>
              </a:rPr>
              <a:t>either </a:t>
            </a:r>
            <a:r>
              <a:rPr sz="2400" spc="-15" dirty="0">
                <a:latin typeface="Calibri"/>
                <a:cs typeface="Calibri"/>
              </a:rPr>
              <a:t>exhaust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 time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slices </a:t>
            </a:r>
            <a:r>
              <a:rPr sz="2400" spc="-5" dirty="0">
                <a:latin typeface="Calibri"/>
                <a:cs typeface="Calibri"/>
              </a:rPr>
              <a:t>or block,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but</a:t>
            </a:r>
            <a:r>
              <a:rPr lang="en-US" sz="2400" spc="-5" dirty="0">
                <a:latin typeface="Calibri"/>
                <a:cs typeface="Calibri"/>
              </a:rPr>
              <a:t> a</a:t>
            </a:r>
            <a:r>
              <a:rPr sz="2400" dirty="0">
                <a:latin typeface="Calibri"/>
                <a:cs typeface="Calibri"/>
              </a:rPr>
              <a:t>ll </a:t>
            </a:r>
            <a:r>
              <a:rPr lang="en-US"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processes eventually get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dirty="0">
                <a:latin typeface="Calibri"/>
                <a:cs typeface="Calibri"/>
              </a:rPr>
              <a:t>The most important rule: a</a:t>
            </a:r>
            <a:r>
              <a:rPr sz="2400" dirty="0">
                <a:latin typeface="Calibri"/>
                <a:cs typeface="Calibri"/>
              </a:rPr>
              <a:t>ll </a:t>
            </a:r>
            <a:r>
              <a:rPr sz="2400" spc="-10" dirty="0">
                <a:latin typeface="Calibri"/>
                <a:cs typeface="Calibri"/>
              </a:rPr>
              <a:t>processes must </a:t>
            </a:r>
            <a:r>
              <a:rPr sz="2400" spc="-20" dirty="0">
                <a:latin typeface="Calibri"/>
                <a:cs typeface="Calibri"/>
              </a:rPr>
              <a:t>make forward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progress</a:t>
            </a:r>
            <a:r>
              <a:rPr lang="en-US" sz="2400" spc="-15" dirty="0">
                <a:latin typeface="Calibri"/>
                <a:cs typeface="Calibri"/>
              </a:rPr>
              <a:t>!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954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The </a:t>
            </a:r>
            <a:r>
              <a:rPr spc="-40" dirty="0"/>
              <a:t>Completely </a:t>
            </a:r>
            <a:r>
              <a:rPr spc="-50" dirty="0"/>
              <a:t>Fair </a:t>
            </a:r>
            <a:r>
              <a:rPr spc="-35" dirty="0"/>
              <a:t>Scheduler</a:t>
            </a:r>
            <a:r>
              <a:rPr spc="-265" dirty="0"/>
              <a:t> </a:t>
            </a:r>
            <a:r>
              <a:rPr spc="-40" dirty="0"/>
              <a:t>(CFS)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916939" y="1759661"/>
                <a:ext cx="11046461" cy="431817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41300" indent="-228600">
                  <a:lnSpc>
                    <a:spcPts val="3335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800" spc="-50" dirty="0">
                    <a:latin typeface="Calibri"/>
                    <a:cs typeface="Calibri"/>
                  </a:rPr>
                  <a:t>Two </a:t>
                </a:r>
                <a:r>
                  <a:rPr lang="en-US" sz="2800" spc="-15" dirty="0">
                    <a:latin typeface="Calibri"/>
                    <a:cs typeface="Calibri"/>
                  </a:rPr>
                  <a:t>fundamental per-process </a:t>
                </a:r>
                <a:r>
                  <a:rPr lang="en-US" sz="2800" spc="-10" dirty="0">
                    <a:latin typeface="Calibri"/>
                    <a:cs typeface="Calibri"/>
                  </a:rPr>
                  <a:t>values </a:t>
                </a:r>
                <a:r>
                  <a:rPr lang="en-US" sz="2800" spc="-5" dirty="0">
                    <a:latin typeface="Calibri"/>
                    <a:cs typeface="Calibri"/>
                  </a:rPr>
                  <a:t>with </a:t>
                </a:r>
                <a:r>
                  <a:rPr lang="en-US" sz="2800" spc="-15" dirty="0">
                    <a:latin typeface="Calibri"/>
                    <a:cs typeface="Calibri"/>
                  </a:rPr>
                  <a:t>traditional</a:t>
                </a:r>
                <a:r>
                  <a:rPr lang="en-US" sz="2800" spc="254" dirty="0">
                    <a:latin typeface="Calibri"/>
                    <a:cs typeface="Calibri"/>
                  </a:rPr>
                  <a:t> </a:t>
                </a:r>
                <a:r>
                  <a:rPr lang="en-US" sz="2800" spc="-10" dirty="0">
                    <a:latin typeface="Calibri"/>
                    <a:cs typeface="Calibri"/>
                  </a:rPr>
                  <a:t>scheduling:</a:t>
                </a:r>
                <a:endParaRPr lang="en-US" sz="2800" dirty="0">
                  <a:latin typeface="Calibri"/>
                  <a:cs typeface="Calibri"/>
                </a:endParaRPr>
              </a:p>
              <a:p>
                <a:pPr marL="698500" lvl="1" indent="-229235">
                  <a:lnSpc>
                    <a:spcPts val="2810"/>
                  </a:lnSpc>
                  <a:buFont typeface="Arial"/>
                  <a:buChar char="•"/>
                  <a:tabLst>
                    <a:tab pos="699135" algn="l"/>
                  </a:tabLst>
                </a:pPr>
                <a:r>
                  <a:rPr lang="en-US" sz="2400" spc="-5" dirty="0">
                    <a:latin typeface="Calibri"/>
                    <a:cs typeface="Calibri"/>
                  </a:rPr>
                  <a:t>(1) </a:t>
                </a:r>
                <a:r>
                  <a:rPr lang="en-US" sz="2400" u="sng" spc="-5" dirty="0">
                    <a:latin typeface="Calibri"/>
                    <a:cs typeface="Calibri"/>
                  </a:rPr>
                  <a:t>Priority</a:t>
                </a:r>
                <a:r>
                  <a:rPr lang="en-US" sz="2400" spc="-5" dirty="0">
                    <a:latin typeface="Calibri"/>
                    <a:cs typeface="Calibri"/>
                  </a:rPr>
                  <a:t> </a:t>
                </a:r>
                <a:r>
                  <a:rPr lang="en-US" sz="2400" dirty="0">
                    <a:latin typeface="Calibri"/>
                    <a:cs typeface="Calibri"/>
                  </a:rPr>
                  <a:t>and (2) </a:t>
                </a:r>
                <a:r>
                  <a:rPr lang="en-US" sz="2400" u="sng" spc="-5" dirty="0">
                    <a:latin typeface="Calibri"/>
                    <a:cs typeface="Calibri"/>
                  </a:rPr>
                  <a:t>time slice</a:t>
                </a:r>
                <a:r>
                  <a:rPr lang="en-US" sz="2400" spc="-5" dirty="0">
                    <a:latin typeface="Calibri"/>
                    <a:cs typeface="Calibri"/>
                  </a:rPr>
                  <a:t>: higher-priority </a:t>
                </a:r>
                <a:r>
                  <a:rPr lang="en-US" sz="2400" spc="-10" dirty="0">
                    <a:latin typeface="Calibri"/>
                    <a:cs typeface="Calibri"/>
                  </a:rPr>
                  <a:t>processes get </a:t>
                </a:r>
                <a:r>
                  <a:rPr lang="en-US" sz="2400" spc="-15" dirty="0">
                    <a:latin typeface="Calibri"/>
                    <a:cs typeface="Calibri"/>
                  </a:rPr>
                  <a:t>to </a:t>
                </a:r>
                <a:r>
                  <a:rPr lang="en-US" sz="2400" dirty="0">
                    <a:latin typeface="Calibri"/>
                    <a:cs typeface="Calibri"/>
                  </a:rPr>
                  <a:t>run </a:t>
                </a:r>
                <a:r>
                  <a:rPr lang="en-US" sz="2400" spc="-25" dirty="0">
                    <a:latin typeface="Calibri"/>
                    <a:cs typeface="Calibri"/>
                  </a:rPr>
                  <a:t>before </a:t>
                </a:r>
                <a:r>
                  <a:rPr lang="en-US" sz="2400" spc="-10" dirty="0">
                    <a:latin typeface="Calibri"/>
                    <a:cs typeface="Calibri"/>
                  </a:rPr>
                  <a:t>lower</a:t>
                </a:r>
                <a:r>
                  <a:rPr lang="en-US" sz="2400" spc="25" dirty="0">
                    <a:latin typeface="Calibri"/>
                    <a:cs typeface="Calibri"/>
                  </a:rPr>
                  <a:t> </a:t>
                </a:r>
                <a:r>
                  <a:rPr lang="en-US" sz="2400" spc="-10" dirty="0">
                    <a:latin typeface="Calibri"/>
                    <a:cs typeface="Calibri"/>
                  </a:rPr>
                  <a:t>ones.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698500" marR="811530" lvl="1" indent="-228600">
                  <a:lnSpc>
                    <a:spcPct val="80000"/>
                  </a:lnSpc>
                  <a:spcBef>
                    <a:spcPts val="535"/>
                  </a:spcBef>
                  <a:buFont typeface="Arial"/>
                  <a:buChar char="•"/>
                  <a:tabLst>
                    <a:tab pos="699135" algn="l"/>
                  </a:tabLst>
                </a:pPr>
                <a:r>
                  <a:rPr lang="en-US" sz="2400" spc="-15" dirty="0">
                    <a:latin typeface="Calibri"/>
                    <a:cs typeface="Calibri"/>
                  </a:rPr>
                  <a:t>Traditional scheduling performs </a:t>
                </a:r>
                <a:r>
                  <a:rPr lang="en-US" sz="2400" dirty="0">
                    <a:latin typeface="Calibri"/>
                    <a:cs typeface="Calibri"/>
                  </a:rPr>
                  <a:t>less </a:t>
                </a:r>
                <a:r>
                  <a:rPr lang="en-US" sz="2400" spc="-5" dirty="0">
                    <a:latin typeface="Calibri"/>
                    <a:cs typeface="Calibri"/>
                  </a:rPr>
                  <a:t>efficiently on </a:t>
                </a:r>
                <a:r>
                  <a:rPr lang="en-US" sz="2400" dirty="0">
                    <a:latin typeface="Calibri"/>
                    <a:cs typeface="Calibri"/>
                  </a:rPr>
                  <a:t>modern </a:t>
                </a:r>
                <a:r>
                  <a:rPr lang="en-US" sz="2400" spc="-20" dirty="0">
                    <a:latin typeface="Calibri"/>
                    <a:cs typeface="Calibri"/>
                  </a:rPr>
                  <a:t>systems that </a:t>
                </a:r>
                <a:r>
                  <a:rPr lang="en-US" sz="2400" spc="-5" dirty="0">
                    <a:latin typeface="Calibri"/>
                    <a:cs typeface="Calibri"/>
                  </a:rPr>
                  <a:t>require </a:t>
                </a:r>
                <a:r>
                  <a:rPr lang="en-US" sz="2400" spc="-10" dirty="0">
                    <a:latin typeface="Calibri"/>
                    <a:cs typeface="Calibri"/>
                  </a:rPr>
                  <a:t>good </a:t>
                </a:r>
                <a:r>
                  <a:rPr lang="en-US" sz="2400" spc="-15" dirty="0">
                    <a:latin typeface="Calibri"/>
                    <a:cs typeface="Calibri"/>
                  </a:rPr>
                  <a:t>interactive </a:t>
                </a:r>
                <a:r>
                  <a:rPr lang="en-US" sz="2400" spc="-10" dirty="0">
                    <a:latin typeface="Calibri"/>
                    <a:cs typeface="Calibri"/>
                  </a:rPr>
                  <a:t>performance </a:t>
                </a:r>
                <a:r>
                  <a:rPr lang="en-US" sz="2400" dirty="0">
                    <a:latin typeface="Calibri"/>
                    <a:cs typeface="Calibri"/>
                  </a:rPr>
                  <a:t>and</a:t>
                </a:r>
                <a:r>
                  <a:rPr lang="en-US" sz="2400" spc="-10" dirty="0">
                    <a:latin typeface="Calibri"/>
                    <a:cs typeface="Calibri"/>
                  </a:rPr>
                  <a:t> fairness.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241300" indent="-228600">
                  <a:lnSpc>
                    <a:spcPts val="3325"/>
                  </a:lnSpc>
                  <a:spcBef>
                    <a:spcPts val="32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800" spc="-20" dirty="0">
                    <a:latin typeface="Calibri"/>
                    <a:cs typeface="Calibri"/>
                  </a:rPr>
                  <a:t>CFS </a:t>
                </a:r>
                <a:r>
                  <a:rPr lang="en-US" sz="2800" spc="-15" dirty="0">
                    <a:latin typeface="Calibri"/>
                    <a:cs typeface="Calibri"/>
                  </a:rPr>
                  <a:t>introduces </a:t>
                </a:r>
                <a:r>
                  <a:rPr lang="en-US" sz="2800" i="1" spc="-15" dirty="0">
                    <a:latin typeface="Calibri"/>
                    <a:cs typeface="Calibri"/>
                  </a:rPr>
                  <a:t>fair </a:t>
                </a:r>
                <a:r>
                  <a:rPr lang="en-US" sz="2800" i="1" spc="-5" dirty="0">
                    <a:latin typeface="Calibri"/>
                    <a:cs typeface="Calibri"/>
                  </a:rPr>
                  <a:t>scheduling </a:t>
                </a:r>
                <a:r>
                  <a:rPr lang="en-US" sz="2800" spc="-10" dirty="0">
                    <a:latin typeface="Calibri"/>
                    <a:cs typeface="Calibri"/>
                  </a:rPr>
                  <a:t>that doesn’t use</a:t>
                </a:r>
                <a:r>
                  <a:rPr lang="en-US" sz="2800" spc="100" dirty="0">
                    <a:latin typeface="Calibri"/>
                    <a:cs typeface="Calibri"/>
                  </a:rPr>
                  <a:t> </a:t>
                </a:r>
                <a:r>
                  <a:rPr lang="en-US" sz="2800" spc="-5" dirty="0">
                    <a:latin typeface="Calibri"/>
                    <a:cs typeface="Calibri"/>
                  </a:rPr>
                  <a:t>time slices at all.</a:t>
                </a:r>
                <a:endParaRPr lang="en-US" sz="2800" dirty="0">
                  <a:latin typeface="Calibri"/>
                  <a:cs typeface="Calibri"/>
                </a:endParaRPr>
              </a:p>
              <a:p>
                <a:pPr marL="698500" lvl="1" indent="-229235">
                  <a:lnSpc>
                    <a:spcPts val="2810"/>
                  </a:lnSpc>
                  <a:buFont typeface="Arial"/>
                  <a:buChar char="•"/>
                  <a:tabLst>
                    <a:tab pos="699135" algn="l"/>
                  </a:tabLst>
                </a:pPr>
                <a:r>
                  <a:rPr lang="en-US" sz="2400" dirty="0">
                    <a:latin typeface="Calibri"/>
                    <a:cs typeface="Calibri"/>
                  </a:rPr>
                  <a:t>It assigns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  <a:cs typeface="Calibri"/>
                  </a:rPr>
                  <a:t>N</a:t>
                </a:r>
                <a:r>
                  <a:rPr lang="en-US" sz="2400" dirty="0">
                    <a:latin typeface="Calibri"/>
                    <a:cs typeface="Calibri"/>
                  </a:rPr>
                  <a:t> </a:t>
                </a:r>
                <a:r>
                  <a:rPr lang="en-US" sz="2400" spc="-10" dirty="0">
                    <a:latin typeface="Calibri"/>
                    <a:cs typeface="Calibri"/>
                  </a:rPr>
                  <a:t>processes </a:t>
                </a:r>
                <a:r>
                  <a:rPr lang="en-US" sz="2400" dirty="0">
                    <a:latin typeface="Calibri"/>
                    <a:cs typeface="Calibri"/>
                  </a:rPr>
                  <a:t>each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i="1" spc="-5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ar-AE" sz="2400" b="0" i="1" spc="-5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num>
                      <m:den>
                        <m:r>
                          <a:rPr lang="en-US" sz="2400" b="0" i="1" spc="-5" dirty="0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den>
                    </m:f>
                  </m:oMath>
                </a14:m>
                <a:r>
                  <a:rPr lang="ar-AE" sz="2400" spc="-5" dirty="0">
                    <a:latin typeface="Calibri"/>
                    <a:cs typeface="Calibri"/>
                  </a:rPr>
                  <a:t> </a:t>
                </a:r>
                <a:r>
                  <a:rPr lang="en-US" sz="2400" spc="-10" dirty="0">
                    <a:latin typeface="Calibri"/>
                    <a:cs typeface="Calibri"/>
                  </a:rPr>
                  <a:t>of </a:t>
                </a:r>
                <a:r>
                  <a:rPr lang="en-US" sz="2400" dirty="0">
                    <a:latin typeface="Calibri"/>
                    <a:cs typeface="Calibri"/>
                  </a:rPr>
                  <a:t>the </a:t>
                </a:r>
                <a:r>
                  <a:rPr lang="en-US" sz="2400" spc="-5" dirty="0">
                    <a:latin typeface="Calibri"/>
                    <a:cs typeface="Calibri"/>
                  </a:rPr>
                  <a:t>CPU</a:t>
                </a:r>
                <a:r>
                  <a:rPr lang="en-US" sz="2400" spc="-60" dirty="0">
                    <a:latin typeface="Calibri"/>
                    <a:cs typeface="Calibri"/>
                  </a:rPr>
                  <a:t> </a:t>
                </a:r>
                <a:r>
                  <a:rPr lang="en-US" sz="2400" dirty="0">
                    <a:latin typeface="Calibri"/>
                    <a:cs typeface="Calibri"/>
                  </a:rPr>
                  <a:t>time. The number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i="1" spc="-5" dirty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ar-AE" sz="2400" i="1" spc="-5" dirty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num>
                      <m:den>
                        <m:r>
                          <a:rPr lang="en-US" sz="2400" i="1" spc="-5" dirty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den>
                    </m:f>
                  </m:oMath>
                </a14:m>
                <a:r>
                  <a:rPr lang="ar-AE" sz="2400" spc="-5" dirty="0">
                    <a:cs typeface="Calibri"/>
                  </a:rPr>
                  <a:t> </a:t>
                </a:r>
                <a:r>
                  <a:rPr lang="en-US" sz="2400" spc="-5" dirty="0">
                    <a:cs typeface="Calibri"/>
                  </a:rPr>
                  <a:t> is called </a:t>
                </a:r>
                <a:r>
                  <a:rPr lang="en-US" sz="2400" i="1" spc="-5" dirty="0">
                    <a:cs typeface="Calibri"/>
                  </a:rPr>
                  <a:t>weight</a:t>
                </a:r>
                <a:r>
                  <a:rPr lang="en-US" sz="2400" spc="-5" dirty="0">
                    <a:cs typeface="Calibri"/>
                  </a:rPr>
                  <a:t>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698500" lvl="1" indent="-229235">
                  <a:lnSpc>
                    <a:spcPts val="2810"/>
                  </a:lnSpc>
                  <a:buFont typeface="Arial"/>
                  <a:buChar char="•"/>
                  <a:tabLst>
                    <a:tab pos="699135" algn="l"/>
                  </a:tabLst>
                </a:pPr>
                <a:r>
                  <a:rPr lang="en-US" sz="2400" spc="-5" dirty="0">
                    <a:latin typeface="Calibri"/>
                    <a:cs typeface="Calibri"/>
                  </a:rPr>
                  <a:t>The assignment </a:t>
                </a:r>
                <a:r>
                  <a:rPr lang="en-US" sz="2400" dirty="0">
                    <a:latin typeface="Calibri"/>
                    <a:cs typeface="Calibri"/>
                  </a:rPr>
                  <a:t>is </a:t>
                </a:r>
                <a:r>
                  <a:rPr lang="en-US" sz="2400" spc="-10" dirty="0">
                    <a:latin typeface="Calibri"/>
                    <a:cs typeface="Calibri"/>
                  </a:rPr>
                  <a:t>adjusted by considering </a:t>
                </a:r>
                <a:r>
                  <a:rPr lang="en-US" sz="2400" dirty="0">
                    <a:latin typeface="Calibri"/>
                    <a:cs typeface="Calibri"/>
                  </a:rPr>
                  <a:t>a process’s </a:t>
                </a:r>
                <a:r>
                  <a:rPr lang="en-US" sz="2400" i="1" spc="-10" dirty="0">
                    <a:latin typeface="Calibri"/>
                    <a:cs typeface="Calibri"/>
                  </a:rPr>
                  <a:t>nice </a:t>
                </a:r>
                <a:r>
                  <a:rPr lang="en-US" sz="2400" spc="-10" dirty="0">
                    <a:latin typeface="Calibri"/>
                    <a:cs typeface="Calibri"/>
                  </a:rPr>
                  <a:t>value (the default </a:t>
                </a:r>
                <a:r>
                  <a:rPr lang="en-US" sz="2400" dirty="0">
                    <a:latin typeface="Calibri"/>
                    <a:cs typeface="Calibri"/>
                  </a:rPr>
                  <a:t>is</a:t>
                </a:r>
                <a:r>
                  <a:rPr lang="en-US" sz="2400" spc="25" dirty="0">
                    <a:latin typeface="Calibri"/>
                    <a:cs typeface="Calibri"/>
                  </a:rPr>
                  <a:t> </a:t>
                </a:r>
                <a:r>
                  <a:rPr lang="en-US" sz="2400" spc="-5" dirty="0">
                    <a:latin typeface="Calibri"/>
                    <a:cs typeface="Calibri"/>
                  </a:rPr>
                  <a:t>0.)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698500" lvl="1" indent="-229235">
                  <a:lnSpc>
                    <a:spcPts val="2555"/>
                  </a:lnSpc>
                  <a:buFont typeface="Arial"/>
                  <a:buChar char="•"/>
                  <a:tabLst>
                    <a:tab pos="699135" algn="l"/>
                  </a:tabLst>
                </a:pPr>
                <a:r>
                  <a:rPr lang="en-US" sz="2400" spc="-10" dirty="0">
                    <a:latin typeface="Calibri"/>
                    <a:cs typeface="Calibri"/>
                  </a:rPr>
                  <a:t>Processes </a:t>
                </a:r>
                <a:r>
                  <a:rPr lang="en-US" sz="2400" dirty="0">
                    <a:latin typeface="Calibri"/>
                    <a:cs typeface="Calibri"/>
                  </a:rPr>
                  <a:t>with </a:t>
                </a:r>
                <a:r>
                  <a:rPr lang="en-US" sz="2400" spc="-5" dirty="0">
                    <a:latin typeface="Calibri"/>
                    <a:cs typeface="Calibri"/>
                  </a:rPr>
                  <a:t>smaller nice </a:t>
                </a:r>
                <a:r>
                  <a:rPr lang="en-US" sz="2400" spc="-10" dirty="0">
                    <a:latin typeface="Calibri"/>
                    <a:cs typeface="Calibri"/>
                  </a:rPr>
                  <a:t>values </a:t>
                </a:r>
                <a:r>
                  <a:rPr lang="en-US" sz="2400" spc="-5" dirty="0">
                    <a:latin typeface="Calibri"/>
                    <a:cs typeface="Calibri"/>
                  </a:rPr>
                  <a:t>(= higher priority) </a:t>
                </a:r>
                <a:r>
                  <a:rPr lang="en-US" sz="2400" spc="-10" dirty="0">
                    <a:latin typeface="Calibri"/>
                    <a:cs typeface="Calibri"/>
                  </a:rPr>
                  <a:t>receive </a:t>
                </a:r>
                <a:r>
                  <a:rPr lang="en-US" sz="2400" dirty="0">
                    <a:latin typeface="Calibri"/>
                    <a:cs typeface="Calibri"/>
                  </a:rPr>
                  <a:t>a </a:t>
                </a:r>
                <a:r>
                  <a:rPr lang="en-US" sz="2400" spc="-10" dirty="0">
                    <a:latin typeface="Calibri"/>
                    <a:cs typeface="Calibri"/>
                  </a:rPr>
                  <a:t>larger</a:t>
                </a:r>
                <a:r>
                  <a:rPr lang="en-US" sz="2400" spc="-55" dirty="0">
                    <a:latin typeface="Calibri"/>
                    <a:cs typeface="Calibri"/>
                  </a:rPr>
                  <a:t> </a:t>
                </a:r>
                <a:r>
                  <a:rPr lang="en-US" sz="2400" spc="-10" dirty="0">
                    <a:latin typeface="Calibri"/>
                    <a:cs typeface="Calibri"/>
                  </a:rPr>
                  <a:t>weights,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698500">
                  <a:lnSpc>
                    <a:spcPts val="2550"/>
                  </a:lnSpc>
                </a:pPr>
                <a:r>
                  <a:rPr lang="en-US" sz="2400" spc="-5" dirty="0">
                    <a:latin typeface="Calibri"/>
                    <a:cs typeface="Calibri"/>
                  </a:rPr>
                  <a:t>increasing </a:t>
                </a:r>
                <a:r>
                  <a:rPr lang="en-US" sz="2400" dirty="0">
                    <a:latin typeface="Calibri"/>
                    <a:cs typeface="Calibri"/>
                  </a:rPr>
                  <a:t>their </a:t>
                </a:r>
                <a:r>
                  <a:rPr lang="en-US" sz="2400" spc="-5" dirty="0">
                    <a:latin typeface="Calibri"/>
                    <a:cs typeface="Calibri"/>
                  </a:rPr>
                  <a:t>CPU</a:t>
                </a:r>
                <a:r>
                  <a:rPr lang="en-US" sz="2400" spc="-45" dirty="0">
                    <a:latin typeface="Calibri"/>
                    <a:cs typeface="Calibri"/>
                  </a:rPr>
                  <a:t> </a:t>
                </a:r>
                <a:r>
                  <a:rPr lang="en-US" sz="2400" dirty="0">
                    <a:latin typeface="Calibri"/>
                    <a:cs typeface="Calibri"/>
                  </a:rPr>
                  <a:t>time.</a:t>
                </a:r>
              </a:p>
              <a:p>
                <a:pPr marL="698500" marR="5080" lvl="1" indent="-228600">
                  <a:lnSpc>
                    <a:spcPct val="80000"/>
                  </a:lnSpc>
                  <a:spcBef>
                    <a:spcPts val="530"/>
                  </a:spcBef>
                  <a:buFont typeface="Arial"/>
                  <a:buChar char="•"/>
                  <a:tabLst>
                    <a:tab pos="699135" algn="l"/>
                  </a:tabLst>
                </a:pPr>
                <a:r>
                  <a:rPr lang="en-US" sz="2400" spc="-114" dirty="0">
                    <a:latin typeface="Calibri"/>
                    <a:cs typeface="Calibri"/>
                  </a:rPr>
                  <a:t>To </a:t>
                </a:r>
                <a:r>
                  <a:rPr lang="en-US" sz="2400" spc="-5" dirty="0">
                    <a:latin typeface="Calibri"/>
                    <a:cs typeface="Calibri"/>
                  </a:rPr>
                  <a:t>determine </a:t>
                </a:r>
                <a:r>
                  <a:rPr lang="en-US" sz="2400" dirty="0">
                    <a:latin typeface="Calibri"/>
                    <a:cs typeface="Calibri"/>
                  </a:rPr>
                  <a:t>a process’s CPU time, </a:t>
                </a:r>
                <a:r>
                  <a:rPr lang="en-US" sz="2400" spc="-15" dirty="0">
                    <a:latin typeface="Calibri"/>
                    <a:cs typeface="Calibri"/>
                  </a:rPr>
                  <a:t>CFS </a:t>
                </a:r>
                <a:r>
                  <a:rPr lang="en-US" sz="2400" spc="-5" dirty="0">
                    <a:latin typeface="Calibri"/>
                    <a:cs typeface="Calibri"/>
                  </a:rPr>
                  <a:t>multiplies </a:t>
                </a:r>
                <a:r>
                  <a:rPr lang="en-US" sz="2400" dirty="0">
                    <a:latin typeface="Calibri"/>
                    <a:cs typeface="Calibri"/>
                  </a:rPr>
                  <a:t>the </a:t>
                </a:r>
                <a:r>
                  <a:rPr lang="en-US" sz="2400" i="1" spc="-10" dirty="0">
                    <a:latin typeface="Calibri"/>
                    <a:cs typeface="Calibri"/>
                  </a:rPr>
                  <a:t>target </a:t>
                </a:r>
                <a:r>
                  <a:rPr lang="en-US" sz="2400" i="1" spc="-5" dirty="0">
                    <a:latin typeface="Calibri"/>
                    <a:cs typeface="Calibri"/>
                  </a:rPr>
                  <a:t>latency</a:t>
                </a:r>
                <a:r>
                  <a:rPr lang="en-US" sz="2400" spc="-5" dirty="0">
                    <a:latin typeface="Calibri"/>
                    <a:cs typeface="Calibri"/>
                  </a:rPr>
                  <a:t>, </a:t>
                </a:r>
                <a:r>
                  <a:rPr lang="en-US" sz="2400" dirty="0">
                    <a:latin typeface="Calibri"/>
                    <a:cs typeface="Calibri"/>
                  </a:rPr>
                  <a:t>which is the </a:t>
                </a:r>
                <a:r>
                  <a:rPr lang="en-US" sz="2400" spc="-5" dirty="0">
                    <a:latin typeface="Calibri"/>
                    <a:cs typeface="Calibri"/>
                  </a:rPr>
                  <a:t>scheduling </a:t>
                </a:r>
                <a:r>
                  <a:rPr lang="en-US" sz="2400" spc="-10" dirty="0">
                    <a:latin typeface="Calibri"/>
                    <a:cs typeface="Calibri"/>
                  </a:rPr>
                  <a:t>latency </a:t>
                </a:r>
                <a:r>
                  <a:rPr lang="en-US" sz="2400" spc="-5" dirty="0">
                    <a:latin typeface="Calibri"/>
                    <a:cs typeface="Calibri"/>
                  </a:rPr>
                  <a:t>of </a:t>
                </a:r>
                <a:r>
                  <a:rPr lang="en-US" sz="2400" dirty="0">
                    <a:latin typeface="Calibri"/>
                    <a:cs typeface="Calibri"/>
                  </a:rPr>
                  <a:t>the </a:t>
                </a:r>
                <a:r>
                  <a:rPr lang="en-US" sz="2400" spc="-25" dirty="0">
                    <a:latin typeface="Calibri"/>
                    <a:cs typeface="Calibri"/>
                  </a:rPr>
                  <a:t>system, by the weight.</a:t>
                </a:r>
              </a:p>
              <a:p>
                <a:pPr marL="698500" marR="5080" lvl="1" indent="-228600">
                  <a:lnSpc>
                    <a:spcPct val="80000"/>
                  </a:lnSpc>
                  <a:spcBef>
                    <a:spcPts val="530"/>
                  </a:spcBef>
                  <a:buFont typeface="Arial"/>
                  <a:buChar char="•"/>
                  <a:tabLst>
                    <a:tab pos="699135" algn="l"/>
                  </a:tabLst>
                </a:pPr>
                <a:r>
                  <a:rPr lang="en-US" sz="2400" spc="-25" dirty="0">
                    <a:latin typeface="Calibri"/>
                    <a:cs typeface="Calibri"/>
                  </a:rPr>
                  <a:t>See an example on the next slide.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1759661"/>
                <a:ext cx="11046461" cy="4318170"/>
              </a:xfrm>
              <a:prstGeom prst="rect">
                <a:avLst/>
              </a:prstGeom>
              <a:blipFill>
                <a:blip r:embed="rId2"/>
                <a:stretch>
                  <a:fillRect l="-1710" t="-2401" r="-1489" b="-3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3982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5" dirty="0"/>
              <a:t>Target</a:t>
            </a:r>
            <a:r>
              <a:rPr spc="-130" dirty="0"/>
              <a:t> </a:t>
            </a:r>
            <a:r>
              <a:rPr spc="-40" dirty="0"/>
              <a:t>Latency</a:t>
            </a:r>
            <a:r>
              <a:rPr lang="en-US" spc="-40" dirty="0"/>
              <a:t>: Example</a:t>
            </a:r>
            <a:endParaRPr spc="-4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916939" y="1719663"/>
                <a:ext cx="10361295" cy="4537011"/>
              </a:xfrm>
              <a:prstGeom prst="rect">
                <a:avLst/>
              </a:prstGeom>
            </p:spPr>
            <p:txBody>
              <a:bodyPr vert="horz" wrap="square" lIns="0" tIns="66675" rIns="0" bIns="0" rtlCol="0">
                <a:spAutoFit/>
              </a:bodyPr>
              <a:lstStyle/>
              <a:p>
                <a:pPr marL="241300" indent="-228600">
                  <a:lnSpc>
                    <a:spcPct val="100000"/>
                  </a:lnSpc>
                  <a:spcBef>
                    <a:spcPts val="52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400" spc="-5" dirty="0">
                    <a:latin typeface="Calibri"/>
                    <a:cs typeface="Calibri"/>
                  </a:rPr>
                  <a:t>Suppose </a:t>
                </a:r>
                <a:r>
                  <a:rPr lang="en-US" sz="2400" spc="-20" dirty="0">
                    <a:latin typeface="Calibri"/>
                    <a:cs typeface="Calibri"/>
                  </a:rPr>
                  <a:t>the target latency is </a:t>
                </a:r>
                <a:r>
                  <a:rPr lang="en-US" sz="2400" spc="-10" dirty="0">
                    <a:latin typeface="Calibri"/>
                    <a:cs typeface="Calibri"/>
                  </a:rPr>
                  <a:t>set </a:t>
                </a:r>
                <a:r>
                  <a:rPr lang="en-US" sz="2400" spc="-15" dirty="0">
                    <a:latin typeface="Calibri"/>
                    <a:cs typeface="Calibri"/>
                  </a:rPr>
                  <a:t>to </a:t>
                </a:r>
                <a:r>
                  <a:rPr lang="en-US" sz="2400" spc="-5" dirty="0">
                    <a:latin typeface="Calibri"/>
                    <a:cs typeface="Calibri"/>
                  </a:rPr>
                  <a:t>20ms, </a:t>
                </a:r>
                <a:r>
                  <a:rPr lang="en-US" sz="2400" dirty="0">
                    <a:latin typeface="Calibri"/>
                    <a:cs typeface="Calibri"/>
                  </a:rPr>
                  <a:t>and </a:t>
                </a:r>
                <a:r>
                  <a:rPr lang="en-US" sz="2400" spc="-5" dirty="0">
                    <a:latin typeface="Calibri"/>
                    <a:cs typeface="Calibri"/>
                  </a:rPr>
                  <a:t>there </a:t>
                </a:r>
                <a:r>
                  <a:rPr lang="en-US" sz="2400" spc="-10" dirty="0">
                    <a:latin typeface="Calibri"/>
                    <a:cs typeface="Calibri"/>
                  </a:rPr>
                  <a:t>are two </a:t>
                </a:r>
                <a:r>
                  <a:rPr lang="en-US" sz="2400" dirty="0">
                    <a:latin typeface="Calibri"/>
                    <a:cs typeface="Calibri"/>
                  </a:rPr>
                  <a:t>ready </a:t>
                </a:r>
                <a:r>
                  <a:rPr lang="en-US" sz="2400" spc="-10" dirty="0">
                    <a:latin typeface="Calibri"/>
                    <a:cs typeface="Calibri"/>
                  </a:rPr>
                  <a:t>processes </a:t>
                </a:r>
                <a:r>
                  <a:rPr lang="en-US" sz="2400" dirty="0">
                    <a:latin typeface="Calibri"/>
                    <a:cs typeface="Calibri"/>
                  </a:rPr>
                  <a:t>with equal</a:t>
                </a:r>
                <a:r>
                  <a:rPr lang="en-US" sz="2400" spc="70" dirty="0">
                    <a:latin typeface="Calibri"/>
                    <a:cs typeface="Calibri"/>
                  </a:rPr>
                  <a:t> </a:t>
                </a:r>
                <a:r>
                  <a:rPr lang="en-US" sz="2400" spc="-5" dirty="0">
                    <a:latin typeface="Calibri"/>
                    <a:cs typeface="Calibri"/>
                  </a:rPr>
                  <a:t>priorities.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241300" indent="-228600">
                  <a:lnSpc>
                    <a:spcPct val="100000"/>
                  </a:lnSpc>
                  <a:spcBef>
                    <a:spcPts val="42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400" spc="-5" dirty="0">
                    <a:latin typeface="Calibri"/>
                    <a:cs typeface="Calibri"/>
                  </a:rPr>
                  <a:t>The weight of </a:t>
                </a:r>
                <a:r>
                  <a:rPr lang="en-US" sz="2400" dirty="0">
                    <a:latin typeface="Calibri"/>
                    <a:cs typeface="Calibri"/>
                  </a:rPr>
                  <a:t>each process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ar-AE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num>
                      <m:den>
                        <m:r>
                          <a:rPr lang="en-US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spc="-5" dirty="0">
                    <a:latin typeface="Calibri"/>
                    <a:cs typeface="Calibri"/>
                  </a:rPr>
                  <a:t>. So, each one’s CPU time will be </a:t>
                </a:r>
                <a14:m>
                  <m:oMath xmlns:m="http://schemas.openxmlformats.org/officeDocument/2006/math">
                    <m:r>
                      <a:rPr lang="en-US" sz="2400" b="0" i="1" spc="-5" smtClean="0">
                        <a:latin typeface="Cambria Math" panose="02040503050406030204" pitchFamily="18" charset="0"/>
                        <a:cs typeface="Calibri"/>
                      </a:rPr>
                      <m:t>20</m:t>
                    </m:r>
                    <m:r>
                      <a:rPr lang="en-US" sz="2400" b="0" i="1" spc="-5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×</m:t>
                    </m:r>
                    <m:f>
                      <m:fPr>
                        <m:ctrlPr>
                          <a:rPr lang="ar-AE" sz="2400" i="1" spc="-1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ar-AE" sz="2400" i="1" spc="-1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num>
                      <m:den>
                        <m:r>
                          <a:rPr lang="en-US" sz="2400" i="1" spc="-1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den>
                    </m:f>
                    <m:r>
                      <a:rPr lang="en-US" sz="2400" b="0" i="1" spc="-10" smtClean="0">
                        <a:latin typeface="Cambria Math" panose="02040503050406030204" pitchFamily="18" charset="0"/>
                        <a:cs typeface="Calibri"/>
                      </a:rPr>
                      <m:t>= </m:t>
                    </m:r>
                  </m:oMath>
                </a14:m>
                <a:r>
                  <a:rPr lang="en-US" sz="2400" dirty="0">
                    <a:latin typeface="Calibri"/>
                    <a:cs typeface="Calibri"/>
                  </a:rPr>
                  <a:t>10ms.</a:t>
                </a:r>
              </a:p>
              <a:p>
                <a:pPr marL="241300" indent="-228600">
                  <a:lnSpc>
                    <a:spcPct val="100000"/>
                  </a:lnSpc>
                  <a:spcBef>
                    <a:spcPts val="434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400" dirty="0">
                    <a:latin typeface="Calibri"/>
                    <a:cs typeface="Calibri"/>
                  </a:rPr>
                  <a:t>If </a:t>
                </a:r>
                <a:r>
                  <a:rPr lang="en-US" sz="2400" spc="-10" dirty="0">
                    <a:latin typeface="Calibri"/>
                    <a:cs typeface="Calibri"/>
                  </a:rPr>
                  <a:t>there are </a:t>
                </a:r>
                <a:r>
                  <a:rPr lang="en-US" sz="2400" dirty="0">
                    <a:latin typeface="Calibri"/>
                    <a:cs typeface="Calibri"/>
                  </a:rPr>
                  <a:t>5 </a:t>
                </a:r>
                <a:r>
                  <a:rPr lang="en-US" sz="2400" spc="-5" dirty="0">
                    <a:latin typeface="Calibri"/>
                    <a:cs typeface="Calibri"/>
                  </a:rPr>
                  <a:t>runnable </a:t>
                </a:r>
                <a:r>
                  <a:rPr lang="en-US" sz="2400" spc="-10" dirty="0">
                    <a:latin typeface="Calibri"/>
                    <a:cs typeface="Calibri"/>
                  </a:rPr>
                  <a:t>processes, </a:t>
                </a:r>
                <a:r>
                  <a:rPr lang="en-US" sz="2400" spc="-15" dirty="0">
                    <a:latin typeface="Calibri"/>
                    <a:cs typeface="Calibri"/>
                  </a:rPr>
                  <a:t>CFS </a:t>
                </a:r>
                <a:r>
                  <a:rPr lang="en-US" sz="2400" dirty="0">
                    <a:latin typeface="Calibri"/>
                    <a:cs typeface="Calibri"/>
                  </a:rPr>
                  <a:t>will run each </a:t>
                </a:r>
                <a:r>
                  <a:rPr lang="en-US" sz="2400" spc="-20" dirty="0">
                    <a:latin typeface="Calibri"/>
                    <a:cs typeface="Calibri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b="0" i="1" spc="-5" smtClean="0">
                        <a:latin typeface="Cambria Math" panose="02040503050406030204" pitchFamily="18" charset="0"/>
                        <a:cs typeface="Calibri"/>
                      </a:rPr>
                      <m:t>20</m:t>
                    </m:r>
                    <m:r>
                      <a:rPr lang="en-US" sz="2400" b="0" i="1" spc="-5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×</m:t>
                    </m:r>
                    <m:f>
                      <m:fPr>
                        <m:ctrlPr>
                          <a:rPr lang="ar-AE" sz="2400" i="1" spc="-1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ar-AE" sz="2400" i="1" spc="-1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num>
                      <m:den>
                        <m:r>
                          <a:rPr lang="en-US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5</m:t>
                        </m:r>
                      </m:den>
                    </m:f>
                    <m:r>
                      <a:rPr lang="en-US" sz="2400" b="0" i="1" spc="-10" smtClean="0">
                        <a:latin typeface="Cambria Math" panose="02040503050406030204" pitchFamily="18" charset="0"/>
                        <a:cs typeface="Calibri"/>
                      </a:rPr>
                      <m:t>= </m:t>
                    </m:r>
                  </m:oMath>
                </a14:m>
                <a:r>
                  <a:rPr lang="en-US" sz="2400" dirty="0">
                    <a:latin typeface="Calibri"/>
                    <a:cs typeface="Calibri"/>
                  </a:rPr>
                  <a:t>4ms.</a:t>
                </a:r>
              </a:p>
              <a:p>
                <a:pPr marL="241300" indent="-228600">
                  <a:lnSpc>
                    <a:spcPct val="100000"/>
                  </a:lnSpc>
                  <a:spcBef>
                    <a:spcPts val="42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400" dirty="0">
                    <a:latin typeface="Calibri"/>
                    <a:cs typeface="Calibri"/>
                  </a:rPr>
                  <a:t>But if </a:t>
                </a:r>
                <a:r>
                  <a:rPr lang="en-US" sz="2400" spc="-5" dirty="0">
                    <a:latin typeface="Calibri"/>
                    <a:cs typeface="Calibri"/>
                  </a:rPr>
                  <a:t>there </a:t>
                </a:r>
                <a:r>
                  <a:rPr lang="en-US" sz="2400" spc="-10" dirty="0">
                    <a:latin typeface="Calibri"/>
                    <a:cs typeface="Calibri"/>
                  </a:rPr>
                  <a:t>are </a:t>
                </a:r>
                <a:r>
                  <a:rPr lang="en-US" sz="2400" dirty="0">
                    <a:latin typeface="Calibri"/>
                    <a:cs typeface="Calibri"/>
                  </a:rPr>
                  <a:t>200 </a:t>
                </a:r>
                <a:r>
                  <a:rPr lang="en-US" sz="2400" spc="-10" dirty="0">
                    <a:latin typeface="Calibri"/>
                    <a:cs typeface="Calibri"/>
                  </a:rPr>
                  <a:t>processes, </a:t>
                </a:r>
                <a:r>
                  <a:rPr lang="en-US" sz="2400" dirty="0">
                    <a:latin typeface="Calibri"/>
                    <a:cs typeface="Calibri"/>
                  </a:rPr>
                  <a:t>each time </a:t>
                </a:r>
                <a:r>
                  <a:rPr lang="en-US" sz="2400" spc="-5" dirty="0">
                    <a:latin typeface="Calibri"/>
                    <a:cs typeface="Calibri"/>
                  </a:rPr>
                  <a:t>slot </a:t>
                </a:r>
                <a:r>
                  <a:rPr lang="en-US" sz="2400" dirty="0">
                    <a:latin typeface="Calibri"/>
                    <a:cs typeface="Calibri"/>
                  </a:rPr>
                  <a:t>will </a:t>
                </a:r>
                <a:r>
                  <a:rPr lang="en-US" sz="2400" spc="-5" dirty="0">
                    <a:latin typeface="Calibri"/>
                    <a:cs typeface="Calibri"/>
                  </a:rPr>
                  <a:t>be 0.1ms </a:t>
                </a:r>
                <a:r>
                  <a:rPr lang="en-US" sz="2400" spc="-10" dirty="0">
                    <a:latin typeface="Calibri"/>
                    <a:cs typeface="Calibri"/>
                  </a:rPr>
                  <a:t>(too</a:t>
                </a:r>
                <a:r>
                  <a:rPr lang="en-US" sz="2400" spc="-80" dirty="0">
                    <a:latin typeface="Calibri"/>
                    <a:cs typeface="Calibri"/>
                  </a:rPr>
                  <a:t> </a:t>
                </a:r>
                <a:r>
                  <a:rPr lang="en-US" sz="2400" spc="-5" dirty="0">
                    <a:latin typeface="Calibri"/>
                    <a:cs typeface="Calibri"/>
                  </a:rPr>
                  <a:t>small.)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241300" marR="294640" indent="-228600">
                  <a:lnSpc>
                    <a:spcPts val="2300"/>
                  </a:lnSpc>
                  <a:spcBef>
                    <a:spcPts val="98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400" spc="-75" dirty="0">
                    <a:latin typeface="Calibri"/>
                    <a:cs typeface="Calibri"/>
                  </a:rPr>
                  <a:t>Too </a:t>
                </a:r>
                <a:r>
                  <a:rPr lang="en-US" sz="2400" dirty="0">
                    <a:latin typeface="Calibri"/>
                    <a:cs typeface="Calibri"/>
                  </a:rPr>
                  <a:t>small </a:t>
                </a:r>
                <a:r>
                  <a:rPr lang="en-US" sz="2400" spc="-5" dirty="0">
                    <a:latin typeface="Calibri"/>
                    <a:cs typeface="Calibri"/>
                  </a:rPr>
                  <a:t>of </a:t>
                </a:r>
                <a:r>
                  <a:rPr lang="en-US" sz="2400" dirty="0">
                    <a:latin typeface="Calibri"/>
                    <a:cs typeface="Calibri"/>
                  </a:rPr>
                  <a:t>a time </a:t>
                </a:r>
                <a:r>
                  <a:rPr lang="en-US" sz="2400" spc="-5" dirty="0">
                    <a:latin typeface="Calibri"/>
                    <a:cs typeface="Calibri"/>
                  </a:rPr>
                  <a:t>slot </a:t>
                </a:r>
                <a:r>
                  <a:rPr lang="en-US" sz="2400" spc="-15" dirty="0">
                    <a:latin typeface="Calibri"/>
                    <a:cs typeface="Calibri"/>
                  </a:rPr>
                  <a:t>creates </a:t>
                </a:r>
                <a:r>
                  <a:rPr lang="en-US" sz="2400" dirty="0">
                    <a:latin typeface="Calibri"/>
                    <a:cs typeface="Calibri"/>
                  </a:rPr>
                  <a:t>significant </a:t>
                </a:r>
                <a:r>
                  <a:rPr lang="en-US" sz="2400" spc="-5" dirty="0">
                    <a:latin typeface="Calibri"/>
                    <a:cs typeface="Calibri"/>
                  </a:rPr>
                  <a:t>switching overhead</a:t>
                </a:r>
                <a:r>
                  <a:rPr lang="en-US" sz="2400" spc="-10" dirty="0">
                    <a:latin typeface="Calibri"/>
                    <a:cs typeface="Calibri"/>
                  </a:rPr>
                  <a:t>, and, together </a:t>
                </a:r>
                <a:r>
                  <a:rPr lang="en-US" sz="2400" dirty="0">
                    <a:latin typeface="Calibri"/>
                    <a:cs typeface="Calibri"/>
                  </a:rPr>
                  <a:t>with the </a:t>
                </a:r>
                <a:r>
                  <a:rPr lang="en-US" sz="2400" spc="-5" dirty="0">
                    <a:latin typeface="Calibri"/>
                    <a:cs typeface="Calibri"/>
                  </a:rPr>
                  <a:t>reduced </a:t>
                </a:r>
                <a:r>
                  <a:rPr lang="en-US" sz="2400" spc="-10" dirty="0">
                    <a:latin typeface="Calibri"/>
                    <a:cs typeface="Calibri"/>
                  </a:rPr>
                  <a:t>temporal </a:t>
                </a:r>
                <a:r>
                  <a:rPr lang="en-US" sz="2400" spc="-20" dirty="0">
                    <a:latin typeface="Calibri"/>
                    <a:cs typeface="Calibri"/>
                  </a:rPr>
                  <a:t>locality, the </a:t>
                </a:r>
                <a:r>
                  <a:rPr lang="en-US" sz="2400" spc="-35" dirty="0">
                    <a:latin typeface="Calibri"/>
                    <a:cs typeface="Calibri"/>
                  </a:rPr>
                  <a:t>system’s </a:t>
                </a:r>
                <a:r>
                  <a:rPr lang="en-US" sz="2400" spc="-15" dirty="0">
                    <a:latin typeface="Calibri"/>
                    <a:cs typeface="Calibri"/>
                  </a:rPr>
                  <a:t>overall </a:t>
                </a:r>
                <a:r>
                  <a:rPr lang="en-US" sz="2400" spc="-5" dirty="0">
                    <a:latin typeface="Calibri"/>
                    <a:cs typeface="Calibri"/>
                  </a:rPr>
                  <a:t>throughput </a:t>
                </a:r>
                <a:r>
                  <a:rPr lang="en-US" sz="2400" spc="-10" dirty="0">
                    <a:latin typeface="Calibri"/>
                    <a:cs typeface="Calibri"/>
                  </a:rPr>
                  <a:t>would </a:t>
                </a:r>
                <a:r>
                  <a:rPr lang="en-US" sz="2400" spc="-15" dirty="0">
                    <a:latin typeface="Calibri"/>
                    <a:cs typeface="Calibri"/>
                  </a:rPr>
                  <a:t>suffer </a:t>
                </a:r>
                <a:r>
                  <a:rPr lang="en-US" sz="2400" dirty="0">
                    <a:latin typeface="Calibri"/>
                    <a:cs typeface="Calibri"/>
                  </a:rPr>
                  <a:t>– </a:t>
                </a:r>
                <a:r>
                  <a:rPr lang="en-US" sz="2400" spc="-15" dirty="0">
                    <a:latin typeface="Calibri"/>
                    <a:cs typeface="Calibri"/>
                  </a:rPr>
                  <a:t>we </a:t>
                </a:r>
                <a:r>
                  <a:rPr lang="en-US" sz="2400" spc="-5" dirty="0">
                    <a:latin typeface="Calibri"/>
                    <a:cs typeface="Calibri"/>
                  </a:rPr>
                  <a:t>need to define </a:t>
                </a:r>
                <a:r>
                  <a:rPr lang="en-US" sz="2400" dirty="0">
                    <a:latin typeface="Calibri"/>
                    <a:cs typeface="Calibri"/>
                  </a:rPr>
                  <a:t>minimum</a:t>
                </a:r>
                <a:r>
                  <a:rPr lang="en-US" sz="2400" spc="-30" dirty="0">
                    <a:latin typeface="Calibri"/>
                    <a:cs typeface="Calibri"/>
                  </a:rPr>
                  <a:t> </a:t>
                </a:r>
                <a:r>
                  <a:rPr lang="en-US" sz="2400" spc="-5" dirty="0">
                    <a:latin typeface="Calibri"/>
                    <a:cs typeface="Calibri"/>
                  </a:rPr>
                  <a:t>granularity.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241300" indent="-228600">
                  <a:lnSpc>
                    <a:spcPts val="2595"/>
                  </a:lnSpc>
                  <a:spcBef>
                    <a:spcPts val="459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400" i="1" spc="-5" dirty="0">
                    <a:latin typeface="Calibri"/>
                    <a:cs typeface="Calibri"/>
                  </a:rPr>
                  <a:t>Minimum granularity</a:t>
                </a:r>
                <a:r>
                  <a:rPr lang="en-US" sz="2400" spc="-5" dirty="0">
                    <a:latin typeface="Calibri"/>
                    <a:cs typeface="Calibri"/>
                  </a:rPr>
                  <a:t> is the floor (minimum allowed value) on the CPU time of a process (if CPU time is less than this minimum, fairness is broken.)</a:t>
                </a:r>
              </a:p>
              <a:p>
                <a:pPr marL="241300" indent="-228600">
                  <a:lnSpc>
                    <a:spcPct val="100000"/>
                  </a:lnSpc>
                  <a:spcBef>
                    <a:spcPts val="42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400" spc="-10" dirty="0">
                    <a:latin typeface="Calibri"/>
                    <a:cs typeface="Calibri"/>
                  </a:rPr>
                  <a:t>Overall, </a:t>
                </a:r>
                <a:r>
                  <a:rPr lang="en-US" sz="2400" spc="-15" dirty="0">
                    <a:latin typeface="Calibri"/>
                    <a:cs typeface="Calibri"/>
                  </a:rPr>
                  <a:t>CFS</a:t>
                </a:r>
                <a:r>
                  <a:rPr lang="en-US" sz="2400" spc="-10" dirty="0">
                    <a:latin typeface="Calibri"/>
                    <a:cs typeface="Calibri"/>
                  </a:rPr>
                  <a:t> </a:t>
                </a:r>
                <a:r>
                  <a:rPr lang="en-US" sz="2400" spc="-15" dirty="0">
                    <a:latin typeface="Calibri"/>
                    <a:cs typeface="Calibri"/>
                  </a:rPr>
                  <a:t>enforces </a:t>
                </a:r>
                <a:r>
                  <a:rPr lang="en-US" sz="2400" spc="-5" dirty="0">
                    <a:latin typeface="Calibri"/>
                    <a:cs typeface="Calibri"/>
                  </a:rPr>
                  <a:t>fairness: </a:t>
                </a:r>
                <a:r>
                  <a:rPr lang="en-US" sz="2400" dirty="0">
                    <a:latin typeface="Calibri"/>
                    <a:cs typeface="Calibri"/>
                  </a:rPr>
                  <a:t>each </a:t>
                </a:r>
                <a:r>
                  <a:rPr lang="en-US" sz="2400" spc="-10" dirty="0">
                    <a:latin typeface="Calibri"/>
                    <a:cs typeface="Calibri"/>
                  </a:rPr>
                  <a:t>process gets </a:t>
                </a:r>
                <a:r>
                  <a:rPr lang="en-US" sz="2400" dirty="0">
                    <a:latin typeface="Calibri"/>
                    <a:cs typeface="Calibri"/>
                  </a:rPr>
                  <a:t>a </a:t>
                </a:r>
                <a:r>
                  <a:rPr lang="en-US" sz="2400" spc="-15" dirty="0">
                    <a:latin typeface="Calibri"/>
                    <a:cs typeface="Calibri"/>
                  </a:rPr>
                  <a:t>fair </a:t>
                </a:r>
                <a:r>
                  <a:rPr lang="en-US" sz="2400" spc="-10" dirty="0">
                    <a:latin typeface="Calibri"/>
                    <a:cs typeface="Calibri"/>
                  </a:rPr>
                  <a:t>share </a:t>
                </a:r>
                <a:r>
                  <a:rPr lang="en-US" sz="2400" spc="-5" dirty="0">
                    <a:latin typeface="Calibri"/>
                    <a:cs typeface="Calibri"/>
                  </a:rPr>
                  <a:t>of CPU</a:t>
                </a:r>
                <a:r>
                  <a:rPr lang="en-US" sz="2400" spc="30" dirty="0">
                    <a:latin typeface="Calibri"/>
                    <a:cs typeface="Calibri"/>
                  </a:rPr>
                  <a:t> </a:t>
                </a:r>
                <a:r>
                  <a:rPr lang="en-US" sz="2400" dirty="0">
                    <a:latin typeface="Calibri"/>
                    <a:cs typeface="Calibri"/>
                  </a:rPr>
                  <a:t>time.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1719663"/>
                <a:ext cx="10361295" cy="4537011"/>
              </a:xfrm>
              <a:prstGeom prst="rect">
                <a:avLst/>
              </a:prstGeom>
              <a:blipFill>
                <a:blip r:embed="rId2"/>
                <a:stretch>
                  <a:fillRect l="-1529" t="-538" r="-1235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8704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Yielding </a:t>
            </a:r>
            <a:r>
              <a:rPr spc="-20" dirty="0"/>
              <a:t>the</a:t>
            </a:r>
            <a:r>
              <a:rPr spc="-165" dirty="0"/>
              <a:t> </a:t>
            </a:r>
            <a:r>
              <a:rPr spc="-45" dirty="0"/>
              <a:t>Processor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00200"/>
            <a:ext cx="10817861" cy="442377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1300" marR="189865" indent="-228600">
              <a:lnSpc>
                <a:spcPct val="7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syscall to </a:t>
            </a:r>
            <a:r>
              <a:rPr sz="2400" spc="-10" dirty="0">
                <a:latin typeface="Calibri"/>
                <a:cs typeface="Calibri"/>
              </a:rPr>
              <a:t>explicitly </a:t>
            </a:r>
            <a:r>
              <a:rPr sz="2400" dirty="0">
                <a:latin typeface="Calibri"/>
                <a:cs typeface="Calibri"/>
              </a:rPr>
              <a:t>yield </a:t>
            </a:r>
            <a:r>
              <a:rPr sz="2400" spc="-15" dirty="0">
                <a:latin typeface="Calibri"/>
                <a:cs typeface="Calibri"/>
              </a:rPr>
              <a:t>execution </a:t>
            </a:r>
            <a:r>
              <a:rPr sz="2400" spc="-5" dirty="0">
                <a:latin typeface="Calibri"/>
                <a:cs typeface="Calibri"/>
              </a:rPr>
              <a:t>(so scheduler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lang="en-US" sz="2400" dirty="0">
                <a:cs typeface="Calibri"/>
              </a:rPr>
              <a:t>run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another 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lang="en-US" sz="2400" spc="-10" dirty="0">
                <a:latin typeface="Calibri"/>
                <a:cs typeface="Calibri"/>
              </a:rPr>
              <a:t>:</a:t>
            </a:r>
            <a:r>
              <a:rPr sz="2400" dirty="0">
                <a:latin typeface="Calibri"/>
                <a:cs typeface="Calibri"/>
              </a:rPr>
              <a:t>)</a:t>
            </a:r>
          </a:p>
          <a:p>
            <a:pPr marL="469900">
              <a:lnSpc>
                <a:spcPts val="1945"/>
              </a:lnSpc>
              <a:spcAft>
                <a:spcPts val="600"/>
              </a:spcAft>
            </a:pP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&lt;sched.h&gt;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090"/>
              </a:lnSpc>
            </a:pPr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sched_yield</a:t>
            </a:r>
            <a:r>
              <a:rPr sz="1800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ibri"/>
                <a:cs typeface="Calibri"/>
              </a:rPr>
              <a:t>It works a</a:t>
            </a:r>
            <a:r>
              <a:rPr sz="2400" dirty="0">
                <a:latin typeface="Calibri"/>
                <a:cs typeface="Calibri"/>
              </a:rPr>
              <a:t>s if the </a:t>
            </a:r>
            <a:r>
              <a:rPr sz="2400" spc="-10" dirty="0">
                <a:latin typeface="Calibri"/>
                <a:cs typeface="Calibri"/>
              </a:rPr>
              <a:t>kernel </a:t>
            </a:r>
            <a:r>
              <a:rPr sz="2400" spc="-5" dirty="0">
                <a:latin typeface="Calibri"/>
                <a:cs typeface="Calibri"/>
              </a:rPr>
              <a:t>had </a:t>
            </a:r>
            <a:r>
              <a:rPr sz="2400" dirty="0">
                <a:latin typeface="Calibri"/>
                <a:cs typeface="Calibri"/>
              </a:rPr>
              <a:t>itself </a:t>
            </a:r>
            <a:r>
              <a:rPr sz="2400" spc="-10" dirty="0">
                <a:latin typeface="Calibri"/>
                <a:cs typeface="Calibri"/>
              </a:rPr>
              <a:t>preempted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currently running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76962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But if </a:t>
            </a:r>
            <a:r>
              <a:rPr sz="2400" spc="-5" dirty="0">
                <a:latin typeface="Calibri"/>
                <a:cs typeface="Calibri"/>
              </a:rPr>
              <a:t>no other </a:t>
            </a:r>
            <a:r>
              <a:rPr lang="en-US" sz="2400" spc="-5" dirty="0">
                <a:latin typeface="Calibri"/>
                <a:cs typeface="Calibri"/>
              </a:rPr>
              <a:t>ready processes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exist, </a:t>
            </a:r>
            <a:r>
              <a:rPr sz="2400" dirty="0">
                <a:latin typeface="Calibri"/>
                <a:cs typeface="Calibri"/>
              </a:rPr>
              <a:t>the yielding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immediately resumes  </a:t>
            </a:r>
            <a:r>
              <a:rPr sz="2400" spc="-15" dirty="0">
                <a:latin typeface="Calibri"/>
                <a:cs typeface="Calibri"/>
              </a:rPr>
              <a:t>execution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It r</a:t>
            </a:r>
            <a:r>
              <a:rPr sz="2400" spc="-5" dirty="0">
                <a:latin typeface="Calibri"/>
                <a:cs typeface="Calibri"/>
              </a:rPr>
              <a:t>eturns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5" dirty="0">
                <a:latin typeface="Calibri"/>
                <a:cs typeface="Calibri"/>
              </a:rPr>
              <a:t>on success</a:t>
            </a:r>
            <a:r>
              <a:rPr lang="en-US" sz="2400" spc="-5" dirty="0">
                <a:latin typeface="Calibri"/>
                <a:cs typeface="Calibri"/>
              </a:rPr>
              <a:t> and</a:t>
            </a:r>
            <a:r>
              <a:rPr sz="2400" spc="-5" dirty="0">
                <a:latin typeface="Calibri"/>
                <a:cs typeface="Calibri"/>
              </a:rPr>
              <a:t> -1 on </a:t>
            </a:r>
            <a:r>
              <a:rPr sz="2400" spc="-15" dirty="0">
                <a:latin typeface="Calibri"/>
                <a:cs typeface="Calibri"/>
              </a:rPr>
              <a:t>failure </a:t>
            </a:r>
            <a:r>
              <a:rPr sz="2400" spc="-5" dirty="0">
                <a:latin typeface="Calibri"/>
                <a:cs typeface="Calibri"/>
              </a:rPr>
              <a:t>(though on Linux,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20" dirty="0">
                <a:latin typeface="Calibri"/>
                <a:cs typeface="Calibri"/>
              </a:rPr>
              <a:t>always </a:t>
            </a:r>
            <a:r>
              <a:rPr sz="2400" spc="-10" dirty="0">
                <a:latin typeface="Calibri"/>
                <a:cs typeface="Calibri"/>
              </a:rPr>
              <a:t>returns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lang="en-US" sz="2400" dirty="0">
                <a:latin typeface="Calibri"/>
                <a:cs typeface="Calibri"/>
              </a:rPr>
              <a:t>.</a:t>
            </a:r>
            <a:r>
              <a:rPr sz="2400" dirty="0">
                <a:latin typeface="Calibri"/>
                <a:cs typeface="Calibri"/>
              </a:rPr>
              <a:t>)</a:t>
            </a:r>
          </a:p>
          <a:p>
            <a:pPr marL="241300" indent="-228600">
              <a:lnSpc>
                <a:spcPts val="277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Legitimate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lang="en-US" sz="240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15" dirty="0">
                <a:latin typeface="Calibri"/>
                <a:cs typeface="Calibri"/>
              </a:rPr>
              <a:t>Very f</a:t>
            </a:r>
            <a:r>
              <a:rPr sz="2200" spc="-15" dirty="0">
                <a:latin typeface="Calibri"/>
                <a:cs typeface="Calibri"/>
              </a:rPr>
              <a:t>ew </a:t>
            </a:r>
            <a:r>
              <a:rPr lang="en-US" sz="2200" spc="-15" dirty="0">
                <a:latin typeface="Calibri"/>
                <a:cs typeface="Calibri"/>
              </a:rPr>
              <a:t>us</a:t>
            </a:r>
            <a:r>
              <a:rPr sz="2200" spc="-5" dirty="0">
                <a:latin typeface="Calibri"/>
                <a:cs typeface="Calibri"/>
              </a:rPr>
              <a:t>es </a:t>
            </a:r>
            <a:r>
              <a:rPr lang="en-US" sz="2200" dirty="0">
                <a:latin typeface="Calibri"/>
                <a:cs typeface="Calibri"/>
              </a:rPr>
              <a:t>–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generally</a:t>
            </a:r>
            <a:r>
              <a:rPr lang="en-US" sz="2200" spc="-5" dirty="0">
                <a:latin typeface="Calibri"/>
                <a:cs typeface="Calibri"/>
              </a:rPr>
              <a:t>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lang="en-US"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kernel </a:t>
            </a:r>
            <a:r>
              <a:rPr sz="2200" spc="-5" dirty="0">
                <a:latin typeface="Calibri"/>
                <a:cs typeface="Calibri"/>
              </a:rPr>
              <a:t>does </a:t>
            </a:r>
            <a:r>
              <a:rPr sz="2200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better </a:t>
            </a:r>
            <a:r>
              <a:rPr sz="2200" spc="-5" dirty="0">
                <a:latin typeface="Calibri"/>
                <a:cs typeface="Calibri"/>
              </a:rPr>
              <a:t>job </a:t>
            </a:r>
            <a:r>
              <a:rPr sz="2200" dirty="0">
                <a:latin typeface="Calibri"/>
                <a:cs typeface="Calibri"/>
              </a:rPr>
              <a:t>in </a:t>
            </a:r>
            <a:r>
              <a:rPr sz="2200" spc="-5" dirty="0">
                <a:latin typeface="Calibri"/>
                <a:cs typeface="Calibri"/>
              </a:rPr>
              <a:t>determine </a:t>
            </a:r>
            <a:r>
              <a:rPr sz="2200" dirty="0">
                <a:latin typeface="Calibri"/>
                <a:cs typeface="Calibri"/>
              </a:rPr>
              <a:t>when </a:t>
            </a:r>
            <a:r>
              <a:rPr sz="2200" spc="-15" dirty="0">
                <a:latin typeface="Calibri"/>
                <a:cs typeface="Calibri"/>
              </a:rPr>
              <a:t>to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preempt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61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But if an app </a:t>
            </a:r>
            <a:r>
              <a:rPr lang="en-US" sz="2200" spc="-5" dirty="0">
                <a:latin typeface="Calibri"/>
                <a:cs typeface="Calibri"/>
              </a:rPr>
              <a:t>must</a:t>
            </a:r>
            <a:r>
              <a:rPr sz="2200" spc="-10" dirty="0">
                <a:latin typeface="Calibri"/>
                <a:cs typeface="Calibri"/>
              </a:rPr>
              <a:t> wait </a:t>
            </a:r>
            <a:r>
              <a:rPr sz="2200" spc="-15" dirty="0">
                <a:latin typeface="Calibri"/>
                <a:cs typeface="Calibri"/>
              </a:rPr>
              <a:t>for </a:t>
            </a:r>
            <a:r>
              <a:rPr sz="2200" spc="-10" dirty="0">
                <a:latin typeface="Calibri"/>
                <a:cs typeface="Calibri"/>
              </a:rPr>
              <a:t>external events </a:t>
            </a:r>
            <a:r>
              <a:rPr sz="2200" dirty="0">
                <a:latin typeface="Calibri"/>
                <a:cs typeface="Calibri"/>
              </a:rPr>
              <a:t>(e.g.</a:t>
            </a:r>
            <a:r>
              <a:rPr lang="en-US" sz="2200" dirty="0">
                <a:latin typeface="Calibri"/>
                <a:cs typeface="Calibri"/>
              </a:rPr>
              <a:t>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consumer/producer </a:t>
            </a:r>
            <a:r>
              <a:rPr sz="2200" dirty="0">
                <a:latin typeface="Calibri"/>
                <a:cs typeface="Calibri"/>
              </a:rPr>
              <a:t>when </a:t>
            </a:r>
            <a:r>
              <a:rPr sz="2200" spc="-5" dirty="0">
                <a:latin typeface="Calibri"/>
                <a:cs typeface="Calibri"/>
              </a:rPr>
              <a:t>producer </a:t>
            </a:r>
            <a:r>
              <a:rPr sz="2200" dirty="0">
                <a:latin typeface="Calibri"/>
                <a:cs typeface="Calibri"/>
              </a:rPr>
              <a:t>is </a:t>
            </a:r>
            <a:r>
              <a:rPr sz="2200" spc="-5" dirty="0">
                <a:latin typeface="Calibri"/>
                <a:cs typeface="Calibri"/>
              </a:rPr>
              <a:t>not ready</a:t>
            </a:r>
            <a:r>
              <a:rPr lang="en-US" sz="2200" spc="-5" dirty="0">
                <a:latin typeface="Calibri"/>
                <a:cs typeface="Calibri"/>
              </a:rPr>
              <a:t>,</a:t>
            </a:r>
            <a:r>
              <a:rPr sz="2200" spc="-5" dirty="0">
                <a:latin typeface="Calibri"/>
                <a:cs typeface="Calibri"/>
              </a:rPr>
              <a:t>) </a:t>
            </a:r>
            <a:r>
              <a:rPr sz="2200" dirty="0">
                <a:latin typeface="Calibri"/>
                <a:cs typeface="Calibri"/>
              </a:rPr>
              <a:t>it </a:t>
            </a:r>
            <a:r>
              <a:rPr sz="2200" spc="-5" dirty="0">
                <a:latin typeface="Calibri"/>
                <a:cs typeface="Calibri"/>
              </a:rPr>
              <a:t>could busy-loop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r>
              <a:rPr sz="2200" spc="-5" dirty="0">
                <a:latin typeface="Calibri"/>
                <a:cs typeface="Calibri"/>
              </a:rPr>
              <a:t> </a:t>
            </a:r>
            <a:endParaRPr lang="en-US" sz="2200" spc="-5" dirty="0">
              <a:latin typeface="Calibri"/>
              <a:cs typeface="Calibri"/>
            </a:endParaRPr>
          </a:p>
          <a:p>
            <a:pPr marL="1155700" marR="5080" lvl="2" indent="-228600">
              <a:lnSpc>
                <a:spcPct val="70000"/>
              </a:lnSpc>
              <a:spcBef>
                <a:spcPts val="61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5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hough modern Unix </a:t>
            </a:r>
            <a:r>
              <a:rPr sz="2200" spc="-10" dirty="0">
                <a:latin typeface="Calibri"/>
                <a:cs typeface="Calibri"/>
              </a:rPr>
              <a:t>programs </a:t>
            </a:r>
            <a:r>
              <a:rPr sz="2200" dirty="0">
                <a:latin typeface="Calibri"/>
                <a:cs typeface="Calibri"/>
              </a:rPr>
              <a:t>should aim </a:t>
            </a:r>
            <a:r>
              <a:rPr sz="2200" spc="-15" dirty="0">
                <a:latin typeface="Calibri"/>
                <a:cs typeface="Calibri"/>
              </a:rPr>
              <a:t>toward </a:t>
            </a:r>
            <a:r>
              <a:rPr lang="en-US" sz="2200" spc="-15" dirty="0">
                <a:latin typeface="Calibri"/>
                <a:cs typeface="Calibri"/>
              </a:rPr>
              <a:t>an </a:t>
            </a:r>
            <a:r>
              <a:rPr sz="2200" spc="-20" dirty="0">
                <a:latin typeface="Calibri"/>
                <a:cs typeface="Calibri"/>
              </a:rPr>
              <a:t>event-driven </a:t>
            </a:r>
            <a:r>
              <a:rPr sz="2200" spc="-5" dirty="0">
                <a:latin typeface="Calibri"/>
                <a:cs typeface="Calibri"/>
              </a:rPr>
              <a:t>solution using blockable </a:t>
            </a:r>
            <a:r>
              <a:rPr sz="2200" dirty="0">
                <a:latin typeface="Calibri"/>
                <a:cs typeface="Calibri"/>
              </a:rPr>
              <a:t>mechanism </a:t>
            </a:r>
            <a:r>
              <a:rPr sz="2200" spc="-5" dirty="0">
                <a:latin typeface="Calibri"/>
                <a:cs typeface="Calibri"/>
              </a:rPr>
              <a:t>such </a:t>
            </a:r>
            <a:r>
              <a:rPr sz="2200" dirty="0">
                <a:latin typeface="Calibri"/>
                <a:cs typeface="Calibri"/>
              </a:rPr>
              <a:t>as </a:t>
            </a:r>
            <a:r>
              <a:rPr sz="2200" spc="-5" dirty="0">
                <a:latin typeface="Calibri"/>
                <a:cs typeface="Calibri"/>
              </a:rPr>
              <a:t>pipes, </a:t>
            </a:r>
            <a:r>
              <a:rPr sz="2200" spc="-10" dirty="0">
                <a:latin typeface="Calibri"/>
                <a:cs typeface="Calibri"/>
              </a:rPr>
              <a:t>allow</a:t>
            </a:r>
            <a:r>
              <a:rPr lang="en-US" sz="2200" spc="-10" dirty="0">
                <a:latin typeface="Calibri"/>
                <a:cs typeface="Calibri"/>
              </a:rPr>
              <a:t>ing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kernel </a:t>
            </a:r>
            <a:r>
              <a:rPr sz="2200" spc="-15" dirty="0">
                <a:latin typeface="Calibri"/>
                <a:cs typeface="Calibri"/>
              </a:rPr>
              <a:t>to </a:t>
            </a:r>
            <a:r>
              <a:rPr sz="2200" dirty="0">
                <a:latin typeface="Calibri"/>
                <a:cs typeface="Calibri"/>
              </a:rPr>
              <a:t>manage the </a:t>
            </a:r>
            <a:r>
              <a:rPr sz="2200" spc="-10" dirty="0">
                <a:latin typeface="Calibri"/>
                <a:cs typeface="Calibri"/>
              </a:rPr>
              <a:t>coordination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18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See </a:t>
            </a:r>
            <a:r>
              <a:rPr lang="en-US" sz="2200" spc="-5" dirty="0">
                <a:latin typeface="Calibri"/>
                <a:cs typeface="Calibri"/>
              </a:rPr>
              <a:t>pages 180-181 in the </a:t>
            </a:r>
            <a:r>
              <a:rPr sz="2200" dirty="0">
                <a:latin typeface="Calibri"/>
                <a:cs typeface="Calibri"/>
              </a:rPr>
              <a:t>book </a:t>
            </a:r>
            <a:r>
              <a:rPr sz="2200" spc="-15" dirty="0">
                <a:latin typeface="Calibri"/>
                <a:cs typeface="Calibri"/>
              </a:rPr>
              <a:t>for </a:t>
            </a:r>
            <a:r>
              <a:rPr sz="2200" spc="-5" dirty="0">
                <a:latin typeface="Calibri"/>
                <a:cs typeface="Calibri"/>
              </a:rPr>
              <a:t>other </a:t>
            </a:r>
            <a:r>
              <a:rPr sz="2200" spc="-20" dirty="0">
                <a:latin typeface="Calibri"/>
                <a:cs typeface="Calibri"/>
              </a:rPr>
              <a:t>extra </a:t>
            </a:r>
            <a:r>
              <a:rPr sz="2200" spc="-5" dirty="0">
                <a:latin typeface="Calibri"/>
                <a:cs typeface="Calibri"/>
              </a:rPr>
              <a:t>uses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7890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Process</a:t>
            </a:r>
            <a:r>
              <a:rPr spc="-105" dirty="0"/>
              <a:t> </a:t>
            </a:r>
            <a:r>
              <a:rPr spc="-35" dirty="0"/>
              <a:t>Priorities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916939" y="1745945"/>
                <a:ext cx="10665461" cy="443884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41300" indent="-228600">
                  <a:lnSpc>
                    <a:spcPct val="100000"/>
                  </a:lnSpc>
                  <a:spcBef>
                    <a:spcPts val="10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400" dirty="0">
                    <a:latin typeface="Calibri"/>
                    <a:cs typeface="Calibri"/>
                  </a:rPr>
                  <a:t>In </a:t>
                </a:r>
                <a:r>
                  <a:rPr lang="en-US" sz="2400" spc="-5" dirty="0">
                    <a:latin typeface="Calibri"/>
                    <a:cs typeface="Calibri"/>
                  </a:rPr>
                  <a:t>Linux, </a:t>
                </a:r>
                <a:r>
                  <a:rPr lang="en-US" sz="2400" spc="-10" dirty="0">
                    <a:latin typeface="Calibri"/>
                    <a:cs typeface="Calibri"/>
                  </a:rPr>
                  <a:t>processes are </a:t>
                </a:r>
                <a:r>
                  <a:rPr lang="en-US" sz="2400" dirty="0">
                    <a:latin typeface="Calibri"/>
                    <a:cs typeface="Calibri"/>
                  </a:rPr>
                  <a:t>assigned </a:t>
                </a:r>
                <a:r>
                  <a:rPr lang="en-US" sz="2400" i="1" spc="-5" dirty="0">
                    <a:latin typeface="Calibri"/>
                    <a:cs typeface="Calibri"/>
                  </a:rPr>
                  <a:t>priorities </a:t>
                </a:r>
                <a:r>
                  <a:rPr lang="en-US" sz="2400" spc="-10" dirty="0">
                    <a:latin typeface="Calibri"/>
                    <a:cs typeface="Calibri"/>
                  </a:rPr>
                  <a:t>that </a:t>
                </a:r>
                <a:r>
                  <a:rPr lang="en-US" sz="2400" spc="-15" dirty="0">
                    <a:latin typeface="Calibri"/>
                    <a:cs typeface="Calibri"/>
                  </a:rPr>
                  <a:t>affect </a:t>
                </a:r>
                <a:r>
                  <a:rPr lang="en-US" sz="2400" spc="-10" dirty="0">
                    <a:latin typeface="Calibri"/>
                    <a:cs typeface="Calibri"/>
                  </a:rPr>
                  <a:t>how </a:t>
                </a:r>
                <a:r>
                  <a:rPr lang="en-US" sz="2400" spc="-5" dirty="0">
                    <a:latin typeface="Calibri"/>
                    <a:cs typeface="Calibri"/>
                  </a:rPr>
                  <a:t>large their CPU time is</a:t>
                </a:r>
                <a:r>
                  <a:rPr lang="en-US" sz="2400" dirty="0">
                    <a:latin typeface="Calibri"/>
                    <a:cs typeface="Calibri"/>
                  </a:rPr>
                  <a:t>.</a:t>
                </a:r>
              </a:p>
              <a:p>
                <a:pPr marL="241300" indent="-228600">
                  <a:lnSpc>
                    <a:spcPct val="100000"/>
                  </a:lnSpc>
                  <a:spcBef>
                    <a:spcPts val="13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400" spc="-10" dirty="0">
                    <a:latin typeface="Calibri"/>
                    <a:cs typeface="Calibri"/>
                  </a:rPr>
                  <a:t>Historically, </a:t>
                </a:r>
                <a:r>
                  <a:rPr lang="en-US" sz="2400" dirty="0">
                    <a:latin typeface="Calibri"/>
                    <a:cs typeface="Calibri"/>
                  </a:rPr>
                  <a:t>Unix </a:t>
                </a:r>
                <a:r>
                  <a:rPr lang="en-US" sz="2400" spc="-5" dirty="0">
                    <a:latin typeface="Calibri"/>
                    <a:cs typeface="Calibri"/>
                  </a:rPr>
                  <a:t>called </a:t>
                </a:r>
                <a:r>
                  <a:rPr lang="en-US" sz="2400" dirty="0">
                    <a:latin typeface="Calibri"/>
                    <a:cs typeface="Calibri"/>
                  </a:rPr>
                  <a:t>them </a:t>
                </a:r>
                <a:r>
                  <a:rPr lang="en-US" sz="2400" i="1" spc="-10" dirty="0">
                    <a:latin typeface="Calibri"/>
                    <a:cs typeface="Calibri"/>
                  </a:rPr>
                  <a:t>nice </a:t>
                </a:r>
                <a:r>
                  <a:rPr lang="en-US" sz="2400" i="1" dirty="0">
                    <a:latin typeface="Calibri"/>
                    <a:cs typeface="Calibri"/>
                  </a:rPr>
                  <a:t>values </a:t>
                </a:r>
                <a:r>
                  <a:rPr lang="en-US" sz="2400" spc="-5" dirty="0">
                    <a:latin typeface="Calibri"/>
                    <a:cs typeface="Calibri"/>
                  </a:rPr>
                  <a:t>(nicer </a:t>
                </a:r>
                <a:r>
                  <a:rPr lang="en-US" sz="2400" dirty="0">
                    <a:latin typeface="Calibri"/>
                    <a:cs typeface="Calibri"/>
                  </a:rPr>
                  <a:t>means </a:t>
                </a:r>
                <a:r>
                  <a:rPr lang="en-US" sz="2400" spc="-10" dirty="0">
                    <a:latin typeface="Calibri"/>
                    <a:cs typeface="Calibri"/>
                  </a:rPr>
                  <a:t>lower</a:t>
                </a:r>
                <a:r>
                  <a:rPr lang="en-US" sz="2400" spc="-80" dirty="0">
                    <a:latin typeface="Calibri"/>
                    <a:cs typeface="Calibri"/>
                  </a:rPr>
                  <a:t> </a:t>
                </a:r>
                <a:r>
                  <a:rPr lang="en-US" sz="2400" spc="-5" dirty="0">
                    <a:latin typeface="Calibri"/>
                    <a:cs typeface="Calibri"/>
                  </a:rPr>
                  <a:t>priority.)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241300" marR="5080" indent="-228600">
                  <a:lnSpc>
                    <a:spcPct val="70000"/>
                  </a:lnSpc>
                  <a:spcBef>
                    <a:spcPts val="101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400" spc="-10" dirty="0">
                    <a:latin typeface="Calibri"/>
                    <a:cs typeface="Calibri"/>
                  </a:rPr>
                  <a:t>Legal </a:t>
                </a:r>
                <a:r>
                  <a:rPr lang="en-US" sz="2400" spc="-5" dirty="0">
                    <a:latin typeface="Calibri"/>
                    <a:cs typeface="Calibri"/>
                  </a:rPr>
                  <a:t>nice </a:t>
                </a:r>
                <a:r>
                  <a:rPr lang="en-US" sz="2400" spc="-10" dirty="0">
                    <a:latin typeface="Calibri"/>
                    <a:cs typeface="Calibri"/>
                  </a:rPr>
                  <a:t>values are </a:t>
                </a:r>
                <a14:m>
                  <m:oMath xmlns:m="http://schemas.openxmlformats.org/officeDocument/2006/math">
                    <m:r>
                      <a:rPr lang="en-US" sz="2400" i="1" spc="-10" dirty="0" smtClean="0">
                        <a:latin typeface="Cambria Math" panose="02040503050406030204" pitchFamily="18" charset="0"/>
                        <a:cs typeface="Calibri"/>
                      </a:rPr>
                      <m:t>−</m:t>
                    </m:r>
                    <m:r>
                      <a:rPr lang="en-US" sz="2400" i="1" spc="-10" dirty="0" smtClean="0">
                        <a:latin typeface="Cambria Math" panose="02040503050406030204" pitchFamily="18" charset="0"/>
                        <a:cs typeface="Calibri"/>
                      </a:rPr>
                      <m:t>20</m:t>
                    </m:r>
                    <m:r>
                      <a:rPr lang="en-US" sz="2400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≤</m:t>
                    </m:r>
                    <m:r>
                      <a:rPr lang="en-US" sz="2400" b="0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en-US" sz="2400" b="0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≤</m:t>
                    </m:r>
                    <m:r>
                      <a:rPr lang="en-US" sz="2400" b="0" i="1" spc="-1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19</m:t>
                    </m:r>
                  </m:oMath>
                </a14:m>
                <a:r>
                  <a:rPr lang="en-US" sz="2400" spc="-5" dirty="0">
                    <a:latin typeface="Calibri"/>
                    <a:cs typeface="Calibri"/>
                  </a:rPr>
                  <a:t>, </a:t>
                </a:r>
                <a:r>
                  <a:rPr lang="en-US" sz="2400" dirty="0">
                    <a:latin typeface="Calibri"/>
                    <a:cs typeface="Calibri"/>
                  </a:rPr>
                  <a:t>with the </a:t>
                </a:r>
                <a:r>
                  <a:rPr lang="en-US" sz="2400" spc="-15" dirty="0">
                    <a:latin typeface="Calibri"/>
                    <a:cs typeface="Calibri"/>
                  </a:rPr>
                  <a:t>default </a:t>
                </a:r>
                <a:r>
                  <a:rPr lang="en-US" sz="2400" spc="-5" dirty="0">
                    <a:latin typeface="Calibri"/>
                    <a:cs typeface="Calibri"/>
                  </a:rPr>
                  <a:t>being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alibri"/>
                      </a:rPr>
                      <m:t>0</m:t>
                    </m:r>
                  </m:oMath>
                </a14:m>
                <a:r>
                  <a:rPr lang="en-US" sz="2400" dirty="0">
                    <a:latin typeface="Calibri"/>
                    <a:cs typeface="Calibri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spc="-10" dirty="0" smtClean="0">
                        <a:latin typeface="Cambria Math" panose="02040503050406030204" pitchFamily="18" charset="0"/>
                        <a:cs typeface="Calibri"/>
                      </a:rPr>
                      <m:t>19</m:t>
                    </m:r>
                  </m:oMath>
                </a14:m>
                <a:r>
                  <a:rPr lang="en-US" sz="2400" spc="-10" dirty="0">
                    <a:latin typeface="Calibri"/>
                    <a:cs typeface="Calibri"/>
                  </a:rPr>
                  <a:t> </a:t>
                </a:r>
                <a:r>
                  <a:rPr lang="en-US" sz="2400" spc="-5" dirty="0">
                    <a:latin typeface="Calibri"/>
                    <a:cs typeface="Calibri"/>
                  </a:rPr>
                  <a:t>being </a:t>
                </a:r>
                <a:r>
                  <a:rPr lang="en-US" sz="2400" spc="-10" dirty="0">
                    <a:latin typeface="Calibri"/>
                    <a:cs typeface="Calibri"/>
                  </a:rPr>
                  <a:t>nicest, </a:t>
                </a:r>
                <a:r>
                  <a:rPr lang="en-US" sz="2400" dirty="0">
                    <a:latin typeface="Calibri"/>
                    <a:cs typeface="Calibri"/>
                  </a:rPr>
                  <a:t>which also means getting the </a:t>
                </a:r>
                <a:r>
                  <a:rPr lang="en-US" sz="2400" spc="-5" dirty="0">
                    <a:latin typeface="Calibri"/>
                    <a:cs typeface="Calibri"/>
                  </a:rPr>
                  <a:t>shortest CPU time.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241300" indent="-228600">
                  <a:lnSpc>
                    <a:spcPts val="2830"/>
                  </a:lnSpc>
                  <a:spcBef>
                    <a:spcPts val="13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400" spc="-110" dirty="0">
                    <a:latin typeface="Calibri"/>
                    <a:cs typeface="Calibri"/>
                  </a:rPr>
                  <a:t>To </a:t>
                </a:r>
                <a:r>
                  <a:rPr lang="en-US" sz="2400" spc="-10" dirty="0">
                    <a:latin typeface="Calibri"/>
                    <a:cs typeface="Calibri"/>
                  </a:rPr>
                  <a:t>retrieve/set </a:t>
                </a:r>
                <a:r>
                  <a:rPr lang="en-US" sz="2400" dirty="0">
                    <a:latin typeface="Calibri"/>
                    <a:cs typeface="Calibri"/>
                  </a:rPr>
                  <a:t>a </a:t>
                </a:r>
                <a:r>
                  <a:rPr lang="en-US" sz="2400" spc="-25" dirty="0">
                    <a:latin typeface="Calibri"/>
                    <a:cs typeface="Calibri"/>
                  </a:rPr>
                  <a:t>process’s </a:t>
                </a:r>
                <a:r>
                  <a:rPr lang="en-US" sz="2400" spc="-5" dirty="0">
                    <a:latin typeface="Calibri"/>
                    <a:cs typeface="Calibri"/>
                  </a:rPr>
                  <a:t>nice</a:t>
                </a:r>
                <a:r>
                  <a:rPr lang="en-US" sz="2400" spc="95" dirty="0">
                    <a:latin typeface="Calibri"/>
                    <a:cs typeface="Calibri"/>
                  </a:rPr>
                  <a:t> </a:t>
                </a:r>
                <a:r>
                  <a:rPr lang="en-US" sz="2400" spc="-10" dirty="0">
                    <a:latin typeface="Calibri"/>
                    <a:cs typeface="Calibri"/>
                  </a:rPr>
                  <a:t>value, use: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469900">
                  <a:lnSpc>
                    <a:spcPts val="1935"/>
                  </a:lnSpc>
                  <a:spcAft>
                    <a:spcPts val="600"/>
                  </a:spcAft>
                </a:pPr>
                <a:r>
                  <a:rPr lang="en-US" sz="1700" spc="-5" dirty="0">
                    <a:solidFill>
                      <a:srgbClr val="0070C0"/>
                    </a:solidFill>
                    <a:latin typeface="Consolas"/>
                    <a:cs typeface="Consolas"/>
                  </a:rPr>
                  <a:t>#include</a:t>
                </a:r>
                <a:r>
                  <a:rPr lang="en-US" sz="1700" spc="-60" dirty="0">
                    <a:solidFill>
                      <a:srgbClr val="0070C0"/>
                    </a:solidFill>
                    <a:latin typeface="Consolas"/>
                    <a:cs typeface="Consolas"/>
                  </a:rPr>
                  <a:t> </a:t>
                </a:r>
                <a:r>
                  <a:rPr lang="en-US" sz="1700" dirty="0">
                    <a:solidFill>
                      <a:srgbClr val="0070C0"/>
                    </a:solidFill>
                    <a:latin typeface="Consolas"/>
                    <a:cs typeface="Consolas"/>
                  </a:rPr>
                  <a:t>&lt;unistd.h&gt;</a:t>
                </a:r>
              </a:p>
              <a:p>
                <a:pPr marL="469900">
                  <a:lnSpc>
                    <a:spcPts val="1985"/>
                  </a:lnSpc>
                </a:pPr>
                <a:r>
                  <a:rPr lang="en-US" sz="1700" b="1" spc="-5" dirty="0">
                    <a:solidFill>
                      <a:srgbClr val="0070C0"/>
                    </a:solidFill>
                    <a:latin typeface="Consolas"/>
                    <a:cs typeface="Consolas"/>
                  </a:rPr>
                  <a:t>int </a:t>
                </a:r>
                <a:r>
                  <a:rPr lang="en-US" sz="1700" spc="-5" dirty="0">
                    <a:solidFill>
                      <a:srgbClr val="0070C0"/>
                    </a:solidFill>
                    <a:latin typeface="Consolas"/>
                    <a:cs typeface="Consolas"/>
                  </a:rPr>
                  <a:t>nice </a:t>
                </a:r>
                <a:r>
                  <a:rPr lang="en-US" sz="1700" dirty="0">
                    <a:solidFill>
                      <a:srgbClr val="0070C0"/>
                    </a:solidFill>
                    <a:latin typeface="Consolas"/>
                    <a:cs typeface="Consolas"/>
                  </a:rPr>
                  <a:t>(</a:t>
                </a:r>
                <a:r>
                  <a:rPr lang="en-US" sz="1700" b="1" dirty="0">
                    <a:solidFill>
                      <a:srgbClr val="0070C0"/>
                    </a:solidFill>
                    <a:latin typeface="Consolas"/>
                    <a:cs typeface="Consolas"/>
                  </a:rPr>
                  <a:t>int</a:t>
                </a:r>
                <a:r>
                  <a:rPr lang="en-US" sz="1700" b="1" spc="-35" dirty="0">
                    <a:solidFill>
                      <a:srgbClr val="0070C0"/>
                    </a:solidFill>
                    <a:latin typeface="Consolas"/>
                    <a:cs typeface="Consolas"/>
                  </a:rPr>
                  <a:t> </a:t>
                </a:r>
                <a:r>
                  <a:rPr lang="en-US" sz="1700" spc="-5" dirty="0">
                    <a:solidFill>
                      <a:srgbClr val="0070C0"/>
                    </a:solidFill>
                    <a:latin typeface="Consolas"/>
                  </a:rPr>
                  <a:t>inc</a:t>
                </a:r>
                <a:r>
                  <a:rPr lang="en-US" sz="1700" spc="-5" dirty="0">
                    <a:solidFill>
                      <a:srgbClr val="0070C0"/>
                    </a:solidFill>
                    <a:latin typeface="Consolas"/>
                    <a:cs typeface="Consolas"/>
                  </a:rPr>
                  <a:t>);</a:t>
                </a:r>
                <a:endParaRPr lang="en-US" sz="1700" dirty="0">
                  <a:solidFill>
                    <a:srgbClr val="0070C0"/>
                  </a:solidFill>
                  <a:latin typeface="Consolas"/>
                  <a:cs typeface="Consolas"/>
                </a:endParaRPr>
              </a:p>
              <a:p>
                <a:pPr marL="241300" indent="-228600">
                  <a:lnSpc>
                    <a:spcPct val="100000"/>
                  </a:lnSpc>
                  <a:spcBef>
                    <a:spcPts val="13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400" dirty="0">
                    <a:latin typeface="Calibri"/>
                    <a:cs typeface="Calibri"/>
                  </a:rPr>
                  <a:t>It </a:t>
                </a:r>
                <a:r>
                  <a:rPr lang="en-US" sz="2400" spc="-5" dirty="0">
                    <a:latin typeface="Calibri"/>
                    <a:cs typeface="Calibri"/>
                  </a:rPr>
                  <a:t>increases </a:t>
                </a:r>
                <a:r>
                  <a:rPr lang="en-US" sz="2400" dirty="0">
                    <a:latin typeface="Calibri"/>
                    <a:cs typeface="Calibri"/>
                  </a:rPr>
                  <a:t>the </a:t>
                </a:r>
                <a:r>
                  <a:rPr lang="en-US" sz="2400" spc="-5" dirty="0">
                    <a:latin typeface="Calibri"/>
                    <a:cs typeface="Calibri"/>
                  </a:rPr>
                  <a:t>nice </a:t>
                </a:r>
                <a:r>
                  <a:rPr lang="en-US" sz="2400" spc="-10" dirty="0">
                    <a:latin typeface="Calibri"/>
                    <a:cs typeface="Calibri"/>
                  </a:rPr>
                  <a:t>value </a:t>
                </a:r>
                <a:r>
                  <a:rPr lang="en-US" sz="2400" spc="-5" dirty="0">
                    <a:latin typeface="Calibri"/>
                    <a:cs typeface="Calibri"/>
                  </a:rPr>
                  <a:t>by </a:t>
                </a:r>
                <a:r>
                  <a:rPr kumimoji="0" lang="en-US" sz="2000" b="0" i="0" u="none" strike="noStrike" kern="1200" cap="none" spc="-5" normalizeH="0" baseline="0" noProof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onsolas"/>
                    <a:ea typeface="+mn-ea"/>
                    <a:cs typeface="+mn-cs"/>
                  </a:rPr>
                  <a:t>inc</a:t>
                </a:r>
                <a:r>
                  <a:rPr lang="en-US" sz="2400" i="1" dirty="0">
                    <a:latin typeface="Calibri"/>
                    <a:cs typeface="Calibri"/>
                  </a:rPr>
                  <a:t> </a:t>
                </a:r>
                <a:r>
                  <a:rPr lang="en-US" sz="2400" dirty="0">
                    <a:latin typeface="Calibri"/>
                    <a:cs typeface="Calibri"/>
                  </a:rPr>
                  <a:t>and </a:t>
                </a:r>
                <a:r>
                  <a:rPr lang="en-US" sz="2400" spc="-10" dirty="0">
                    <a:latin typeface="Calibri"/>
                    <a:cs typeface="Calibri"/>
                  </a:rPr>
                  <a:t>returns </a:t>
                </a:r>
                <a:r>
                  <a:rPr lang="en-US" sz="2400" dirty="0">
                    <a:latin typeface="Calibri"/>
                    <a:cs typeface="Calibri"/>
                  </a:rPr>
                  <a:t>the </a:t>
                </a:r>
                <a:r>
                  <a:rPr lang="en-US" sz="2400" spc="-5" dirty="0">
                    <a:latin typeface="Calibri"/>
                    <a:cs typeface="Calibri"/>
                  </a:rPr>
                  <a:t>newly </a:t>
                </a:r>
                <a:r>
                  <a:rPr lang="en-US" sz="2400" spc="-10" dirty="0">
                    <a:latin typeface="Calibri"/>
                    <a:cs typeface="Calibri"/>
                  </a:rPr>
                  <a:t>updated</a:t>
                </a:r>
                <a:r>
                  <a:rPr lang="en-US" sz="2400" spc="-45" dirty="0">
                    <a:latin typeface="Calibri"/>
                    <a:cs typeface="Calibri"/>
                  </a:rPr>
                  <a:t> </a:t>
                </a:r>
                <a:r>
                  <a:rPr lang="en-US" sz="2400" spc="-10" dirty="0">
                    <a:latin typeface="Calibri"/>
                    <a:cs typeface="Calibri"/>
                  </a:rPr>
                  <a:t>value.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241300" indent="-228600">
                  <a:lnSpc>
                    <a:spcPts val="2450"/>
                  </a:lnSpc>
                  <a:spcBef>
                    <a:spcPts val="13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400" spc="-5" dirty="0">
                    <a:latin typeface="Calibri"/>
                    <a:cs typeface="Calibri"/>
                  </a:rPr>
                  <a:t>Only </a:t>
                </a:r>
                <a:r>
                  <a:rPr lang="en-US" sz="2400" dirty="0">
                    <a:latin typeface="Calibri"/>
                    <a:cs typeface="Calibri"/>
                  </a:rPr>
                  <a:t>a </a:t>
                </a:r>
                <a:r>
                  <a:rPr lang="en-US" sz="2400" spc="-5" dirty="0">
                    <a:latin typeface="Calibri"/>
                    <a:cs typeface="Calibri"/>
                  </a:rPr>
                  <a:t>privileged (</a:t>
                </a:r>
                <a:r>
                  <a:rPr lang="en-US" sz="2000" spc="-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root</a:t>
                </a:r>
                <a:r>
                  <a:rPr lang="en-US" sz="2400" spc="-5" dirty="0">
                    <a:latin typeface="Calibri"/>
                    <a:cs typeface="Calibri"/>
                  </a:rPr>
                  <a:t>) </a:t>
                </a:r>
                <a:r>
                  <a:rPr lang="en-US" sz="2400" spc="-10" dirty="0">
                    <a:latin typeface="Calibri"/>
                    <a:cs typeface="Calibri"/>
                  </a:rPr>
                  <a:t>process </a:t>
                </a:r>
                <a:r>
                  <a:rPr lang="en-US" sz="2400" spc="-15" dirty="0">
                    <a:latin typeface="Calibri"/>
                    <a:cs typeface="Calibri"/>
                  </a:rPr>
                  <a:t>can </a:t>
                </a:r>
                <a:r>
                  <a:rPr lang="en-US" sz="2400" spc="-10" dirty="0">
                    <a:latin typeface="Calibri"/>
                    <a:cs typeface="Calibri"/>
                  </a:rPr>
                  <a:t>provide </a:t>
                </a:r>
                <a:r>
                  <a:rPr lang="en-US" sz="2400" dirty="0">
                    <a:latin typeface="Calibri"/>
                    <a:cs typeface="Calibri"/>
                  </a:rPr>
                  <a:t>a </a:t>
                </a:r>
                <a:r>
                  <a:rPr lang="en-US" sz="2400" spc="-15" dirty="0">
                    <a:latin typeface="Calibri"/>
                    <a:cs typeface="Calibri"/>
                  </a:rPr>
                  <a:t>negative </a:t>
                </a:r>
                <a:r>
                  <a:rPr lang="en-US" sz="2400" spc="-10" dirty="0">
                    <a:latin typeface="Calibri"/>
                    <a:cs typeface="Calibri"/>
                  </a:rPr>
                  <a:t>value </a:t>
                </a:r>
                <a:r>
                  <a:rPr lang="en-US" sz="2400" spc="-20" dirty="0">
                    <a:latin typeface="Calibri"/>
                    <a:cs typeface="Calibri"/>
                  </a:rPr>
                  <a:t>for </a:t>
                </a:r>
                <a:r>
                  <a:rPr kumimoji="0" lang="en-US" sz="2000" b="0" i="0" u="none" strike="noStrike" kern="1200" cap="none" spc="-5" normalizeH="0" baseline="0" noProof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onsolas"/>
                    <a:ea typeface="+mn-ea"/>
                    <a:cs typeface="+mn-cs"/>
                  </a:rPr>
                  <a:t>inc</a:t>
                </a:r>
                <a:r>
                  <a:rPr lang="en-US" sz="2400" dirty="0">
                    <a:latin typeface="Calibri"/>
                    <a:cs typeface="Calibri"/>
                  </a:rPr>
                  <a:t>, </a:t>
                </a:r>
                <a:r>
                  <a:rPr lang="en-US" sz="2400" spc="-5" dirty="0">
                    <a:latin typeface="Calibri"/>
                    <a:cs typeface="Calibri"/>
                  </a:rPr>
                  <a:t>decreasing </a:t>
                </a:r>
                <a:r>
                  <a:rPr lang="en-US" sz="2400" dirty="0">
                    <a:latin typeface="Calibri"/>
                    <a:cs typeface="Calibri"/>
                  </a:rPr>
                  <a:t>its</a:t>
                </a:r>
                <a:r>
                  <a:rPr lang="en-US" sz="2400" spc="-15" dirty="0">
                    <a:latin typeface="Calibri"/>
                    <a:cs typeface="Calibri"/>
                  </a:rPr>
                  <a:t> </a:t>
                </a:r>
                <a:r>
                  <a:rPr lang="en-US" sz="2400" spc="-5" dirty="0">
                    <a:latin typeface="Calibri"/>
                    <a:cs typeface="Calibri"/>
                  </a:rPr>
                  <a:t>nice </a:t>
                </a:r>
                <a:r>
                  <a:rPr lang="en-US" sz="2400" spc="-10" dirty="0">
                    <a:latin typeface="Calibri"/>
                    <a:cs typeface="Calibri"/>
                  </a:rPr>
                  <a:t>value </a:t>
                </a:r>
                <a:r>
                  <a:rPr lang="en-US" sz="2400" dirty="0">
                    <a:latin typeface="Calibri"/>
                    <a:cs typeface="Calibri"/>
                  </a:rPr>
                  <a:t>and </a:t>
                </a:r>
                <a:r>
                  <a:rPr lang="en-US" sz="2400" spc="-5" dirty="0">
                    <a:latin typeface="Calibri"/>
                    <a:cs typeface="Calibri"/>
                  </a:rPr>
                  <a:t>thereby increasing </a:t>
                </a:r>
                <a:r>
                  <a:rPr lang="en-US" sz="2400" dirty="0">
                    <a:latin typeface="Calibri"/>
                    <a:cs typeface="Calibri"/>
                  </a:rPr>
                  <a:t>its</a:t>
                </a:r>
                <a:r>
                  <a:rPr lang="en-US" sz="2400" spc="-5" dirty="0">
                    <a:latin typeface="Calibri"/>
                    <a:cs typeface="Calibri"/>
                  </a:rPr>
                  <a:t> priority.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241300" indent="-228600">
                  <a:lnSpc>
                    <a:spcPct val="100000"/>
                  </a:lnSpc>
                  <a:spcBef>
                    <a:spcPts val="13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400" spc="-10" dirty="0">
                    <a:latin typeface="Calibri"/>
                    <a:cs typeface="Calibri"/>
                  </a:rPr>
                  <a:t>Nonroot processes </a:t>
                </a:r>
                <a:r>
                  <a:rPr lang="en-US" sz="2400" spc="-15" dirty="0">
                    <a:latin typeface="Calibri"/>
                    <a:cs typeface="Calibri"/>
                  </a:rPr>
                  <a:t>may </a:t>
                </a:r>
                <a:r>
                  <a:rPr lang="en-US" sz="2400" spc="-5" dirty="0">
                    <a:latin typeface="Calibri"/>
                    <a:cs typeface="Calibri"/>
                  </a:rPr>
                  <a:t>only increase </a:t>
                </a:r>
                <a:r>
                  <a:rPr lang="en-US" sz="2400" dirty="0">
                    <a:latin typeface="Calibri"/>
                    <a:cs typeface="Calibri"/>
                  </a:rPr>
                  <a:t>their </a:t>
                </a:r>
                <a:r>
                  <a:rPr lang="en-US" sz="2400" spc="-5" dirty="0">
                    <a:latin typeface="Calibri"/>
                    <a:cs typeface="Calibri"/>
                  </a:rPr>
                  <a:t>nice </a:t>
                </a:r>
                <a:r>
                  <a:rPr lang="en-US" sz="2400" spc="-10" dirty="0">
                    <a:latin typeface="Calibri"/>
                    <a:cs typeface="Calibri"/>
                  </a:rPr>
                  <a:t>values (= reduce</a:t>
                </a:r>
                <a:r>
                  <a:rPr lang="en-US" sz="2400" spc="-25" dirty="0">
                    <a:latin typeface="Calibri"/>
                    <a:cs typeface="Calibri"/>
                  </a:rPr>
                  <a:t> </a:t>
                </a:r>
                <a:r>
                  <a:rPr lang="en-US" sz="2400" spc="-5" dirty="0">
                    <a:latin typeface="Calibri"/>
                    <a:cs typeface="Calibri"/>
                  </a:rPr>
                  <a:t>priorities.)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241300" marR="194310" indent="-228600">
                  <a:lnSpc>
                    <a:spcPct val="70000"/>
                  </a:lnSpc>
                  <a:spcBef>
                    <a:spcPts val="100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en-US" sz="2400" spc="-5" dirty="0">
                    <a:latin typeface="Calibri"/>
                    <a:cs typeface="Calibri"/>
                  </a:rPr>
                  <a:t>On </a:t>
                </a:r>
                <a:r>
                  <a:rPr lang="en-US" sz="2400" spc="-40" dirty="0">
                    <a:latin typeface="Calibri"/>
                    <a:cs typeface="Calibri"/>
                  </a:rPr>
                  <a:t>error, </a:t>
                </a:r>
                <a:r>
                  <a:rPr lang="en-US" sz="2400" dirty="0">
                    <a:latin typeface="Calibri"/>
                    <a:cs typeface="Calibri"/>
                  </a:rPr>
                  <a:t>it </a:t>
                </a:r>
                <a:r>
                  <a:rPr lang="en-US" sz="2400" spc="-5" dirty="0">
                    <a:latin typeface="Calibri"/>
                    <a:cs typeface="Calibri"/>
                  </a:rPr>
                  <a:t>return -1, </a:t>
                </a:r>
                <a:r>
                  <a:rPr lang="en-US" sz="2400" dirty="0">
                    <a:latin typeface="Calibri"/>
                    <a:cs typeface="Calibri"/>
                  </a:rPr>
                  <a:t>which </a:t>
                </a:r>
                <a:r>
                  <a:rPr lang="en-US" sz="2400" spc="-10" dirty="0">
                    <a:latin typeface="Calibri"/>
                    <a:cs typeface="Calibri"/>
                  </a:rPr>
                  <a:t>could </a:t>
                </a:r>
                <a:r>
                  <a:rPr lang="en-US" sz="2400" spc="-5" dirty="0">
                    <a:latin typeface="Calibri"/>
                    <a:cs typeface="Calibri"/>
                  </a:rPr>
                  <a:t>be a </a:t>
                </a:r>
                <a:r>
                  <a:rPr lang="en-US" sz="2400" spc="-15" dirty="0">
                    <a:latin typeface="Calibri"/>
                    <a:cs typeface="Calibri"/>
                  </a:rPr>
                  <a:t>legal </a:t>
                </a:r>
                <a:r>
                  <a:rPr lang="en-US" sz="2400" spc="-5" dirty="0">
                    <a:latin typeface="Calibri"/>
                    <a:cs typeface="Calibri"/>
                  </a:rPr>
                  <a:t>nice </a:t>
                </a:r>
                <a:r>
                  <a:rPr lang="en-US" sz="2400" spc="-10" dirty="0">
                    <a:latin typeface="Calibri"/>
                    <a:cs typeface="Calibri"/>
                  </a:rPr>
                  <a:t>value, </a:t>
                </a:r>
                <a:r>
                  <a:rPr lang="en-US" sz="2400" spc="-5" dirty="0">
                    <a:latin typeface="Calibri"/>
                    <a:cs typeface="Calibri"/>
                  </a:rPr>
                  <a:t>so </a:t>
                </a:r>
                <a:r>
                  <a:rPr lang="en-US" sz="2400" spc="-10" dirty="0">
                    <a:latin typeface="Calibri"/>
                    <a:cs typeface="Calibri"/>
                  </a:rPr>
                  <a:t>one must nullify</a:t>
                </a:r>
                <a:r>
                  <a:rPr lang="en-US" sz="2400" spc="-5" dirty="0">
                    <a:latin typeface="Calibri"/>
                    <a:cs typeface="Calibri"/>
                  </a:rPr>
                  <a:t> 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errno</a:t>
                </a:r>
                <a:r>
                  <a:rPr lang="en-US" sz="2400" dirty="0">
                    <a:latin typeface="Calibri"/>
                    <a:cs typeface="Calibri"/>
                  </a:rPr>
                  <a:t>  </a:t>
                </a:r>
                <a:r>
                  <a:rPr lang="en-US" sz="2400" spc="-20" dirty="0">
                    <a:latin typeface="Calibri"/>
                    <a:cs typeface="Calibri"/>
                  </a:rPr>
                  <a:t>before </a:t>
                </a:r>
                <a:r>
                  <a:rPr lang="en-US" sz="2400" spc="-15" dirty="0">
                    <a:latin typeface="Calibri"/>
                    <a:cs typeface="Calibri"/>
                  </a:rPr>
                  <a:t>calling </a:t>
                </a:r>
                <a:r>
                  <a:rPr lang="en-US" sz="2000" spc="-5" dirty="0">
                    <a:solidFill>
                      <a:srgbClr val="0070C0"/>
                    </a:solidFill>
                    <a:latin typeface="Consolas"/>
                  </a:rPr>
                  <a:t>nice()</a:t>
                </a:r>
                <a:r>
                  <a:rPr lang="en-US" sz="2400" spc="-15" dirty="0">
                    <a:latin typeface="Calibri"/>
                    <a:cs typeface="Calibri"/>
                  </a:rPr>
                  <a:t> </a:t>
                </a:r>
                <a:r>
                  <a:rPr lang="en-US" sz="2400" dirty="0">
                    <a:latin typeface="Calibri"/>
                    <a:cs typeface="Calibri"/>
                  </a:rPr>
                  <a:t>and check the </a:t>
                </a:r>
                <a:r>
                  <a:rPr lang="en-US" sz="2400" spc="-10" dirty="0">
                    <a:latin typeface="Calibri"/>
                    <a:cs typeface="Calibri"/>
                  </a:rPr>
                  <a:t>value of 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errno</a:t>
                </a:r>
                <a:r>
                  <a:rPr lang="en-US" sz="2400" spc="-10" dirty="0">
                    <a:latin typeface="Calibri"/>
                    <a:cs typeface="Calibri"/>
                  </a:rPr>
                  <a:t> after</a:t>
                </a:r>
                <a:r>
                  <a:rPr lang="en-US" sz="2400" spc="25" dirty="0">
                    <a:latin typeface="Calibri"/>
                    <a:cs typeface="Calibri"/>
                  </a:rPr>
                  <a:t> this </a:t>
                </a:r>
                <a:r>
                  <a:rPr lang="en-US" sz="2400" spc="-15" dirty="0">
                    <a:latin typeface="Calibri"/>
                    <a:cs typeface="Calibri"/>
                  </a:rPr>
                  <a:t>call.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1745945"/>
                <a:ext cx="10665461" cy="4438844"/>
              </a:xfrm>
              <a:prstGeom prst="rect">
                <a:avLst/>
              </a:prstGeom>
              <a:blipFill>
                <a:blip r:embed="rId2"/>
                <a:stretch>
                  <a:fillRect l="-1486" t="-1783" b="-3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73888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Examples </a:t>
            </a:r>
            <a:r>
              <a:rPr spc="-15" dirty="0"/>
              <a:t>o</a:t>
            </a:r>
            <a:r>
              <a:rPr lang="en-US" spc="-15" dirty="0"/>
              <a:t>f</a:t>
            </a:r>
            <a:r>
              <a:rPr spc="-15" dirty="0"/>
              <a:t> </a:t>
            </a:r>
            <a:r>
              <a:rPr spc="-40" dirty="0"/>
              <a:t>Setting </a:t>
            </a:r>
            <a:r>
              <a:rPr spc="-20" dirty="0"/>
              <a:t>Nice</a:t>
            </a:r>
            <a:r>
              <a:rPr spc="-285" dirty="0"/>
              <a:t> </a:t>
            </a:r>
            <a:r>
              <a:rPr spc="-75" dirty="0"/>
              <a:t>Value</a:t>
            </a:r>
            <a:r>
              <a:rPr lang="en-US" spc="-75" dirty="0"/>
              <a:t>s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679194" y="1850212"/>
            <a:ext cx="1090320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  <a:tab pos="5840730" algn="l"/>
              </a:tabLst>
            </a:pPr>
            <a:r>
              <a:rPr sz="2800" spc="-130" dirty="0">
                <a:latin typeface="Calibri"/>
                <a:cs typeface="Calibri"/>
              </a:rPr>
              <a:t>To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check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error</a:t>
            </a:r>
            <a:r>
              <a:rPr lang="en-US" sz="2800" spc="-15" dirty="0">
                <a:latin typeface="Calibri"/>
                <a:cs typeface="Calibri"/>
              </a:rPr>
              <a:t>s</a:t>
            </a:r>
            <a:r>
              <a:rPr sz="2800" spc="-15" dirty="0">
                <a:latin typeface="Calibri"/>
                <a:cs typeface="Calibri"/>
              </a:rPr>
              <a:t>:	</a:t>
            </a:r>
            <a:r>
              <a:rPr sz="2800" spc="-5" dirty="0">
                <a:latin typeface="Arial"/>
                <a:cs typeface="Arial"/>
              </a:rPr>
              <a:t>• </a:t>
            </a:r>
            <a:r>
              <a:rPr sz="2800" spc="-130" dirty="0">
                <a:latin typeface="Calibri"/>
                <a:cs typeface="Calibri"/>
              </a:rPr>
              <a:t>To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change </a:t>
            </a:r>
            <a:r>
              <a:rPr lang="en-US" sz="2800" spc="-10" dirty="0">
                <a:cs typeface="Calibri"/>
              </a:rPr>
              <a:t>the nice</a:t>
            </a:r>
            <a:r>
              <a:rPr lang="en-US" sz="2800" spc="225" dirty="0">
                <a:cs typeface="Calibri"/>
              </a:rPr>
              <a:t> </a:t>
            </a:r>
            <a:r>
              <a:rPr lang="en-US" sz="2800" spc="-15" dirty="0">
                <a:cs typeface="Calibri"/>
              </a:rPr>
              <a:t>value’s </a:t>
            </a:r>
            <a:r>
              <a:rPr lang="en-US" sz="2800" spc="-10" dirty="0">
                <a:latin typeface="Calibri"/>
                <a:cs typeface="Calibri"/>
              </a:rPr>
              <a:t>sign</a:t>
            </a:r>
            <a:r>
              <a:rPr lang="en-US" sz="2800" spc="-15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194" y="4807965"/>
            <a:ext cx="54168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30" dirty="0">
                <a:latin typeface="Calibri"/>
                <a:cs typeface="Calibri"/>
              </a:rPr>
              <a:t>To</a:t>
            </a:r>
            <a:r>
              <a:rPr sz="2800" spc="-15" dirty="0">
                <a:latin typeface="Calibri"/>
                <a:cs typeface="Calibri"/>
              </a:rPr>
              <a:t> obtain </a:t>
            </a:r>
            <a:r>
              <a:rPr lang="en-US" sz="2800" spc="-1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current </a:t>
            </a:r>
            <a:r>
              <a:rPr sz="2800" spc="-10" dirty="0">
                <a:latin typeface="Calibri"/>
                <a:cs typeface="Calibri"/>
              </a:rPr>
              <a:t>nice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92690" y="2719966"/>
            <a:ext cx="4838328" cy="31531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5483" y="2582779"/>
            <a:ext cx="5076825" cy="19141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57858" y="5560466"/>
            <a:ext cx="5124450" cy="1803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9796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35" dirty="0">
                <a:latin typeface="Courier New" panose="02070309020205020404" pitchFamily="49" charset="0"/>
                <a:cs typeface="Courier New" panose="02070309020205020404" pitchFamily="49" charset="0"/>
              </a:rPr>
              <a:t>getpriority()</a:t>
            </a:r>
            <a:r>
              <a:rPr spc="-35" dirty="0"/>
              <a:t> </a:t>
            </a:r>
            <a:r>
              <a:rPr spc="-25" dirty="0"/>
              <a:t>and</a:t>
            </a:r>
            <a:r>
              <a:rPr spc="-155" dirty="0"/>
              <a:t> </a:t>
            </a:r>
            <a:r>
              <a:rPr sz="4000" spc="-35" dirty="0">
                <a:latin typeface="Courier New" panose="02070309020205020404" pitchFamily="49" charset="0"/>
                <a:cs typeface="Courier New" panose="02070309020205020404" pitchFamily="49" charset="0"/>
              </a:rPr>
              <a:t>setpriority()</a:t>
            </a:r>
            <a:endParaRPr spc="-35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8" y="1745945"/>
            <a:ext cx="11198862" cy="44022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83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45" dirty="0">
                <a:latin typeface="Calibri"/>
                <a:cs typeface="Calibri"/>
              </a:rPr>
              <a:t>Two </a:t>
            </a:r>
            <a:r>
              <a:rPr sz="2400" spc="-5" dirty="0">
                <a:latin typeface="Calibri"/>
                <a:cs typeface="Calibri"/>
              </a:rPr>
              <a:t>other </a:t>
            </a:r>
            <a:r>
              <a:rPr sz="2400" spc="-15" dirty="0">
                <a:latin typeface="Calibri"/>
                <a:cs typeface="Calibri"/>
              </a:rPr>
              <a:t>syscalls </a:t>
            </a:r>
            <a:r>
              <a:rPr sz="2400" spc="-5" dirty="0">
                <a:latin typeface="Calibri"/>
                <a:cs typeface="Calibri"/>
              </a:rPr>
              <a:t>allow </a:t>
            </a:r>
            <a:r>
              <a:rPr sz="2400" spc="-10" dirty="0">
                <a:latin typeface="Calibri"/>
                <a:cs typeface="Calibri"/>
              </a:rPr>
              <a:t>more </a:t>
            </a:r>
            <a:r>
              <a:rPr sz="2400" spc="-15" dirty="0">
                <a:latin typeface="Calibri"/>
                <a:cs typeface="Calibri"/>
              </a:rPr>
              <a:t>control </a:t>
            </a:r>
            <a:r>
              <a:rPr sz="2400" dirty="0">
                <a:latin typeface="Calibri"/>
                <a:cs typeface="Calibri"/>
              </a:rPr>
              <a:t>– a </a:t>
            </a:r>
            <a:r>
              <a:rPr sz="2400" spc="-20" dirty="0">
                <a:latin typeface="Calibri"/>
                <a:cs typeface="Calibri"/>
              </a:rPr>
              <a:t>preferable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solution</a:t>
            </a:r>
            <a:r>
              <a:rPr lang="en-US" sz="2400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ts val="1935"/>
              </a:lnSpc>
            </a:pP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7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&lt;sys/time.h&gt;</a:t>
            </a:r>
          </a:p>
          <a:p>
            <a:pPr marL="469900">
              <a:lnSpc>
                <a:spcPts val="1925"/>
              </a:lnSpc>
              <a:spcAft>
                <a:spcPts val="600"/>
              </a:spcAft>
            </a:pP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#include &lt;sys/resource.h&gt;</a:t>
            </a:r>
            <a:endParaRPr sz="17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1925"/>
              </a:lnSpc>
            </a:pP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getpriority (</a:t>
            </a: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which, </a:t>
            </a: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700" b="1" spc="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who);</a:t>
            </a:r>
            <a:endParaRPr sz="17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1985"/>
              </a:lnSpc>
            </a:pP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setpriority (</a:t>
            </a: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which, </a:t>
            </a: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who, </a:t>
            </a:r>
            <a:r>
              <a:rPr sz="1700" b="1" spc="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700" b="1" spc="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prio);</a:t>
            </a:r>
            <a:endParaRPr sz="17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They </a:t>
            </a:r>
            <a:r>
              <a:rPr sz="2400" spc="-15" dirty="0">
                <a:latin typeface="Calibri"/>
                <a:cs typeface="Calibri"/>
              </a:rPr>
              <a:t>operate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lang="en-US" sz="2400" spc="-5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process, </a:t>
            </a:r>
            <a:r>
              <a:rPr lang="en-US" sz="2400" spc="-1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process group,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lang="en-US" sz="2400" spc="-5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user (with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which</a:t>
            </a:r>
            <a:r>
              <a:rPr lang="en-US" sz="2400" i="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who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r>
              <a:rPr sz="2400" dirty="0">
                <a:latin typeface="Calibri"/>
                <a:cs typeface="Calibri"/>
              </a:rPr>
              <a:t>)</a:t>
            </a:r>
          </a:p>
          <a:p>
            <a:pPr marL="241300" indent="-228600">
              <a:lnSpc>
                <a:spcPct val="100000"/>
              </a:lnSpc>
              <a:spcBef>
                <a:spcPts val="135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which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choices: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PRIO_PROCESS</a:t>
            </a:r>
            <a:r>
              <a:rPr sz="2000" spc="-10" dirty="0">
                <a:latin typeface="Calibri"/>
                <a:cs typeface="Calibri"/>
              </a:rPr>
              <a:t>,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PRIO_PGRP</a:t>
            </a:r>
            <a:r>
              <a:rPr sz="2000" spc="-35" dirty="0">
                <a:latin typeface="Calibri"/>
                <a:cs typeface="Calibri"/>
              </a:rPr>
              <a:t>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PRIO_USER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1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41300" indent="-228600">
              <a:lnSpc>
                <a:spcPct val="100000"/>
              </a:lnSpc>
              <a:spcBef>
                <a:spcPts val="140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who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choices: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2000" spc="-5" dirty="0">
                <a:latin typeface="Calibri"/>
                <a:cs typeface="Calibri"/>
              </a:rPr>
              <a:t>,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pgid</a:t>
            </a:r>
            <a:r>
              <a:rPr sz="2000" spc="-5" dirty="0">
                <a:latin typeface="Calibri"/>
                <a:cs typeface="Calibri"/>
              </a:rPr>
              <a:t>,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sz="2400" spc="-5" dirty="0">
                <a:latin typeface="Calibri"/>
                <a:cs typeface="Calibri"/>
              </a:rPr>
              <a:t>, or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lang="en-US" sz="2400" spc="-10" dirty="0">
                <a:latin typeface="Calibri"/>
                <a:cs typeface="Calibri"/>
              </a:rPr>
              <a:t>which </a:t>
            </a:r>
            <a:r>
              <a:rPr sz="2400" spc="-10" dirty="0">
                <a:latin typeface="Calibri"/>
                <a:cs typeface="Calibri"/>
              </a:rPr>
              <a:t>represent</a:t>
            </a:r>
            <a:r>
              <a:rPr lang="en-US" sz="2400" spc="-1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current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pid/pgid/</a:t>
            </a:r>
            <a:r>
              <a:rPr sz="20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5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000" b="1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getpriority</a:t>
            </a:r>
            <a:r>
              <a:rPr sz="20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highest </a:t>
            </a:r>
            <a:r>
              <a:rPr sz="2400" spc="-5" dirty="0">
                <a:latin typeface="Calibri"/>
                <a:cs typeface="Calibri"/>
              </a:rPr>
              <a:t>priority </a:t>
            </a:r>
            <a:r>
              <a:rPr sz="2400" spc="-15" dirty="0">
                <a:latin typeface="Calibri"/>
                <a:cs typeface="Calibri"/>
              </a:rPr>
              <a:t>(lowest </a:t>
            </a:r>
            <a:r>
              <a:rPr sz="2400" spc="-5" dirty="0">
                <a:latin typeface="Calibri"/>
                <a:cs typeface="Calibri"/>
              </a:rPr>
              <a:t>nice </a:t>
            </a:r>
            <a:r>
              <a:rPr sz="2400" spc="-10" dirty="0">
                <a:latin typeface="Calibri"/>
                <a:cs typeface="Calibri"/>
              </a:rPr>
              <a:t>value)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lang="en-US" sz="2400" spc="-5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specified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5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000" b="1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setpriority</a:t>
            </a:r>
            <a:r>
              <a:rPr sz="20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sz="2400" spc="-5" dirty="0">
                <a:latin typeface="Calibri"/>
                <a:cs typeface="Calibri"/>
              </a:rPr>
              <a:t> sets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priority </a:t>
            </a:r>
            <a:r>
              <a:rPr lang="en-US" sz="2400" spc="-5" dirty="0">
                <a:latin typeface="Calibri"/>
                <a:cs typeface="Calibri"/>
              </a:rPr>
              <a:t>(= nice value)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lang="en-US" sz="2400" dirty="0">
                <a:latin typeface="Calibri"/>
                <a:cs typeface="Calibri"/>
              </a:rPr>
              <a:t> 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specified </a:t>
            </a:r>
            <a:r>
              <a:rPr lang="en-US" sz="2400" spc="-10" dirty="0">
                <a:cs typeface="Calibri"/>
              </a:rPr>
              <a:t>processes to </a:t>
            </a:r>
            <a:r>
              <a:rPr sz="20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prio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1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5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Only </a:t>
            </a:r>
            <a:r>
              <a:rPr lang="en-US" sz="2400" spc="-5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privileged user </a:t>
            </a:r>
            <a:r>
              <a:rPr lang="en-US" sz="2400" spc="-5" dirty="0">
                <a:latin typeface="Calibri"/>
                <a:cs typeface="Calibri"/>
              </a:rPr>
              <a:t>(</a:t>
            </a:r>
            <a:r>
              <a:rPr lang="en-US"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lang="en-US" sz="2400" spc="-5" dirty="0">
                <a:latin typeface="Calibri"/>
                <a:cs typeface="Calibri"/>
              </a:rPr>
              <a:t>) </a:t>
            </a:r>
            <a:r>
              <a:rPr sz="2400" spc="-15" dirty="0">
                <a:latin typeface="Calibri"/>
                <a:cs typeface="Calibri"/>
              </a:rPr>
              <a:t>may </a:t>
            </a:r>
            <a:r>
              <a:rPr sz="2400" spc="-10" dirty="0">
                <a:latin typeface="Calibri"/>
                <a:cs typeface="Calibri"/>
              </a:rPr>
              <a:t>raise </a:t>
            </a:r>
            <a:r>
              <a:rPr sz="2400" spc="-20" dirty="0">
                <a:latin typeface="Calibri"/>
                <a:cs typeface="Calibri"/>
              </a:rPr>
              <a:t>priority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modify it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5" dirty="0">
                <a:latin typeface="Calibri"/>
                <a:cs typeface="Calibri"/>
              </a:rPr>
              <a:t>unowned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659765" indent="-228600">
              <a:lnSpc>
                <a:spcPct val="70000"/>
              </a:lnSpc>
              <a:spcBef>
                <a:spcPts val="995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setpriority()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10" dirty="0">
                <a:latin typeface="Calibri"/>
                <a:cs typeface="Calibri"/>
              </a:rPr>
              <a:t>on </a:t>
            </a:r>
            <a:r>
              <a:rPr sz="2400" spc="-5" dirty="0">
                <a:latin typeface="Calibri"/>
                <a:cs typeface="Calibri"/>
              </a:rPr>
              <a:t>success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-1 on </a:t>
            </a:r>
            <a:r>
              <a:rPr sz="2400" spc="-45" dirty="0">
                <a:latin typeface="Calibri"/>
                <a:cs typeface="Calibri"/>
              </a:rPr>
              <a:t>error, </a:t>
            </a:r>
            <a:r>
              <a:rPr sz="2400" spc="-5" dirty="0">
                <a:latin typeface="Calibri"/>
                <a:cs typeface="Calibri"/>
              </a:rPr>
              <a:t>but </a:t>
            </a:r>
            <a:r>
              <a:rPr sz="20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getpriority()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must </a:t>
            </a:r>
            <a:r>
              <a:rPr sz="2400" dirty="0">
                <a:latin typeface="Calibri"/>
                <a:cs typeface="Calibri"/>
              </a:rPr>
              <a:t>check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10" dirty="0">
                <a:latin typeface="Calibri"/>
                <a:cs typeface="Calibri"/>
              </a:rPr>
              <a:t>error</a:t>
            </a:r>
            <a:r>
              <a:rPr lang="en-US" sz="2400" spc="-10" dirty="0">
                <a:latin typeface="Calibri"/>
                <a:cs typeface="Calibri"/>
              </a:rPr>
              <a:t>s,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 </a:t>
            </a:r>
            <a:r>
              <a:rPr sz="2400" spc="-5" dirty="0">
                <a:latin typeface="Calibri"/>
                <a:cs typeface="Calibri"/>
              </a:rPr>
              <a:t>-1 </a:t>
            </a:r>
            <a:r>
              <a:rPr sz="2400" spc="-10" dirty="0">
                <a:latin typeface="Calibri"/>
                <a:cs typeface="Calibri"/>
              </a:rPr>
              <a:t>could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legal</a:t>
            </a:r>
            <a:r>
              <a:rPr lang="en-US" sz="2400" spc="-15" dirty="0">
                <a:latin typeface="Calibri"/>
                <a:cs typeface="Calibri"/>
              </a:rPr>
              <a:t>ly returned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priority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8940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Examples </a:t>
            </a:r>
            <a:r>
              <a:rPr spc="-15" dirty="0"/>
              <a:t>of</a:t>
            </a:r>
            <a:r>
              <a:rPr spc="-114" dirty="0"/>
              <a:t> </a:t>
            </a:r>
            <a:r>
              <a:rPr sz="4000" spc="-4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getpriority</a:t>
            </a:r>
            <a:r>
              <a:rPr lang="en-US" sz="4000" spc="-4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pc="-40" dirty="0"/>
              <a:t>/</a:t>
            </a:r>
            <a:r>
              <a:rPr sz="4000" spc="-4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setpriority</a:t>
            </a:r>
            <a:r>
              <a:rPr lang="en-US" sz="4000" spc="-4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spc="-4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34431"/>
            <a:ext cx="10088880" cy="3434273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5" dirty="0">
                <a:latin typeface="Calibri"/>
                <a:cs typeface="Calibri"/>
              </a:rPr>
              <a:t>T</a:t>
            </a:r>
            <a:r>
              <a:rPr sz="2800" spc="-15" dirty="0">
                <a:latin typeface="Calibri"/>
                <a:cs typeface="Calibri"/>
              </a:rPr>
              <a:t>o </a:t>
            </a:r>
            <a:r>
              <a:rPr sz="2800" spc="-10" dirty="0">
                <a:latin typeface="Calibri"/>
                <a:cs typeface="Calibri"/>
              </a:rPr>
              <a:t>return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current </a:t>
            </a:r>
            <a:r>
              <a:rPr sz="2800" spc="-30" dirty="0">
                <a:latin typeface="Calibri"/>
                <a:cs typeface="Calibri"/>
              </a:rPr>
              <a:t>process’s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priority</a:t>
            </a:r>
            <a:r>
              <a:rPr lang="en-US" sz="2800" spc="-10" dirty="0">
                <a:latin typeface="Calibri"/>
                <a:cs typeface="Calibri"/>
              </a:rPr>
              <a:t> (= nice value)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ret;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 marR="4581525">
              <a:lnSpc>
                <a:spcPts val="2660"/>
              </a:lnSpc>
              <a:spcBef>
                <a:spcPts val="12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ret =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getpriority (PRIO_PROCESS,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0);  </a:t>
            </a:r>
            <a:r>
              <a:rPr sz="2000" dirty="0" err="1">
                <a:solidFill>
                  <a:srgbClr val="0070C0"/>
                </a:solidFill>
                <a:latin typeface="Consolas"/>
                <a:cs typeface="Consolas"/>
              </a:rPr>
              <a:t>printf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("nice value is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%d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\n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",</a:t>
            </a:r>
            <a:r>
              <a:rPr sz="2000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ret);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Calibri"/>
                <a:cs typeface="Calibri"/>
              </a:rPr>
              <a:t>To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priority </a:t>
            </a:r>
            <a:r>
              <a:rPr sz="2800" spc="-5" dirty="0">
                <a:latin typeface="Calibri"/>
                <a:cs typeface="Calibri"/>
              </a:rPr>
              <a:t>of all </a:t>
            </a:r>
            <a:r>
              <a:rPr sz="2800" spc="-10" dirty="0">
                <a:latin typeface="Calibri"/>
                <a:cs typeface="Calibri"/>
              </a:rPr>
              <a:t>processes </a:t>
            </a:r>
            <a:r>
              <a:rPr sz="2800" spc="-5" dirty="0">
                <a:latin typeface="Calibri"/>
                <a:cs typeface="Calibri"/>
              </a:rPr>
              <a:t>in the </a:t>
            </a:r>
            <a:r>
              <a:rPr sz="2800" spc="-15" dirty="0">
                <a:latin typeface="Calibri"/>
                <a:cs typeface="Calibri"/>
              </a:rPr>
              <a:t>current </a:t>
            </a:r>
            <a:r>
              <a:rPr sz="2800" spc="-10" dirty="0">
                <a:latin typeface="Calibri"/>
                <a:cs typeface="Calibri"/>
              </a:rPr>
              <a:t>process </a:t>
            </a:r>
            <a:r>
              <a:rPr sz="2800" spc="-15" dirty="0">
                <a:latin typeface="Calibri"/>
                <a:cs typeface="Calibri"/>
              </a:rPr>
              <a:t>group to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10</a:t>
            </a:r>
            <a:r>
              <a:rPr lang="en-US" sz="2800" spc="-5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2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ret;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ret =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setpriority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(PRIO_PGRP, 0,</a:t>
            </a:r>
            <a:r>
              <a:rPr sz="2000" spc="-3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10);</a:t>
            </a:r>
          </a:p>
          <a:p>
            <a:pPr marL="469900">
              <a:lnSpc>
                <a:spcPct val="100000"/>
              </a:lnSpc>
              <a:spcBef>
                <a:spcPts val="254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(ret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==</a:t>
            </a:r>
            <a:r>
              <a:rPr sz="2000" spc="-3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−1)</a:t>
            </a:r>
          </a:p>
          <a:p>
            <a:pPr marL="927100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perror</a:t>
            </a:r>
            <a:r>
              <a:rPr sz="20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("setpriority");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877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Processor</a:t>
            </a:r>
            <a:r>
              <a:rPr spc="-150" dirty="0"/>
              <a:t> </a:t>
            </a:r>
            <a:r>
              <a:rPr spc="-35" dirty="0"/>
              <a:t>Affinity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5945"/>
            <a:ext cx="10360662" cy="399968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1300" marR="28575" indent="-228600">
              <a:lnSpc>
                <a:spcPct val="7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scheduler must </a:t>
            </a:r>
            <a:r>
              <a:rPr sz="2400" dirty="0">
                <a:latin typeface="Calibri"/>
                <a:cs typeface="Calibri"/>
              </a:rPr>
              <a:t>decide which </a:t>
            </a: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dirty="0">
                <a:latin typeface="Calibri"/>
                <a:cs typeface="Calibri"/>
              </a:rPr>
              <a:t>run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CPU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775"/>
              </a:lnSpc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45" dirty="0">
                <a:latin typeface="Calibri"/>
                <a:cs typeface="Calibri"/>
              </a:rPr>
              <a:t>The scheduler faces 2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challenges</a:t>
            </a:r>
            <a:r>
              <a:rPr lang="en-US" sz="2400" spc="-5" dirty="0">
                <a:latin typeface="Calibri"/>
                <a:cs typeface="Calibri"/>
              </a:rPr>
              <a:t>/goals</a:t>
            </a:r>
            <a:r>
              <a:rPr sz="2400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18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alibri"/>
                <a:cs typeface="Calibri"/>
              </a:rPr>
              <a:t>Fully utilizing </a:t>
            </a:r>
            <a:r>
              <a:rPr sz="2000" dirty="0">
                <a:latin typeface="Calibri"/>
                <a:cs typeface="Calibri"/>
              </a:rPr>
              <a:t>all </a:t>
            </a:r>
            <a:r>
              <a:rPr sz="2000" spc="-5" dirty="0">
                <a:latin typeface="Calibri"/>
                <a:cs typeface="Calibri"/>
              </a:rPr>
              <a:t>CPUs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lang="en-US" sz="2000" dirty="0">
                <a:latin typeface="Calibri"/>
                <a:cs typeface="Calibri"/>
              </a:rPr>
              <a:t>= </a:t>
            </a:r>
            <a:r>
              <a:rPr sz="2000" dirty="0">
                <a:latin typeface="Calibri"/>
                <a:cs typeface="Calibri"/>
              </a:rPr>
              <a:t>don’t </a:t>
            </a:r>
            <a:r>
              <a:rPr sz="2000" spc="-10" dirty="0">
                <a:latin typeface="Calibri"/>
                <a:cs typeface="Calibri"/>
              </a:rPr>
              <a:t>let </a:t>
            </a:r>
            <a:r>
              <a:rPr sz="2000" spc="-5" dirty="0">
                <a:latin typeface="Calibri"/>
                <a:cs typeface="Calibri"/>
              </a:rPr>
              <a:t>one sit </a:t>
            </a:r>
            <a:r>
              <a:rPr sz="2000" dirty="0">
                <a:latin typeface="Calibri"/>
                <a:cs typeface="Calibri"/>
              </a:rPr>
              <a:t>idle </a:t>
            </a:r>
            <a:r>
              <a:rPr sz="2000" spc="-5" dirty="0">
                <a:latin typeface="Calibri"/>
                <a:cs typeface="Calibri"/>
              </a:rPr>
              <a:t>while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process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waiting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r>
              <a:rPr sz="2000" spc="-5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24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Avoid </a:t>
            </a:r>
            <a:r>
              <a:rPr sz="2000" spc="-10" dirty="0">
                <a:latin typeface="Calibri"/>
                <a:cs typeface="Calibri"/>
              </a:rPr>
              <a:t>migrating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process </a:t>
            </a:r>
            <a:r>
              <a:rPr sz="2000" spc="-15" dirty="0">
                <a:latin typeface="Calibri"/>
                <a:cs typeface="Calibri"/>
              </a:rPr>
              <a:t>from </a:t>
            </a:r>
            <a:r>
              <a:rPr sz="2000" spc="-5" dirty="0">
                <a:latin typeface="Calibri"/>
                <a:cs typeface="Calibri"/>
              </a:rPr>
              <a:t>one </a:t>
            </a:r>
            <a:r>
              <a:rPr sz="2000" spc="-10" dirty="0">
                <a:latin typeface="Calibri"/>
                <a:cs typeface="Calibri"/>
              </a:rPr>
              <a:t>processor to </a:t>
            </a:r>
            <a:r>
              <a:rPr sz="2000" spc="-5" dirty="0">
                <a:latin typeface="Calibri"/>
                <a:cs typeface="Calibri"/>
              </a:rPr>
              <a:t>another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lang="en-US" sz="2000" spc="10" dirty="0">
                <a:latin typeface="Calibri"/>
                <a:cs typeface="Calibri"/>
              </a:rPr>
              <a:t>since it is </a:t>
            </a:r>
            <a:r>
              <a:rPr sz="2000" spc="-5" dirty="0">
                <a:latin typeface="Calibri"/>
                <a:cs typeface="Calibri"/>
              </a:rPr>
              <a:t>costly</a:t>
            </a:r>
            <a:r>
              <a:rPr lang="en-US" sz="2000" spc="-5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i="1" spc="-5" dirty="0">
                <a:latin typeface="Calibri"/>
                <a:cs typeface="Calibri"/>
              </a:rPr>
              <a:t>Cache effects </a:t>
            </a:r>
            <a:r>
              <a:rPr sz="1900" dirty="0">
                <a:latin typeface="Calibri"/>
                <a:cs typeface="Calibri"/>
              </a:rPr>
              <a:t>of </a:t>
            </a:r>
            <a:r>
              <a:rPr sz="1900" spc="-5" dirty="0">
                <a:latin typeface="Calibri"/>
                <a:cs typeface="Calibri"/>
              </a:rPr>
              <a:t>migration: </a:t>
            </a:r>
            <a:r>
              <a:rPr sz="1900" spc="-10" dirty="0">
                <a:latin typeface="Calibri"/>
                <a:cs typeface="Calibri"/>
              </a:rPr>
              <a:t>data </a:t>
            </a:r>
            <a:r>
              <a:rPr sz="1900" dirty="0">
                <a:latin typeface="Calibri"/>
                <a:cs typeface="Calibri"/>
              </a:rPr>
              <a:t>in one </a:t>
            </a:r>
            <a:r>
              <a:rPr sz="1900" spc="-10" dirty="0">
                <a:latin typeface="Calibri"/>
                <a:cs typeface="Calibri"/>
              </a:rPr>
              <a:t>processor’s </a:t>
            </a:r>
            <a:r>
              <a:rPr sz="1900" dirty="0">
                <a:latin typeface="Calibri"/>
                <a:cs typeface="Calibri"/>
              </a:rPr>
              <a:t>cache is </a:t>
            </a:r>
            <a:r>
              <a:rPr sz="1900" spc="-5" dirty="0">
                <a:latin typeface="Calibri"/>
                <a:cs typeface="Calibri"/>
              </a:rPr>
              <a:t>not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8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another’s</a:t>
            </a:r>
            <a:r>
              <a:rPr lang="en-US" sz="1900" spc="-5" dirty="0">
                <a:latin typeface="Calibri"/>
                <a:cs typeface="Calibri"/>
              </a:rPr>
              <a:t> cache.</a:t>
            </a:r>
            <a:endParaRPr sz="1900" dirty="0">
              <a:latin typeface="Calibri"/>
              <a:cs typeface="Calibri"/>
            </a:endParaRPr>
          </a:p>
          <a:p>
            <a:pPr marL="1155700" lvl="2" indent="-229235"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spc="-5" dirty="0">
                <a:latin typeface="Calibri"/>
                <a:cs typeface="Calibri"/>
              </a:rPr>
              <a:t>Moved process must </a:t>
            </a:r>
            <a:r>
              <a:rPr sz="1900" spc="-10" dirty="0">
                <a:latin typeface="Calibri"/>
                <a:cs typeface="Calibri"/>
              </a:rPr>
              <a:t>invalidate </a:t>
            </a:r>
            <a:r>
              <a:rPr sz="1900" dirty="0">
                <a:latin typeface="Calibri"/>
                <a:cs typeface="Calibri"/>
              </a:rPr>
              <a:t>old </a:t>
            </a:r>
            <a:r>
              <a:rPr sz="1900" spc="-5" dirty="0">
                <a:latin typeface="Calibri"/>
                <a:cs typeface="Calibri"/>
              </a:rPr>
              <a:t>cache </a:t>
            </a:r>
            <a:r>
              <a:rPr sz="1900" dirty="0">
                <a:latin typeface="Calibri"/>
                <a:cs typeface="Calibri"/>
              </a:rPr>
              <a:t>and re-cache new</a:t>
            </a:r>
            <a:r>
              <a:rPr sz="1900" spc="-13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memory</a:t>
            </a:r>
            <a:r>
              <a:rPr lang="en-US" sz="1900" spc="5" dirty="0">
                <a:latin typeface="Calibri"/>
                <a:cs typeface="Calibri"/>
              </a:rPr>
              <a:t>, which takes time.</a:t>
            </a:r>
            <a:endParaRPr sz="1900" dirty="0">
              <a:latin typeface="Calibri"/>
              <a:cs typeface="Calibri"/>
            </a:endParaRPr>
          </a:p>
          <a:p>
            <a:pPr marL="241300" indent="-228600">
              <a:lnSpc>
                <a:spcPts val="2775"/>
              </a:lnSpc>
              <a:spcBef>
                <a:spcPts val="130"/>
              </a:spcBef>
              <a:buFont typeface="Arial"/>
              <a:buChar char="•"/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lang="en-US" sz="2400" spc="-5" dirty="0">
                <a:latin typeface="Calibri"/>
                <a:cs typeface="Calibri"/>
              </a:rPr>
              <a:t>se two goals</a:t>
            </a:r>
            <a:r>
              <a:rPr sz="2400" spc="-5" dirty="0">
                <a:latin typeface="Calibri"/>
                <a:cs typeface="Calibri"/>
              </a:rPr>
              <a:t> potentially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contradict one another.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2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i="1" spc="-5" dirty="0">
                <a:latin typeface="Calibri"/>
                <a:cs typeface="Calibri"/>
              </a:rPr>
              <a:t>Load balancing</a:t>
            </a:r>
            <a:r>
              <a:rPr lang="en-US" sz="2000" spc="-5" dirty="0">
                <a:latin typeface="Calibri"/>
                <a:cs typeface="Calibri"/>
              </a:rPr>
              <a:t> (= the decision to move processes due to imbalances) </a:t>
            </a:r>
            <a:r>
              <a:rPr sz="2000" spc="-10" dirty="0">
                <a:latin typeface="Calibri"/>
                <a:cs typeface="Calibri"/>
              </a:rPr>
              <a:t>requires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migrating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ts val="2450"/>
              </a:lnSpc>
              <a:spcBef>
                <a:spcPts val="1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i="1" dirty="0">
                <a:latin typeface="Calibri"/>
                <a:cs typeface="Calibri"/>
              </a:rPr>
              <a:t>Processor </a:t>
            </a:r>
            <a:r>
              <a:rPr sz="2400" i="1" spc="-5" dirty="0">
                <a:latin typeface="Calibri"/>
                <a:cs typeface="Calibri"/>
              </a:rPr>
              <a:t>affinity </a:t>
            </a:r>
            <a:r>
              <a:rPr sz="2400" spc="-25" dirty="0">
                <a:latin typeface="Calibri"/>
                <a:cs typeface="Calibri"/>
              </a:rPr>
              <a:t>refers </a:t>
            </a:r>
            <a:r>
              <a:rPr sz="2400" spc="-20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likelihood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lang="en-US" sz="2400" spc="-5" dirty="0">
                <a:latin typeface="Calibri"/>
                <a:cs typeface="Calibri"/>
              </a:rPr>
              <a:t>continue running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</a:p>
          <a:p>
            <a:pPr marL="241300">
              <a:lnSpc>
                <a:spcPts val="2345"/>
              </a:lnSpc>
            </a:pPr>
            <a:r>
              <a:rPr sz="2400" spc="-5" dirty="0">
                <a:latin typeface="Calibri"/>
                <a:cs typeface="Calibri"/>
              </a:rPr>
              <a:t>same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CPU after it returned from waiting or its CPU time was replenished.</a:t>
            </a:r>
            <a:endParaRPr sz="2400" dirty="0">
              <a:latin typeface="Calibri"/>
              <a:cs typeface="Calibri"/>
            </a:endParaRPr>
          </a:p>
          <a:p>
            <a:pPr marL="698500" marR="381000" lvl="1" indent="-228600">
              <a:lnSpc>
                <a:spcPct val="70000"/>
              </a:lnSpc>
              <a:spcBef>
                <a:spcPts val="61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i="1" spc="-5" dirty="0">
                <a:latin typeface="Calibri"/>
                <a:cs typeface="Calibri"/>
              </a:rPr>
              <a:t>Soft affinity</a:t>
            </a:r>
            <a:r>
              <a:rPr sz="2000" spc="-5" dirty="0">
                <a:latin typeface="Calibri"/>
                <a:cs typeface="Calibri"/>
              </a:rPr>
              <a:t>: </a:t>
            </a:r>
            <a:r>
              <a:rPr sz="2000" spc="-25" dirty="0">
                <a:latin typeface="Calibri"/>
                <a:cs typeface="Calibri"/>
              </a:rPr>
              <a:t>refers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scheduler’s natural </a:t>
            </a:r>
            <a:r>
              <a:rPr lang="en-US" sz="2000" spc="-10" dirty="0">
                <a:latin typeface="Calibri"/>
                <a:cs typeface="Calibri"/>
              </a:rPr>
              <a:t>tendency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continue </a:t>
            </a:r>
            <a:r>
              <a:rPr lang="en-US" sz="2000" spc="-5" dirty="0">
                <a:latin typeface="Calibri"/>
                <a:cs typeface="Calibri"/>
              </a:rPr>
              <a:t>running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process </a:t>
            </a:r>
            <a:r>
              <a:rPr sz="2000" spc="-5" dirty="0">
                <a:latin typeface="Calibri"/>
                <a:cs typeface="Calibri"/>
              </a:rPr>
              <a:t>on same </a:t>
            </a:r>
            <a:r>
              <a:rPr sz="2000" spc="-10" dirty="0">
                <a:latin typeface="Calibri"/>
                <a:cs typeface="Calibri"/>
              </a:rPr>
              <a:t>processor; migration </a:t>
            </a:r>
            <a:r>
              <a:rPr sz="2000" dirty="0">
                <a:latin typeface="Calibri"/>
                <a:cs typeface="Calibri"/>
              </a:rPr>
              <a:t>only </a:t>
            </a:r>
            <a:r>
              <a:rPr sz="2000" spc="-5" dirty="0">
                <a:latin typeface="Calibri"/>
                <a:cs typeface="Calibri"/>
              </a:rPr>
              <a:t>happens </a:t>
            </a:r>
            <a:r>
              <a:rPr sz="2000" dirty="0">
                <a:latin typeface="Calibri"/>
                <a:cs typeface="Calibri"/>
              </a:rPr>
              <a:t>in </a:t>
            </a:r>
            <a:r>
              <a:rPr lang="en-US" sz="2000" dirty="0">
                <a:latin typeface="Calibri"/>
                <a:cs typeface="Calibri"/>
              </a:rPr>
              <a:t>an </a:t>
            </a:r>
            <a:r>
              <a:rPr sz="2000" spc="-15" dirty="0">
                <a:latin typeface="Calibri"/>
                <a:cs typeface="Calibri"/>
              </a:rPr>
              <a:t>extreme </a:t>
            </a:r>
            <a:r>
              <a:rPr sz="2000" dirty="0">
                <a:latin typeface="Calibri"/>
                <a:cs typeface="Calibri"/>
              </a:rPr>
              <a:t>load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imbalance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i="1" spc="-5" dirty="0">
                <a:latin typeface="Calibri"/>
                <a:cs typeface="Calibri"/>
              </a:rPr>
              <a:t>Hard affinity</a:t>
            </a:r>
            <a:r>
              <a:rPr sz="2000" spc="-5" dirty="0">
                <a:latin typeface="Calibri"/>
                <a:cs typeface="Calibri"/>
              </a:rPr>
              <a:t>: user/app </a:t>
            </a:r>
            <a:r>
              <a:rPr sz="2000" dirty="0">
                <a:latin typeface="Calibri"/>
                <a:cs typeface="Calibri"/>
              </a:rPr>
              <a:t>chooses </a:t>
            </a:r>
            <a:r>
              <a:rPr sz="2000" spc="-1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b</a:t>
            </a:r>
            <a:r>
              <a:rPr lang="en-US" sz="2000" spc="-5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nd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process to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particular </a:t>
            </a:r>
            <a:r>
              <a:rPr lang="en-US" sz="2000" spc="-10" dirty="0">
                <a:latin typeface="Calibri"/>
                <a:cs typeface="Calibri"/>
              </a:rPr>
              <a:t>CPU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via </a:t>
            </a:r>
            <a:r>
              <a:rPr lang="en-US" sz="2000" spc="-5" dirty="0">
                <a:latin typeface="Calibri"/>
                <a:cs typeface="Calibri"/>
              </a:rPr>
              <a:t>the </a:t>
            </a:r>
            <a:r>
              <a:rPr sz="2000" spc="-25" dirty="0">
                <a:latin typeface="Calibri"/>
                <a:cs typeface="Calibri"/>
              </a:rPr>
              <a:t>kernel’s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help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894061" cy="536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00" spc="-45" dirty="0">
                <a:latin typeface="Courier New" panose="02070309020205020404" pitchFamily="49" charset="0"/>
                <a:cs typeface="Courier New" panose="02070309020205020404" pitchFamily="49" charset="0"/>
              </a:rPr>
              <a:t>sched_getaffinity()</a:t>
            </a:r>
            <a:r>
              <a:rPr sz="3400" spc="-45" dirty="0">
                <a:latin typeface="+mn-lt"/>
                <a:cs typeface="Courier New" panose="02070309020205020404" pitchFamily="49" charset="0"/>
              </a:rPr>
              <a:t> </a:t>
            </a:r>
            <a:r>
              <a:rPr sz="3400" spc="-25" dirty="0"/>
              <a:t>and</a:t>
            </a:r>
            <a:r>
              <a:rPr sz="3400" spc="-130" dirty="0"/>
              <a:t> </a:t>
            </a:r>
            <a:r>
              <a:rPr sz="3400" spc="-45" dirty="0">
                <a:latin typeface="Courier New" panose="02070309020205020404" pitchFamily="49" charset="0"/>
                <a:cs typeface="Courier New" panose="02070309020205020404" pitchFamily="49" charset="0"/>
              </a:rPr>
              <a:t>sched_setaffinity()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5945"/>
            <a:ext cx="10234295" cy="4696799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1300" marR="84455" indent="-228600">
              <a:lnSpc>
                <a:spcPct val="7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dirty="0">
                <a:latin typeface="Calibri"/>
                <a:cs typeface="Calibri"/>
              </a:rPr>
              <a:t>inherit the </a:t>
            </a:r>
            <a:r>
              <a:rPr sz="2400" spc="-5" dirty="0">
                <a:latin typeface="Calibri"/>
                <a:cs typeface="Calibri"/>
              </a:rPr>
              <a:t>CPU </a:t>
            </a:r>
            <a:r>
              <a:rPr sz="2400" spc="-10" dirty="0">
                <a:latin typeface="Calibri"/>
                <a:cs typeface="Calibri"/>
              </a:rPr>
              <a:t>affinities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their </a:t>
            </a:r>
            <a:r>
              <a:rPr sz="2400" spc="-10" dirty="0">
                <a:latin typeface="Calibri"/>
                <a:cs typeface="Calibri"/>
              </a:rPr>
              <a:t>parents, </a:t>
            </a:r>
            <a:r>
              <a:rPr lang="en-US" sz="2400" dirty="0">
                <a:latin typeface="Calibri"/>
                <a:cs typeface="Calibri"/>
              </a:rPr>
              <a:t>but</a:t>
            </a:r>
            <a:r>
              <a:rPr sz="2400" dirty="0">
                <a:latin typeface="Calibri"/>
                <a:cs typeface="Calibri"/>
              </a:rPr>
              <a:t> they </a:t>
            </a:r>
            <a:r>
              <a:rPr sz="2400" spc="-15" dirty="0">
                <a:latin typeface="Calibri"/>
                <a:cs typeface="Calibri"/>
              </a:rPr>
              <a:t>may </a:t>
            </a:r>
            <a:r>
              <a:rPr sz="2400" spc="-5" dirty="0">
                <a:latin typeface="Calibri"/>
                <a:cs typeface="Calibri"/>
              </a:rPr>
              <a:t>choose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run 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20" dirty="0">
                <a:latin typeface="Calibri"/>
                <a:cs typeface="Calibri"/>
              </a:rPr>
              <a:t>any </a:t>
            </a:r>
            <a:r>
              <a:rPr sz="2400" dirty="0">
                <a:latin typeface="Calibri"/>
                <a:cs typeface="Calibri"/>
              </a:rPr>
              <a:t>CPU </a:t>
            </a:r>
            <a:r>
              <a:rPr lang="en-US" sz="2400" spc="-10" dirty="0">
                <a:latin typeface="Calibri"/>
                <a:cs typeface="Calibri"/>
              </a:rPr>
              <a:t>via the following system calls that set </a:t>
            </a:r>
            <a:r>
              <a:rPr sz="2400" spc="-10" dirty="0">
                <a:latin typeface="Calibri"/>
                <a:cs typeface="Calibri"/>
              </a:rPr>
              <a:t>hard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affinity</a:t>
            </a:r>
            <a:r>
              <a:rPr lang="en-US" sz="2400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469900" marR="6621145">
              <a:lnSpc>
                <a:spcPts val="2020"/>
              </a:lnSpc>
              <a:spcBef>
                <a:spcPts val="45"/>
              </a:spcBef>
            </a:pP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#define _GNU_SOURCE  #include &lt;</a:t>
            </a:r>
            <a:r>
              <a:rPr sz="1800" spc="-5" dirty="0" err="1">
                <a:solidFill>
                  <a:srgbClr val="0070C0"/>
                </a:solidFill>
                <a:latin typeface="Consolas"/>
                <a:cs typeface="Consolas"/>
              </a:rPr>
              <a:t>sched.h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&gt;</a:t>
            </a:r>
            <a:endParaRPr lang="en-US" sz="1800" spc="-5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 marR="6621145">
              <a:lnSpc>
                <a:spcPts val="2020"/>
              </a:lnSpc>
              <a:spcBef>
                <a:spcPts val="45"/>
              </a:spcBef>
            </a:pPr>
            <a:r>
              <a:rPr lang="en-US" sz="1800" b="1" spc="-5" dirty="0">
                <a:solidFill>
                  <a:srgbClr val="0070C0"/>
                </a:solidFill>
                <a:latin typeface="Consolas"/>
                <a:cs typeface="Consolas"/>
              </a:rPr>
              <a:t>typedef struct</a:t>
            </a:r>
            <a:r>
              <a:rPr lang="en-US" sz="1800" b="1" spc="-6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800" spc="-5" dirty="0" err="1">
                <a:solidFill>
                  <a:srgbClr val="0070C0"/>
                </a:solidFill>
                <a:latin typeface="Consolas"/>
                <a:cs typeface="Consolas"/>
              </a:rPr>
              <a:t>cpu_set_t</a:t>
            </a:r>
            <a:r>
              <a:rPr lang="en-US" sz="1800" spc="-5" dirty="0">
                <a:solidFill>
                  <a:srgbClr val="0070C0"/>
                </a:solidFill>
                <a:latin typeface="Consolas"/>
                <a:cs typeface="Consolas"/>
              </a:rPr>
              <a:t>;</a:t>
            </a:r>
          </a:p>
          <a:p>
            <a:pPr marL="469900" marR="6621145">
              <a:lnSpc>
                <a:spcPts val="2020"/>
              </a:lnSpc>
              <a:spcBef>
                <a:spcPts val="45"/>
              </a:spcBef>
            </a:pPr>
            <a:r>
              <a:rPr lang="en-US" sz="1800" b="1" dirty="0" err="1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lang="en-US" sz="1800" b="1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Consolas"/>
                <a:cs typeface="Consolas"/>
              </a:rPr>
              <a:t>CPU_SETSIZE</a:t>
            </a:r>
            <a:r>
              <a:rPr lang="en-US" sz="1800" dirty="0">
                <a:solidFill>
                  <a:srgbClr val="0070C0"/>
                </a:solidFill>
                <a:latin typeface="Consolas"/>
                <a:cs typeface="Consolas"/>
              </a:rPr>
              <a:t>;</a:t>
            </a:r>
          </a:p>
          <a:p>
            <a:pPr marL="469900" marR="6621145">
              <a:lnSpc>
                <a:spcPts val="2020"/>
              </a:lnSpc>
              <a:spcBef>
                <a:spcPts val="45"/>
              </a:spcBef>
            </a:pPr>
            <a:endParaRPr lang="en-US" spc="-5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1935"/>
              </a:lnSpc>
            </a:pPr>
            <a:endParaRPr lang="en-US" sz="1800" b="1" spc="-1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1935"/>
              </a:lnSpc>
            </a:pPr>
            <a:endParaRPr lang="en-US" b="1" spc="-1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1935"/>
              </a:lnSpc>
            </a:pPr>
            <a:endParaRPr lang="en-US" sz="1800" b="1" spc="-1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1935"/>
              </a:lnSpc>
            </a:pPr>
            <a:endParaRPr lang="en-US" sz="1800" b="1" spc="-1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1935"/>
              </a:lnSpc>
            </a:pPr>
            <a:r>
              <a:rPr lang="en-US" sz="1800" b="1" spc="-10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lang="en-US" sz="1800" spc="-5" dirty="0" err="1">
                <a:solidFill>
                  <a:srgbClr val="0070C0"/>
                </a:solidFill>
                <a:latin typeface="Consolas"/>
                <a:cs typeface="Consolas"/>
              </a:rPr>
              <a:t>sched_setaffinity</a:t>
            </a:r>
            <a:r>
              <a:rPr lang="en-US" sz="1800" spc="-5" dirty="0">
                <a:solidFill>
                  <a:srgbClr val="0070C0"/>
                </a:solidFill>
                <a:latin typeface="Consolas"/>
                <a:cs typeface="Consolas"/>
              </a:rPr>
              <a:t> (</a:t>
            </a:r>
            <a:r>
              <a:rPr lang="en-US" sz="1800" spc="-5" dirty="0" err="1">
                <a:solidFill>
                  <a:srgbClr val="0070C0"/>
                </a:solidFill>
                <a:latin typeface="Consolas"/>
                <a:cs typeface="Consolas"/>
              </a:rPr>
              <a:t>pid_t</a:t>
            </a:r>
            <a:r>
              <a:rPr lang="en-US" sz="18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800" spc="-5" dirty="0" err="1">
                <a:solidFill>
                  <a:srgbClr val="0070C0"/>
                </a:solidFill>
                <a:latin typeface="Consolas"/>
                <a:cs typeface="Consolas"/>
              </a:rPr>
              <a:t>pid</a:t>
            </a:r>
            <a:r>
              <a:rPr lang="en-US" sz="1800" spc="-5" dirty="0">
                <a:solidFill>
                  <a:srgbClr val="0070C0"/>
                </a:solidFill>
                <a:latin typeface="Consolas"/>
                <a:cs typeface="Consolas"/>
              </a:rPr>
              <a:t>, </a:t>
            </a:r>
            <a:r>
              <a:rPr lang="en-US" sz="1800" b="1" spc="-5" dirty="0" err="1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lang="en-US" sz="1800" b="1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800" spc="-5" dirty="0" err="1">
                <a:solidFill>
                  <a:srgbClr val="0070C0"/>
                </a:solidFill>
                <a:latin typeface="Consolas"/>
                <a:cs typeface="Consolas"/>
              </a:rPr>
              <a:t>setsize</a:t>
            </a:r>
            <a:r>
              <a:rPr lang="en-US" sz="1800" spc="-5" dirty="0">
                <a:solidFill>
                  <a:srgbClr val="0070C0"/>
                </a:solidFill>
                <a:latin typeface="Consolas"/>
                <a:cs typeface="Consolas"/>
              </a:rPr>
              <a:t>, </a:t>
            </a:r>
            <a:r>
              <a:rPr lang="en-US" sz="1800" b="1" spc="-5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lang="en-US" sz="1800" spc="-5" dirty="0" err="1">
                <a:solidFill>
                  <a:srgbClr val="0070C0"/>
                </a:solidFill>
                <a:latin typeface="Consolas"/>
                <a:cs typeface="Consolas"/>
              </a:rPr>
              <a:t>cpu_set_t</a:t>
            </a:r>
            <a:r>
              <a:rPr lang="en-US" sz="1800" spc="-5" dirty="0">
                <a:solidFill>
                  <a:srgbClr val="0070C0"/>
                </a:solidFill>
                <a:latin typeface="Consolas"/>
                <a:cs typeface="Consolas"/>
              </a:rPr>
              <a:t> *set);</a:t>
            </a:r>
            <a:endParaRPr lang="en-US"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080"/>
              </a:lnSpc>
            </a:pPr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sched_getaffinity (pid_t pid, </a:t>
            </a: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setsize, cpu_set_t</a:t>
            </a:r>
            <a:r>
              <a:rPr sz="1800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*set);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508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call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sched_getaffinity()</a:t>
            </a:r>
            <a:r>
              <a:rPr sz="2400" spc="-10" dirty="0">
                <a:latin typeface="Calibri"/>
                <a:cs typeface="Calibri"/>
              </a:rPr>
              <a:t> retrieves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CPU </a:t>
            </a:r>
            <a:r>
              <a:rPr sz="2400" spc="-10" dirty="0">
                <a:latin typeface="Calibri"/>
                <a:cs typeface="Calibri"/>
              </a:rPr>
              <a:t>affinity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0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pid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20" dirty="0">
                <a:latin typeface="Calibri"/>
                <a:cs typeface="Calibri"/>
              </a:rPr>
              <a:t>stores </a:t>
            </a:r>
            <a:r>
              <a:rPr sz="2400" dirty="0">
                <a:latin typeface="Calibri"/>
                <a:cs typeface="Calibri"/>
              </a:rPr>
              <a:t>it in the </a:t>
            </a:r>
            <a:r>
              <a:rPr sz="20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cpu_set_t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 </a:t>
            </a:r>
            <a:r>
              <a:rPr sz="2400" spc="-5" dirty="0">
                <a:latin typeface="Calibri"/>
                <a:cs typeface="Calibri"/>
              </a:rPr>
              <a:t>(which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opaque). </a:t>
            </a:r>
            <a:r>
              <a:rPr sz="20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pid</a:t>
            </a:r>
            <a:r>
              <a:rPr sz="2400" spc="-5" dirty="0">
                <a:latin typeface="Calibri"/>
                <a:cs typeface="Calibri"/>
              </a:rPr>
              <a:t>=0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lang="en-US" sz="2400" dirty="0">
                <a:latin typeface="Calibri"/>
                <a:cs typeface="Calibri"/>
              </a:rPr>
              <a:t>how you refer to the </a:t>
            </a:r>
            <a:r>
              <a:rPr sz="2400" spc="-10" dirty="0">
                <a:latin typeface="Calibri"/>
                <a:cs typeface="Calibri"/>
              </a:rPr>
              <a:t>current process</a:t>
            </a:r>
            <a:r>
              <a:rPr lang="en-US" sz="2400" spc="-1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0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setsize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the </a:t>
            </a:r>
            <a:r>
              <a:rPr sz="2400" spc="-15" dirty="0">
                <a:latin typeface="Calibri"/>
                <a:cs typeface="Calibri"/>
              </a:rPr>
              <a:t>size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cpu_set_t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 </a:t>
            </a:r>
            <a:r>
              <a:rPr sz="2400" spc="-5" dirty="0">
                <a:latin typeface="Calibri"/>
                <a:cs typeface="Calibri"/>
              </a:rPr>
              <a:t>(in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bytes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Each of the functions r</a:t>
            </a:r>
            <a:r>
              <a:rPr sz="2400" spc="-5" dirty="0">
                <a:latin typeface="Calibri"/>
                <a:cs typeface="Calibri"/>
              </a:rPr>
              <a:t>eturns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success and </a:t>
            </a:r>
            <a:r>
              <a:rPr sz="2400" spc="-5" dirty="0">
                <a:latin typeface="Calibri"/>
                <a:cs typeface="Calibri"/>
              </a:rPr>
              <a:t>-1 on </a:t>
            </a:r>
            <a:r>
              <a:rPr sz="2400" spc="-15" dirty="0">
                <a:latin typeface="Calibri"/>
                <a:cs typeface="Calibri"/>
              </a:rPr>
              <a:t>failure</a:t>
            </a:r>
            <a:r>
              <a:rPr lang="en-US" sz="2400" spc="-15" dirty="0">
                <a:latin typeface="Calibri"/>
                <a:cs typeface="Calibri"/>
              </a:rPr>
              <a:t> and sets </a:t>
            </a:r>
            <a:r>
              <a:rPr lang="en-US" sz="22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07167-5C31-47E1-9411-A04F38D1F558}"/>
              </a:ext>
            </a:extLst>
          </p:cNvPr>
          <p:cNvSpPr txBox="1"/>
          <p:nvPr/>
        </p:nvSpPr>
        <p:spPr>
          <a:xfrm>
            <a:off x="838200" y="3453745"/>
            <a:ext cx="13868400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900" marR="6621145">
              <a:lnSpc>
                <a:spcPts val="2020"/>
              </a:lnSpc>
              <a:spcBef>
                <a:spcPts val="45"/>
              </a:spcBef>
            </a:pPr>
            <a:r>
              <a:rPr lang="en-US" sz="1800" b="1" spc="-5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lang="en-US" sz="1800" dirty="0" err="1">
                <a:solidFill>
                  <a:srgbClr val="0070C0"/>
                </a:solidFill>
                <a:latin typeface="Consolas"/>
                <a:cs typeface="Consolas"/>
              </a:rPr>
              <a:t>CPU_SET</a:t>
            </a:r>
            <a:r>
              <a:rPr lang="en-US" sz="1800" dirty="0">
                <a:solidFill>
                  <a:srgbClr val="0070C0"/>
                </a:solidFill>
                <a:latin typeface="Consolas"/>
                <a:cs typeface="Consolas"/>
              </a:rPr>
              <a:t> (</a:t>
            </a:r>
            <a:r>
              <a:rPr lang="en-US" sz="1800" b="1" dirty="0">
                <a:solidFill>
                  <a:srgbClr val="0070C0"/>
                </a:solidFill>
                <a:latin typeface="Consolas"/>
                <a:cs typeface="Consolas"/>
              </a:rPr>
              <a:t>unsigned long 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cs typeface="Consolas"/>
              </a:rPr>
              <a:t>c</a:t>
            </a:r>
            <a:r>
              <a:rPr lang="en-US" sz="1800" dirty="0" err="1">
                <a:solidFill>
                  <a:srgbClr val="0070C0"/>
                </a:solidFill>
                <a:latin typeface="Consolas"/>
                <a:cs typeface="Consolas"/>
              </a:rPr>
              <a:t>pu</a:t>
            </a:r>
            <a:r>
              <a:rPr lang="en-US" sz="1800" dirty="0">
                <a:solidFill>
                  <a:srgbClr val="0070C0"/>
                </a:solidFill>
                <a:latin typeface="Consolas"/>
                <a:cs typeface="Consolas"/>
              </a:rPr>
              <a:t>, </a:t>
            </a:r>
            <a:r>
              <a:rPr lang="en-US" sz="1800" dirty="0" err="1">
                <a:solidFill>
                  <a:srgbClr val="0070C0"/>
                </a:solidFill>
                <a:latin typeface="Consolas"/>
                <a:cs typeface="Consolas"/>
              </a:rPr>
              <a:t>cpu_set_t</a:t>
            </a:r>
            <a:r>
              <a:rPr lang="en-US" sz="1800" dirty="0">
                <a:solidFill>
                  <a:srgbClr val="0070C0"/>
                </a:solidFill>
                <a:latin typeface="Consolas"/>
                <a:cs typeface="Consolas"/>
              </a:rPr>
              <a:t> *set);</a:t>
            </a:r>
          </a:p>
          <a:p>
            <a:pPr marL="469900" marR="6621145">
              <a:lnSpc>
                <a:spcPts val="2020"/>
              </a:lnSpc>
              <a:spcBef>
                <a:spcPts val="45"/>
              </a:spcBef>
            </a:pPr>
            <a:r>
              <a:rPr lang="en-US" sz="18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lang="en-US" sz="1800" dirty="0" err="1">
                <a:solidFill>
                  <a:srgbClr val="0070C0"/>
                </a:solidFill>
                <a:latin typeface="Consolas"/>
                <a:cs typeface="Consolas"/>
              </a:rPr>
              <a:t>CPU_CLR</a:t>
            </a:r>
            <a:r>
              <a:rPr lang="en-US" sz="1800" dirty="0">
                <a:solidFill>
                  <a:srgbClr val="0070C0"/>
                </a:solidFill>
                <a:latin typeface="Consolas"/>
                <a:cs typeface="Consolas"/>
              </a:rPr>
              <a:t> (</a:t>
            </a:r>
            <a:r>
              <a:rPr lang="en-US" sz="1800" b="1" dirty="0">
                <a:solidFill>
                  <a:srgbClr val="0070C0"/>
                </a:solidFill>
                <a:latin typeface="Consolas"/>
                <a:cs typeface="Consolas"/>
              </a:rPr>
              <a:t>unsigned long </a:t>
            </a:r>
            <a:r>
              <a:rPr lang="en-US" sz="1800" dirty="0" err="1">
                <a:solidFill>
                  <a:srgbClr val="0070C0"/>
                </a:solidFill>
                <a:latin typeface="Consolas"/>
                <a:cs typeface="Consolas"/>
              </a:rPr>
              <a:t>cpu</a:t>
            </a:r>
            <a:r>
              <a:rPr lang="en-US" sz="1800" dirty="0">
                <a:solidFill>
                  <a:srgbClr val="0070C0"/>
                </a:solidFill>
                <a:latin typeface="Consolas"/>
                <a:cs typeface="Consolas"/>
              </a:rPr>
              <a:t>, </a:t>
            </a:r>
            <a:r>
              <a:rPr lang="en-US" sz="1800" dirty="0" err="1">
                <a:solidFill>
                  <a:srgbClr val="0070C0"/>
                </a:solidFill>
                <a:latin typeface="Consolas"/>
                <a:cs typeface="Consolas"/>
              </a:rPr>
              <a:t>cpu_set_t</a:t>
            </a:r>
            <a:r>
              <a:rPr lang="en-US" sz="1800" dirty="0">
                <a:solidFill>
                  <a:srgbClr val="0070C0"/>
                </a:solidFill>
                <a:latin typeface="Consolas"/>
                <a:cs typeface="Consolas"/>
              </a:rPr>
              <a:t> *set);</a:t>
            </a:r>
          </a:p>
          <a:p>
            <a:pPr marL="469900" marR="6621145">
              <a:lnSpc>
                <a:spcPts val="2020"/>
              </a:lnSpc>
              <a:spcBef>
                <a:spcPts val="45"/>
              </a:spcBef>
            </a:pPr>
            <a:r>
              <a:rPr lang="en-US" sz="18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lang="en-US" sz="1800" dirty="0" err="1">
                <a:solidFill>
                  <a:srgbClr val="0070C0"/>
                </a:solidFill>
                <a:latin typeface="Consolas"/>
                <a:cs typeface="Consolas"/>
              </a:rPr>
              <a:t>CPU_ISSET</a:t>
            </a:r>
            <a:r>
              <a:rPr lang="en-US" sz="18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800" spc="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lang="en-US" sz="1800" b="1" spc="5" dirty="0">
                <a:solidFill>
                  <a:srgbClr val="0070C0"/>
                </a:solidFill>
                <a:latin typeface="Consolas"/>
                <a:cs typeface="Consolas"/>
              </a:rPr>
              <a:t>unsigned </a:t>
            </a:r>
            <a:r>
              <a:rPr lang="en-US" sz="1800" b="1" dirty="0">
                <a:solidFill>
                  <a:srgbClr val="0070C0"/>
                </a:solidFill>
                <a:latin typeface="Consolas"/>
                <a:cs typeface="Consolas"/>
              </a:rPr>
              <a:t>long </a:t>
            </a:r>
            <a:r>
              <a:rPr lang="en-US" sz="1800" dirty="0" err="1">
                <a:solidFill>
                  <a:srgbClr val="0070C0"/>
                </a:solidFill>
                <a:latin typeface="Consolas"/>
                <a:cs typeface="Consolas"/>
              </a:rPr>
              <a:t>cpu</a:t>
            </a:r>
            <a:r>
              <a:rPr lang="en-US" sz="1800" dirty="0">
                <a:solidFill>
                  <a:srgbClr val="0070C0"/>
                </a:solidFill>
                <a:latin typeface="Consolas"/>
                <a:cs typeface="Consolas"/>
              </a:rPr>
              <a:t>, </a:t>
            </a:r>
            <a:r>
              <a:rPr lang="en-US" sz="1800" dirty="0" err="1">
                <a:solidFill>
                  <a:srgbClr val="0070C0"/>
                </a:solidFill>
                <a:latin typeface="Consolas"/>
                <a:cs typeface="Consolas"/>
              </a:rPr>
              <a:t>cpu_set_t</a:t>
            </a:r>
            <a:r>
              <a:rPr lang="en-US" sz="1800" dirty="0">
                <a:solidFill>
                  <a:srgbClr val="0070C0"/>
                </a:solidFill>
                <a:latin typeface="Consolas"/>
                <a:cs typeface="Consolas"/>
              </a:rPr>
              <a:t> *set);</a:t>
            </a:r>
          </a:p>
          <a:p>
            <a:pPr marL="469900" marR="6621145">
              <a:lnSpc>
                <a:spcPts val="2020"/>
              </a:lnSpc>
              <a:spcBef>
                <a:spcPts val="45"/>
              </a:spcBef>
            </a:pPr>
            <a:r>
              <a:rPr lang="en-US" sz="18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lang="en-US" sz="1800" dirty="0" err="1">
                <a:solidFill>
                  <a:srgbClr val="0070C0"/>
                </a:solidFill>
                <a:latin typeface="Consolas"/>
                <a:cs typeface="Consolas"/>
              </a:rPr>
              <a:t>CPU_ZERO</a:t>
            </a:r>
            <a:r>
              <a:rPr lang="en-US" sz="18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800" spc="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lang="en-US" sz="1800" spc="5" dirty="0" err="1">
                <a:solidFill>
                  <a:srgbClr val="0070C0"/>
                </a:solidFill>
                <a:latin typeface="Consolas"/>
                <a:cs typeface="Consolas"/>
              </a:rPr>
              <a:t>cpu_set_t</a:t>
            </a:r>
            <a:r>
              <a:rPr lang="en-US" sz="18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800" spc="5" dirty="0">
                <a:solidFill>
                  <a:srgbClr val="0070C0"/>
                </a:solidFill>
                <a:latin typeface="Consolas"/>
                <a:cs typeface="Consolas"/>
              </a:rPr>
              <a:t>*set);</a:t>
            </a:r>
            <a:endParaRPr lang="en-US" sz="18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B7FC17-9BFA-515E-9A96-4E0A58292551}"/>
              </a:ext>
            </a:extLst>
          </p:cNvPr>
          <p:cNvSpPr txBox="1"/>
          <p:nvPr/>
        </p:nvSpPr>
        <p:spPr>
          <a:xfrm>
            <a:off x="4495800" y="2854161"/>
            <a:ext cx="6358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spc="-5" dirty="0">
                <a:latin typeface="Consolas"/>
              </a:rPr>
              <a:t>// This type is already defined inside &lt;</a:t>
            </a:r>
            <a:r>
              <a:rPr lang="en-US" i="1" spc="-5" dirty="0" err="1">
                <a:latin typeface="Consolas"/>
              </a:rPr>
              <a:t>sched.h</a:t>
            </a:r>
            <a:r>
              <a:rPr lang="en-US" i="1" spc="-5" dirty="0">
                <a:latin typeface="Consolas"/>
              </a:rPr>
              <a:t>&gt;.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222CA6-F8CA-5F92-418B-2BF3DC2A0B1A}"/>
              </a:ext>
            </a:extLst>
          </p:cNvPr>
          <p:cNvSpPr txBox="1"/>
          <p:nvPr/>
        </p:nvSpPr>
        <p:spPr>
          <a:xfrm>
            <a:off x="3810000" y="2313466"/>
            <a:ext cx="6736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spc="-5" dirty="0">
                <a:latin typeface="Consolas"/>
              </a:rPr>
              <a:t>// Must be included for the below functions to work.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D9569B-2C22-9995-64CE-F3F2A3ACBFDD}"/>
              </a:ext>
            </a:extLst>
          </p:cNvPr>
          <p:cNvSpPr txBox="1"/>
          <p:nvPr/>
        </p:nvSpPr>
        <p:spPr>
          <a:xfrm>
            <a:off x="3772829" y="3097716"/>
            <a:ext cx="6862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spc="-5" dirty="0">
                <a:latin typeface="Consolas"/>
              </a:rPr>
              <a:t>// This constant is already defined inside &lt;</a:t>
            </a:r>
            <a:r>
              <a:rPr lang="en-US" i="1" spc="-5" dirty="0" err="1">
                <a:latin typeface="Consolas"/>
              </a:rPr>
              <a:t>sched.h</a:t>
            </a:r>
            <a:r>
              <a:rPr lang="en-US" i="1" spc="-5" dirty="0">
                <a:latin typeface="Consolas"/>
              </a:rPr>
              <a:t>&gt;.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86842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 </a:t>
            </a:r>
            <a:r>
              <a:rPr spc="-15" dirty="0"/>
              <a:t>of</a:t>
            </a:r>
            <a:r>
              <a:rPr spc="-175" dirty="0"/>
              <a:t> </a:t>
            </a:r>
            <a:r>
              <a:rPr spc="-40" dirty="0"/>
              <a:t>Get</a:t>
            </a:r>
            <a:r>
              <a:rPr lang="en-US" spc="-40" dirty="0"/>
              <a:t>ting and Setting Affinity</a:t>
            </a:r>
            <a:endParaRPr spc="-40" dirty="0"/>
          </a:p>
        </p:txBody>
      </p:sp>
      <p:sp>
        <p:nvSpPr>
          <p:cNvPr id="3" name="object 3"/>
          <p:cNvSpPr/>
          <p:nvPr/>
        </p:nvSpPr>
        <p:spPr>
          <a:xfrm>
            <a:off x="1072038" y="5288704"/>
            <a:ext cx="1228757" cy="9945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80197" y="1978732"/>
            <a:ext cx="3972846" cy="26058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72901" y="2080750"/>
            <a:ext cx="3890158" cy="29016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93764" y="5337683"/>
            <a:ext cx="1239212" cy="8279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64158" y="1559433"/>
            <a:ext cx="388884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latin typeface="Calibri"/>
                <a:cs typeface="Calibri"/>
              </a:rPr>
              <a:t>To</a:t>
            </a:r>
            <a:r>
              <a:rPr spc="1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get </a:t>
            </a:r>
            <a:r>
              <a:rPr lang="en-US" sz="1800" spc="-1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affinity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current</a:t>
            </a:r>
            <a:r>
              <a:rPr sz="1800" spc="1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</a:t>
            </a:r>
            <a:r>
              <a:rPr lang="en-US" sz="1800" spc="-10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4158" y="4655311"/>
            <a:ext cx="495564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CPU_SETSIZE</a:t>
            </a:r>
            <a:r>
              <a:rPr spc="-10" dirty="0">
                <a:cs typeface="Courier New" panose="02070309020205020404" pitchFamily="49" charset="0"/>
              </a:rPr>
              <a:t> </a:t>
            </a:r>
            <a:r>
              <a:rPr spc="-5" dirty="0">
                <a:latin typeface="Calibri"/>
                <a:cs typeface="Calibri"/>
              </a:rPr>
              <a:t>is the # of </a:t>
            </a:r>
            <a:r>
              <a:rPr spc="-15" dirty="0">
                <a:latin typeface="Calibri"/>
                <a:cs typeface="Calibri"/>
              </a:rPr>
              <a:t>processors </a:t>
            </a:r>
            <a:r>
              <a:rPr spc="-10" dirty="0">
                <a:latin typeface="Calibri"/>
                <a:cs typeface="Calibri"/>
              </a:rPr>
              <a:t>representable by </a:t>
            </a:r>
            <a:r>
              <a:rPr spc="-5" dirty="0">
                <a:latin typeface="Calibri"/>
                <a:cs typeface="Calibri"/>
              </a:rPr>
              <a:t>the </a:t>
            </a:r>
            <a:r>
              <a:rPr spc="-10" dirty="0">
                <a:latin typeface="Calibri"/>
                <a:cs typeface="Calibri"/>
              </a:rPr>
              <a:t>set </a:t>
            </a:r>
            <a:r>
              <a:rPr lang="en-US" spc="-10" dirty="0">
                <a:latin typeface="Calibri"/>
                <a:cs typeface="Calibri"/>
              </a:rPr>
              <a:t>and is currently equal to 1024: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0425" y="5212678"/>
            <a:ext cx="381317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b="1" spc="-5" dirty="0">
                <a:solidFill>
                  <a:schemeClr val="accent3">
                    <a:lumMod val="50000"/>
                  </a:schemeClr>
                </a:solidFill>
                <a:cs typeface="Wingdings"/>
              </a:rPr>
              <a:t>}</a:t>
            </a:r>
            <a:r>
              <a:rPr lang="en-US" sz="1600" spc="-5" dirty="0">
                <a:solidFill>
                  <a:schemeClr val="accent3">
                    <a:lumMod val="50000"/>
                  </a:schemeClr>
                </a:solidFill>
                <a:cs typeface="Wingdings"/>
              </a:rPr>
              <a:t>  </a:t>
            </a:r>
            <a:r>
              <a:rPr sz="1600" spc="-5" dirty="0">
                <a:solidFill>
                  <a:schemeClr val="accent3">
                    <a:lumMod val="50000"/>
                  </a:schemeClr>
                </a:solidFill>
                <a:latin typeface="Wingdings"/>
                <a:cs typeface="Wingdings"/>
              </a:rPr>
              <a:t></a:t>
            </a:r>
            <a:r>
              <a:rPr sz="1600" spc="-5" dirty="0">
                <a:solidFill>
                  <a:schemeClr val="accent3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1600" spc="-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The</a:t>
            </a:r>
            <a:r>
              <a:rPr sz="1600" spc="-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computer </a:t>
            </a:r>
            <a:r>
              <a:rPr lang="en-US" sz="1600" spc="-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has</a:t>
            </a:r>
            <a:r>
              <a:rPr sz="1600" spc="-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only 2 </a:t>
            </a:r>
            <a:r>
              <a:rPr sz="1600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physical</a:t>
            </a:r>
            <a:r>
              <a:rPr sz="1600" spc="-6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CPUs</a:t>
            </a:r>
            <a:r>
              <a:rPr lang="en-US" sz="1600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.</a:t>
            </a:r>
            <a:endParaRPr sz="1600" dirty="0">
              <a:solidFill>
                <a:schemeClr val="accent3">
                  <a:lumMod val="5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65644" y="1582292"/>
            <a:ext cx="474535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set </a:t>
            </a:r>
            <a:r>
              <a:rPr sz="1800" spc="-10" dirty="0">
                <a:latin typeface="Calibri"/>
                <a:cs typeface="Calibri"/>
              </a:rPr>
              <a:t>affinity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current process to </a:t>
            </a:r>
            <a:r>
              <a:rPr sz="1800" b="1" spc="-5" dirty="0">
                <a:latin typeface="Calibri"/>
                <a:cs typeface="Calibri"/>
              </a:rPr>
              <a:t>CPU</a:t>
            </a:r>
            <a:r>
              <a:rPr lang="en-US" sz="1800" b="1" spc="-5" dirty="0">
                <a:latin typeface="Calibri"/>
                <a:cs typeface="Calibri"/>
              </a:rPr>
              <a:t>-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1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only</a:t>
            </a:r>
            <a:r>
              <a:rPr lang="en-US" sz="1800" spc="-5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62200" y="3578097"/>
            <a:ext cx="397284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spc="-1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↓ R</a:t>
            </a:r>
            <a:r>
              <a:rPr sz="1600" spc="-1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eturns nonzero </a:t>
            </a:r>
            <a:r>
              <a:rPr sz="1600" spc="-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if </a:t>
            </a:r>
            <a:r>
              <a:rPr lang="en-US" sz="1600" spc="-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any</a:t>
            </a:r>
            <a:r>
              <a:rPr sz="1600" spc="-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CPU</a:t>
            </a:r>
            <a:r>
              <a:rPr lang="en-US" sz="1600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-</a:t>
            </a:r>
            <a:r>
              <a:rPr lang="en-US" sz="1600" spc="5" dirty="0" err="1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i</a:t>
            </a:r>
            <a:r>
              <a:rPr sz="1600" spc="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is </a:t>
            </a:r>
            <a:r>
              <a:rPr sz="1600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bound</a:t>
            </a:r>
            <a:r>
              <a:rPr sz="1600" spc="7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(set)</a:t>
            </a:r>
            <a:r>
              <a:rPr lang="en-US" sz="1600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.</a:t>
            </a:r>
            <a:endParaRPr sz="1600" dirty="0">
              <a:solidFill>
                <a:schemeClr val="accent3">
                  <a:lumMod val="5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79611" y="5434380"/>
            <a:ext cx="2761615" cy="5118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14"/>
              </a:lnSpc>
              <a:spcBef>
                <a:spcPts val="95"/>
              </a:spcBef>
            </a:pPr>
            <a:r>
              <a:rPr sz="1600" spc="-5" dirty="0">
                <a:solidFill>
                  <a:schemeClr val="accent3">
                    <a:lumMod val="50000"/>
                  </a:schemeClr>
                </a:solidFill>
                <a:latin typeface="Wingdings"/>
                <a:cs typeface="Wingdings"/>
              </a:rPr>
              <a:t></a:t>
            </a:r>
            <a:r>
              <a:rPr sz="1600" spc="-5" dirty="0">
                <a:solidFill>
                  <a:schemeClr val="accent3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CPU-1</a:t>
            </a:r>
            <a:r>
              <a:rPr sz="1600" spc="-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is </a:t>
            </a:r>
            <a:r>
              <a:rPr sz="1600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now unbound, </a:t>
            </a:r>
            <a:r>
              <a:rPr sz="1600" spc="-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so</a:t>
            </a:r>
            <a:r>
              <a:rPr sz="1600" spc="-2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lang="en-US" sz="1600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the</a:t>
            </a:r>
            <a:endParaRPr sz="1600" dirty="0">
              <a:solidFill>
                <a:schemeClr val="accent3">
                  <a:lumMod val="50000"/>
                </a:schemeClr>
              </a:solidFill>
              <a:latin typeface="Calibri"/>
              <a:cs typeface="Calibri"/>
            </a:endParaRPr>
          </a:p>
          <a:p>
            <a:pPr marL="12700">
              <a:lnSpc>
                <a:spcPts val="1914"/>
              </a:lnSpc>
            </a:pPr>
            <a:r>
              <a:rPr sz="1600" spc="-1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process </a:t>
            </a:r>
            <a:r>
              <a:rPr sz="1600" spc="-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will </a:t>
            </a:r>
            <a:r>
              <a:rPr sz="1600" spc="-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never run </a:t>
            </a:r>
            <a:r>
              <a:rPr sz="1600" spc="-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on</a:t>
            </a:r>
            <a:r>
              <a:rPr sz="1600" spc="6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it</a:t>
            </a:r>
            <a:r>
              <a:rPr lang="en-US" sz="1600" spc="-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.</a:t>
            </a:r>
            <a:endParaRPr sz="1600" dirty="0">
              <a:solidFill>
                <a:schemeClr val="accent3">
                  <a:lumMod val="5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124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Real-Time</a:t>
            </a:r>
            <a:r>
              <a:rPr spc="-170" dirty="0"/>
              <a:t> </a:t>
            </a:r>
            <a:r>
              <a:rPr spc="-6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0813"/>
            <a:ext cx="10589261" cy="4333879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1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“real-time” </a:t>
            </a:r>
            <a:r>
              <a:rPr sz="2600" spc="-20" dirty="0">
                <a:latin typeface="Calibri"/>
                <a:cs typeface="Calibri"/>
              </a:rPr>
              <a:t>system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subject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i="1" spc="-5" dirty="0">
                <a:latin typeface="Calibri"/>
                <a:cs typeface="Calibri"/>
              </a:rPr>
              <a:t>operational</a:t>
            </a:r>
            <a:r>
              <a:rPr sz="2600" i="1" spc="-9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deadlines</a:t>
            </a:r>
            <a:r>
              <a:rPr lang="en-US" sz="260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10" dirty="0">
                <a:latin typeface="Calibri"/>
                <a:cs typeface="Calibri"/>
              </a:rPr>
              <a:t>It enforces m</a:t>
            </a:r>
            <a:r>
              <a:rPr sz="2200" spc="-10" dirty="0">
                <a:latin typeface="Calibri"/>
                <a:cs typeface="Calibri"/>
              </a:rPr>
              <a:t>inimum</a:t>
            </a:r>
            <a:r>
              <a:rPr lang="en-US"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mandatory </a:t>
            </a:r>
            <a:r>
              <a:rPr sz="2200" spc="-5" dirty="0">
                <a:latin typeface="Calibri"/>
                <a:cs typeface="Calibri"/>
              </a:rPr>
              <a:t>times </a:t>
            </a:r>
            <a:r>
              <a:rPr sz="2200" spc="-10" dirty="0">
                <a:latin typeface="Calibri"/>
                <a:cs typeface="Calibri"/>
              </a:rPr>
              <a:t>between stimuli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responses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Such </a:t>
            </a:r>
            <a:r>
              <a:rPr sz="2200" spc="-5" dirty="0">
                <a:latin typeface="Calibri"/>
                <a:cs typeface="Calibri"/>
              </a:rPr>
              <a:t>as </a:t>
            </a: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ABS (anti-lock </a:t>
            </a:r>
            <a:r>
              <a:rPr sz="2200" spc="-10" dirty="0">
                <a:latin typeface="Calibri"/>
                <a:cs typeface="Calibri"/>
              </a:rPr>
              <a:t>braking </a:t>
            </a:r>
            <a:r>
              <a:rPr sz="2200" spc="-20" dirty="0">
                <a:latin typeface="Calibri"/>
                <a:cs typeface="Calibri"/>
              </a:rPr>
              <a:t>system) </a:t>
            </a:r>
            <a:r>
              <a:rPr sz="2200" spc="-5" dirty="0">
                <a:latin typeface="Calibri"/>
                <a:cs typeface="Calibri"/>
              </a:rPr>
              <a:t>on </a:t>
            </a:r>
            <a:r>
              <a:rPr sz="2200" spc="-10" dirty="0">
                <a:latin typeface="Calibri"/>
                <a:cs typeface="Calibri"/>
              </a:rPr>
              <a:t>modern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cars</a:t>
            </a:r>
            <a:r>
              <a:rPr lang="en-US" sz="2200" spc="-20" dirty="0">
                <a:latin typeface="Calibri"/>
                <a:cs typeface="Calibri"/>
              </a:rPr>
              <a:t> to prevent accidents.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Hard </a:t>
            </a:r>
            <a:r>
              <a:rPr sz="2600" spc="-5" dirty="0">
                <a:latin typeface="Calibri"/>
                <a:cs typeface="Calibri"/>
              </a:rPr>
              <a:t>vs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r>
              <a:rPr sz="2600" spc="-5" dirty="0">
                <a:latin typeface="Calibri"/>
                <a:cs typeface="Calibri"/>
              </a:rPr>
              <a:t> Soft </a:t>
            </a:r>
            <a:r>
              <a:rPr sz="2600" spc="-10" dirty="0">
                <a:latin typeface="Calibri"/>
                <a:cs typeface="Calibri"/>
              </a:rPr>
              <a:t>Real-Time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Systems</a:t>
            </a:r>
            <a:r>
              <a:rPr lang="en-US" sz="2600" spc="-15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9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i="1" spc="-10" dirty="0">
                <a:latin typeface="Calibri"/>
                <a:cs typeface="Calibri"/>
              </a:rPr>
              <a:t>Hard </a:t>
            </a:r>
            <a:r>
              <a:rPr sz="2200" i="1" spc="-5" dirty="0">
                <a:latin typeface="Calibri"/>
                <a:cs typeface="Calibri"/>
              </a:rPr>
              <a:t>real-time </a:t>
            </a:r>
            <a:r>
              <a:rPr sz="2200" i="1" spc="-20" dirty="0">
                <a:latin typeface="Calibri"/>
                <a:cs typeface="Calibri"/>
              </a:rPr>
              <a:t>system</a:t>
            </a:r>
            <a:r>
              <a:rPr lang="en-US" sz="2200" i="1" spc="-20" dirty="0">
                <a:latin typeface="Calibri"/>
                <a:cs typeface="Calibri"/>
              </a:rPr>
              <a:t>s</a:t>
            </a:r>
            <a:r>
              <a:rPr sz="2200" i="1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require </a:t>
            </a:r>
            <a:r>
              <a:rPr sz="2200" u="sng" spc="-10" dirty="0">
                <a:latin typeface="Calibri"/>
                <a:cs typeface="Calibri"/>
              </a:rPr>
              <a:t>absolute</a:t>
            </a:r>
            <a:r>
              <a:rPr sz="2200" spc="-10" dirty="0">
                <a:latin typeface="Calibri"/>
                <a:cs typeface="Calibri"/>
              </a:rPr>
              <a:t> adherence </a:t>
            </a:r>
            <a:r>
              <a:rPr sz="2200" spc="-15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operational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deadlines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lang="en-US" sz="2000" spc="-5" dirty="0">
                <a:latin typeface="Calibri"/>
                <a:cs typeface="Calibri"/>
              </a:rPr>
              <a:t>Anti-lock </a:t>
            </a:r>
            <a:r>
              <a:rPr lang="en-US" sz="2000" spc="-10" dirty="0">
                <a:latin typeface="Calibri"/>
                <a:cs typeface="Calibri"/>
              </a:rPr>
              <a:t>braking </a:t>
            </a:r>
            <a:r>
              <a:rPr lang="en-US" sz="2000" spc="-20" dirty="0">
                <a:latin typeface="Calibri"/>
                <a:cs typeface="Calibri"/>
              </a:rPr>
              <a:t>system</a:t>
            </a:r>
            <a:r>
              <a:rPr sz="2000" spc="-5" dirty="0">
                <a:latin typeface="Calibri"/>
                <a:cs typeface="Calibri"/>
              </a:rPr>
              <a:t>, </a:t>
            </a:r>
            <a:r>
              <a:rPr sz="2000" spc="-10" dirty="0">
                <a:latin typeface="Calibri"/>
                <a:cs typeface="Calibri"/>
              </a:rPr>
              <a:t>weapons </a:t>
            </a:r>
            <a:r>
              <a:rPr sz="2000" spc="-15" dirty="0">
                <a:latin typeface="Calibri"/>
                <a:cs typeface="Calibri"/>
              </a:rPr>
              <a:t>systems, </a:t>
            </a:r>
            <a:r>
              <a:rPr sz="2000" spc="-5" dirty="0">
                <a:latin typeface="Calibri"/>
                <a:cs typeface="Calibri"/>
              </a:rPr>
              <a:t>medical devices,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etc.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i="1" spc="-5" dirty="0">
                <a:latin typeface="Calibri"/>
                <a:cs typeface="Calibri"/>
              </a:rPr>
              <a:t>Soft real-time </a:t>
            </a:r>
            <a:r>
              <a:rPr sz="2200" i="1" spc="-20" dirty="0">
                <a:latin typeface="Calibri"/>
                <a:cs typeface="Calibri"/>
              </a:rPr>
              <a:t>system</a:t>
            </a:r>
            <a:r>
              <a:rPr lang="en-US" sz="2200" i="1" spc="-20" dirty="0">
                <a:latin typeface="Calibri"/>
                <a:cs typeface="Calibri"/>
              </a:rPr>
              <a:t>s</a:t>
            </a:r>
            <a:r>
              <a:rPr sz="2200" i="1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don’t </a:t>
            </a:r>
            <a:r>
              <a:rPr sz="2200" spc="-10" dirty="0">
                <a:latin typeface="Calibri"/>
                <a:cs typeface="Calibri"/>
              </a:rPr>
              <a:t>consider </a:t>
            </a:r>
            <a:r>
              <a:rPr sz="2200" spc="-5" dirty="0">
                <a:latin typeface="Calibri"/>
                <a:cs typeface="Calibri"/>
              </a:rPr>
              <a:t>overrunning a </a:t>
            </a:r>
            <a:r>
              <a:rPr sz="2200" spc="-10" dirty="0">
                <a:latin typeface="Calibri"/>
                <a:cs typeface="Calibri"/>
              </a:rPr>
              <a:t>deadline </a:t>
            </a:r>
            <a:r>
              <a:rPr lang="en-US" sz="2200" spc="-10" dirty="0">
                <a:latin typeface="Calibri"/>
                <a:cs typeface="Calibri"/>
              </a:rPr>
              <a:t>as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critical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failure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spc="-10" dirty="0">
                <a:latin typeface="Calibri"/>
                <a:cs typeface="Calibri"/>
              </a:rPr>
              <a:t>Video-processing </a:t>
            </a:r>
            <a:r>
              <a:rPr sz="1900" spc="-5" dirty="0">
                <a:latin typeface="Calibri"/>
                <a:cs typeface="Calibri"/>
              </a:rPr>
              <a:t>or multimedia apps, </a:t>
            </a:r>
            <a:r>
              <a:rPr sz="1900" spc="-10" dirty="0">
                <a:latin typeface="Calibri"/>
                <a:cs typeface="Calibri"/>
              </a:rPr>
              <a:t>games, networking </a:t>
            </a:r>
            <a:r>
              <a:rPr sz="1900" spc="-15" dirty="0">
                <a:latin typeface="Calibri"/>
                <a:cs typeface="Calibri"/>
              </a:rPr>
              <a:t>programs, </a:t>
            </a:r>
            <a:r>
              <a:rPr sz="1900" spc="-10" dirty="0">
                <a:latin typeface="Calibri"/>
                <a:cs typeface="Calibri"/>
              </a:rPr>
              <a:t>etc.</a:t>
            </a:r>
            <a:endParaRPr sz="19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spc="-5" dirty="0">
                <a:latin typeface="Calibri"/>
                <a:cs typeface="Calibri"/>
              </a:rPr>
              <a:t>A r</a:t>
            </a:r>
            <a:r>
              <a:rPr sz="2600" spc="-5" dirty="0">
                <a:latin typeface="Calibri"/>
                <a:cs typeface="Calibri"/>
              </a:rPr>
              <a:t>eal-time </a:t>
            </a:r>
            <a:r>
              <a:rPr sz="2600" spc="-20" dirty="0">
                <a:latin typeface="Calibri"/>
                <a:cs typeface="Calibri"/>
              </a:rPr>
              <a:t>system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not necessarily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fast</a:t>
            </a:r>
            <a:r>
              <a:rPr lang="en-US" sz="2600" spc="-2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A nuclear </a:t>
            </a:r>
            <a:r>
              <a:rPr sz="2200" spc="-10" dirty="0">
                <a:latin typeface="Calibri"/>
                <a:cs typeface="Calibri"/>
              </a:rPr>
              <a:t>reactor </a:t>
            </a:r>
            <a:r>
              <a:rPr sz="2200" spc="-15" dirty="0">
                <a:latin typeface="Calibri"/>
                <a:cs typeface="Calibri"/>
              </a:rPr>
              <a:t>can </a:t>
            </a:r>
            <a:r>
              <a:rPr sz="2200" spc="-5" dirty="0">
                <a:latin typeface="Calibri"/>
                <a:cs typeface="Calibri"/>
              </a:rPr>
              <a:t>allow </a:t>
            </a:r>
            <a:r>
              <a:rPr sz="2200" spc="-15" dirty="0">
                <a:latin typeface="Calibri"/>
                <a:cs typeface="Calibri"/>
              </a:rPr>
              <a:t>several </a:t>
            </a:r>
            <a:r>
              <a:rPr sz="2200" spc="-10" dirty="0">
                <a:latin typeface="Calibri"/>
                <a:cs typeface="Calibri"/>
              </a:rPr>
              <a:t>seconds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10" dirty="0">
                <a:latin typeface="Calibri"/>
                <a:cs typeface="Calibri"/>
              </a:rPr>
              <a:t>correction</a:t>
            </a:r>
            <a:r>
              <a:rPr lang="en-US" sz="2200" spc="-10" dirty="0">
                <a:latin typeface="Calibri"/>
                <a:cs typeface="Calibri"/>
              </a:rPr>
              <a:t>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which is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lang="en-US" sz="2200" spc="95" dirty="0">
                <a:latin typeface="Calibri"/>
                <a:cs typeface="Calibri"/>
              </a:rPr>
              <a:t>quite </a:t>
            </a:r>
            <a:r>
              <a:rPr sz="2200" spc="-5" dirty="0">
                <a:latin typeface="Calibri"/>
                <a:cs typeface="Calibri"/>
              </a:rPr>
              <a:t>long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But video </a:t>
            </a:r>
            <a:r>
              <a:rPr lang="en-US" sz="2200" spc="-10" dirty="0">
                <a:latin typeface="Calibri"/>
                <a:cs typeface="Calibri"/>
              </a:rPr>
              <a:t>games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may have </a:t>
            </a:r>
            <a:r>
              <a:rPr sz="2200" spc="-5" dirty="0">
                <a:latin typeface="Calibri"/>
                <a:cs typeface="Calibri"/>
              </a:rPr>
              <a:t>noticeable </a:t>
            </a:r>
            <a:r>
              <a:rPr sz="2200" spc="-10" dirty="0">
                <a:latin typeface="Calibri"/>
                <a:cs typeface="Calibri"/>
              </a:rPr>
              <a:t>quality </a:t>
            </a:r>
            <a:r>
              <a:rPr sz="2200" spc="-15" dirty="0">
                <a:latin typeface="Calibri"/>
                <a:cs typeface="Calibri"/>
              </a:rPr>
              <a:t>drop </a:t>
            </a:r>
            <a:r>
              <a:rPr lang="en-US" sz="2200" spc="-15" dirty="0">
                <a:latin typeface="Calibri"/>
                <a:cs typeface="Calibri"/>
              </a:rPr>
              <a:t>when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frames</a:t>
            </a:r>
            <a:r>
              <a:rPr lang="en-US" sz="2200" spc="-10" dirty="0">
                <a:latin typeface="Calibri"/>
                <a:cs typeface="Calibri"/>
              </a:rPr>
              <a:t> are skipped.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3601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Latency, </a:t>
            </a:r>
            <a:r>
              <a:rPr spc="-95" dirty="0"/>
              <a:t>Jitter, </a:t>
            </a:r>
            <a:r>
              <a:rPr spc="-20" dirty="0"/>
              <a:t>and</a:t>
            </a:r>
            <a:r>
              <a:rPr spc="-125" dirty="0"/>
              <a:t> </a:t>
            </a:r>
            <a:r>
              <a:rPr spc="-30" dirty="0"/>
              <a:t>Deadlines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65757"/>
            <a:ext cx="10436862" cy="44721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0" marR="828675" indent="-228600">
              <a:lnSpc>
                <a:spcPts val="3115"/>
              </a:lnSpc>
              <a:spcBef>
                <a:spcPts val="105"/>
              </a:spcBef>
              <a:buFont typeface="Arial"/>
              <a:buChar char="•"/>
              <a:tabLst>
                <a:tab pos="228600" algn="l"/>
              </a:tabLst>
            </a:pPr>
            <a:r>
              <a:rPr sz="2600" i="1" spc="-5" dirty="0">
                <a:latin typeface="Calibri"/>
                <a:cs typeface="Calibri"/>
              </a:rPr>
              <a:t>Latency</a:t>
            </a:r>
            <a:r>
              <a:rPr sz="2600" spc="-5" dirty="0">
                <a:latin typeface="Calibri"/>
                <a:cs typeface="Calibri"/>
              </a:rPr>
              <a:t>: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lang="en-US" sz="2600" spc="-5" dirty="0">
                <a:latin typeface="Calibri"/>
                <a:cs typeface="Calibri"/>
              </a:rPr>
              <a:t>time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between the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stimulus </a:t>
            </a:r>
            <a:r>
              <a:rPr lang="en-US" sz="2600" spc="-5" dirty="0">
                <a:latin typeface="Calibri"/>
                <a:cs typeface="Calibri"/>
              </a:rPr>
              <a:t>and the system’s </a:t>
            </a:r>
            <a:r>
              <a:rPr sz="2600" spc="-5" dirty="0">
                <a:latin typeface="Calibri"/>
                <a:cs typeface="Calibri"/>
              </a:rPr>
              <a:t>response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5" dirty="0">
                <a:cs typeface="Calibri"/>
              </a:rPr>
              <a:t>If </a:t>
            </a:r>
            <a:r>
              <a:rPr lang="en-US" sz="2200" spc="-20" dirty="0">
                <a:cs typeface="Calibri"/>
              </a:rPr>
              <a:t>the latency is </a:t>
            </a:r>
            <a:r>
              <a:rPr lang="en-US" sz="2200" spc="-5" dirty="0">
                <a:cs typeface="Calibri"/>
              </a:rPr>
              <a:t>smaller than </a:t>
            </a:r>
            <a:r>
              <a:rPr lang="en-US" sz="2200" spc="-10" dirty="0">
                <a:cs typeface="Calibri"/>
              </a:rPr>
              <a:t>operational deadline, the </a:t>
            </a:r>
            <a:r>
              <a:rPr lang="en-US" sz="2200" spc="-25" dirty="0">
                <a:cs typeface="Calibri"/>
              </a:rPr>
              <a:t>system </a:t>
            </a:r>
            <a:r>
              <a:rPr lang="en-US" sz="2200" spc="-5" dirty="0">
                <a:cs typeface="Calibri"/>
              </a:rPr>
              <a:t>is </a:t>
            </a:r>
            <a:r>
              <a:rPr lang="en-US" sz="2200" spc="-15" dirty="0">
                <a:cs typeface="Calibri"/>
              </a:rPr>
              <a:t>operating</a:t>
            </a:r>
            <a:r>
              <a:rPr lang="en-US" sz="2200" spc="204" dirty="0">
                <a:cs typeface="Calibri"/>
              </a:rPr>
              <a:t> </a:t>
            </a:r>
            <a:r>
              <a:rPr lang="en-US" sz="2200" spc="-10" dirty="0">
                <a:cs typeface="Calibri"/>
              </a:rPr>
              <a:t>correctly.</a:t>
            </a:r>
            <a:endParaRPr lang="en-US" sz="2200" dirty="0"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hard real-time </a:t>
            </a:r>
            <a:r>
              <a:rPr sz="2200" spc="-20" dirty="0">
                <a:latin typeface="Calibri"/>
                <a:cs typeface="Calibri"/>
              </a:rPr>
              <a:t>systems,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operational deadline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5" dirty="0">
                <a:latin typeface="Calibri"/>
                <a:cs typeface="Calibri"/>
              </a:rPr>
              <a:t>latency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spc="-5" dirty="0">
                <a:latin typeface="Calibri"/>
                <a:cs typeface="Calibri"/>
              </a:rPr>
              <a:t>usually </a:t>
            </a:r>
            <a:r>
              <a:rPr sz="2200" spc="-10" dirty="0">
                <a:latin typeface="Calibri"/>
                <a:cs typeface="Calibri"/>
              </a:rPr>
              <a:t>equal </a:t>
            </a:r>
            <a:r>
              <a:rPr sz="2200" spc="-20" dirty="0">
                <a:latin typeface="Calibri"/>
                <a:cs typeface="Calibri"/>
              </a:rPr>
              <a:t>(</a:t>
            </a:r>
            <a:r>
              <a:rPr lang="en-US" sz="2200" spc="-20" dirty="0">
                <a:latin typeface="Calibri"/>
                <a:cs typeface="Calibri"/>
              </a:rPr>
              <a:t>the </a:t>
            </a:r>
            <a:r>
              <a:rPr sz="2200" spc="-20" dirty="0">
                <a:latin typeface="Calibri"/>
                <a:cs typeface="Calibri"/>
              </a:rPr>
              <a:t>system </a:t>
            </a:r>
            <a:r>
              <a:rPr sz="2200" spc="-10" dirty="0">
                <a:latin typeface="Calibri"/>
                <a:cs typeface="Calibri"/>
              </a:rPr>
              <a:t>handles stimuli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20" dirty="0">
                <a:latin typeface="Calibri"/>
                <a:cs typeface="Calibri"/>
              </a:rPr>
              <a:t>fixed </a:t>
            </a:r>
            <a:r>
              <a:rPr sz="2200" spc="-10" dirty="0">
                <a:latin typeface="Calibri"/>
                <a:cs typeface="Calibri"/>
              </a:rPr>
              <a:t>intervals, </a:t>
            </a:r>
            <a:r>
              <a:rPr sz="2200" spc="-15" dirty="0">
                <a:latin typeface="Calibri"/>
                <a:cs typeface="Calibri"/>
              </a:rPr>
              <a:t>at </a:t>
            </a:r>
            <a:r>
              <a:rPr sz="2200" spc="-20" dirty="0">
                <a:latin typeface="Calibri"/>
                <a:cs typeface="Calibri"/>
              </a:rPr>
              <a:t>exact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times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r>
              <a:rPr sz="2200" spc="-5" dirty="0">
                <a:latin typeface="Calibri"/>
                <a:cs typeface="Calibri"/>
              </a:rPr>
              <a:t>)</a:t>
            </a:r>
            <a:endParaRPr lang="en-US" sz="2200" spc="-5" dirty="0">
              <a:latin typeface="Calibri"/>
              <a:cs typeface="Calibri"/>
            </a:endParaRPr>
          </a:p>
          <a:p>
            <a:pPr marL="698500" lvl="1" indent="-229235">
              <a:lnSpc>
                <a:spcPts val="261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But </a:t>
            </a:r>
            <a:r>
              <a:rPr sz="2200" spc="-20" dirty="0">
                <a:latin typeface="Calibri"/>
                <a:cs typeface="Calibri"/>
              </a:rPr>
              <a:t>it</a:t>
            </a:r>
            <a:r>
              <a:rPr lang="en-US" sz="2200" spc="-20" dirty="0">
                <a:latin typeface="Calibri"/>
                <a:cs typeface="Calibri"/>
              </a:rPr>
              <a:t> 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usually </a:t>
            </a:r>
            <a:r>
              <a:rPr sz="2200" spc="-10" dirty="0">
                <a:latin typeface="Calibri"/>
                <a:cs typeface="Calibri"/>
              </a:rPr>
              <a:t>hard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measure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latency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59"/>
              </a:spcBef>
              <a:buFont typeface="Arial"/>
              <a:buChar char="•"/>
              <a:tabLst>
                <a:tab pos="241300" algn="l"/>
              </a:tabLst>
            </a:pPr>
            <a:r>
              <a:rPr sz="2600" i="1" spc="-10" dirty="0">
                <a:latin typeface="Calibri"/>
                <a:cs typeface="Calibri"/>
              </a:rPr>
              <a:t>Jitter</a:t>
            </a:r>
            <a:r>
              <a:rPr sz="2600" spc="-10" dirty="0">
                <a:latin typeface="Calibri"/>
                <a:cs typeface="Calibri"/>
              </a:rPr>
              <a:t>: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lang="en-US" sz="2600" spc="-5" dirty="0">
                <a:latin typeface="Calibri"/>
                <a:cs typeface="Calibri"/>
              </a:rPr>
              <a:t>time </a:t>
            </a:r>
            <a:r>
              <a:rPr sz="2600" spc="-5" dirty="0">
                <a:latin typeface="Calibri"/>
                <a:cs typeface="Calibri"/>
              </a:rPr>
              <a:t>between </a:t>
            </a:r>
            <a:r>
              <a:rPr lang="en-US" sz="2600" spc="-5" dirty="0">
                <a:latin typeface="Calibri"/>
                <a:cs typeface="Calibri"/>
              </a:rPr>
              <a:t>two consecutive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events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62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Generally </a:t>
            </a:r>
            <a:r>
              <a:rPr lang="en-US" sz="2200" spc="-25" dirty="0">
                <a:latin typeface="Calibri"/>
                <a:cs typeface="Calibri"/>
              </a:rPr>
              <a:t>computed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as </a:t>
            </a:r>
            <a:r>
              <a:rPr sz="2200" spc="-10" dirty="0">
                <a:latin typeface="Calibri"/>
                <a:cs typeface="Calibri"/>
              </a:rPr>
              <a:t>the </a:t>
            </a:r>
            <a:r>
              <a:rPr lang="en-US" sz="2200" spc="-15" dirty="0">
                <a:latin typeface="Calibri"/>
                <a:cs typeface="Calibri"/>
              </a:rPr>
              <a:t>maximum</a:t>
            </a:r>
            <a:r>
              <a:rPr sz="2200" spc="-15" dirty="0">
                <a:latin typeface="Calibri"/>
                <a:cs typeface="Calibri"/>
              </a:rPr>
              <a:t> difference </a:t>
            </a:r>
            <a:r>
              <a:rPr lang="en-US" sz="2200" spc="-5" dirty="0">
                <a:latin typeface="Calibri"/>
                <a:cs typeface="Calibri"/>
              </a:rPr>
              <a:t>between two responses.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3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20" dirty="0">
                <a:latin typeface="Calibri"/>
                <a:cs typeface="Calibri"/>
              </a:rPr>
              <a:t>This 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not </a:t>
            </a:r>
            <a:r>
              <a:rPr sz="2200" spc="-30" dirty="0">
                <a:latin typeface="Calibri"/>
                <a:cs typeface="Calibri"/>
              </a:rPr>
              <a:t>latency, </a:t>
            </a:r>
            <a:r>
              <a:rPr sz="2200" spc="-10" dirty="0">
                <a:latin typeface="Calibri"/>
                <a:cs typeface="Calibri"/>
              </a:rPr>
              <a:t>but </a:t>
            </a:r>
            <a:r>
              <a:rPr sz="2200" spc="-20" dirty="0">
                <a:latin typeface="Calibri"/>
                <a:cs typeface="Calibri"/>
              </a:rPr>
              <a:t>it’s </a:t>
            </a:r>
            <a:r>
              <a:rPr sz="2200" spc="-10" dirty="0">
                <a:latin typeface="Calibri"/>
                <a:cs typeface="Calibri"/>
              </a:rPr>
              <a:t>still useful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lang="en-US" sz="2200" spc="-5" dirty="0">
                <a:latin typeface="Calibri"/>
                <a:cs typeface="Calibri"/>
              </a:rPr>
              <a:t>and easy to measure.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Hard </a:t>
            </a:r>
            <a:r>
              <a:rPr sz="2600" spc="-5" dirty="0">
                <a:latin typeface="Calibri"/>
                <a:cs typeface="Calibri"/>
              </a:rPr>
              <a:t>real-time </a:t>
            </a:r>
            <a:r>
              <a:rPr sz="2600" spc="-20" dirty="0">
                <a:latin typeface="Calibri"/>
                <a:cs typeface="Calibri"/>
              </a:rPr>
              <a:t>systems </a:t>
            </a:r>
            <a:r>
              <a:rPr sz="2600" spc="-10" dirty="0">
                <a:latin typeface="Calibri"/>
                <a:cs typeface="Calibri"/>
              </a:rPr>
              <a:t>often exhibit </a:t>
            </a:r>
            <a:r>
              <a:rPr sz="2600" spc="-5" dirty="0">
                <a:latin typeface="Calibri"/>
                <a:cs typeface="Calibri"/>
              </a:rPr>
              <a:t>very low </a:t>
            </a:r>
            <a:r>
              <a:rPr sz="2600" spc="-10" dirty="0">
                <a:latin typeface="Calibri"/>
                <a:cs typeface="Calibri"/>
              </a:rPr>
              <a:t>jitter </a:t>
            </a:r>
            <a:r>
              <a:rPr sz="2600" spc="-5" dirty="0">
                <a:latin typeface="Calibri"/>
                <a:cs typeface="Calibri"/>
              </a:rPr>
              <a:t>(aiming </a:t>
            </a:r>
            <a:r>
              <a:rPr sz="2600" spc="-25" dirty="0">
                <a:latin typeface="Calibri"/>
                <a:cs typeface="Calibri"/>
              </a:rPr>
              <a:t>for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0</a:t>
            </a:r>
            <a:r>
              <a:rPr lang="en-US" sz="2600" dirty="0">
                <a:latin typeface="Calibri"/>
                <a:cs typeface="Calibri"/>
              </a:rPr>
              <a:t>.</a:t>
            </a:r>
            <a:r>
              <a:rPr sz="2600" dirty="0">
                <a:latin typeface="Calibri"/>
                <a:cs typeface="Calibri"/>
              </a:rPr>
              <a:t>)</a:t>
            </a:r>
          </a:p>
          <a:p>
            <a:pPr marL="241300" marR="178435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Soft real-time </a:t>
            </a:r>
            <a:r>
              <a:rPr sz="2600" spc="-20" dirty="0">
                <a:latin typeface="Calibri"/>
                <a:cs typeface="Calibri"/>
              </a:rPr>
              <a:t>systems </a:t>
            </a:r>
            <a:r>
              <a:rPr sz="2600" spc="-10" dirty="0">
                <a:latin typeface="Calibri"/>
                <a:cs typeface="Calibri"/>
              </a:rPr>
              <a:t>are more </a:t>
            </a:r>
            <a:r>
              <a:rPr sz="2600" spc="-5" dirty="0">
                <a:latin typeface="Calibri"/>
                <a:cs typeface="Calibri"/>
              </a:rPr>
              <a:t>susceptible </a:t>
            </a:r>
            <a:r>
              <a:rPr sz="2600" spc="-15" dirty="0">
                <a:latin typeface="Calibri"/>
                <a:cs typeface="Calibri"/>
              </a:rPr>
              <a:t>to jitter </a:t>
            </a:r>
            <a:r>
              <a:rPr sz="2600" spc="-5" dirty="0">
                <a:latin typeface="Calibri"/>
                <a:cs typeface="Calibri"/>
              </a:rPr>
              <a:t>(some response</a:t>
            </a:r>
            <a:r>
              <a:rPr lang="en-US" sz="2600" spc="-5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are</a:t>
            </a:r>
            <a:r>
              <a:rPr sz="2600" dirty="0">
                <a:latin typeface="Calibri"/>
                <a:cs typeface="Calibri"/>
              </a:rPr>
              <a:t>  within the </a:t>
            </a:r>
            <a:r>
              <a:rPr sz="2600" spc="-10" dirty="0">
                <a:latin typeface="Calibri"/>
                <a:cs typeface="Calibri"/>
              </a:rPr>
              <a:t>operational </a:t>
            </a:r>
            <a:r>
              <a:rPr sz="2600" spc="-40" dirty="0">
                <a:latin typeface="Calibri"/>
                <a:cs typeface="Calibri"/>
              </a:rPr>
              <a:t>delay, </a:t>
            </a:r>
            <a:r>
              <a:rPr lang="en-US" sz="2600" spc="-40" dirty="0">
                <a:latin typeface="Calibri"/>
                <a:cs typeface="Calibri"/>
              </a:rPr>
              <a:t>but </a:t>
            </a:r>
            <a:r>
              <a:rPr sz="2600" spc="-5" dirty="0">
                <a:latin typeface="Calibri"/>
                <a:cs typeface="Calibri"/>
              </a:rPr>
              <a:t>some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aren’t.</a:t>
            </a:r>
            <a:r>
              <a:rPr sz="2600" spc="-5" dirty="0">
                <a:latin typeface="Calibri"/>
                <a:cs typeface="Calibri"/>
              </a:rPr>
              <a:t>)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Jitter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often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good </a:t>
            </a:r>
            <a:r>
              <a:rPr lang="en-US" sz="2600" spc="-15" dirty="0">
                <a:latin typeface="Calibri"/>
                <a:cs typeface="Calibri"/>
              </a:rPr>
              <a:t>replacement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5" dirty="0">
                <a:latin typeface="Calibri"/>
                <a:cs typeface="Calibri"/>
              </a:rPr>
              <a:t>latency </a:t>
            </a:r>
            <a:r>
              <a:rPr sz="2600" dirty="0">
                <a:latin typeface="Calibri"/>
                <a:cs typeface="Calibri"/>
              </a:rPr>
              <a:t>as </a:t>
            </a:r>
            <a:r>
              <a:rPr sz="2600" spc="-10" dirty="0">
                <a:latin typeface="Calibri"/>
                <a:cs typeface="Calibri"/>
              </a:rPr>
              <a:t>performance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measurement.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7106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Linux’s </a:t>
            </a:r>
            <a:r>
              <a:rPr spc="-40" dirty="0"/>
              <a:t>Real-Time </a:t>
            </a:r>
            <a:r>
              <a:rPr spc="-30" dirty="0"/>
              <a:t>(RT)</a:t>
            </a:r>
            <a:r>
              <a:rPr spc="-220" dirty="0"/>
              <a:t> </a:t>
            </a:r>
            <a:r>
              <a:rPr spc="-35" dirty="0"/>
              <a:t>Support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06841"/>
            <a:ext cx="10817862" cy="339259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The </a:t>
            </a:r>
            <a:r>
              <a:rPr sz="2800" spc="-5" dirty="0">
                <a:latin typeface="Calibri"/>
                <a:cs typeface="Calibri"/>
              </a:rPr>
              <a:t>POSIX </a:t>
            </a:r>
            <a:r>
              <a:rPr sz="2800" spc="-20" dirty="0">
                <a:latin typeface="Calibri"/>
                <a:cs typeface="Calibri"/>
              </a:rPr>
              <a:t>standard </a:t>
            </a:r>
            <a:r>
              <a:rPr sz="2800" spc="-5" dirty="0">
                <a:latin typeface="Calibri"/>
                <a:cs typeface="Calibri"/>
              </a:rPr>
              <a:t>doesn’t </a:t>
            </a:r>
            <a:r>
              <a:rPr sz="2800" spc="-15" dirty="0">
                <a:latin typeface="Calibri"/>
                <a:cs typeface="Calibri"/>
              </a:rPr>
              <a:t>dictate </a:t>
            </a:r>
            <a:r>
              <a:rPr sz="2800" spc="-5" dirty="0">
                <a:latin typeface="Calibri"/>
                <a:cs typeface="Calibri"/>
              </a:rPr>
              <a:t>whether its </a:t>
            </a:r>
            <a:r>
              <a:rPr sz="2800" spc="-15" dirty="0">
                <a:latin typeface="Calibri"/>
                <a:cs typeface="Calibri"/>
              </a:rPr>
              <a:t>RT </a:t>
            </a:r>
            <a:r>
              <a:rPr sz="2800" spc="-5" dirty="0">
                <a:latin typeface="Calibri"/>
                <a:cs typeface="Calibri"/>
              </a:rPr>
              <a:t>support is </a:t>
            </a:r>
            <a:r>
              <a:rPr sz="2800" spc="-15" dirty="0">
                <a:latin typeface="Calibri"/>
                <a:cs typeface="Calibri"/>
              </a:rPr>
              <a:t>hard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soft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only describes </a:t>
            </a:r>
            <a:r>
              <a:rPr sz="2800" spc="-20" dirty="0">
                <a:latin typeface="Calibri"/>
                <a:cs typeface="Calibri"/>
              </a:rPr>
              <a:t>several </a:t>
            </a:r>
            <a:r>
              <a:rPr sz="2800" spc="-10" dirty="0">
                <a:latin typeface="Calibri"/>
                <a:cs typeface="Calibri"/>
              </a:rPr>
              <a:t>scheduling policies that respect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priorities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exact </a:t>
            </a:r>
            <a:r>
              <a:rPr sz="2800" spc="-5" dirty="0">
                <a:latin typeface="Calibri"/>
                <a:cs typeface="Calibri"/>
              </a:rPr>
              <a:t>timing </a:t>
            </a:r>
            <a:r>
              <a:rPr sz="2800" spc="-20" dirty="0">
                <a:latin typeface="Calibri"/>
                <a:cs typeface="Calibri"/>
              </a:rPr>
              <a:t>constraints </a:t>
            </a:r>
            <a:r>
              <a:rPr sz="2800" spc="-10" dirty="0">
                <a:latin typeface="Calibri"/>
                <a:cs typeface="Calibri"/>
              </a:rPr>
              <a:t>associated </a:t>
            </a:r>
            <a:r>
              <a:rPr sz="2800" spc="-5" dirty="0">
                <a:latin typeface="Calibri"/>
                <a:cs typeface="Calibri"/>
              </a:rPr>
              <a:t>with the </a:t>
            </a:r>
            <a:r>
              <a:rPr sz="2800" spc="-10" dirty="0">
                <a:latin typeface="Calibri"/>
                <a:cs typeface="Calibri"/>
              </a:rPr>
              <a:t>policies </a:t>
            </a:r>
            <a:r>
              <a:rPr sz="2800" spc="-5" dirty="0">
                <a:latin typeface="Calibri"/>
                <a:cs typeface="Calibri"/>
              </a:rPr>
              <a:t>is up </a:t>
            </a:r>
            <a:r>
              <a:rPr lang="en-US" sz="2800" spc="-15" dirty="0">
                <a:latin typeface="Calibri"/>
                <a:cs typeface="Calibri"/>
              </a:rPr>
              <a:t>to each OS</a:t>
            </a:r>
            <a:r>
              <a:rPr lang="en-US" sz="2800" spc="-5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0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Linux </a:t>
            </a:r>
            <a:r>
              <a:rPr lang="en-US" sz="2800" spc="-15" dirty="0">
                <a:latin typeface="Calibri"/>
                <a:cs typeface="Calibri"/>
              </a:rPr>
              <a:t>k</a:t>
            </a:r>
            <a:r>
              <a:rPr sz="2800" spc="-15" dirty="0">
                <a:latin typeface="Calibri"/>
                <a:cs typeface="Calibri"/>
              </a:rPr>
              <a:t>ernel </a:t>
            </a:r>
            <a:r>
              <a:rPr sz="2800" spc="-10" dirty="0">
                <a:latin typeface="Calibri"/>
                <a:cs typeface="Calibri"/>
              </a:rPr>
              <a:t>has </a:t>
            </a:r>
            <a:r>
              <a:rPr sz="2800" spc="-15" dirty="0">
                <a:latin typeface="Calibri"/>
                <a:cs typeface="Calibri"/>
              </a:rPr>
              <a:t>improved </a:t>
            </a:r>
            <a:r>
              <a:rPr sz="2800" spc="-5" dirty="0">
                <a:latin typeface="Calibri"/>
                <a:cs typeface="Calibri"/>
              </a:rPr>
              <a:t>its </a:t>
            </a:r>
            <a:r>
              <a:rPr sz="2800" spc="-15" dirty="0">
                <a:latin typeface="Calibri"/>
                <a:cs typeface="Calibri"/>
              </a:rPr>
              <a:t>RT </a:t>
            </a:r>
            <a:r>
              <a:rPr sz="2800" spc="-10" dirty="0">
                <a:latin typeface="Calibri"/>
                <a:cs typeface="Calibri"/>
              </a:rPr>
              <a:t>support </a:t>
            </a:r>
            <a:r>
              <a:rPr sz="2800" spc="-5" dirty="0">
                <a:latin typeface="Calibri"/>
                <a:cs typeface="Calibri"/>
              </a:rPr>
              <a:t>a lot, achieving </a:t>
            </a:r>
            <a:r>
              <a:rPr sz="2800" spc="-10" dirty="0">
                <a:latin typeface="Calibri"/>
                <a:cs typeface="Calibri"/>
              </a:rPr>
              <a:t>lower  latency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more consistent </a:t>
            </a:r>
            <a:r>
              <a:rPr sz="2800" spc="-50" dirty="0">
                <a:latin typeface="Calibri"/>
                <a:cs typeface="Calibri"/>
              </a:rPr>
              <a:t>jitter,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lang="en-US" sz="2800" spc="-15" dirty="0">
                <a:latin typeface="Calibri"/>
                <a:cs typeface="Calibri"/>
              </a:rPr>
              <a:t>is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 </a:t>
            </a:r>
            <a:r>
              <a:rPr sz="2800" spc="-5" dirty="0">
                <a:latin typeface="Calibri"/>
                <a:cs typeface="Calibri"/>
              </a:rPr>
              <a:t>a lot in embedded </a:t>
            </a:r>
            <a:r>
              <a:rPr lang="en-US" sz="2800" spc="-15" dirty="0">
                <a:latin typeface="Calibri"/>
                <a:cs typeface="Calibri"/>
              </a:rPr>
              <a:t>real-time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systems</a:t>
            </a:r>
            <a:r>
              <a:rPr lang="en-US" sz="2800" spc="-25" dirty="0">
                <a:latin typeface="Calibri"/>
                <a:cs typeface="Calibri"/>
              </a:rPr>
              <a:t>.</a:t>
            </a:r>
          </a:p>
          <a:p>
            <a:pPr marL="241300" marR="5080" indent="-228600">
              <a:lnSpc>
                <a:spcPts val="302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25" dirty="0">
                <a:latin typeface="Calibri"/>
                <a:cs typeface="Calibri"/>
              </a:rPr>
              <a:t>Next, we’ll discuss some Linux scheduling policies.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4918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Linux </a:t>
            </a:r>
            <a:r>
              <a:rPr spc="-35" dirty="0"/>
              <a:t>Scheduling </a:t>
            </a:r>
            <a:r>
              <a:rPr spc="-40" dirty="0"/>
              <a:t>Policies </a:t>
            </a:r>
            <a:r>
              <a:rPr spc="-20" dirty="0"/>
              <a:t>and</a:t>
            </a:r>
            <a:r>
              <a:rPr spc="-265" dirty="0"/>
              <a:t> </a:t>
            </a:r>
            <a:r>
              <a:rPr spc="-35" dirty="0"/>
              <a:t>Priorities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59661"/>
            <a:ext cx="10741662" cy="435311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76200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In addition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 normal </a:t>
            </a:r>
            <a:r>
              <a:rPr sz="2800" spc="-15" dirty="0">
                <a:latin typeface="Calibri"/>
                <a:cs typeface="Calibri"/>
              </a:rPr>
              <a:t>default </a:t>
            </a:r>
            <a:r>
              <a:rPr sz="2800" spc="-35" dirty="0">
                <a:latin typeface="Calibri"/>
                <a:cs typeface="Calibri"/>
              </a:rPr>
              <a:t>policy, </a:t>
            </a:r>
            <a:r>
              <a:rPr sz="2800" spc="-10" dirty="0">
                <a:latin typeface="Calibri"/>
                <a:cs typeface="Calibri"/>
              </a:rPr>
              <a:t>Linux </a:t>
            </a:r>
            <a:r>
              <a:rPr sz="2800" spc="-15" dirty="0">
                <a:latin typeface="Calibri"/>
                <a:cs typeface="Calibri"/>
              </a:rPr>
              <a:t>provides </a:t>
            </a:r>
            <a:r>
              <a:rPr sz="2800" spc="-5" dirty="0">
                <a:latin typeface="Calibri"/>
                <a:cs typeface="Calibri"/>
              </a:rPr>
              <a:t>2 </a:t>
            </a:r>
            <a:r>
              <a:rPr sz="2800" spc="-15" dirty="0">
                <a:latin typeface="Calibri"/>
                <a:cs typeface="Calibri"/>
              </a:rPr>
              <a:t>real-time  </a:t>
            </a:r>
            <a:r>
              <a:rPr sz="2800" spc="-10" dirty="0">
                <a:latin typeface="Calibri"/>
                <a:cs typeface="Calibri"/>
              </a:rPr>
              <a:t>scheduling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policies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1132205" lvl="1" indent="-228600">
              <a:lnSpc>
                <a:spcPts val="2300"/>
              </a:lnSpc>
              <a:spcBef>
                <a:spcPts val="525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spc="-15" dirty="0">
                <a:latin typeface="Calibri"/>
                <a:cs typeface="Calibri"/>
              </a:rPr>
              <a:t>In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&lt;sched.h&gt;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defined </a:t>
            </a:r>
            <a:r>
              <a:rPr lang="en-US" sz="2400" spc="-10" dirty="0">
                <a:latin typeface="Calibri"/>
                <a:cs typeface="Calibri"/>
              </a:rPr>
              <a:t>are </a:t>
            </a:r>
            <a:r>
              <a:rPr sz="2400" spc="-10" dirty="0">
                <a:latin typeface="Calibri"/>
                <a:cs typeface="Calibri"/>
              </a:rPr>
              <a:t>three </a:t>
            </a:r>
            <a:r>
              <a:rPr sz="2400" spc="-5" dirty="0">
                <a:latin typeface="Calibri"/>
                <a:cs typeface="Calibri"/>
              </a:rPr>
              <a:t>policies: </a:t>
            </a:r>
            <a:r>
              <a:rPr sz="2200" b="1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SCHED_FIFO</a:t>
            </a:r>
            <a:r>
              <a:rPr sz="2400" spc="-5" dirty="0">
                <a:latin typeface="Calibri"/>
                <a:cs typeface="Calibri"/>
              </a:rPr>
              <a:t>, </a:t>
            </a:r>
            <a:r>
              <a:rPr sz="2200" b="1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SCHED_RR</a:t>
            </a:r>
            <a:r>
              <a:rPr sz="2400" dirty="0">
                <a:latin typeface="Calibri"/>
                <a:cs typeface="Calibri"/>
              </a:rPr>
              <a:t>,  </a:t>
            </a:r>
            <a:r>
              <a:rPr sz="2200" b="1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SCHED_OTHER</a:t>
            </a:r>
            <a:r>
              <a:rPr sz="2400" spc="-5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with the </a:t>
            </a:r>
            <a:r>
              <a:rPr sz="2400" spc="-10" dirty="0">
                <a:latin typeface="Calibri"/>
                <a:cs typeface="Calibri"/>
              </a:rPr>
              <a:t>last </a:t>
            </a:r>
            <a:r>
              <a:rPr sz="2400" spc="-5" dirty="0">
                <a:latin typeface="Calibri"/>
                <a:cs typeface="Calibri"/>
              </a:rPr>
              <a:t>one being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lang="en-US" sz="2400" spc="-5" dirty="0">
                <a:latin typeface="Calibri"/>
                <a:cs typeface="Calibri"/>
              </a:rPr>
              <a:t>default</a:t>
            </a:r>
            <a:r>
              <a:rPr sz="2400" spc="-5" dirty="0">
                <a:latin typeface="Calibri"/>
                <a:cs typeface="Calibri"/>
              </a:rPr>
              <a:t> non-RT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policy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3329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process </a:t>
            </a:r>
            <a:r>
              <a:rPr lang="en-US" sz="2800" spc="-10" dirty="0">
                <a:latin typeface="Calibri"/>
                <a:cs typeface="Calibri"/>
              </a:rPr>
              <a:t>also has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i="1" spc="-20" dirty="0">
                <a:latin typeface="Calibri"/>
                <a:cs typeface="Calibri"/>
              </a:rPr>
              <a:t>static</a:t>
            </a:r>
            <a:r>
              <a:rPr sz="2800" i="1" spc="18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priority</a:t>
            </a:r>
            <a:r>
              <a:rPr lang="en-US" sz="2800" i="1" spc="-1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(</a:t>
            </a:r>
            <a:r>
              <a:rPr lang="en-US" sz="2800" spc="-5" dirty="0">
                <a:cs typeface="Calibri"/>
              </a:rPr>
              <a:t>different from the </a:t>
            </a:r>
            <a:r>
              <a:rPr lang="en-US" sz="2800" spc="-10" dirty="0">
                <a:cs typeface="Calibri"/>
              </a:rPr>
              <a:t>nice value:)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0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5" dirty="0">
                <a:latin typeface="Calibri"/>
                <a:cs typeface="Calibri"/>
              </a:rPr>
              <a:t>normal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priority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0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1-99 </a:t>
            </a:r>
            <a:r>
              <a:rPr lang="en-US" sz="2400" spc="-5" dirty="0">
                <a:latin typeface="Calibri"/>
                <a:cs typeface="Calibri"/>
              </a:rPr>
              <a:t>(</a:t>
            </a:r>
            <a:r>
              <a:rPr sz="2400" spc="-5" dirty="0">
                <a:latin typeface="Calibri"/>
                <a:cs typeface="Calibri"/>
              </a:rPr>
              <a:t>inclusive</a:t>
            </a:r>
            <a:r>
              <a:rPr lang="en-US" sz="2400" spc="-5" dirty="0">
                <a:latin typeface="Calibri"/>
                <a:cs typeface="Calibri"/>
              </a:rPr>
              <a:t>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5" dirty="0">
                <a:latin typeface="Calibri"/>
                <a:cs typeface="Calibri"/>
              </a:rPr>
              <a:t>real-time </a:t>
            </a: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spc="-5" dirty="0">
                <a:latin typeface="Calibri"/>
                <a:cs typeface="Calibri"/>
              </a:rPr>
              <a:t>(higher </a:t>
            </a:r>
            <a:r>
              <a:rPr sz="2400" spc="-10" dirty="0">
                <a:latin typeface="Calibri"/>
                <a:cs typeface="Calibri"/>
              </a:rPr>
              <a:t>value</a:t>
            </a:r>
            <a:r>
              <a:rPr lang="en-US" sz="2400" spc="-1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 </a:t>
            </a:r>
            <a:r>
              <a:rPr sz="2400" spc="-5" dirty="0">
                <a:latin typeface="Calibri"/>
                <a:cs typeface="Calibri"/>
              </a:rPr>
              <a:t>higher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priorit</a:t>
            </a:r>
            <a:r>
              <a:rPr lang="en-US" sz="2400" spc="-5" dirty="0">
                <a:latin typeface="Calibri"/>
                <a:cs typeface="Calibri"/>
              </a:rPr>
              <a:t>ies.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300"/>
              </a:lnSpc>
              <a:spcBef>
                <a:spcPts val="525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Linux scheduler </a:t>
            </a:r>
            <a:r>
              <a:rPr sz="2400" spc="-15" dirty="0">
                <a:latin typeface="Calibri"/>
                <a:cs typeface="Calibri"/>
              </a:rPr>
              <a:t>always </a:t>
            </a:r>
            <a:r>
              <a:rPr lang="en-US" sz="2400" spc="-15" dirty="0">
                <a:latin typeface="Calibri"/>
                <a:cs typeface="Calibri"/>
              </a:rPr>
              <a:t>runs </a:t>
            </a:r>
            <a:r>
              <a:rPr lang="en-US" sz="2400" spc="-5" dirty="0">
                <a:cs typeface="Calibri"/>
              </a:rPr>
              <a:t>higher</a:t>
            </a:r>
            <a:r>
              <a:rPr lang="en-US" sz="2400" spc="20" dirty="0">
                <a:cs typeface="Calibri"/>
              </a:rPr>
              <a:t> </a:t>
            </a:r>
            <a:r>
              <a:rPr lang="en-US" sz="2400" spc="-5" dirty="0">
                <a:cs typeface="Calibri"/>
              </a:rPr>
              <a:t>priority processes before running </a:t>
            </a:r>
            <a:r>
              <a:rPr sz="2400" spc="-15" dirty="0">
                <a:latin typeface="Calibri"/>
                <a:cs typeface="Calibri"/>
              </a:rPr>
              <a:t>lower </a:t>
            </a:r>
            <a:r>
              <a:rPr sz="2400" spc="-5" dirty="0">
                <a:latin typeface="Calibri"/>
                <a:cs typeface="Calibri"/>
              </a:rPr>
              <a:t>priority </a:t>
            </a:r>
            <a:r>
              <a:rPr lang="en-US" sz="2400" spc="-5" dirty="0">
                <a:latin typeface="Calibri"/>
                <a:cs typeface="Calibri"/>
              </a:rPr>
              <a:t>processes.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300"/>
              </a:lnSpc>
              <a:spcBef>
                <a:spcPts val="525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spc="-15" dirty="0">
                <a:latin typeface="Calibri"/>
                <a:cs typeface="Calibri"/>
              </a:rPr>
              <a:t>A </a:t>
            </a:r>
            <a:r>
              <a:rPr lang="en-US" sz="2400" spc="-5" dirty="0">
                <a:latin typeface="Calibri"/>
                <a:cs typeface="Calibri"/>
              </a:rPr>
              <a:t>process must wait for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lang="en-US" sz="2400" spc="-5" dirty="0">
                <a:latin typeface="Calibri"/>
                <a:cs typeface="Calibri"/>
              </a:rPr>
              <a:t>any </a:t>
            </a:r>
            <a:r>
              <a:rPr lang="en-US" sz="2400" spc="-10" dirty="0">
                <a:cs typeface="Calibri"/>
              </a:rPr>
              <a:t>processes of a </a:t>
            </a:r>
            <a:r>
              <a:rPr sz="2400" spc="-5" dirty="0">
                <a:latin typeface="Calibri"/>
                <a:cs typeface="Calibri"/>
              </a:rPr>
              <a:t>higher priority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lang="en-US" sz="2400" spc="-15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block</a:t>
            </a:r>
            <a:r>
              <a:rPr lang="en-US" sz="2400" spc="-5" dirty="0">
                <a:latin typeface="Calibri"/>
                <a:cs typeface="Calibri"/>
              </a:rPr>
              <a:t> (on I/O or wait for a child to terminate) before it can run on the CPU.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2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Th</a:t>
            </a:r>
            <a:r>
              <a:rPr lang="en-US" sz="2400" spc="-1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 </a:t>
            </a:r>
            <a:r>
              <a:rPr lang="en-US" sz="2400" dirty="0">
                <a:latin typeface="Calibri"/>
                <a:cs typeface="Calibri"/>
              </a:rPr>
              <a:t>that </a:t>
            </a:r>
            <a:r>
              <a:rPr sz="2400" spc="-20" dirty="0">
                <a:latin typeface="Calibri"/>
                <a:cs typeface="Calibri"/>
              </a:rPr>
              <a:t>any </a:t>
            </a:r>
            <a:r>
              <a:rPr lang="en-US" sz="2400" dirty="0">
                <a:latin typeface="Calibri"/>
                <a:cs typeface="Calibri"/>
              </a:rPr>
              <a:t>ready,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real-time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10" dirty="0">
                <a:latin typeface="Calibri"/>
                <a:cs typeface="Calibri"/>
              </a:rPr>
              <a:t>preempt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normal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lang="en-US" sz="2400" spc="-50" dirty="0">
                <a:latin typeface="Calibri"/>
                <a:cs typeface="Calibri"/>
              </a:rPr>
              <a:t>priority </a:t>
            </a:r>
            <a:r>
              <a:rPr sz="2400" spc="-5" dirty="0">
                <a:latin typeface="Calibri"/>
                <a:cs typeface="Calibri"/>
              </a:rPr>
              <a:t>one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9982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The </a:t>
            </a:r>
            <a:r>
              <a:rPr spc="-45" dirty="0"/>
              <a:t>First-in, First-out</a:t>
            </a:r>
            <a:r>
              <a:rPr spc="-170" dirty="0"/>
              <a:t> </a:t>
            </a:r>
            <a:r>
              <a:rPr spc="-45" dirty="0"/>
              <a:t>Policy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6801"/>
            <a:ext cx="10324465" cy="38425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97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The </a:t>
            </a:r>
            <a:r>
              <a:rPr sz="2600" i="1" spc="-10" dirty="0">
                <a:latin typeface="Calibri"/>
                <a:cs typeface="Calibri"/>
              </a:rPr>
              <a:t>first </a:t>
            </a:r>
            <a:r>
              <a:rPr sz="2600" i="1" dirty="0">
                <a:latin typeface="Calibri"/>
                <a:cs typeface="Calibri"/>
              </a:rPr>
              <a:t>in, </a:t>
            </a:r>
            <a:r>
              <a:rPr sz="2600" i="1" spc="-10" dirty="0">
                <a:latin typeface="Calibri"/>
                <a:cs typeface="Calibri"/>
              </a:rPr>
              <a:t>first </a:t>
            </a:r>
            <a:r>
              <a:rPr sz="2600" i="1" spc="-5" dirty="0">
                <a:latin typeface="Calibri"/>
                <a:cs typeface="Calibri"/>
              </a:rPr>
              <a:t>out </a:t>
            </a:r>
            <a:r>
              <a:rPr sz="2600" spc="-5" dirty="0">
                <a:latin typeface="Calibri"/>
                <a:cs typeface="Calibri"/>
              </a:rPr>
              <a:t>(FIFO) </a:t>
            </a:r>
            <a:r>
              <a:rPr lang="en-US" sz="2600" dirty="0">
                <a:latin typeface="Calibri"/>
                <a:cs typeface="Calibri"/>
              </a:rPr>
              <a:t>policy is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represented </a:t>
            </a:r>
            <a:r>
              <a:rPr sz="2600" spc="-5" dirty="0">
                <a:latin typeface="Calibri"/>
                <a:cs typeface="Calibri"/>
              </a:rPr>
              <a:t>by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200" b="1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SCHED_FIFO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spc="-1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spcBef>
                <a:spcPts val="120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This is a </a:t>
            </a:r>
            <a:r>
              <a:rPr sz="2400" spc="-10" dirty="0">
                <a:latin typeface="Calibri"/>
                <a:cs typeface="Calibri"/>
              </a:rPr>
              <a:t>simple </a:t>
            </a:r>
            <a:r>
              <a:rPr lang="en-US" sz="2400" spc="-15" dirty="0">
                <a:latin typeface="Calibri"/>
                <a:cs typeface="Calibri"/>
              </a:rPr>
              <a:t>real-time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policy without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time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slices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464820" lvl="1" indent="-228600">
              <a:lnSpc>
                <a:spcPts val="2300"/>
              </a:lnSpc>
              <a:spcBef>
                <a:spcPts val="120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In this policy, a process will keep running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forever </a:t>
            </a:r>
            <a:r>
              <a:rPr sz="2400" spc="-10" dirty="0">
                <a:latin typeface="Calibri"/>
                <a:cs typeface="Calibri"/>
              </a:rPr>
              <a:t>until </a:t>
            </a:r>
            <a:r>
              <a:rPr sz="2400" spc="-5" dirty="0">
                <a:latin typeface="Calibri"/>
                <a:cs typeface="Calibri"/>
              </a:rPr>
              <a:t>a higher-priority </a:t>
            </a:r>
            <a:r>
              <a:rPr sz="2400" spc="-10" dirty="0">
                <a:latin typeface="Calibri"/>
                <a:cs typeface="Calibri"/>
              </a:rPr>
              <a:t>process becomes </a:t>
            </a:r>
            <a:r>
              <a:rPr lang="en-US" sz="2400" spc="-5" dirty="0">
                <a:latin typeface="Calibri"/>
                <a:cs typeface="Calibri"/>
              </a:rPr>
              <a:t>ready</a:t>
            </a:r>
            <a:r>
              <a:rPr sz="2400" spc="-5" dirty="0">
                <a:latin typeface="Calibri"/>
                <a:cs typeface="Calibri"/>
              </a:rPr>
              <a:t>, or </a:t>
            </a:r>
            <a:r>
              <a:rPr sz="2400" spc="-10" dirty="0">
                <a:latin typeface="Calibri"/>
                <a:cs typeface="Calibri"/>
              </a:rPr>
              <a:t>it blocks</a:t>
            </a:r>
            <a:r>
              <a:rPr lang="en-US" sz="2400" spc="-10" dirty="0">
                <a:latin typeface="Calibri"/>
                <a:cs typeface="Calibri"/>
              </a:rPr>
              <a:t> itself</a:t>
            </a:r>
            <a:r>
              <a:rPr sz="2400" spc="-10" dirty="0">
                <a:latin typeface="Calibri"/>
                <a:cs typeface="Calibri"/>
              </a:rPr>
              <a:t>,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lang="en-US" sz="2400" spc="-5" dirty="0">
                <a:latin typeface="Calibri"/>
                <a:cs typeface="Calibri"/>
              </a:rPr>
              <a:t>until it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calls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rgbClr val="0070C0"/>
                </a:solidFill>
                <a:latin typeface="Consolas"/>
                <a:cs typeface="Consolas"/>
              </a:rPr>
              <a:t>sched_yield</a:t>
            </a:r>
            <a:r>
              <a:rPr sz="2400" spc="-5" dirty="0">
                <a:solidFill>
                  <a:srgbClr val="0070C0"/>
                </a:solidFill>
                <a:latin typeface="Consolas"/>
                <a:cs typeface="Consolas"/>
              </a:rPr>
              <a:t>()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5" dirty="0">
              <a:latin typeface="Calibri"/>
              <a:cs typeface="Calibri"/>
            </a:endParaRPr>
          </a:p>
          <a:p>
            <a:pPr marL="698500" lvl="1" indent="-229235">
              <a:lnSpc>
                <a:spcPts val="2300"/>
              </a:lnSpc>
              <a:spcBef>
                <a:spcPts val="120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If it </a:t>
            </a:r>
            <a:r>
              <a:rPr sz="2400" spc="-10" dirty="0">
                <a:latin typeface="Calibri"/>
                <a:cs typeface="Calibri"/>
              </a:rPr>
              <a:t>blocks </a:t>
            </a:r>
            <a:r>
              <a:rPr lang="en-US" sz="2400" spc="-1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then </a:t>
            </a:r>
            <a:r>
              <a:rPr sz="2400" spc="-10" dirty="0">
                <a:latin typeface="Calibri"/>
                <a:cs typeface="Calibri"/>
              </a:rPr>
              <a:t>becomes </a:t>
            </a:r>
            <a:r>
              <a:rPr lang="en-US" sz="2400" spc="-5" dirty="0">
                <a:latin typeface="Calibri"/>
                <a:cs typeface="Calibri"/>
              </a:rPr>
              <a:t>ready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again</a:t>
            </a:r>
            <a:r>
              <a:rPr lang="en-US" sz="2400" spc="-10" dirty="0">
                <a:latin typeface="Calibri"/>
                <a:cs typeface="Calibri"/>
              </a:rPr>
              <a:t>, or when it yields, it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will be </a:t>
            </a:r>
            <a:r>
              <a:rPr lang="en-US" sz="2400" spc="-5" dirty="0">
                <a:latin typeface="Calibri"/>
                <a:cs typeface="Calibri"/>
              </a:rPr>
              <a:t>placed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tail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lang="en-US" sz="2400" spc="-5" dirty="0">
                <a:latin typeface="Calibri"/>
                <a:cs typeface="Calibri"/>
              </a:rPr>
              <a:t>the ready queue that contains processes of the same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priority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300"/>
              </a:lnSpc>
              <a:spcBef>
                <a:spcPts val="120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If </a:t>
            </a:r>
            <a:r>
              <a:rPr lang="en-US" sz="2400" spc="-15" dirty="0">
                <a:latin typeface="Calibri"/>
                <a:cs typeface="Calibri"/>
              </a:rPr>
              <a:t>preempted </a:t>
            </a:r>
            <a:r>
              <a:rPr lang="en-US" sz="2400" spc="-10" dirty="0">
                <a:latin typeface="Calibri"/>
                <a:cs typeface="Calibri"/>
              </a:rPr>
              <a:t>by </a:t>
            </a:r>
            <a:r>
              <a:rPr lang="en-US" sz="2400" spc="-5" dirty="0">
                <a:latin typeface="Calibri"/>
                <a:cs typeface="Calibri"/>
              </a:rPr>
              <a:t>a </a:t>
            </a:r>
            <a:r>
              <a:rPr lang="en-US" sz="2400" spc="-10" dirty="0">
                <a:latin typeface="Calibri"/>
                <a:cs typeface="Calibri"/>
              </a:rPr>
              <a:t>higher priority process, </a:t>
            </a:r>
            <a:r>
              <a:rPr lang="en-US" sz="2400" spc="-5" dirty="0">
                <a:latin typeface="Calibri"/>
                <a:cs typeface="Calibri"/>
              </a:rPr>
              <a:t>a </a:t>
            </a:r>
            <a:r>
              <a:rPr lang="en-US" sz="2400" spc="-10" dirty="0">
                <a:latin typeface="Calibri"/>
                <a:cs typeface="Calibri"/>
              </a:rPr>
              <a:t>process </a:t>
            </a:r>
            <a:r>
              <a:rPr lang="en-US" sz="2400" spc="-25" dirty="0">
                <a:latin typeface="Calibri"/>
                <a:cs typeface="Calibri"/>
              </a:rPr>
              <a:t>stays </a:t>
            </a:r>
            <a:r>
              <a:rPr lang="en-US" sz="2400" spc="-10" dirty="0">
                <a:latin typeface="Calibri"/>
                <a:cs typeface="Calibri"/>
              </a:rPr>
              <a:t>where </a:t>
            </a:r>
            <a:r>
              <a:rPr lang="en-US" sz="2400" spc="-5" dirty="0">
                <a:latin typeface="Calibri"/>
                <a:cs typeface="Calibri"/>
              </a:rPr>
              <a:t>it is in the ready queue that contains processes of the same priority.</a:t>
            </a:r>
          </a:p>
          <a:p>
            <a:pPr marL="698500" lvl="1" indent="-229235">
              <a:lnSpc>
                <a:spcPts val="2300"/>
              </a:lnSpc>
              <a:spcBef>
                <a:spcPts val="120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A </a:t>
            </a:r>
            <a:r>
              <a:rPr lang="en-US" sz="2400" spc="-10" dirty="0">
                <a:latin typeface="Calibri"/>
                <a:cs typeface="Calibri"/>
              </a:rPr>
              <a:t>newly </a:t>
            </a:r>
            <a:r>
              <a:rPr lang="en-US" sz="2400" spc="-5" dirty="0">
                <a:latin typeface="Calibri"/>
                <a:cs typeface="Calibri"/>
              </a:rPr>
              <a:t>joining </a:t>
            </a:r>
            <a:r>
              <a:rPr lang="en-US" sz="2400" spc="-10" dirty="0">
                <a:latin typeface="Calibri"/>
                <a:cs typeface="Calibri"/>
              </a:rPr>
              <a:t>process </a:t>
            </a:r>
            <a:r>
              <a:rPr lang="en-US" sz="2400" spc="-5" dirty="0">
                <a:latin typeface="Calibri"/>
                <a:cs typeface="Calibri"/>
              </a:rPr>
              <a:t>will </a:t>
            </a:r>
            <a:r>
              <a:rPr lang="en-US" sz="2400" spc="-20" dirty="0">
                <a:latin typeface="Calibri"/>
                <a:cs typeface="Calibri"/>
              </a:rPr>
              <a:t>always </a:t>
            </a:r>
            <a:r>
              <a:rPr lang="en-US" sz="2400" spc="-5" dirty="0">
                <a:latin typeface="Calibri"/>
                <a:cs typeface="Calibri"/>
              </a:rPr>
              <a:t>be </a:t>
            </a:r>
            <a:r>
              <a:rPr lang="en-US" sz="2400" spc="-10" dirty="0">
                <a:latin typeface="Calibri"/>
                <a:cs typeface="Calibri"/>
              </a:rPr>
              <a:t>put </a:t>
            </a:r>
            <a:r>
              <a:rPr lang="en-US" sz="2400" spc="-15" dirty="0">
                <a:latin typeface="Calibri"/>
                <a:cs typeface="Calibri"/>
              </a:rPr>
              <a:t>at </a:t>
            </a:r>
            <a:r>
              <a:rPr lang="en-US" sz="2400" spc="-5" dirty="0">
                <a:latin typeface="Calibri"/>
                <a:cs typeface="Calibri"/>
              </a:rPr>
              <a:t>the </a:t>
            </a:r>
            <a:r>
              <a:rPr lang="en-US" sz="2400" spc="-10" dirty="0">
                <a:latin typeface="Calibri"/>
                <a:cs typeface="Calibri"/>
              </a:rPr>
              <a:t>head </a:t>
            </a:r>
            <a:r>
              <a:rPr lang="en-US" sz="2400" spc="-5" dirty="0">
                <a:latin typeface="Calibri"/>
                <a:cs typeface="Calibri"/>
              </a:rPr>
              <a:t>of the </a:t>
            </a:r>
            <a:r>
              <a:rPr lang="en-US" sz="2400" spc="-10" dirty="0">
                <a:latin typeface="Calibri"/>
                <a:cs typeface="Calibri"/>
              </a:rPr>
              <a:t>ready queue that contains processes of the same priority.</a:t>
            </a:r>
            <a:endParaRPr lang="en-US"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2120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The </a:t>
            </a:r>
            <a:r>
              <a:rPr spc="-55" dirty="0"/>
              <a:t>Round-Robin</a:t>
            </a:r>
            <a:r>
              <a:rPr spc="-240" dirty="0"/>
              <a:t> </a:t>
            </a:r>
            <a:r>
              <a:rPr spc="-45" dirty="0"/>
              <a:t>Policy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565"/>
            <a:ext cx="10083800" cy="4203843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i="1" spc="-5" dirty="0">
                <a:latin typeface="Calibri"/>
                <a:cs typeface="Calibri"/>
              </a:rPr>
              <a:t>round-robin </a:t>
            </a:r>
            <a:r>
              <a:rPr sz="2800" spc="-5" dirty="0">
                <a:latin typeface="Calibri"/>
                <a:cs typeface="Calibri"/>
              </a:rPr>
              <a:t>(RR) </a:t>
            </a:r>
            <a:r>
              <a:rPr lang="en-US" sz="2800" spc="-5" dirty="0">
                <a:latin typeface="Calibri"/>
                <a:cs typeface="Calibri"/>
              </a:rPr>
              <a:t>policy is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represented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200" b="1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SCHED_RR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spc="-15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It works s</a:t>
            </a:r>
            <a:r>
              <a:rPr sz="2400" spc="-5" dirty="0">
                <a:latin typeface="Calibri"/>
                <a:cs typeface="Calibri"/>
              </a:rPr>
              <a:t>imilar</a:t>
            </a:r>
            <a:r>
              <a:rPr lang="en-US" sz="2400" spc="-5" dirty="0">
                <a:latin typeface="Calibri"/>
                <a:cs typeface="Calibri"/>
              </a:rPr>
              <a:t>ly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lang="en-US" sz="2400" spc="-25" dirty="0">
                <a:latin typeface="Calibri"/>
                <a:cs typeface="Calibri"/>
              </a:rPr>
              <a:t>FIFO but </a:t>
            </a:r>
            <a:r>
              <a:rPr sz="2400" spc="-20" dirty="0">
                <a:latin typeface="Calibri"/>
                <a:cs typeface="Calibri"/>
              </a:rPr>
              <a:t>differs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5" dirty="0">
                <a:latin typeface="Calibri"/>
                <a:cs typeface="Calibri"/>
              </a:rPr>
              <a:t>assign</a:t>
            </a:r>
            <a:r>
              <a:rPr lang="en-US"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 time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slice</a:t>
            </a:r>
            <a:r>
              <a:rPr lang="en-US" sz="2400" dirty="0">
                <a:latin typeface="Calibri"/>
                <a:cs typeface="Calibri"/>
              </a:rPr>
              <a:t>s.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When </a:t>
            </a:r>
            <a:r>
              <a:rPr lang="en-US"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time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slice </a:t>
            </a:r>
            <a:r>
              <a:rPr lang="en-US" sz="2400" spc="-5" dirty="0">
                <a:latin typeface="Calibri"/>
                <a:cs typeface="Calibri"/>
              </a:rPr>
              <a:t>of a process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5" dirty="0">
                <a:latin typeface="Calibri"/>
                <a:cs typeface="Calibri"/>
              </a:rPr>
              <a:t>exhausted,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scheduler </a:t>
            </a:r>
            <a:r>
              <a:rPr sz="2400" spc="-10" dirty="0">
                <a:latin typeface="Calibri"/>
                <a:cs typeface="Calibri"/>
              </a:rPr>
              <a:t>moves </a:t>
            </a:r>
            <a:r>
              <a:rPr lang="en-US" sz="2400" dirty="0">
                <a:latin typeface="Calibri"/>
                <a:cs typeface="Calibri"/>
              </a:rPr>
              <a:t>the process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 end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lang="en-US" sz="2400" dirty="0">
                <a:latin typeface="Calibri"/>
                <a:cs typeface="Calibri"/>
              </a:rPr>
              <a:t> ready queue of processes of the same priority.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Round-robin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lang="en-US" sz="2400" spc="-15" dirty="0">
                <a:latin typeface="Calibri"/>
                <a:cs typeface="Calibri"/>
              </a:rPr>
              <a:t>applied</a:t>
            </a:r>
            <a:r>
              <a:rPr sz="2400" spc="-15" dirty="0">
                <a:latin typeface="Calibri"/>
                <a:cs typeface="Calibri"/>
              </a:rPr>
              <a:t> to </a:t>
            </a: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same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priority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sz="2400" spc="-10" dirty="0">
                <a:latin typeface="Calibri"/>
                <a:cs typeface="Calibri"/>
              </a:rPr>
              <a:t>there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only one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lang="en-US" sz="2400" spc="-15" dirty="0">
                <a:latin typeface="Calibri"/>
                <a:cs typeface="Calibri"/>
              </a:rPr>
              <a:t>in the ready queue</a:t>
            </a:r>
            <a:r>
              <a:rPr sz="2400" spc="-25" dirty="0">
                <a:latin typeface="Calibri"/>
                <a:cs typeface="Calibri"/>
              </a:rPr>
              <a:t>, </a:t>
            </a:r>
            <a:r>
              <a:rPr lang="en-US" sz="2400" dirty="0">
                <a:latin typeface="Calibri"/>
                <a:cs typeface="Calibri"/>
              </a:rPr>
              <a:t>it will continue running.</a:t>
            </a:r>
            <a:endParaRPr sz="2400" dirty="0">
              <a:latin typeface="Calibri"/>
              <a:cs typeface="Calibri"/>
            </a:endParaRPr>
          </a:p>
          <a:p>
            <a:pPr marL="241300" marR="37465" indent="-228600">
              <a:lnSpc>
                <a:spcPct val="9000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0" dirty="0">
                <a:latin typeface="Calibri"/>
                <a:cs typeface="Calibri"/>
              </a:rPr>
              <a:t>With </a:t>
            </a:r>
            <a:r>
              <a:rPr lang="en-US" sz="2800" spc="-5" dirty="0">
                <a:latin typeface="Calibri"/>
                <a:cs typeface="Calibri"/>
              </a:rPr>
              <a:t>either policy</a:t>
            </a:r>
            <a:r>
              <a:rPr sz="2800" spc="-5" dirty="0">
                <a:latin typeface="Calibri"/>
                <a:cs typeface="Calibri"/>
              </a:rPr>
              <a:t>, a </a:t>
            </a:r>
            <a:r>
              <a:rPr sz="2800" spc="-15" dirty="0">
                <a:latin typeface="Calibri"/>
                <a:cs typeface="Calibri"/>
              </a:rPr>
              <a:t>lower-priority process </a:t>
            </a:r>
            <a:r>
              <a:rPr sz="2800" spc="-10" dirty="0">
                <a:latin typeface="Calibri"/>
                <a:cs typeface="Calibri"/>
              </a:rPr>
              <a:t>won’t </a:t>
            </a:r>
            <a:r>
              <a:rPr sz="2800" spc="-15" dirty="0">
                <a:latin typeface="Calibri"/>
                <a:cs typeface="Calibri"/>
              </a:rPr>
              <a:t>ever </a:t>
            </a:r>
            <a:r>
              <a:rPr sz="2800" spc="-10" dirty="0">
                <a:latin typeface="Calibri"/>
                <a:cs typeface="Calibri"/>
              </a:rPr>
              <a:t>run </a:t>
            </a:r>
            <a:r>
              <a:rPr sz="2800" spc="-5" dirty="0">
                <a:latin typeface="Calibri"/>
                <a:cs typeface="Calibri"/>
              </a:rPr>
              <a:t>if a </a:t>
            </a:r>
            <a:r>
              <a:rPr sz="2800" spc="-10" dirty="0">
                <a:latin typeface="Calibri"/>
                <a:cs typeface="Calibri"/>
              </a:rPr>
              <a:t>higher-priority one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exists</a:t>
            </a:r>
            <a:r>
              <a:rPr lang="en-US" sz="2800" spc="-20" dirty="0">
                <a:latin typeface="Calibri"/>
                <a:cs typeface="Calibri"/>
              </a:rPr>
              <a:t>.</a:t>
            </a:r>
          </a:p>
          <a:p>
            <a:pPr marL="241300" marR="37465" indent="-228600">
              <a:lnSpc>
                <a:spcPct val="9000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20" dirty="0">
                <a:latin typeface="Calibri"/>
                <a:cs typeface="Calibri"/>
              </a:rPr>
              <a:t>That is, a higher-priority process will never be removed from the CPU for a process of a lower priority to run instead.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4213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The </a:t>
            </a:r>
            <a:r>
              <a:rPr spc="-35" dirty="0"/>
              <a:t>Normal </a:t>
            </a:r>
            <a:r>
              <a:rPr spc="-20" dirty="0"/>
              <a:t>and the </a:t>
            </a:r>
            <a:r>
              <a:rPr spc="-30" dirty="0"/>
              <a:t>Special </a:t>
            </a:r>
            <a:r>
              <a:rPr spc="-20" dirty="0"/>
              <a:t>Idle</a:t>
            </a:r>
            <a:r>
              <a:rPr spc="-405" dirty="0"/>
              <a:t> </a:t>
            </a:r>
            <a:r>
              <a:rPr spc="-40" dirty="0"/>
              <a:t>Policy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565"/>
            <a:ext cx="10665461" cy="3729867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SCHED_OTHER</a:t>
            </a:r>
            <a:r>
              <a:rPr sz="2800" spc="-15" dirty="0">
                <a:latin typeface="Calibri"/>
                <a:cs typeface="Calibri"/>
              </a:rPr>
              <a:t> represents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standard </a:t>
            </a:r>
            <a:r>
              <a:rPr sz="2800" spc="-10" dirty="0">
                <a:latin typeface="Calibri"/>
                <a:cs typeface="Calibri"/>
              </a:rPr>
              <a:t>scheduling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policy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All </a:t>
            </a:r>
            <a:r>
              <a:rPr sz="2400" spc="-5" dirty="0">
                <a:latin typeface="Calibri"/>
                <a:cs typeface="Calibri"/>
              </a:rPr>
              <a:t>normal-classed </a:t>
            </a: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static </a:t>
            </a:r>
            <a:r>
              <a:rPr sz="2400" spc="-5" dirty="0">
                <a:latin typeface="Calibri"/>
                <a:cs typeface="Calibri"/>
              </a:rPr>
              <a:t>priority 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dirty="0">
                <a:latin typeface="Calibri"/>
                <a:cs typeface="Calibri"/>
              </a:rPr>
              <a:t>Such a process w</a:t>
            </a:r>
            <a:r>
              <a:rPr sz="2400" dirty="0">
                <a:latin typeface="Calibri"/>
                <a:cs typeface="Calibri"/>
              </a:rPr>
              <a:t>ill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0" dirty="0">
                <a:latin typeface="Calibri"/>
                <a:cs typeface="Calibri"/>
              </a:rPr>
              <a:t>preempted by </a:t>
            </a:r>
            <a:r>
              <a:rPr sz="2400" dirty="0">
                <a:latin typeface="Calibri"/>
                <a:cs typeface="Calibri"/>
              </a:rPr>
              <a:t>either </a:t>
            </a:r>
            <a:r>
              <a:rPr sz="2400" spc="-10" dirty="0">
                <a:latin typeface="Calibri"/>
                <a:cs typeface="Calibri"/>
              </a:rPr>
              <a:t>FIFO </a:t>
            </a:r>
            <a:r>
              <a:rPr sz="2400" spc="-5" dirty="0">
                <a:latin typeface="Calibri"/>
                <a:cs typeface="Calibri"/>
              </a:rPr>
              <a:t>or RR-classed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he </a:t>
            </a:r>
            <a:r>
              <a:rPr sz="2400" spc="-5" dirty="0">
                <a:latin typeface="Calibri"/>
                <a:cs typeface="Calibri"/>
              </a:rPr>
              <a:t>nice </a:t>
            </a:r>
            <a:r>
              <a:rPr sz="2400" spc="-10" dirty="0">
                <a:latin typeface="Calibri"/>
                <a:cs typeface="Calibri"/>
              </a:rPr>
              <a:t>value </a:t>
            </a:r>
            <a:r>
              <a:rPr lang="en-US" sz="2400" spc="-10" dirty="0">
                <a:latin typeface="Calibri"/>
                <a:cs typeface="Calibri"/>
              </a:rPr>
              <a:t>are used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lang="en-US" sz="2400" spc="-10" dirty="0">
                <a:latin typeface="Calibri"/>
                <a:cs typeface="Calibri"/>
              </a:rPr>
              <a:t>decide the order of running </a:t>
            </a:r>
            <a:r>
              <a:rPr sz="2400" spc="-5" dirty="0">
                <a:latin typeface="Calibri"/>
                <a:cs typeface="Calibri"/>
              </a:rPr>
              <a:t>normal</a:t>
            </a:r>
            <a:r>
              <a:rPr lang="en-US" sz="2400" spc="-5" dirty="0">
                <a:latin typeface="Calibri"/>
                <a:cs typeface="Calibri"/>
              </a:rPr>
              <a:t>-c</a:t>
            </a:r>
            <a:r>
              <a:rPr sz="2400" spc="-5" dirty="0">
                <a:latin typeface="Calibri"/>
                <a:cs typeface="Calibri"/>
              </a:rPr>
              <a:t>lass</a:t>
            </a:r>
            <a:r>
              <a:rPr lang="en-US" sz="2400" spc="-5" dirty="0">
                <a:latin typeface="Calibri"/>
                <a:cs typeface="Calibri"/>
              </a:rPr>
              <a:t>ed processes.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dirty="0">
                <a:latin typeface="Calibri"/>
                <a:cs typeface="Calibri"/>
              </a:rPr>
              <a:t>A change in the n</a:t>
            </a:r>
            <a:r>
              <a:rPr sz="2400" dirty="0">
                <a:latin typeface="Calibri"/>
                <a:cs typeface="Calibri"/>
              </a:rPr>
              <a:t>ice </a:t>
            </a:r>
            <a:r>
              <a:rPr sz="2400" spc="-10" dirty="0">
                <a:latin typeface="Calibri"/>
                <a:cs typeface="Calibri"/>
              </a:rPr>
              <a:t>value </a:t>
            </a:r>
            <a:r>
              <a:rPr sz="2400" spc="-5" dirty="0">
                <a:latin typeface="Calibri"/>
                <a:cs typeface="Calibri"/>
              </a:rPr>
              <a:t>doesn’t </a:t>
            </a:r>
            <a:r>
              <a:rPr sz="2400" spc="-20" dirty="0">
                <a:latin typeface="Calibri"/>
                <a:cs typeface="Calibri"/>
              </a:rPr>
              <a:t>affect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static </a:t>
            </a:r>
            <a:r>
              <a:rPr sz="2400" spc="-5" dirty="0">
                <a:latin typeface="Calibri"/>
                <a:cs typeface="Calibri"/>
              </a:rPr>
              <a:t>priority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</a:t>
            </a:r>
            <a:r>
              <a:rPr lang="en-US" sz="2400" spc="-5" dirty="0">
                <a:latin typeface="Calibri"/>
                <a:cs typeface="Calibri"/>
              </a:rPr>
              <a:t>which remains </a:t>
            </a:r>
            <a:r>
              <a:rPr sz="2400" spc="-5" dirty="0">
                <a:latin typeface="Calibri"/>
                <a:cs typeface="Calibri"/>
              </a:rPr>
              <a:t>0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SCHED_BATCH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the </a:t>
            </a:r>
            <a:r>
              <a:rPr sz="2800" i="1" spc="-10" dirty="0">
                <a:latin typeface="Calibri"/>
                <a:cs typeface="Calibri"/>
              </a:rPr>
              <a:t>batch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i="1" spc="-5" dirty="0">
                <a:latin typeface="Calibri"/>
                <a:cs typeface="Calibri"/>
              </a:rPr>
              <a:t>idle </a:t>
            </a:r>
            <a:r>
              <a:rPr sz="2800" spc="-10" dirty="0">
                <a:latin typeface="Calibri"/>
                <a:cs typeface="Calibri"/>
              </a:rPr>
              <a:t>scheduling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policy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opposite </a:t>
            </a:r>
            <a:r>
              <a:rPr sz="2400" spc="-5" dirty="0">
                <a:latin typeface="Calibri"/>
                <a:cs typeface="Calibri"/>
              </a:rPr>
              <a:t>of real-time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policy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Such a process will o</a:t>
            </a:r>
            <a:r>
              <a:rPr sz="2400" spc="-5" dirty="0">
                <a:latin typeface="Calibri"/>
                <a:cs typeface="Calibri"/>
              </a:rPr>
              <a:t>nly </a:t>
            </a:r>
            <a:r>
              <a:rPr sz="2400" dirty="0">
                <a:latin typeface="Calibri"/>
                <a:cs typeface="Calibri"/>
              </a:rPr>
              <a:t>run when </a:t>
            </a:r>
            <a:r>
              <a:rPr sz="2400" spc="-10" dirty="0">
                <a:latin typeface="Calibri"/>
                <a:cs typeface="Calibri"/>
              </a:rPr>
              <a:t>there are </a:t>
            </a:r>
            <a:r>
              <a:rPr sz="2400" spc="-5" dirty="0">
                <a:latin typeface="Calibri"/>
                <a:cs typeface="Calibri"/>
              </a:rPr>
              <a:t>no other </a:t>
            </a:r>
            <a:r>
              <a:rPr sz="2400" dirty="0">
                <a:latin typeface="Calibri"/>
                <a:cs typeface="Calibri"/>
              </a:rPr>
              <a:t>runnable</a:t>
            </a:r>
            <a:r>
              <a:rPr sz="2400" spc="-10" dirty="0">
                <a:latin typeface="Calibri"/>
                <a:cs typeface="Calibri"/>
              </a:rPr>
              <a:t> processes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It </a:t>
            </a:r>
            <a:r>
              <a:rPr sz="2400" spc="-10" dirty="0">
                <a:latin typeface="Calibri"/>
                <a:cs typeface="Calibri"/>
              </a:rPr>
              <a:t>won’t </a:t>
            </a:r>
            <a:r>
              <a:rPr sz="2400" dirty="0">
                <a:latin typeface="Calibri"/>
                <a:cs typeface="Calibri"/>
              </a:rPr>
              <a:t>run </a:t>
            </a:r>
            <a:r>
              <a:rPr sz="2400" spc="-10" dirty="0">
                <a:latin typeface="Calibri"/>
                <a:cs typeface="Calibri"/>
              </a:rPr>
              <a:t>even </a:t>
            </a:r>
            <a:r>
              <a:rPr sz="2400" dirty="0">
                <a:latin typeface="Calibri"/>
                <a:cs typeface="Calibri"/>
              </a:rPr>
              <a:t>if </a:t>
            </a:r>
            <a:r>
              <a:rPr sz="2400" spc="-5" dirty="0">
                <a:latin typeface="Calibri"/>
                <a:cs typeface="Calibri"/>
              </a:rPr>
              <a:t>other </a:t>
            </a: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spc="-15" dirty="0">
                <a:latin typeface="Calibri"/>
                <a:cs typeface="Calibri"/>
              </a:rPr>
              <a:t>exhausted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slices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6098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Setting </a:t>
            </a:r>
            <a:r>
              <a:rPr spc="-20" dirty="0"/>
              <a:t>the </a:t>
            </a:r>
            <a:r>
              <a:rPr spc="-25" dirty="0"/>
              <a:t>Linux </a:t>
            </a:r>
            <a:r>
              <a:rPr spc="-35" dirty="0"/>
              <a:t>Scheduling</a:t>
            </a:r>
            <a:r>
              <a:rPr spc="-330" dirty="0"/>
              <a:t> </a:t>
            </a:r>
            <a:r>
              <a:rPr spc="-40" dirty="0"/>
              <a:t>Policy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393" y="1770633"/>
            <a:ext cx="10455655" cy="23718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85"/>
              </a:lnSpc>
              <a:spcBef>
                <a:spcPts val="95"/>
              </a:spcBef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9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&lt;sched.h&gt;</a:t>
            </a:r>
          </a:p>
          <a:p>
            <a:pPr marL="12700">
              <a:lnSpc>
                <a:spcPts val="2095"/>
              </a:lnSpc>
            </a:pP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sched_param</a:t>
            </a:r>
            <a:r>
              <a:rPr sz="1900" spc="3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  <a:endParaRPr sz="19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100"/>
              </a:lnSpc>
            </a:pPr>
            <a:r>
              <a:rPr sz="1900" i="1" spc="-5" dirty="0">
                <a:latin typeface="Consolas"/>
                <a:cs typeface="Consolas"/>
              </a:rPr>
              <a:t>/* </a:t>
            </a:r>
            <a:r>
              <a:rPr sz="1900" i="1" dirty="0">
                <a:latin typeface="Consolas"/>
                <a:cs typeface="Consolas"/>
              </a:rPr>
              <a:t>...</a:t>
            </a:r>
            <a:r>
              <a:rPr sz="1900" i="1" spc="20" dirty="0">
                <a:latin typeface="Consolas"/>
                <a:cs typeface="Consolas"/>
              </a:rPr>
              <a:t> </a:t>
            </a:r>
            <a:r>
              <a:rPr sz="1900" i="1" spc="-5" dirty="0">
                <a:latin typeface="Consolas"/>
                <a:cs typeface="Consolas"/>
              </a:rPr>
              <a:t>*/</a:t>
            </a:r>
            <a:endParaRPr sz="1900" i="1" dirty="0">
              <a:latin typeface="Consolas"/>
              <a:cs typeface="Consolas"/>
            </a:endParaRPr>
          </a:p>
          <a:p>
            <a:pPr marL="469900">
              <a:lnSpc>
                <a:spcPts val="2095"/>
              </a:lnSpc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sched_priority; </a:t>
            </a:r>
            <a:r>
              <a:rPr sz="1900" i="1" spc="-5" dirty="0">
                <a:latin typeface="Consolas"/>
                <a:cs typeface="Consolas"/>
              </a:rPr>
              <a:t>// </a:t>
            </a:r>
            <a:r>
              <a:rPr lang="en-US" sz="1900" i="1" dirty="0">
                <a:latin typeface="Consolas"/>
                <a:cs typeface="Consolas"/>
              </a:rPr>
              <a:t>O</a:t>
            </a:r>
            <a:r>
              <a:rPr sz="1900" i="1" dirty="0">
                <a:latin typeface="Consolas"/>
                <a:cs typeface="Consolas"/>
              </a:rPr>
              <a:t>nly used </a:t>
            </a:r>
            <a:r>
              <a:rPr sz="1900" i="1" spc="-5" dirty="0">
                <a:latin typeface="Consolas"/>
                <a:cs typeface="Consolas"/>
              </a:rPr>
              <a:t>for </a:t>
            </a:r>
            <a:r>
              <a:rPr sz="1900" i="1" dirty="0">
                <a:latin typeface="Consolas"/>
                <a:cs typeface="Consolas"/>
              </a:rPr>
              <a:t>FIFO and RR</a:t>
            </a:r>
            <a:r>
              <a:rPr lang="en-US" sz="1900" i="1" dirty="0">
                <a:latin typeface="Consolas"/>
                <a:cs typeface="Consolas"/>
              </a:rPr>
              <a:t> </a:t>
            </a:r>
            <a:r>
              <a:rPr sz="1900" i="1" dirty="0">
                <a:latin typeface="Consolas"/>
                <a:cs typeface="Consolas"/>
              </a:rPr>
              <a:t>policies</a:t>
            </a:r>
            <a:r>
              <a:rPr lang="en-US" sz="1900" i="1" dirty="0">
                <a:latin typeface="Consolas"/>
                <a:cs typeface="Consolas"/>
              </a:rPr>
              <a:t>.</a:t>
            </a:r>
            <a:endParaRPr sz="1900" i="1" dirty="0">
              <a:latin typeface="Consolas"/>
              <a:cs typeface="Consolas"/>
            </a:endParaRPr>
          </a:p>
          <a:p>
            <a:pPr marL="469900">
              <a:lnSpc>
                <a:spcPts val="2095"/>
              </a:lnSpc>
            </a:pPr>
            <a:r>
              <a:rPr sz="1900" i="1" spc="-5" dirty="0">
                <a:latin typeface="Consolas"/>
                <a:cs typeface="Consolas"/>
              </a:rPr>
              <a:t>/* </a:t>
            </a:r>
            <a:r>
              <a:rPr sz="1900" i="1" dirty="0">
                <a:latin typeface="Consolas"/>
                <a:cs typeface="Consolas"/>
              </a:rPr>
              <a:t>...</a:t>
            </a:r>
            <a:r>
              <a:rPr sz="1900" i="1" spc="20" dirty="0">
                <a:latin typeface="Consolas"/>
                <a:cs typeface="Consolas"/>
              </a:rPr>
              <a:t> </a:t>
            </a:r>
            <a:r>
              <a:rPr sz="1900" i="1" spc="-5" dirty="0">
                <a:latin typeface="Consolas"/>
                <a:cs typeface="Consolas"/>
              </a:rPr>
              <a:t>*/</a:t>
            </a:r>
            <a:endParaRPr sz="1900" i="1" dirty="0">
              <a:latin typeface="Consolas"/>
              <a:cs typeface="Consolas"/>
            </a:endParaRPr>
          </a:p>
          <a:p>
            <a:pPr marL="12700">
              <a:lnSpc>
                <a:spcPts val="2190"/>
              </a:lnSpc>
            </a:pP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};</a:t>
            </a:r>
            <a:endParaRPr lang="en-US" sz="1900" spc="-5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ts val="2190"/>
              </a:lnSpc>
              <a:spcBef>
                <a:spcPts val="1200"/>
              </a:spcBef>
            </a:pPr>
            <a:r>
              <a:rPr lang="en-US" sz="1900"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lang="en-US" sz="19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900" dirty="0" err="1">
                <a:solidFill>
                  <a:srgbClr val="0070C0"/>
                </a:solidFill>
                <a:latin typeface="Consolas"/>
                <a:cs typeface="Consolas"/>
              </a:rPr>
              <a:t>sched_getscheduler</a:t>
            </a:r>
            <a:r>
              <a:rPr lang="en-US" sz="1900" dirty="0">
                <a:solidFill>
                  <a:srgbClr val="0070C0"/>
                </a:solidFill>
                <a:latin typeface="Consolas"/>
                <a:cs typeface="Consolas"/>
              </a:rPr>
              <a:t> (</a:t>
            </a:r>
            <a:r>
              <a:rPr lang="en-US" sz="1900" spc="10" dirty="0" err="1">
                <a:solidFill>
                  <a:srgbClr val="0070C0"/>
                </a:solidFill>
                <a:latin typeface="Consolas"/>
                <a:cs typeface="Consolas"/>
              </a:rPr>
              <a:t>p</a:t>
            </a:r>
            <a:r>
              <a:rPr lang="en-US" sz="1900" dirty="0" err="1">
                <a:solidFill>
                  <a:srgbClr val="0070C0"/>
                </a:solidFill>
                <a:latin typeface="Consolas"/>
                <a:cs typeface="Consolas"/>
              </a:rPr>
              <a:t>i</a:t>
            </a:r>
            <a:r>
              <a:rPr lang="en-US" sz="1900" spc="10" dirty="0" err="1">
                <a:solidFill>
                  <a:srgbClr val="0070C0"/>
                </a:solidFill>
                <a:latin typeface="Consolas"/>
                <a:cs typeface="Consolas"/>
              </a:rPr>
              <a:t>d</a:t>
            </a:r>
            <a:r>
              <a:rPr lang="en-US" sz="1900" dirty="0" err="1">
                <a:solidFill>
                  <a:srgbClr val="0070C0"/>
                </a:solidFill>
                <a:latin typeface="Consolas"/>
                <a:cs typeface="Consolas"/>
              </a:rPr>
              <a:t>_t</a:t>
            </a:r>
            <a:r>
              <a:rPr lang="en-US" sz="19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900" dirty="0" err="1">
                <a:solidFill>
                  <a:srgbClr val="0070C0"/>
                </a:solidFill>
                <a:latin typeface="Consolas"/>
                <a:cs typeface="Consolas"/>
              </a:rPr>
              <a:t>pid</a:t>
            </a:r>
            <a:r>
              <a:rPr lang="en-US" sz="1900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</a:p>
          <a:p>
            <a:pPr marL="12700">
              <a:lnSpc>
                <a:spcPts val="2190"/>
              </a:lnSpc>
            </a:pPr>
            <a:r>
              <a:rPr lang="en-US" sz="1900"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lang="en-US" sz="19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900" dirty="0" err="1">
                <a:solidFill>
                  <a:srgbClr val="0070C0"/>
                </a:solidFill>
                <a:latin typeface="Consolas"/>
                <a:cs typeface="Consolas"/>
              </a:rPr>
              <a:t>sched_setscheduler</a:t>
            </a:r>
            <a:r>
              <a:rPr lang="en-US" sz="1900" dirty="0">
                <a:solidFill>
                  <a:srgbClr val="0070C0"/>
                </a:solidFill>
                <a:latin typeface="Consolas"/>
                <a:cs typeface="Consolas"/>
              </a:rPr>
              <a:t> (</a:t>
            </a:r>
            <a:r>
              <a:rPr lang="en-US" sz="1900" spc="10" dirty="0" err="1">
                <a:solidFill>
                  <a:srgbClr val="0070C0"/>
                </a:solidFill>
                <a:latin typeface="Consolas"/>
                <a:cs typeface="Consolas"/>
              </a:rPr>
              <a:t>p</a:t>
            </a:r>
            <a:r>
              <a:rPr lang="en-US" sz="1900" dirty="0" err="1">
                <a:solidFill>
                  <a:srgbClr val="0070C0"/>
                </a:solidFill>
                <a:latin typeface="Consolas"/>
                <a:cs typeface="Consolas"/>
              </a:rPr>
              <a:t>i</a:t>
            </a:r>
            <a:r>
              <a:rPr lang="en-US" sz="1900" spc="10" dirty="0" err="1">
                <a:solidFill>
                  <a:srgbClr val="0070C0"/>
                </a:solidFill>
                <a:latin typeface="Consolas"/>
                <a:cs typeface="Consolas"/>
              </a:rPr>
              <a:t>d</a:t>
            </a:r>
            <a:r>
              <a:rPr lang="en-US" sz="1900" dirty="0" err="1">
                <a:solidFill>
                  <a:srgbClr val="0070C0"/>
                </a:solidFill>
                <a:latin typeface="Consolas"/>
                <a:cs typeface="Consolas"/>
              </a:rPr>
              <a:t>_t</a:t>
            </a:r>
            <a:r>
              <a:rPr lang="en-US" sz="19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900" dirty="0" err="1">
                <a:solidFill>
                  <a:srgbClr val="0070C0"/>
                </a:solidFill>
                <a:latin typeface="Consolas"/>
                <a:cs typeface="Consolas"/>
              </a:rPr>
              <a:t>pid</a:t>
            </a:r>
            <a:r>
              <a:rPr lang="en-US" sz="1900" dirty="0">
                <a:solidFill>
                  <a:srgbClr val="0070C0"/>
                </a:solidFill>
                <a:latin typeface="Consolas"/>
                <a:cs typeface="Consolas"/>
              </a:rPr>
              <a:t>, </a:t>
            </a:r>
            <a:r>
              <a:rPr lang="en-US" sz="19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lang="en-US" sz="1900" dirty="0">
                <a:solidFill>
                  <a:srgbClr val="0070C0"/>
                </a:solidFill>
                <a:latin typeface="Consolas"/>
                <a:cs typeface="Consolas"/>
              </a:rPr>
              <a:t>policy, </a:t>
            </a:r>
            <a:r>
              <a:rPr lang="en-US" sz="1900" b="1" dirty="0">
                <a:solidFill>
                  <a:srgbClr val="0070C0"/>
                </a:solidFill>
                <a:latin typeface="Consolas"/>
                <a:cs typeface="Consolas"/>
              </a:rPr>
              <a:t>co</a:t>
            </a:r>
            <a:r>
              <a:rPr lang="en-US" sz="1900" b="1" spc="10" dirty="0">
                <a:solidFill>
                  <a:srgbClr val="0070C0"/>
                </a:solidFill>
                <a:latin typeface="Consolas"/>
                <a:cs typeface="Consolas"/>
              </a:rPr>
              <a:t>n</a:t>
            </a:r>
            <a:r>
              <a:rPr lang="en-US" sz="1900" b="1" dirty="0">
                <a:solidFill>
                  <a:srgbClr val="0070C0"/>
                </a:solidFill>
                <a:latin typeface="Consolas"/>
                <a:cs typeface="Consolas"/>
              </a:rPr>
              <a:t>st struct </a:t>
            </a:r>
            <a:r>
              <a:rPr lang="en-US" sz="1900" dirty="0" err="1">
                <a:solidFill>
                  <a:srgbClr val="0070C0"/>
                </a:solidFill>
                <a:latin typeface="Consolas"/>
                <a:cs typeface="Consolas"/>
              </a:rPr>
              <a:t>sched_param</a:t>
            </a:r>
            <a:r>
              <a:rPr lang="en-US" sz="1900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0070C0"/>
                </a:solidFill>
                <a:latin typeface="Consolas"/>
                <a:cs typeface="Consolas"/>
              </a:rPr>
              <a:t>*</a:t>
            </a:r>
            <a:r>
              <a:rPr lang="en-US" sz="1900" dirty="0" err="1">
                <a:solidFill>
                  <a:srgbClr val="0070C0"/>
                </a:solidFill>
                <a:latin typeface="Consolas"/>
                <a:cs typeface="Consolas"/>
              </a:rPr>
              <a:t>sp</a:t>
            </a:r>
            <a:r>
              <a:rPr lang="en-US" sz="1900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8" y="4195648"/>
            <a:ext cx="10589261" cy="1808187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8600">
              <a:lnSpc>
                <a:spcPct val="70100"/>
              </a:lnSpc>
              <a:spcBef>
                <a:spcPts val="1040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  <a:cs typeface="Consolas"/>
              </a:rPr>
              <a:t>sched_getscheduler</a:t>
            </a: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sz="2600" spc="-5" dirty="0">
                <a:latin typeface="Calibri"/>
                <a:cs typeface="Calibri"/>
              </a:rPr>
              <a:t> returns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policy </a:t>
            </a:r>
            <a:r>
              <a:rPr sz="2600" dirty="0">
                <a:latin typeface="Calibri"/>
                <a:cs typeface="Calibri"/>
              </a:rPr>
              <a:t>of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400" spc="-5" dirty="0" err="1">
                <a:solidFill>
                  <a:srgbClr val="0070C0"/>
                </a:solidFill>
                <a:latin typeface="Consolas" panose="020B0609020204030204" pitchFamily="49" charset="0"/>
              </a:rPr>
              <a:t>pid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I</a:t>
            </a:r>
            <a:r>
              <a:rPr sz="2600" dirty="0">
                <a:latin typeface="Calibri"/>
                <a:cs typeface="Calibri"/>
              </a:rPr>
              <a:t>f </a:t>
            </a:r>
            <a:r>
              <a:rPr sz="2400" spc="-5" dirty="0" err="1">
                <a:solidFill>
                  <a:srgbClr val="0070C0"/>
                </a:solidFill>
                <a:latin typeface="Consolas" panose="020B0609020204030204" pitchFamily="49" charset="0"/>
              </a:rPr>
              <a:t>pid</a:t>
            </a:r>
            <a:r>
              <a:rPr lang="en-US" sz="2600" spc="-5" dirty="0">
                <a:latin typeface="Calibri"/>
                <a:cs typeface="Calibri"/>
              </a:rPr>
              <a:t> is </a:t>
            </a:r>
            <a:r>
              <a:rPr sz="2600" spc="-5" dirty="0">
                <a:latin typeface="Calibri"/>
                <a:cs typeface="Calibri"/>
              </a:rPr>
              <a:t>0, </a:t>
            </a:r>
            <a:r>
              <a:rPr sz="2600" dirty="0">
                <a:latin typeface="Calibri"/>
                <a:cs typeface="Calibri"/>
              </a:rPr>
              <a:t>it  </a:t>
            </a:r>
            <a:r>
              <a:rPr sz="2600" spc="-5" dirty="0">
                <a:latin typeface="Calibri"/>
                <a:cs typeface="Calibri"/>
              </a:rPr>
              <a:t>returns </a:t>
            </a:r>
            <a:r>
              <a:rPr lang="en-US" sz="2600" spc="-5" dirty="0">
                <a:latin typeface="Calibri"/>
                <a:cs typeface="Calibri"/>
              </a:rPr>
              <a:t>the policy</a:t>
            </a:r>
            <a:r>
              <a:rPr sz="2600" spc="-5" dirty="0">
                <a:latin typeface="Calibri"/>
                <a:cs typeface="Calibri"/>
              </a:rPr>
              <a:t> of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invoking process,</a:t>
            </a:r>
            <a:r>
              <a:rPr lang="en-US" sz="2600" spc="-10" dirty="0">
                <a:latin typeface="Calibri"/>
                <a:cs typeface="Calibri"/>
              </a:rPr>
              <a:t> and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returns -1 on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error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10795" indent="-228600">
              <a:lnSpc>
                <a:spcPct val="70000"/>
              </a:lnSpc>
              <a:spcBef>
                <a:spcPts val="1005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</a:rPr>
              <a:t>sched_setscheduler()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sets the policy to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</a:rPr>
              <a:t>policy</a:t>
            </a:r>
            <a:r>
              <a:rPr sz="2600" spc="-5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15" dirty="0">
                <a:latin typeface="Calibri"/>
                <a:cs typeface="Calibri"/>
              </a:rPr>
              <a:t>any parameters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the choice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spc="-5" dirty="0">
                <a:latin typeface="Calibri"/>
                <a:cs typeface="Calibri"/>
              </a:rPr>
              <a:t>set </a:t>
            </a:r>
            <a:r>
              <a:rPr sz="2600" dirty="0">
                <a:latin typeface="Calibri"/>
                <a:cs typeface="Calibri"/>
              </a:rPr>
              <a:t>via </a:t>
            </a: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</a:rPr>
              <a:t>sp</a:t>
            </a:r>
            <a:r>
              <a:rPr sz="2600" spc="-5" dirty="0">
                <a:latin typeface="Calibri"/>
                <a:cs typeface="Calibri"/>
              </a:rPr>
              <a:t>. </a:t>
            </a:r>
            <a:r>
              <a:rPr sz="2600" spc="-10" dirty="0">
                <a:latin typeface="Calibri"/>
                <a:cs typeface="Calibri"/>
              </a:rPr>
              <a:t>Returns </a:t>
            </a:r>
            <a:r>
              <a:rPr sz="2600" dirty="0">
                <a:latin typeface="Calibri"/>
                <a:cs typeface="Calibri"/>
              </a:rPr>
              <a:t>0 </a:t>
            </a:r>
            <a:r>
              <a:rPr sz="2600" spc="-5" dirty="0">
                <a:latin typeface="Calibri"/>
                <a:cs typeface="Calibri"/>
              </a:rPr>
              <a:t>on </a:t>
            </a:r>
            <a:r>
              <a:rPr sz="2600" dirty="0">
                <a:latin typeface="Calibri"/>
                <a:cs typeface="Calibri"/>
              </a:rPr>
              <a:t>success and </a:t>
            </a:r>
            <a:r>
              <a:rPr sz="2600" spc="-5" dirty="0">
                <a:latin typeface="Calibri"/>
                <a:cs typeface="Calibri"/>
              </a:rPr>
              <a:t>-1 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failure</a:t>
            </a:r>
            <a:r>
              <a:rPr lang="en-US" sz="2600" spc="-15" dirty="0">
                <a:latin typeface="Calibri"/>
                <a:cs typeface="Calibri"/>
              </a:rPr>
              <a:t>.</a:t>
            </a:r>
          </a:p>
          <a:p>
            <a:pPr marL="241300" marR="10795" indent="-228600">
              <a:lnSpc>
                <a:spcPct val="70000"/>
              </a:lnSpc>
              <a:spcBef>
                <a:spcPts val="1005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600" spc="-15" dirty="0">
                <a:latin typeface="Calibri"/>
                <a:cs typeface="Calibri"/>
              </a:rPr>
              <a:t>See examples on the next slide.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262839"/>
            <a:ext cx="10389312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Examples </a:t>
            </a:r>
            <a:r>
              <a:rPr spc="-15" dirty="0"/>
              <a:t>of</a:t>
            </a:r>
            <a:r>
              <a:rPr spc="-75" dirty="0"/>
              <a:t> </a:t>
            </a:r>
            <a:r>
              <a:rPr lang="en-US" spc="-45" dirty="0"/>
              <a:t>Getting/Setting the Policy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6166484" y="3957650"/>
            <a:ext cx="6254116" cy="22443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45"/>
              </a:lnSpc>
              <a:spcBef>
                <a:spcPts val="95"/>
              </a:spcBef>
            </a:pP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5" dirty="0">
                <a:latin typeface="Calibri"/>
                <a:cs typeface="Calibri"/>
              </a:rPr>
              <a:t>first </a:t>
            </a:r>
            <a:r>
              <a:rPr sz="2200" spc="-5" dirty="0">
                <a:latin typeface="Calibri"/>
                <a:cs typeface="Calibri"/>
              </a:rPr>
              <a:t>line </a:t>
            </a:r>
            <a:r>
              <a:rPr lang="en-US" sz="2200" spc="-20" dirty="0">
                <a:latin typeface="Calibri"/>
                <a:cs typeface="Calibri"/>
              </a:rPr>
              <a:t>above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0" dirty="0">
                <a:latin typeface="Calibri"/>
                <a:cs typeface="Calibri"/>
              </a:rPr>
              <a:t>equivalent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to:</a:t>
            </a:r>
            <a:endParaRPr sz="2200" dirty="0">
              <a:latin typeface="Calibri"/>
              <a:cs typeface="Calibri"/>
            </a:endParaRPr>
          </a:p>
          <a:p>
            <a:pPr marL="469265" marR="2263140">
              <a:lnSpc>
                <a:spcPts val="2350"/>
              </a:lnSpc>
              <a:spcBef>
                <a:spcPts val="170"/>
              </a:spcBef>
            </a:pPr>
            <a:r>
              <a:rPr sz="22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struct </a:t>
            </a:r>
            <a:r>
              <a:rPr sz="22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sched_param </a:t>
            </a:r>
            <a:r>
              <a:rPr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sp;  </a:t>
            </a:r>
            <a:r>
              <a:rPr sz="22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sp.sched_priority </a:t>
            </a:r>
            <a:r>
              <a:rPr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=</a:t>
            </a:r>
            <a:r>
              <a:rPr sz="2200" spc="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 </a:t>
            </a:r>
            <a:r>
              <a:rPr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1;</a:t>
            </a:r>
            <a:endParaRPr sz="2200" dirty="0">
              <a:solidFill>
                <a:srgbClr val="0070C0"/>
              </a:solidFill>
              <a:latin typeface="Consolas" panose="020B0609020204030204" pitchFamily="49" charset="0"/>
              <a:cs typeface="Calibri"/>
            </a:endParaRPr>
          </a:p>
          <a:p>
            <a:pPr marL="12700" marR="217804">
              <a:lnSpc>
                <a:spcPts val="2300"/>
              </a:lnSpc>
              <a:spcBef>
                <a:spcPts val="969"/>
              </a:spcBef>
            </a:pPr>
            <a:r>
              <a:rPr lang="en-US" sz="2200" spc="-20" dirty="0">
                <a:latin typeface="Calibri"/>
                <a:cs typeface="Calibri"/>
              </a:rPr>
              <a:t>Typically,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lang="en-US" sz="2200" spc="-20" dirty="0">
                <a:latin typeface="Calibri"/>
                <a:cs typeface="Calibri"/>
              </a:rPr>
              <a:t>only </a:t>
            </a:r>
            <a:r>
              <a:rPr sz="2200" spc="-1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user </a:t>
            </a:r>
            <a:r>
              <a:rPr sz="2200" spc="-5" dirty="0">
                <a:latin typeface="Calibri"/>
                <a:cs typeface="Calibri"/>
              </a:rPr>
              <a:t>runs </a:t>
            </a:r>
            <a:r>
              <a:rPr sz="2200" spc="-20" dirty="0">
                <a:latin typeface="Calibri"/>
                <a:cs typeface="Calibri"/>
              </a:rPr>
              <a:t>RT </a:t>
            </a:r>
            <a:r>
              <a:rPr sz="2200" spc="-10" dirty="0">
                <a:latin typeface="Calibri"/>
                <a:cs typeface="Calibri"/>
              </a:rPr>
              <a:t>processes, </a:t>
            </a:r>
            <a:r>
              <a:rPr sz="2200" spc="-5" dirty="0">
                <a:latin typeface="Calibri"/>
                <a:cs typeface="Calibri"/>
              </a:rPr>
              <a:t>but in </a:t>
            </a:r>
            <a:r>
              <a:rPr sz="2200" spc="-15" dirty="0">
                <a:latin typeface="Calibri"/>
                <a:cs typeface="Calibri"/>
              </a:rPr>
              <a:t>newer kernels</a:t>
            </a:r>
            <a:r>
              <a:rPr lang="en-US" sz="2200" spc="-15" dirty="0">
                <a:latin typeface="Calibri"/>
                <a:cs typeface="Calibri"/>
              </a:rPr>
              <a:t>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nonroot </a:t>
            </a:r>
            <a:r>
              <a:rPr sz="2200" spc="-15" dirty="0">
                <a:latin typeface="Calibri"/>
                <a:cs typeface="Calibri"/>
              </a:rPr>
              <a:t>users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spc="-5" dirty="0">
                <a:latin typeface="Calibri"/>
                <a:cs typeface="Calibri"/>
              </a:rPr>
              <a:t>also </a:t>
            </a:r>
            <a:r>
              <a:rPr sz="2200" spc="-10" dirty="0">
                <a:latin typeface="Calibri"/>
                <a:cs typeface="Calibri"/>
              </a:rPr>
              <a:t>allowed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set </a:t>
            </a:r>
            <a:r>
              <a:rPr sz="2200" spc="-20" dirty="0">
                <a:latin typeface="Calibri"/>
                <a:cs typeface="Calibri"/>
              </a:rPr>
              <a:t>RT </a:t>
            </a:r>
            <a:r>
              <a:rPr sz="2200" spc="-10" dirty="0">
                <a:latin typeface="Calibri"/>
                <a:cs typeface="Calibri"/>
              </a:rPr>
              <a:t>policies </a:t>
            </a:r>
            <a:r>
              <a:rPr sz="2200" spc="-5" dirty="0">
                <a:latin typeface="Calibri"/>
                <a:cs typeface="Calibri"/>
              </a:rPr>
              <a:t>up </a:t>
            </a:r>
            <a:r>
              <a:rPr sz="2200" spc="-15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certain priority</a:t>
            </a:r>
            <a:r>
              <a:rPr sz="2200" spc="1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ceiling</a:t>
            </a:r>
            <a:r>
              <a:rPr lang="en-US" sz="2200" spc="-5" dirty="0">
                <a:latin typeface="Calibri"/>
                <a:cs typeface="Calibri"/>
              </a:rPr>
              <a:t> (= setting of some very high priorities are not permitted.)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6EA998B-9683-C5E1-6ED9-12C1A37CCE8E}"/>
              </a:ext>
            </a:extLst>
          </p:cNvPr>
          <p:cNvGrpSpPr/>
          <p:nvPr/>
        </p:nvGrpSpPr>
        <p:grpSpPr>
          <a:xfrm>
            <a:off x="321563" y="1223772"/>
            <a:ext cx="11337037" cy="5210482"/>
            <a:chOff x="321563" y="1223772"/>
            <a:chExt cx="11337037" cy="5210482"/>
          </a:xfrm>
        </p:grpSpPr>
        <p:grpSp>
          <p:nvGrpSpPr>
            <p:cNvPr id="4" name="object 4"/>
            <p:cNvGrpSpPr/>
            <p:nvPr/>
          </p:nvGrpSpPr>
          <p:grpSpPr>
            <a:xfrm>
              <a:off x="321563" y="1223772"/>
              <a:ext cx="10686289" cy="5210482"/>
              <a:chOff x="321563" y="1223772"/>
              <a:chExt cx="10686289" cy="5210482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321563" y="1223772"/>
                <a:ext cx="5571744" cy="5210482"/>
              </a:xfrm>
              <a:prstGeom prst="rect">
                <a:avLst/>
              </a:prstGeom>
              <a:blipFill>
                <a:blip r:embed="rId2" cstate="print"/>
                <a:stretch>
                  <a:fillRect b="-2020"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5797296" y="1833372"/>
                <a:ext cx="5210556" cy="2048255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6A89090A-D50C-C380-AE4B-D4267E2D517B}"/>
                </a:ext>
              </a:extLst>
            </p:cNvPr>
            <p:cNvSpPr/>
            <p:nvPr/>
          </p:nvSpPr>
          <p:spPr>
            <a:xfrm>
              <a:off x="8763000" y="2241604"/>
              <a:ext cx="2895600" cy="2374792"/>
            </a:xfrm>
            <a:prstGeom prst="arc">
              <a:avLst>
                <a:gd name="adj1" fmla="val 17004792"/>
                <a:gd name="adj2" fmla="val 5517365"/>
              </a:avLst>
            </a:prstGeom>
            <a:ln w="28575"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Setting Scheduling</a:t>
            </a:r>
            <a:r>
              <a:rPr spc="-225" dirty="0"/>
              <a:t> </a:t>
            </a:r>
            <a:r>
              <a:rPr spc="-65" dirty="0"/>
              <a:t>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5047" y="1070952"/>
            <a:ext cx="2864485" cy="18910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#include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&lt;sched.h&gt;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sched_param</a:t>
            </a:r>
            <a:r>
              <a:rPr sz="1800" spc="-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</a:p>
          <a:p>
            <a:pPr marL="469900">
              <a:lnSpc>
                <a:spcPct val="100000"/>
              </a:lnSpc>
              <a:spcBef>
                <a:spcPts val="290"/>
              </a:spcBef>
            </a:pPr>
            <a:r>
              <a:rPr sz="1800" i="1" dirty="0">
                <a:latin typeface="Consolas"/>
                <a:cs typeface="Consolas"/>
              </a:rPr>
              <a:t>/* </a:t>
            </a:r>
            <a:r>
              <a:rPr sz="1800" i="1" spc="-5" dirty="0">
                <a:latin typeface="Consolas"/>
                <a:cs typeface="Consolas"/>
              </a:rPr>
              <a:t>...</a:t>
            </a:r>
            <a:r>
              <a:rPr sz="1800" i="1" spc="-35" dirty="0">
                <a:latin typeface="Consolas"/>
                <a:cs typeface="Consolas"/>
              </a:rPr>
              <a:t> </a:t>
            </a:r>
            <a:r>
              <a:rPr sz="1800" i="1" dirty="0">
                <a:latin typeface="Consolas"/>
                <a:cs typeface="Consolas"/>
              </a:rPr>
              <a:t>*/</a:t>
            </a:r>
            <a:endParaRPr sz="18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75"/>
              </a:spcBef>
            </a:pP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800" b="1" spc="-8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sched_priority;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90"/>
              </a:spcBef>
            </a:pPr>
            <a:r>
              <a:rPr sz="1800" i="1" dirty="0">
                <a:latin typeface="Consolas"/>
                <a:cs typeface="Consolas"/>
              </a:rPr>
              <a:t>/* </a:t>
            </a:r>
            <a:r>
              <a:rPr sz="1800" i="1" spc="-5" dirty="0">
                <a:latin typeface="Consolas"/>
                <a:cs typeface="Consolas"/>
              </a:rPr>
              <a:t>...</a:t>
            </a:r>
            <a:r>
              <a:rPr sz="1800" i="1" spc="-35" dirty="0">
                <a:latin typeface="Consolas"/>
                <a:cs typeface="Consolas"/>
              </a:rPr>
              <a:t> </a:t>
            </a:r>
            <a:r>
              <a:rPr sz="1800" i="1" dirty="0">
                <a:latin typeface="Consolas"/>
                <a:cs typeface="Consolas"/>
              </a:rPr>
              <a:t>*/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};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5047" y="2934461"/>
            <a:ext cx="7673975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sched_getparam (pid_t pid, </a:t>
            </a: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sched_param</a:t>
            </a:r>
            <a:r>
              <a:rPr sz="1800" spc="-5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*sp);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sched_setparam (pid_t pid, </a:t>
            </a: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const struct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sched_param</a:t>
            </a:r>
            <a:r>
              <a:rPr sz="18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*sp);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29200" y="968502"/>
            <a:ext cx="7010400" cy="18723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4572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chemeClr val="tx1"/>
              </a:buClr>
              <a:buSzPct val="120000"/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sched_getparam</a:t>
            </a: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sz="2400" spc="-10" dirty="0">
                <a:latin typeface="Calibri"/>
                <a:cs typeface="Calibri"/>
              </a:rPr>
              <a:t> gets </a:t>
            </a:r>
            <a:r>
              <a:rPr lang="en-US" sz="2400" spc="-1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policy’s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parameters</a:t>
            </a:r>
            <a:r>
              <a:rPr lang="en-US" sz="2400" spc="-15" dirty="0">
                <a:latin typeface="Calibri"/>
                <a:cs typeface="Calibri"/>
              </a:rPr>
              <a:t>.</a:t>
            </a:r>
          </a:p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chemeClr val="tx1"/>
              </a:buClr>
              <a:buSzPct val="120000"/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000" b="1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sched_setparam</a:t>
            </a:r>
            <a:r>
              <a:rPr lang="en-US" sz="2000" b="1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lang="en-US" sz="2400" spc="-5" dirty="0">
                <a:latin typeface="Calibri"/>
                <a:cs typeface="Calibri"/>
              </a:rPr>
              <a:t> sets </a:t>
            </a:r>
            <a:r>
              <a:rPr lang="en-US" sz="2400" dirty="0">
                <a:latin typeface="Calibri"/>
                <a:cs typeface="Calibri"/>
              </a:rPr>
              <a:t>them </a:t>
            </a:r>
            <a:r>
              <a:rPr lang="en-US" sz="2400" spc="-5" dirty="0">
                <a:latin typeface="Calibri"/>
                <a:cs typeface="Calibri"/>
              </a:rPr>
              <a:t>(usually</a:t>
            </a:r>
            <a:r>
              <a:rPr lang="en-US" sz="2400" spc="-9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called </a:t>
            </a:r>
            <a:r>
              <a:rPr lang="en-US" sz="2400" spc="-10" dirty="0">
                <a:latin typeface="Calibri"/>
                <a:cs typeface="Calibri"/>
              </a:rPr>
              <a:t>after </a:t>
            </a:r>
            <a:r>
              <a:rPr lang="en-US" sz="22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sched_setscheduler</a:t>
            </a:r>
            <a:r>
              <a:rPr lang="en-US" sz="22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lang="en-US" sz="2400" spc="-5" dirty="0">
                <a:latin typeface="Calibri"/>
                <a:cs typeface="Calibri"/>
              </a:rPr>
              <a:t>, which we </a:t>
            </a:r>
            <a:r>
              <a:rPr lang="en-US" sz="2400" spc="-15" dirty="0">
                <a:latin typeface="Calibri"/>
                <a:cs typeface="Calibri"/>
              </a:rPr>
              <a:t>covered</a:t>
            </a:r>
            <a:r>
              <a:rPr lang="en-US" sz="2400" spc="-20" dirty="0">
                <a:latin typeface="Calibri"/>
                <a:cs typeface="Calibri"/>
              </a:rPr>
              <a:t> above.)</a:t>
            </a:r>
            <a:endParaRPr lang="en-US" sz="24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400" spc="-10" dirty="0">
                <a:latin typeface="Calibri"/>
                <a:cs typeface="Calibri"/>
              </a:rPr>
              <a:t>Return </a:t>
            </a:r>
            <a:r>
              <a:rPr lang="en-US" sz="2400" dirty="0">
                <a:latin typeface="Calibri"/>
                <a:cs typeface="Calibri"/>
              </a:rPr>
              <a:t>0 </a:t>
            </a:r>
            <a:r>
              <a:rPr lang="en-US" sz="2400" spc="-5" dirty="0">
                <a:latin typeface="Calibri"/>
                <a:cs typeface="Calibri"/>
              </a:rPr>
              <a:t>on success and -1 on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failure.</a:t>
            </a:r>
            <a:endParaRPr lang="en-US" sz="24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400" spc="-5" dirty="0">
                <a:latin typeface="Calibri"/>
                <a:cs typeface="Calibri"/>
              </a:rPr>
              <a:t>As before, the </a:t>
            </a:r>
            <a:r>
              <a:rPr lang="en-US" sz="22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pid</a:t>
            </a:r>
            <a:r>
              <a:rPr lang="en-US" sz="2400" spc="-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of 0 </a:t>
            </a:r>
            <a:r>
              <a:rPr lang="en-US" sz="2400" spc="-30" dirty="0">
                <a:latin typeface="Calibri"/>
                <a:cs typeface="Calibri"/>
              </a:rPr>
              <a:t>refers </a:t>
            </a:r>
            <a:r>
              <a:rPr lang="en-US" sz="2400" spc="-20" dirty="0">
                <a:latin typeface="Calibri"/>
                <a:cs typeface="Calibri"/>
              </a:rPr>
              <a:t>to </a:t>
            </a:r>
            <a:r>
              <a:rPr lang="en-US" sz="2400" dirty="0">
                <a:latin typeface="Calibri"/>
                <a:cs typeface="Calibri"/>
              </a:rPr>
              <a:t>the </a:t>
            </a:r>
            <a:r>
              <a:rPr lang="en-US" sz="2400" spc="-5" dirty="0">
                <a:latin typeface="Calibri"/>
                <a:cs typeface="Calibri"/>
              </a:rPr>
              <a:t>calling </a:t>
            </a:r>
            <a:r>
              <a:rPr lang="en-US" sz="2400" spc="-10" dirty="0">
                <a:latin typeface="Calibri"/>
                <a:cs typeface="Calibri"/>
              </a:rPr>
              <a:t>process.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FCB7979-D025-380B-919B-D9AFC5925CE4}"/>
              </a:ext>
            </a:extLst>
          </p:cNvPr>
          <p:cNvGrpSpPr/>
          <p:nvPr/>
        </p:nvGrpSpPr>
        <p:grpSpPr>
          <a:xfrm>
            <a:off x="0" y="3733800"/>
            <a:ext cx="12192000" cy="2624362"/>
            <a:chOff x="0" y="3733800"/>
            <a:chExt cx="12192000" cy="262436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65D8B57-C839-3E95-2BFD-6227ED174BFD}"/>
                </a:ext>
              </a:extLst>
            </p:cNvPr>
            <p:cNvGrpSpPr/>
            <p:nvPr/>
          </p:nvGrpSpPr>
          <p:grpSpPr>
            <a:xfrm>
              <a:off x="705980" y="3949437"/>
              <a:ext cx="11066920" cy="2408725"/>
              <a:chOff x="705980" y="3949437"/>
              <a:chExt cx="11066920" cy="2408725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705980" y="3949437"/>
                <a:ext cx="5218956" cy="2408725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8296275" y="4008504"/>
                <a:ext cx="3476625" cy="2162914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A291B07-63F1-C304-A9EE-92318CE782E3}"/>
                  </a:ext>
                </a:extLst>
              </p:cNvPr>
              <p:cNvSpPr txBox="1"/>
              <p:nvPr/>
            </p:nvSpPr>
            <p:spPr>
              <a:xfrm>
                <a:off x="5010190" y="4561907"/>
                <a:ext cx="21716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ym typeface="Wingdings" panose="05000000000000000000" pitchFamily="2" charset="2"/>
                  </a:rPr>
                  <a:t> </a:t>
                </a:r>
                <a:r>
                  <a:rPr lang="en-US" sz="2400" dirty="0"/>
                  <a:t>Examples </a:t>
                </a:r>
                <a:r>
                  <a:rPr lang="en-US" sz="2400" dirty="0">
                    <a:sym typeface="Wingdings" panose="05000000000000000000" pitchFamily="2" charset="2"/>
                  </a:rPr>
                  <a:t> </a:t>
                </a:r>
                <a:endParaRPr lang="en-US" sz="2400" dirty="0"/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F036747-FACD-978A-FA07-6123F01079B8}"/>
                </a:ext>
              </a:extLst>
            </p:cNvPr>
            <p:cNvCxnSpPr/>
            <p:nvPr/>
          </p:nvCxnSpPr>
          <p:spPr>
            <a:xfrm>
              <a:off x="0" y="3733800"/>
              <a:ext cx="12192000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2938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Determining </a:t>
            </a:r>
            <a:r>
              <a:rPr lang="en-US" spc="-40" dirty="0"/>
              <a:t>the </a:t>
            </a:r>
            <a:r>
              <a:rPr spc="-30" dirty="0"/>
              <a:t>Range </a:t>
            </a:r>
            <a:r>
              <a:rPr spc="-15" dirty="0"/>
              <a:t>of </a:t>
            </a:r>
            <a:r>
              <a:rPr spc="-70" dirty="0"/>
              <a:t>Valid</a:t>
            </a:r>
            <a:r>
              <a:rPr spc="-290" dirty="0"/>
              <a:t> </a:t>
            </a:r>
            <a:r>
              <a:rPr spc="-35" dirty="0"/>
              <a:t>Priorities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10309225" cy="444673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5" dirty="0">
                <a:latin typeface="Calibri"/>
                <a:cs typeface="Calibri"/>
              </a:rPr>
              <a:t>The p</a:t>
            </a:r>
            <a:r>
              <a:rPr sz="2800" spc="-15" dirty="0">
                <a:latin typeface="Calibri"/>
                <a:cs typeface="Calibri"/>
              </a:rPr>
              <a:t>revious </a:t>
            </a:r>
            <a:r>
              <a:rPr sz="2800" spc="-20" dirty="0">
                <a:latin typeface="Calibri"/>
                <a:cs typeface="Calibri"/>
              </a:rPr>
              <a:t>example </a:t>
            </a:r>
            <a:r>
              <a:rPr sz="2800" spc="-5" dirty="0">
                <a:latin typeface="Calibri"/>
                <a:cs typeface="Calibri"/>
              </a:rPr>
              <a:t>assumed </a:t>
            </a:r>
            <a:r>
              <a:rPr lang="en-US" sz="2800" spc="-5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1 is a </a:t>
            </a:r>
            <a:r>
              <a:rPr sz="2800" spc="-15" dirty="0">
                <a:latin typeface="Calibri"/>
                <a:cs typeface="Calibri"/>
              </a:rPr>
              <a:t>valid </a:t>
            </a:r>
            <a:r>
              <a:rPr sz="2800" spc="-10" dirty="0">
                <a:latin typeface="Calibri"/>
                <a:cs typeface="Calibri"/>
              </a:rPr>
              <a:t>priority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POSIX </a:t>
            </a:r>
            <a:r>
              <a:rPr sz="2800" spc="-10" dirty="0">
                <a:latin typeface="Calibri"/>
                <a:cs typeface="Calibri"/>
              </a:rPr>
              <a:t>only </a:t>
            </a:r>
            <a:r>
              <a:rPr sz="2800" spc="-25" dirty="0">
                <a:latin typeface="Calibri"/>
                <a:cs typeface="Calibri"/>
              </a:rPr>
              <a:t>says </a:t>
            </a:r>
            <a:r>
              <a:rPr lang="en-US" sz="2800" spc="-25" dirty="0">
                <a:latin typeface="Calibri"/>
                <a:cs typeface="Calibri"/>
              </a:rPr>
              <a:t>that </a:t>
            </a:r>
            <a:r>
              <a:rPr sz="2800" spc="-10" dirty="0">
                <a:latin typeface="Calibri"/>
                <a:cs typeface="Calibri"/>
              </a:rPr>
              <a:t>there should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0" dirty="0">
                <a:latin typeface="Calibri"/>
                <a:cs typeface="Calibri"/>
              </a:rPr>
              <a:t>at least </a:t>
            </a:r>
            <a:r>
              <a:rPr sz="2800" spc="-5" dirty="0">
                <a:latin typeface="Calibri"/>
                <a:cs typeface="Calibri"/>
              </a:rPr>
              <a:t>32 </a:t>
            </a:r>
            <a:r>
              <a:rPr lang="en-US" sz="2800" spc="-10" dirty="0">
                <a:latin typeface="Calibri"/>
                <a:cs typeface="Calibri"/>
              </a:rPr>
              <a:t>priorities but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doesn’t elaborate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10" dirty="0">
                <a:latin typeface="Calibri"/>
                <a:cs typeface="Calibri"/>
              </a:rPr>
              <a:t>what </a:t>
            </a:r>
            <a:r>
              <a:rPr lang="en-US" sz="2800" spc="-10" dirty="0">
                <a:latin typeface="Calibri"/>
                <a:cs typeface="Calibri"/>
              </a:rPr>
              <a:t>numbers should be used.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Linux </a:t>
            </a:r>
            <a:r>
              <a:rPr sz="2800" spc="-5" dirty="0">
                <a:latin typeface="Calibri"/>
                <a:cs typeface="Calibri"/>
              </a:rPr>
              <a:t>uses the </a:t>
            </a:r>
            <a:r>
              <a:rPr sz="2800" spc="-20" dirty="0">
                <a:latin typeface="Calibri"/>
                <a:cs typeface="Calibri"/>
              </a:rPr>
              <a:t>range </a:t>
            </a:r>
            <a:r>
              <a:rPr sz="2800" spc="-10" dirty="0">
                <a:latin typeface="Calibri"/>
                <a:cs typeface="Calibri"/>
              </a:rPr>
              <a:t>1-99</a:t>
            </a:r>
            <a:r>
              <a:rPr lang="en-US" sz="2800" spc="-10" dirty="0">
                <a:latin typeface="Calibri"/>
                <a:cs typeface="Calibri"/>
              </a:rPr>
              <a:t>,</a:t>
            </a:r>
            <a:r>
              <a:rPr sz="2800" spc="-10" dirty="0">
                <a:latin typeface="Calibri"/>
                <a:cs typeface="Calibri"/>
              </a:rPr>
              <a:t> inclusive</a:t>
            </a:r>
            <a:r>
              <a:rPr lang="en-US" sz="2800" spc="-10" dirty="0">
                <a:latin typeface="Calibri"/>
                <a:cs typeface="Calibri"/>
              </a:rPr>
              <a:t>ly,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its </a:t>
            </a:r>
            <a:r>
              <a:rPr lang="en-US" sz="2800" spc="-15" dirty="0">
                <a:latin typeface="Calibri"/>
                <a:cs typeface="Calibri"/>
              </a:rPr>
              <a:t>real-time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policies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0" dirty="0">
                <a:latin typeface="Calibri"/>
                <a:cs typeface="Calibri"/>
              </a:rPr>
              <a:t>Two </a:t>
            </a:r>
            <a:r>
              <a:rPr sz="2800" spc="-30" dirty="0">
                <a:latin typeface="Calibri"/>
                <a:cs typeface="Calibri"/>
              </a:rPr>
              <a:t>system </a:t>
            </a:r>
            <a:r>
              <a:rPr sz="2800" spc="-10" dirty="0">
                <a:latin typeface="Calibri"/>
                <a:cs typeface="Calibri"/>
              </a:rPr>
              <a:t>calls </a:t>
            </a:r>
            <a:r>
              <a:rPr sz="2800" spc="-15" dirty="0">
                <a:latin typeface="Calibri"/>
                <a:cs typeface="Calibri"/>
              </a:rPr>
              <a:t>retrieve </a:t>
            </a:r>
            <a:r>
              <a:rPr sz="2800" spc="-5" dirty="0">
                <a:latin typeface="Calibri"/>
                <a:cs typeface="Calibri"/>
              </a:rPr>
              <a:t>the min and </a:t>
            </a:r>
            <a:r>
              <a:rPr sz="2800" spc="-10" dirty="0">
                <a:latin typeface="Calibri"/>
                <a:cs typeface="Calibri"/>
              </a:rPr>
              <a:t>max </a:t>
            </a:r>
            <a:r>
              <a:rPr lang="en-US" sz="2800" spc="-10" dirty="0">
                <a:latin typeface="Calibri"/>
                <a:cs typeface="Calibri"/>
              </a:rPr>
              <a:t>priority </a:t>
            </a:r>
            <a:r>
              <a:rPr sz="2800" spc="-10" dirty="0">
                <a:latin typeface="Calibri"/>
                <a:cs typeface="Calibri"/>
              </a:rPr>
              <a:t>values </a:t>
            </a:r>
            <a:r>
              <a:rPr lang="en-US" sz="2800" spc="-5" dirty="0">
                <a:latin typeface="Calibri"/>
                <a:cs typeface="Calibri"/>
              </a:rPr>
              <a:t>that are possible for the specified </a:t>
            </a:r>
            <a:r>
              <a:rPr lang="en-US" sz="2600" dirty="0">
                <a:solidFill>
                  <a:srgbClr val="0070C0"/>
                </a:solidFill>
                <a:latin typeface="Consolas"/>
              </a:rPr>
              <a:t>policy</a:t>
            </a:r>
            <a:r>
              <a:rPr lang="en-US" sz="2800" spc="-5" dirty="0">
                <a:latin typeface="Calibri"/>
                <a:cs typeface="Calibri"/>
              </a:rPr>
              <a:t> on that Linux OS.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0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&lt;sched.h&gt;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sched_get_priority_min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policy);</a:t>
            </a:r>
          </a:p>
          <a:p>
            <a:pPr marL="469900">
              <a:lnSpc>
                <a:spcPct val="100000"/>
              </a:lnSpc>
              <a:spcBef>
                <a:spcPts val="27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sched_get_priority_max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policy);</a:t>
            </a: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They </a:t>
            </a:r>
            <a:r>
              <a:rPr sz="2800" spc="-15" dirty="0">
                <a:latin typeface="Calibri"/>
                <a:cs typeface="Calibri"/>
              </a:rPr>
              <a:t>return </a:t>
            </a:r>
            <a:r>
              <a:rPr lang="en-US" sz="2800" spc="-1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min/max </a:t>
            </a:r>
            <a:r>
              <a:rPr lang="en-US" sz="2800" spc="-10" dirty="0">
                <a:latin typeface="Calibri"/>
                <a:cs typeface="Calibri"/>
              </a:rPr>
              <a:t>value </a:t>
            </a:r>
            <a:r>
              <a:rPr sz="2800" spc="-5" dirty="0">
                <a:latin typeface="Calibri"/>
                <a:cs typeface="Calibri"/>
              </a:rPr>
              <a:t>on success</a:t>
            </a:r>
            <a:r>
              <a:rPr lang="en-US" sz="2800" spc="-5" dirty="0">
                <a:latin typeface="Calibri"/>
                <a:cs typeface="Calibri"/>
              </a:rPr>
              <a:t> and</a:t>
            </a:r>
            <a:r>
              <a:rPr sz="2800" spc="-5" dirty="0">
                <a:latin typeface="Calibri"/>
                <a:cs typeface="Calibri"/>
              </a:rPr>
              <a:t> -1 on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failure</a:t>
            </a:r>
            <a:r>
              <a:rPr lang="en-US"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309" y="373456"/>
            <a:ext cx="466852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45" dirty="0"/>
              <a:t>Example</a:t>
            </a:r>
            <a:r>
              <a:rPr lang="en-US" sz="4000" spc="-45" dirty="0"/>
              <a:t>s</a:t>
            </a:r>
            <a:r>
              <a:rPr sz="4000" spc="-45" dirty="0"/>
              <a:t> </a:t>
            </a:r>
            <a:r>
              <a:rPr sz="4000" spc="-15" dirty="0"/>
              <a:t>of  </a:t>
            </a:r>
            <a:r>
              <a:rPr sz="4000" spc="-35" dirty="0"/>
              <a:t>Getting/Setting</a:t>
            </a:r>
            <a:r>
              <a:rPr sz="4000" spc="-105" dirty="0"/>
              <a:t> </a:t>
            </a:r>
            <a:r>
              <a:rPr sz="4000" spc="-30" dirty="0"/>
              <a:t>Priority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507571" y="2274187"/>
            <a:ext cx="5378391" cy="3297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2925" y="6219986"/>
            <a:ext cx="3390900" cy="1808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54939" y="0"/>
            <a:ext cx="5855704" cy="61332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62EE71-8365-5D45-07DB-267E4A1B961D}"/>
              </a:ext>
            </a:extLst>
          </p:cNvPr>
          <p:cNvSpPr txBox="1"/>
          <p:nvPr/>
        </p:nvSpPr>
        <p:spPr>
          <a:xfrm>
            <a:off x="542925" y="5744416"/>
            <a:ext cx="6094140" cy="4001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241300" algn="l"/>
              </a:tabLst>
            </a:pPr>
            <a:r>
              <a:rPr lang="en-US" sz="2000" spc="-10" dirty="0">
                <a:latin typeface="Calibri"/>
                <a:cs typeface="Calibri"/>
              </a:rPr>
              <a:t>The above code will output the following:</a:t>
            </a:r>
            <a:endParaRPr lang="en-US"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89890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45" dirty="0">
                <a:latin typeface="Courier New" panose="02070309020205020404" pitchFamily="49" charset="0"/>
                <a:cs typeface="Courier New" panose="02070309020205020404" pitchFamily="49" charset="0"/>
              </a:rPr>
              <a:t>sched_rr_get_interval()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1225" y="1729745"/>
            <a:ext cx="11052175" cy="4519313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246379" indent="-228600">
              <a:lnSpc>
                <a:spcPct val="100000"/>
              </a:lnSpc>
              <a:spcBef>
                <a:spcPts val="309"/>
              </a:spcBef>
              <a:buFont typeface="Arial"/>
              <a:buChar char="•"/>
              <a:tabLst>
                <a:tab pos="246379" algn="l"/>
                <a:tab pos="247015" algn="l"/>
              </a:tabLst>
            </a:pPr>
            <a:r>
              <a:rPr lang="en-US" spc="-15" dirty="0"/>
              <a:t>Recall that the </a:t>
            </a:r>
            <a:r>
              <a:rPr spc="-15" dirty="0"/>
              <a:t>Round-Robin </a:t>
            </a:r>
            <a:r>
              <a:rPr spc="-5" dirty="0"/>
              <a:t>scheduler assigns </a:t>
            </a:r>
            <a:r>
              <a:rPr spc="-10" dirty="0"/>
              <a:t>time</a:t>
            </a:r>
            <a:r>
              <a:rPr lang="en-US" spc="-10" dirty="0"/>
              <a:t> </a:t>
            </a:r>
            <a:r>
              <a:rPr spc="-10" dirty="0"/>
              <a:t>slices </a:t>
            </a:r>
            <a:r>
              <a:rPr spc="-20" dirty="0"/>
              <a:t>for</a:t>
            </a:r>
            <a:r>
              <a:rPr spc="55" dirty="0"/>
              <a:t> </a:t>
            </a:r>
            <a:r>
              <a:rPr spc="-10" dirty="0"/>
              <a:t>processes</a:t>
            </a:r>
            <a:r>
              <a:rPr lang="en-US" spc="-10" dirty="0"/>
              <a:t>.</a:t>
            </a:r>
            <a:endParaRPr spc="-10" dirty="0"/>
          </a:p>
          <a:p>
            <a:pPr marL="246379" indent="-228600">
              <a:lnSpc>
                <a:spcPts val="2605"/>
              </a:lnSpc>
              <a:spcBef>
                <a:spcPts val="204"/>
              </a:spcBef>
              <a:buFont typeface="Arial"/>
              <a:buChar char="•"/>
              <a:tabLst>
                <a:tab pos="246379" algn="l"/>
                <a:tab pos="247015" algn="l"/>
              </a:tabLst>
            </a:pPr>
            <a:r>
              <a:rPr spc="-5" dirty="0"/>
              <a:t>POSIX </a:t>
            </a:r>
            <a:r>
              <a:rPr spc="-10" dirty="0"/>
              <a:t>defines </a:t>
            </a:r>
            <a:r>
              <a:rPr spc="-5" dirty="0"/>
              <a:t>an </a:t>
            </a:r>
            <a:r>
              <a:rPr spc="-15" dirty="0"/>
              <a:t>interface </a:t>
            </a:r>
            <a:r>
              <a:rPr spc="-20" dirty="0"/>
              <a:t>for </a:t>
            </a:r>
            <a:r>
              <a:rPr spc="-15" dirty="0"/>
              <a:t>getting </a:t>
            </a:r>
            <a:r>
              <a:rPr spc="-5" dirty="0"/>
              <a:t>a process’</a:t>
            </a:r>
            <a:r>
              <a:rPr spc="160" dirty="0"/>
              <a:t> </a:t>
            </a:r>
            <a:r>
              <a:rPr spc="-5" dirty="0"/>
              <a:t>time</a:t>
            </a:r>
            <a:r>
              <a:rPr lang="en-US" spc="-5" dirty="0"/>
              <a:t> </a:t>
            </a:r>
            <a:r>
              <a:rPr spc="-5" dirty="0"/>
              <a:t>slice</a:t>
            </a:r>
            <a:r>
              <a:rPr lang="en-US" spc="-5" dirty="0"/>
              <a:t>:</a:t>
            </a:r>
            <a:endParaRPr spc="-5" dirty="0"/>
          </a:p>
          <a:p>
            <a:pPr marL="474980"/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#include &lt;sched.h&gt;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74980"/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timespec</a:t>
            </a:r>
            <a:r>
              <a:rPr sz="18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32180"/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time_t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tv_sec; </a:t>
            </a:r>
            <a:r>
              <a:rPr sz="1800" i="1" spc="-5" dirty="0">
                <a:latin typeface="Consolas"/>
                <a:cs typeface="Consolas"/>
              </a:rPr>
              <a:t>/* </a:t>
            </a:r>
            <a:r>
              <a:rPr sz="1800" i="1" spc="-10" dirty="0">
                <a:latin typeface="Consolas"/>
                <a:cs typeface="Consolas"/>
              </a:rPr>
              <a:t>seconds</a:t>
            </a:r>
            <a:r>
              <a:rPr sz="1800" i="1" spc="-20" dirty="0">
                <a:latin typeface="Consolas"/>
                <a:cs typeface="Consolas"/>
              </a:rPr>
              <a:t> </a:t>
            </a:r>
            <a:r>
              <a:rPr sz="1800" i="1" spc="-10" dirty="0">
                <a:latin typeface="Consolas"/>
                <a:cs typeface="Consolas"/>
              </a:rPr>
              <a:t>*/</a:t>
            </a:r>
            <a:endParaRPr sz="1800" dirty="0">
              <a:latin typeface="Consolas"/>
              <a:cs typeface="Consolas"/>
            </a:endParaRPr>
          </a:p>
          <a:p>
            <a:pPr marL="932180">
              <a:tabLst>
                <a:tab pos="2599690" algn="l"/>
              </a:tabLst>
            </a:pP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long</a:t>
            </a:r>
            <a:r>
              <a:rPr sz="1800" b="1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tv_nsec;	</a:t>
            </a:r>
            <a:r>
              <a:rPr sz="1800" i="1" spc="-5" dirty="0">
                <a:latin typeface="Consolas"/>
                <a:cs typeface="Consolas"/>
              </a:rPr>
              <a:t>/* </a:t>
            </a:r>
            <a:r>
              <a:rPr sz="1800" i="1" spc="-10" dirty="0">
                <a:latin typeface="Consolas"/>
                <a:cs typeface="Consolas"/>
              </a:rPr>
              <a:t>nanoseconds</a:t>
            </a:r>
            <a:r>
              <a:rPr sz="1800" i="1" spc="-15" dirty="0">
                <a:latin typeface="Consolas"/>
                <a:cs typeface="Consolas"/>
              </a:rPr>
              <a:t> </a:t>
            </a:r>
            <a:r>
              <a:rPr sz="1800" i="1" spc="-10" dirty="0">
                <a:latin typeface="Consolas"/>
                <a:cs typeface="Consolas"/>
              </a:rPr>
              <a:t>*/</a:t>
            </a:r>
            <a:endParaRPr sz="1800" dirty="0">
              <a:latin typeface="Consolas"/>
              <a:cs typeface="Consolas"/>
            </a:endParaRPr>
          </a:p>
          <a:p>
            <a:pPr marL="474980"/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};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74980">
              <a:lnSpc>
                <a:spcPts val="2300"/>
              </a:lnSpc>
              <a:spcBef>
                <a:spcPts val="1200"/>
              </a:spcBef>
            </a:pPr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sched_rr_get_interval (pid_t pid, </a:t>
            </a:r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timespec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 *tp);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6379" marR="57086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6379" algn="l"/>
                <a:tab pos="247015" algn="l"/>
              </a:tabLst>
            </a:pPr>
            <a:r>
              <a:rPr spc="-5" dirty="0"/>
              <a:t>On success, it </a:t>
            </a:r>
            <a:r>
              <a:rPr spc="-10" dirty="0"/>
              <a:t>returns </a:t>
            </a:r>
            <a:r>
              <a:rPr spc="-5" dirty="0"/>
              <a:t>0 and </a:t>
            </a:r>
            <a:r>
              <a:rPr sz="2000" spc="-5" dirty="0" err="1">
                <a:solidFill>
                  <a:srgbClr val="0070C0"/>
                </a:solidFill>
                <a:latin typeface="Consolas" panose="020B0609020204030204" pitchFamily="49" charset="0"/>
              </a:rPr>
              <a:t>tp</a:t>
            </a:r>
            <a:r>
              <a:rPr i="1" spc="-5" dirty="0">
                <a:latin typeface="Calibri"/>
                <a:cs typeface="Calibri"/>
              </a:rPr>
              <a:t> </a:t>
            </a:r>
            <a:r>
              <a:rPr lang="en-US" spc="-10" dirty="0"/>
              <a:t>is set to</a:t>
            </a:r>
            <a:r>
              <a:rPr spc="-10" dirty="0"/>
              <a:t> </a:t>
            </a:r>
            <a:r>
              <a:rPr spc="-5" dirty="0"/>
              <a:t>the time</a:t>
            </a:r>
            <a:r>
              <a:rPr lang="en-US" spc="-5" dirty="0"/>
              <a:t> </a:t>
            </a:r>
            <a:r>
              <a:rPr spc="-5" dirty="0"/>
              <a:t>slice </a:t>
            </a:r>
            <a:r>
              <a:rPr spc="-10" dirty="0"/>
              <a:t>allotted </a:t>
            </a:r>
            <a:r>
              <a:rPr spc="-15" dirty="0"/>
              <a:t>to </a:t>
            </a:r>
            <a:r>
              <a:rPr sz="2000" spc="-5" dirty="0" err="1">
                <a:solidFill>
                  <a:srgbClr val="0070C0"/>
                </a:solidFill>
                <a:latin typeface="Consolas" panose="020B0609020204030204" pitchFamily="49" charset="0"/>
              </a:rPr>
              <a:t>pid</a:t>
            </a:r>
            <a:r>
              <a:rPr spc="-5" dirty="0"/>
              <a:t> (</a:t>
            </a:r>
            <a:r>
              <a:rPr lang="en-US" spc="-5" dirty="0"/>
              <a:t>use </a:t>
            </a:r>
            <a:r>
              <a:rPr spc="-5" dirty="0"/>
              <a:t>0 </a:t>
            </a:r>
            <a:r>
              <a:rPr lang="en-US" spc="-5" dirty="0"/>
              <a:t>for </a:t>
            </a:r>
            <a:r>
              <a:rPr lang="en-US" sz="2000" spc="-5" dirty="0" err="1">
                <a:solidFill>
                  <a:srgbClr val="0070C0"/>
                </a:solidFill>
                <a:latin typeface="Consolas" panose="020B0609020204030204" pitchFamily="49" charset="0"/>
              </a:rPr>
              <a:t>pid</a:t>
            </a:r>
            <a:r>
              <a:rPr lang="en-US" spc="-5" dirty="0"/>
              <a:t> to find the time slice of the </a:t>
            </a:r>
            <a:r>
              <a:rPr spc="-10" dirty="0"/>
              <a:t>invoking </a:t>
            </a:r>
            <a:r>
              <a:rPr spc="-5" dirty="0"/>
              <a:t>process</a:t>
            </a:r>
            <a:r>
              <a:rPr lang="en-US" spc="-5" dirty="0"/>
              <a:t>.</a:t>
            </a:r>
            <a:r>
              <a:rPr spc="-5" dirty="0"/>
              <a:t>)</a:t>
            </a:r>
          </a:p>
          <a:p>
            <a:pPr marL="246379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246379" algn="l"/>
                <a:tab pos="247015" algn="l"/>
              </a:tabLst>
            </a:pPr>
            <a:r>
              <a:rPr spc="-5" dirty="0"/>
              <a:t>It </a:t>
            </a:r>
            <a:r>
              <a:rPr spc="-10" dirty="0"/>
              <a:t>returns </a:t>
            </a:r>
            <a:r>
              <a:rPr spc="-5" dirty="0"/>
              <a:t>-1 on</a:t>
            </a:r>
            <a:r>
              <a:rPr spc="-10" dirty="0"/>
              <a:t> </a:t>
            </a:r>
            <a:r>
              <a:rPr spc="-15" dirty="0"/>
              <a:t>failure.</a:t>
            </a:r>
          </a:p>
          <a:p>
            <a:pPr marL="246379" indent="-228600">
              <a:lnSpc>
                <a:spcPct val="100000"/>
              </a:lnSpc>
              <a:spcBef>
                <a:spcPts val="210"/>
              </a:spcBef>
              <a:buFont typeface="Arial"/>
              <a:buChar char="•"/>
              <a:tabLst>
                <a:tab pos="246379" algn="l"/>
                <a:tab pos="247015" algn="l"/>
              </a:tabLst>
            </a:pPr>
            <a:r>
              <a:rPr spc="-10" dirty="0"/>
              <a:t>This </a:t>
            </a:r>
            <a:r>
              <a:rPr spc="-5" dirty="0"/>
              <a:t>function is supposed </a:t>
            </a:r>
            <a:r>
              <a:rPr spc="-20" dirty="0"/>
              <a:t>to </a:t>
            </a:r>
            <a:r>
              <a:rPr spc="-10" dirty="0"/>
              <a:t>work </a:t>
            </a:r>
            <a:r>
              <a:rPr spc="-5" dirty="0"/>
              <a:t>only with </a:t>
            </a:r>
            <a:r>
              <a:rPr sz="2000" spc="-5" dirty="0">
                <a:solidFill>
                  <a:srgbClr val="0070C0"/>
                </a:solidFill>
                <a:latin typeface="Consolas" panose="020B0609020204030204" pitchFamily="49" charset="0"/>
              </a:rPr>
              <a:t>SCHED_RR</a:t>
            </a:r>
            <a:r>
              <a:rPr spc="-5" dirty="0"/>
              <a:t> processes </a:t>
            </a:r>
            <a:r>
              <a:rPr spc="-10" dirty="0"/>
              <a:t>according </a:t>
            </a:r>
            <a:r>
              <a:rPr spc="-20" dirty="0"/>
              <a:t>to</a:t>
            </a:r>
            <a:r>
              <a:rPr lang="en-US" spc="-20" dirty="0"/>
              <a:t> </a:t>
            </a:r>
            <a:r>
              <a:rPr spc="-5" dirty="0"/>
              <a:t>POSIX</a:t>
            </a:r>
            <a:r>
              <a:rPr lang="en-US" spc="-5" dirty="0"/>
              <a:t>.</a:t>
            </a:r>
            <a:endParaRPr spc="-5" dirty="0"/>
          </a:p>
          <a:p>
            <a:pPr marL="246379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6379" algn="l"/>
                <a:tab pos="247015" algn="l"/>
              </a:tabLst>
            </a:pPr>
            <a:r>
              <a:rPr spc="-60" dirty="0"/>
              <a:t>Yet</a:t>
            </a:r>
            <a:r>
              <a:rPr lang="en-US" spc="-60" dirty="0"/>
              <a:t>,</a:t>
            </a:r>
            <a:r>
              <a:rPr spc="-60" dirty="0"/>
              <a:t> </a:t>
            </a:r>
            <a:r>
              <a:rPr spc="-10" dirty="0"/>
              <a:t>Linux </a:t>
            </a:r>
            <a:r>
              <a:rPr spc="-5" dirty="0"/>
              <a:t>allows it </a:t>
            </a:r>
            <a:r>
              <a:rPr spc="-20" dirty="0"/>
              <a:t>to </a:t>
            </a:r>
            <a:r>
              <a:rPr spc="-10" dirty="0"/>
              <a:t>retrieve </a:t>
            </a:r>
            <a:r>
              <a:rPr spc="-5" dirty="0"/>
              <a:t>the </a:t>
            </a:r>
            <a:r>
              <a:rPr spc="-10" dirty="0"/>
              <a:t>length </a:t>
            </a:r>
            <a:r>
              <a:rPr dirty="0"/>
              <a:t>of </a:t>
            </a:r>
            <a:r>
              <a:rPr spc="-15" dirty="0"/>
              <a:t>any </a:t>
            </a:r>
            <a:r>
              <a:rPr spc="-5" dirty="0"/>
              <a:t>process’ time</a:t>
            </a:r>
            <a:r>
              <a:rPr lang="en-US" spc="-5" dirty="0"/>
              <a:t> </a:t>
            </a:r>
            <a:r>
              <a:rPr spc="-5" dirty="0"/>
              <a:t>slice, </a:t>
            </a:r>
            <a:r>
              <a:rPr spc="-20" dirty="0"/>
              <a:t>except for </a:t>
            </a:r>
            <a:r>
              <a:rPr lang="en-US" spc="-20" dirty="0"/>
              <a:t>a </a:t>
            </a:r>
            <a:r>
              <a:rPr spc="-15" dirty="0"/>
              <a:t>FIFO </a:t>
            </a:r>
            <a:r>
              <a:rPr lang="en-US" dirty="0"/>
              <a:t>process</a:t>
            </a:r>
            <a:r>
              <a:rPr dirty="0"/>
              <a:t>, </a:t>
            </a:r>
            <a:r>
              <a:rPr spc="-5" dirty="0"/>
              <a:t>in  which both </a:t>
            </a:r>
            <a:r>
              <a:rPr sz="2000" spc="-5" dirty="0">
                <a:solidFill>
                  <a:srgbClr val="0070C0"/>
                </a:solidFill>
                <a:latin typeface="Consolas" panose="020B0609020204030204" pitchFamily="49" charset="0"/>
              </a:rPr>
              <a:t>tv_sec</a:t>
            </a:r>
            <a:r>
              <a:rPr spc="-5" dirty="0"/>
              <a:t> and </a:t>
            </a:r>
            <a:r>
              <a:rPr sz="2000" spc="-5" dirty="0">
                <a:solidFill>
                  <a:srgbClr val="0070C0"/>
                </a:solidFill>
                <a:latin typeface="Consolas" panose="020B0609020204030204" pitchFamily="49" charset="0"/>
              </a:rPr>
              <a:t>tv_nsec</a:t>
            </a:r>
            <a:r>
              <a:rPr spc="-5" dirty="0"/>
              <a:t> </a:t>
            </a:r>
            <a:r>
              <a:rPr spc="-10" dirty="0"/>
              <a:t>are </a:t>
            </a:r>
            <a:r>
              <a:rPr spc="-5" dirty="0"/>
              <a:t>0, </a:t>
            </a:r>
            <a:r>
              <a:rPr spc="-10" dirty="0"/>
              <a:t>denoting</a:t>
            </a:r>
            <a:r>
              <a:rPr spc="30" dirty="0"/>
              <a:t> </a:t>
            </a:r>
            <a:r>
              <a:rPr spc="-10" dirty="0"/>
              <a:t>infinity</a:t>
            </a:r>
            <a:r>
              <a:rPr lang="en-US" spc="-10" dirty="0"/>
              <a:t> (the process can run forever!)</a:t>
            </a:r>
            <a:endParaRPr spc="-1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2950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Precautions </a:t>
            </a:r>
            <a:r>
              <a:rPr spc="-20" dirty="0"/>
              <a:t>with </a:t>
            </a:r>
            <a:r>
              <a:rPr spc="-45" dirty="0"/>
              <a:t>Real-Time</a:t>
            </a:r>
            <a:r>
              <a:rPr spc="-270" dirty="0"/>
              <a:t> </a:t>
            </a:r>
            <a:r>
              <a:rPr spc="-45" dirty="0"/>
              <a:t>Processes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661"/>
            <a:ext cx="10436861" cy="38826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33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real-time </a:t>
            </a:r>
            <a:r>
              <a:rPr sz="2800" spc="-25" dirty="0">
                <a:latin typeface="Calibri"/>
                <a:cs typeface="Calibri"/>
              </a:rPr>
              <a:t>program </a:t>
            </a:r>
            <a:r>
              <a:rPr sz="2800" spc="-20" dirty="0">
                <a:latin typeface="Calibri"/>
                <a:cs typeface="Calibri"/>
              </a:rPr>
              <a:t>may </a:t>
            </a:r>
            <a:r>
              <a:rPr sz="2800" spc="-25" dirty="0">
                <a:latin typeface="Calibri"/>
                <a:cs typeface="Calibri"/>
              </a:rPr>
              <a:t>make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lang="en-US" sz="2800" spc="-5" dirty="0">
                <a:latin typeface="Calibri"/>
                <a:cs typeface="Calibri"/>
              </a:rPr>
              <a:t>operating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ir</a:t>
            </a:r>
            <a:r>
              <a:rPr sz="2800" spc="-15" dirty="0">
                <a:latin typeface="Calibri"/>
                <a:cs typeface="Calibri"/>
              </a:rPr>
              <a:t>responsive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84455" lvl="1" indent="-228600">
              <a:lnSpc>
                <a:spcPts val="2300"/>
              </a:lnSpc>
              <a:spcBef>
                <a:spcPts val="53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Any </a:t>
            </a:r>
            <a:r>
              <a:rPr sz="2400" spc="-5" dirty="0">
                <a:latin typeface="Calibri"/>
                <a:cs typeface="Calibri"/>
              </a:rPr>
              <a:t>CPU-bound loop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spc="-5" dirty="0">
                <a:latin typeface="Calibri"/>
                <a:cs typeface="Calibri"/>
              </a:rPr>
              <a:t>doesn’t block </a:t>
            </a:r>
            <a:r>
              <a:rPr sz="2400" spc="-15" dirty="0">
                <a:latin typeface="Calibri"/>
                <a:cs typeface="Calibri"/>
              </a:rPr>
              <a:t>may </a:t>
            </a:r>
            <a:r>
              <a:rPr sz="2400" dirty="0">
                <a:latin typeface="Calibri"/>
                <a:cs typeface="Calibri"/>
              </a:rPr>
              <a:t>run </a:t>
            </a:r>
            <a:r>
              <a:rPr sz="2400" spc="-20" dirty="0">
                <a:latin typeface="Calibri"/>
                <a:cs typeface="Calibri"/>
              </a:rPr>
              <a:t>forever </a:t>
            </a:r>
            <a:r>
              <a:rPr sz="2400" dirty="0">
                <a:latin typeface="Calibri"/>
                <a:cs typeface="Calibri"/>
              </a:rPr>
              <a:t>if </a:t>
            </a:r>
            <a:r>
              <a:rPr sz="2400" spc="-5" dirty="0">
                <a:latin typeface="Calibri"/>
                <a:cs typeface="Calibri"/>
              </a:rPr>
              <a:t>no higher-priority  </a:t>
            </a:r>
            <a:r>
              <a:rPr lang="en-US" sz="2400" spc="-10" dirty="0">
                <a:latin typeface="Calibri"/>
                <a:cs typeface="Calibri"/>
              </a:rPr>
              <a:t>real-time</a:t>
            </a:r>
            <a:r>
              <a:rPr sz="2400" spc="-10" dirty="0">
                <a:latin typeface="Calibri"/>
                <a:cs typeface="Calibri"/>
              </a:rPr>
              <a:t> processes become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runnable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3335"/>
              </a:lnSpc>
              <a:spcBef>
                <a:spcPts val="3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Care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attention are </a:t>
            </a:r>
            <a:r>
              <a:rPr sz="2800" spc="-5" dirty="0">
                <a:latin typeface="Calibri"/>
                <a:cs typeface="Calibri"/>
              </a:rPr>
              <a:t>needed in designing </a:t>
            </a:r>
            <a:r>
              <a:rPr lang="en-US" sz="2800" spc="-15" dirty="0">
                <a:latin typeface="Calibri"/>
                <a:cs typeface="Calibri"/>
              </a:rPr>
              <a:t>real-time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programs</a:t>
            </a:r>
            <a:r>
              <a:rPr lang="en-US"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Be </a:t>
            </a:r>
            <a:r>
              <a:rPr sz="2400" spc="-5" dirty="0">
                <a:latin typeface="Calibri"/>
                <a:cs typeface="Calibri"/>
              </a:rPr>
              <a:t>very </a:t>
            </a:r>
            <a:r>
              <a:rPr sz="2400" spc="-15" dirty="0">
                <a:latin typeface="Calibri"/>
                <a:cs typeface="Calibri"/>
              </a:rPr>
              <a:t>careful </a:t>
            </a:r>
            <a:r>
              <a:rPr sz="2400" dirty="0">
                <a:latin typeface="Calibri"/>
                <a:cs typeface="Calibri"/>
              </a:rPr>
              <a:t>with </a:t>
            </a:r>
            <a:r>
              <a:rPr sz="2400" spc="-20" dirty="0">
                <a:latin typeface="Calibri"/>
                <a:cs typeface="Calibri"/>
              </a:rPr>
              <a:t>busy </a:t>
            </a:r>
            <a:r>
              <a:rPr sz="2400" spc="-5" dirty="0">
                <a:latin typeface="Calibri"/>
                <a:cs typeface="Calibri"/>
              </a:rPr>
              <a:t>waiting (waiting </a:t>
            </a:r>
            <a:r>
              <a:rPr sz="2400" dirty="0">
                <a:latin typeface="Calibri"/>
                <a:cs typeface="Calibri"/>
              </a:rPr>
              <a:t>while </a:t>
            </a:r>
            <a:r>
              <a:rPr sz="2400" spc="-5" dirty="0">
                <a:latin typeface="Calibri"/>
                <a:cs typeface="Calibri"/>
              </a:rPr>
              <a:t>not releasing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CPU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698500" marR="351155" lvl="1" indent="-228600">
              <a:lnSpc>
                <a:spcPct val="80000"/>
              </a:lnSpc>
              <a:spcBef>
                <a:spcPts val="53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lang="en-US" sz="2400" spc="-10" dirty="0">
                <a:latin typeface="Calibri"/>
                <a:cs typeface="Calibri"/>
              </a:rPr>
              <a:t>real-time</a:t>
            </a:r>
            <a:r>
              <a:rPr sz="2400" spc="-10" dirty="0">
                <a:latin typeface="Calibri"/>
                <a:cs typeface="Calibri"/>
              </a:rPr>
              <a:t> process </a:t>
            </a:r>
            <a:r>
              <a:rPr sz="2400" spc="-20" dirty="0">
                <a:latin typeface="Calibri"/>
                <a:cs typeface="Calibri"/>
              </a:rPr>
              <a:t>may forever </a:t>
            </a:r>
            <a:r>
              <a:rPr sz="2400" spc="-10" dirty="0">
                <a:latin typeface="Calibri"/>
                <a:cs typeface="Calibri"/>
              </a:rPr>
              <a:t>busy-wait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resource </a:t>
            </a:r>
            <a:r>
              <a:rPr sz="2400" spc="-5" dirty="0">
                <a:latin typeface="Calibri"/>
                <a:cs typeface="Calibri"/>
              </a:rPr>
              <a:t>held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lower-priority </a:t>
            </a:r>
            <a:r>
              <a:rPr sz="2400" spc="-10" dirty="0">
                <a:latin typeface="Calibri"/>
                <a:cs typeface="Calibri"/>
              </a:rPr>
              <a:t>process.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While </a:t>
            </a:r>
            <a:r>
              <a:rPr sz="2400" spc="-5" dirty="0">
                <a:latin typeface="Calibri"/>
                <a:cs typeface="Calibri"/>
              </a:rPr>
              <a:t>developing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lang="en-US" sz="2400" spc="-15" dirty="0">
                <a:latin typeface="Calibri"/>
                <a:cs typeface="Calibri"/>
              </a:rPr>
              <a:t>real-time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process, </a:t>
            </a:r>
            <a:r>
              <a:rPr sz="2400" spc="-20" dirty="0">
                <a:latin typeface="Calibri"/>
                <a:cs typeface="Calibri"/>
              </a:rPr>
              <a:t>keep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terminal open </a:t>
            </a:r>
            <a:r>
              <a:rPr sz="2400" dirty="0">
                <a:latin typeface="Calibri"/>
                <a:cs typeface="Calibri"/>
              </a:rPr>
              <a:t>as a </a:t>
            </a:r>
            <a:r>
              <a:rPr sz="2400" spc="-5" dirty="0">
                <a:latin typeface="Calibri"/>
                <a:cs typeface="Calibri"/>
              </a:rPr>
              <a:t>real-time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dirty="0">
                <a:latin typeface="Calibri"/>
                <a:cs typeface="Calibri"/>
              </a:rPr>
              <a:t>with a </a:t>
            </a:r>
            <a:r>
              <a:rPr sz="2400" spc="-5" dirty="0">
                <a:latin typeface="Calibri"/>
                <a:cs typeface="Calibri"/>
              </a:rPr>
              <a:t>higher priority </a:t>
            </a:r>
            <a:r>
              <a:rPr sz="2400" dirty="0">
                <a:latin typeface="Calibri"/>
                <a:cs typeface="Calibri"/>
              </a:rPr>
              <a:t>than the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development</a:t>
            </a:r>
            <a:r>
              <a:rPr lang="en-US" sz="2400" spc="-10" dirty="0">
                <a:latin typeface="Calibri"/>
                <a:cs typeface="Calibri"/>
              </a:rPr>
              <a:t>.</a:t>
            </a:r>
          </a:p>
          <a:p>
            <a:pPr marL="1155700" marR="5080" lvl="2" indent="-228600">
              <a:lnSpc>
                <a:spcPct val="8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This </a:t>
            </a:r>
            <a:r>
              <a:rPr sz="2400" spc="-10" dirty="0">
                <a:latin typeface="Calibri"/>
                <a:cs typeface="Calibri"/>
              </a:rPr>
              <a:t>allows you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kill the </a:t>
            </a:r>
            <a:r>
              <a:rPr sz="2400" spc="-15" dirty="0">
                <a:latin typeface="Calibri"/>
                <a:cs typeface="Calibri"/>
              </a:rPr>
              <a:t>runaway </a:t>
            </a:r>
            <a:r>
              <a:rPr lang="en-US" sz="2400" spc="-10" dirty="0">
                <a:latin typeface="Calibri"/>
                <a:cs typeface="Calibri"/>
              </a:rPr>
              <a:t>real-time</a:t>
            </a:r>
            <a:r>
              <a:rPr sz="2400" spc="-10" dirty="0">
                <a:latin typeface="Calibri"/>
                <a:cs typeface="Calibri"/>
              </a:rPr>
              <a:t> process </a:t>
            </a:r>
            <a:r>
              <a:rPr sz="2400" spc="-5" dirty="0">
                <a:latin typeface="Calibri"/>
                <a:cs typeface="Calibri"/>
              </a:rPr>
              <a:t>(the terminal waiting </a:t>
            </a:r>
            <a:r>
              <a:rPr sz="2400" spc="-20" dirty="0">
                <a:latin typeface="Calibri"/>
                <a:cs typeface="Calibri"/>
              </a:rPr>
              <a:t>for keyboard </a:t>
            </a:r>
            <a:r>
              <a:rPr sz="2400" dirty="0">
                <a:latin typeface="Calibri"/>
                <a:cs typeface="Calibri"/>
              </a:rPr>
              <a:t>input is </a:t>
            </a:r>
            <a:r>
              <a:rPr sz="2400" spc="-5" dirty="0">
                <a:latin typeface="Calibri"/>
                <a:cs typeface="Calibri"/>
              </a:rPr>
              <a:t>blocking, </a:t>
            </a:r>
            <a:r>
              <a:rPr sz="2400" dirty="0">
                <a:latin typeface="Calibri"/>
                <a:cs typeface="Calibri"/>
              </a:rPr>
              <a:t>thus </a:t>
            </a:r>
            <a:r>
              <a:rPr sz="2400" spc="-10" dirty="0">
                <a:latin typeface="Calibri"/>
                <a:cs typeface="Calibri"/>
              </a:rPr>
              <a:t>won’t </a:t>
            </a:r>
            <a:r>
              <a:rPr sz="2400" spc="-20" dirty="0">
                <a:latin typeface="Calibri"/>
                <a:cs typeface="Calibri"/>
              </a:rPr>
              <a:t>affect </a:t>
            </a:r>
            <a:r>
              <a:rPr sz="2400" spc="-5" dirty="0">
                <a:latin typeface="Calibri"/>
                <a:cs typeface="Calibri"/>
              </a:rPr>
              <a:t>other </a:t>
            </a:r>
            <a:r>
              <a:rPr lang="en-US" sz="2400" spc="-10" dirty="0">
                <a:latin typeface="Calibri"/>
                <a:cs typeface="Calibri"/>
              </a:rPr>
              <a:t>real-time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lang="en-US" sz="2400" spc="-10" dirty="0">
                <a:latin typeface="Calibri"/>
                <a:cs typeface="Calibri"/>
              </a:rPr>
              <a:t>es.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8848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Determinism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6801"/>
            <a:ext cx="11046461" cy="421410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97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u="sng" dirty="0">
                <a:latin typeface="Calibri"/>
                <a:cs typeface="Calibri"/>
              </a:rPr>
              <a:t>Definition</a:t>
            </a:r>
            <a:r>
              <a:rPr lang="en-US" sz="2600" dirty="0">
                <a:latin typeface="Calibri"/>
                <a:cs typeface="Calibri"/>
              </a:rPr>
              <a:t>: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real-time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i="1" spc="-5" dirty="0">
                <a:latin typeface="Calibri"/>
                <a:cs typeface="Calibri"/>
              </a:rPr>
              <a:t>deterministic</a:t>
            </a:r>
            <a:r>
              <a:rPr lang="en-US" sz="2600" i="1" spc="-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i</a:t>
            </a:r>
            <a:r>
              <a:rPr lang="en-US" sz="2600" spc="-50" dirty="0">
                <a:latin typeface="Calibri"/>
                <a:cs typeface="Calibri"/>
              </a:rPr>
              <a:t>f</a:t>
            </a:r>
            <a:r>
              <a:rPr sz="2600" spc="-50" dirty="0">
                <a:latin typeface="Calibri"/>
                <a:cs typeface="Calibri"/>
              </a:rPr>
              <a:t>, </a:t>
            </a:r>
            <a:r>
              <a:rPr sz="2600" spc="-10" dirty="0">
                <a:latin typeface="Calibri"/>
                <a:cs typeface="Calibri"/>
              </a:rPr>
              <a:t>given </a:t>
            </a:r>
            <a:r>
              <a:rPr sz="2600" spc="-5" dirty="0">
                <a:latin typeface="Calibri"/>
                <a:cs typeface="Calibri"/>
              </a:rPr>
              <a:t>the same input, it </a:t>
            </a:r>
            <a:r>
              <a:rPr sz="2600" spc="-20" dirty="0">
                <a:latin typeface="Calibri"/>
                <a:cs typeface="Calibri"/>
              </a:rPr>
              <a:t>always </a:t>
            </a:r>
            <a:r>
              <a:rPr sz="2600" spc="-10" dirty="0">
                <a:latin typeface="Calibri"/>
                <a:cs typeface="Calibri"/>
              </a:rPr>
              <a:t>produces </a:t>
            </a:r>
            <a:r>
              <a:rPr sz="2600" spc="-5" dirty="0">
                <a:latin typeface="Calibri"/>
                <a:cs typeface="Calibri"/>
              </a:rPr>
              <a:t>same </a:t>
            </a:r>
            <a:r>
              <a:rPr sz="2600" spc="-10" dirty="0">
                <a:latin typeface="Calibri"/>
                <a:cs typeface="Calibri"/>
              </a:rPr>
              <a:t>result in </a:t>
            </a:r>
            <a:r>
              <a:rPr lang="en-US" sz="2600" spc="-1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same amount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2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time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70"/>
              </a:spcBef>
              <a:spcAft>
                <a:spcPts val="600"/>
              </a:spcAft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Most </a:t>
            </a:r>
            <a:r>
              <a:rPr sz="2600" spc="-15" dirty="0">
                <a:latin typeface="Calibri"/>
                <a:cs typeface="Calibri"/>
              </a:rPr>
              <a:t>computers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spc="-5" dirty="0">
                <a:latin typeface="Calibri"/>
                <a:cs typeface="Calibri"/>
              </a:rPr>
              <a:t>not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deterministic</a:t>
            </a:r>
            <a:r>
              <a:rPr lang="en-US" sz="2600" spc="-5" dirty="0">
                <a:latin typeface="Calibri"/>
                <a:cs typeface="Calibri"/>
              </a:rPr>
              <a:t> because: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5" dirty="0">
                <a:latin typeface="Calibri"/>
                <a:cs typeface="Calibri"/>
              </a:rPr>
              <a:t>Whether </a:t>
            </a:r>
            <a:r>
              <a:rPr lang="en-US" sz="2200" spc="-10" dirty="0">
                <a:latin typeface="Calibri"/>
                <a:cs typeface="Calibri"/>
              </a:rPr>
              <a:t>data exists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in cache or must be searched in main memory is </a:t>
            </a:r>
            <a:r>
              <a:rPr sz="2200" spc="-10" dirty="0">
                <a:latin typeface="Calibri"/>
                <a:cs typeface="Calibri"/>
              </a:rPr>
              <a:t>unpredictable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100"/>
              </a:lnSpc>
              <a:spcBef>
                <a:spcPts val="60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Multiple </a:t>
            </a:r>
            <a:r>
              <a:rPr sz="2200" spc="-15" dirty="0">
                <a:latin typeface="Calibri"/>
                <a:cs typeface="Calibri"/>
              </a:rPr>
              <a:t>processors, </a:t>
            </a:r>
            <a:r>
              <a:rPr sz="2200" spc="-5" dirty="0">
                <a:latin typeface="Calibri"/>
                <a:cs typeface="Calibri"/>
              </a:rPr>
              <a:t>paging, swapping, and multitasking, </a:t>
            </a:r>
            <a:r>
              <a:rPr sz="2200" spc="-15" dirty="0">
                <a:latin typeface="Calibri"/>
                <a:cs typeface="Calibri"/>
              </a:rPr>
              <a:t>etc. </a:t>
            </a:r>
            <a:r>
              <a:rPr lang="en-US" sz="2200" spc="-5" dirty="0">
                <a:latin typeface="Calibri"/>
                <a:cs typeface="Calibri"/>
              </a:rPr>
              <a:t>complicate the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estimat</a:t>
            </a:r>
            <a:r>
              <a:rPr lang="en-US" sz="2200" spc="-15" dirty="0">
                <a:latin typeface="Calibri"/>
                <a:cs typeface="Calibri"/>
              </a:rPr>
              <a:t>ion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</a:t>
            </a:r>
            <a:r>
              <a:rPr lang="en-US" sz="2200" spc="-10" dirty="0">
                <a:latin typeface="Calibri"/>
                <a:cs typeface="Calibri"/>
              </a:rPr>
              <a:t>f </a:t>
            </a:r>
            <a:r>
              <a:rPr sz="2200" spc="-10" dirty="0">
                <a:latin typeface="Calibri"/>
                <a:cs typeface="Calibri"/>
              </a:rPr>
              <a:t>how </a:t>
            </a:r>
            <a:r>
              <a:rPr sz="2200" spc="-5" dirty="0">
                <a:latin typeface="Calibri"/>
                <a:cs typeface="Calibri"/>
              </a:rPr>
              <a:t>long a </a:t>
            </a:r>
            <a:r>
              <a:rPr sz="2200" spc="-10" dirty="0">
                <a:latin typeface="Calibri"/>
                <a:cs typeface="Calibri"/>
              </a:rPr>
              <a:t>given </a:t>
            </a:r>
            <a:r>
              <a:rPr sz="2200" spc="-5" dirty="0">
                <a:latin typeface="Calibri"/>
                <a:cs typeface="Calibri"/>
              </a:rPr>
              <a:t>action will </a:t>
            </a:r>
            <a:r>
              <a:rPr sz="2200" spc="-30" dirty="0">
                <a:latin typeface="Calibri"/>
                <a:cs typeface="Calibri"/>
              </a:rPr>
              <a:t>take</a:t>
            </a:r>
            <a:r>
              <a:rPr lang="en-US" sz="2200" spc="-3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495"/>
              </a:lnSpc>
              <a:spcBef>
                <a:spcPts val="30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process </a:t>
            </a:r>
            <a:r>
              <a:rPr sz="2200" spc="-5" dirty="0">
                <a:latin typeface="Calibri"/>
                <a:cs typeface="Calibri"/>
              </a:rPr>
              <a:t>running inside a </a:t>
            </a:r>
            <a:r>
              <a:rPr sz="2200" spc="-10" dirty="0">
                <a:latin typeface="Calibri"/>
                <a:cs typeface="Calibri"/>
              </a:rPr>
              <a:t>critical region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spc="-15" dirty="0">
                <a:latin typeface="Calibri"/>
                <a:cs typeface="Calibri"/>
              </a:rPr>
              <a:t>kernel </a:t>
            </a:r>
            <a:r>
              <a:rPr sz="2200" spc="-10" dirty="0">
                <a:latin typeface="Calibri"/>
                <a:cs typeface="Calibri"/>
              </a:rPr>
              <a:t>can’t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15" dirty="0">
                <a:latin typeface="Calibri"/>
                <a:cs typeface="Calibri"/>
              </a:rPr>
              <a:t>preempted </a:t>
            </a:r>
            <a:r>
              <a:rPr sz="2200" spc="-10" dirty="0">
                <a:latin typeface="Calibri"/>
                <a:cs typeface="Calibri"/>
              </a:rPr>
              <a:t>by</a:t>
            </a:r>
            <a:r>
              <a:rPr lang="en-US" sz="2200" spc="-10" dirty="0">
                <a:latin typeface="Calibri"/>
                <a:cs typeface="Calibri"/>
              </a:rPr>
              <a:t> the</a:t>
            </a:r>
            <a:r>
              <a:rPr sz="2200" spc="19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kernel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55"/>
              </a:spcBef>
              <a:spcAft>
                <a:spcPts val="600"/>
              </a:spcAft>
              <a:buFont typeface="Arial"/>
              <a:buChar char="•"/>
              <a:tabLst>
                <a:tab pos="241300" algn="l"/>
              </a:tabLst>
            </a:pPr>
            <a:r>
              <a:rPr sz="2600" spc="-114" dirty="0">
                <a:latin typeface="Calibri"/>
                <a:cs typeface="Calibri"/>
              </a:rPr>
              <a:t>To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lang="en-US" sz="2600" spc="-15" dirty="0">
                <a:latin typeface="Calibri"/>
                <a:cs typeface="Calibri"/>
              </a:rPr>
              <a:t>reduce indeterminism, operating systems take the following actions</a:t>
            </a:r>
            <a:r>
              <a:rPr sz="2600" spc="-15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10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Prefaulting </a:t>
            </a:r>
            <a:r>
              <a:rPr sz="2200" spc="-20" dirty="0">
                <a:latin typeface="Calibri"/>
                <a:cs typeface="Calibri"/>
              </a:rPr>
              <a:t>data </a:t>
            </a:r>
            <a:r>
              <a:rPr sz="2200" spc="-5" dirty="0">
                <a:latin typeface="Calibri"/>
                <a:cs typeface="Calibri"/>
              </a:rPr>
              <a:t>and locking memory: </a:t>
            </a:r>
            <a:r>
              <a:rPr sz="2200" spc="-10" dirty="0">
                <a:latin typeface="Calibri"/>
                <a:cs typeface="Calibri"/>
              </a:rPr>
              <a:t>pages that are </a:t>
            </a:r>
            <a:r>
              <a:rPr sz="2200" spc="-15" dirty="0">
                <a:latin typeface="Calibri"/>
                <a:cs typeface="Calibri"/>
              </a:rPr>
              <a:t>locked </a:t>
            </a:r>
            <a:r>
              <a:rPr sz="2200" spc="-20" dirty="0">
                <a:latin typeface="Calibri"/>
                <a:cs typeface="Calibri"/>
              </a:rPr>
              <a:t>into </a:t>
            </a:r>
            <a:r>
              <a:rPr sz="2200" spc="-5" dirty="0">
                <a:latin typeface="Calibri"/>
                <a:cs typeface="Calibri"/>
              </a:rPr>
              <a:t>memory will not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</a:t>
            </a:r>
            <a:endParaRPr sz="2200" dirty="0">
              <a:latin typeface="Calibri"/>
              <a:cs typeface="Calibri"/>
            </a:endParaRPr>
          </a:p>
          <a:p>
            <a:pPr marL="698500" marR="344170">
              <a:lnSpc>
                <a:spcPts val="2105"/>
              </a:lnSpc>
              <a:spcAft>
                <a:spcPts val="600"/>
              </a:spcAft>
            </a:pPr>
            <a:r>
              <a:rPr sz="2200" spc="-10" dirty="0">
                <a:latin typeface="Calibri"/>
                <a:cs typeface="Calibri"/>
              </a:rPr>
              <a:t>swapped </a:t>
            </a:r>
            <a:r>
              <a:rPr sz="2200" spc="-5" dirty="0">
                <a:latin typeface="Calibri"/>
                <a:cs typeface="Calibri"/>
              </a:rPr>
              <a:t>out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disk </a:t>
            </a:r>
            <a:r>
              <a:rPr sz="2200" spc="-15" dirty="0">
                <a:latin typeface="Calibri"/>
                <a:cs typeface="Calibri"/>
              </a:rPr>
              <a:t>by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5" dirty="0">
                <a:latin typeface="Calibri"/>
                <a:cs typeface="Calibri"/>
              </a:rPr>
              <a:t>kernel, </a:t>
            </a:r>
            <a:r>
              <a:rPr sz="2200" spc="-5" dirty="0">
                <a:latin typeface="Calibri"/>
                <a:cs typeface="Calibri"/>
              </a:rPr>
              <a:t>so no </a:t>
            </a:r>
            <a:r>
              <a:rPr sz="2200" spc="-15" dirty="0">
                <a:latin typeface="Calibri"/>
                <a:cs typeface="Calibri"/>
              </a:rPr>
              <a:t>page </a:t>
            </a:r>
            <a:r>
              <a:rPr sz="2200" spc="-10" dirty="0">
                <a:latin typeface="Calibri"/>
                <a:cs typeface="Calibri"/>
              </a:rPr>
              <a:t>fault </a:t>
            </a:r>
            <a:r>
              <a:rPr sz="2200" spc="-5" dirty="0">
                <a:latin typeface="Calibri"/>
                <a:cs typeface="Calibri"/>
              </a:rPr>
              <a:t>will </a:t>
            </a:r>
            <a:r>
              <a:rPr sz="2200" spc="-10" dirty="0">
                <a:latin typeface="Calibri"/>
                <a:cs typeface="Calibri"/>
              </a:rPr>
              <a:t>happen </a:t>
            </a:r>
            <a:r>
              <a:rPr sz="2200" spc="-30" dirty="0">
                <a:latin typeface="Calibri"/>
                <a:cs typeface="Calibri"/>
              </a:rPr>
              <a:t>(ch</a:t>
            </a:r>
            <a:r>
              <a:rPr lang="en-US" sz="2200" spc="-30" dirty="0">
                <a:latin typeface="Calibri"/>
                <a:cs typeface="Calibri"/>
              </a:rPr>
              <a:t>apter </a:t>
            </a:r>
            <a:r>
              <a:rPr sz="2200" spc="-30" dirty="0">
                <a:latin typeface="Calibri"/>
                <a:cs typeface="Calibri"/>
              </a:rPr>
              <a:t>4’s </a:t>
            </a:r>
            <a:r>
              <a:rPr sz="2200" spc="-5" dirty="0">
                <a:latin typeface="Calibri"/>
                <a:cs typeface="Calibri"/>
              </a:rPr>
              <a:t>discussion on mapping file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memory is a </a:t>
            </a:r>
            <a:r>
              <a:rPr sz="2200" spc="-15" dirty="0">
                <a:latin typeface="Calibri"/>
                <a:cs typeface="Calibri"/>
              </a:rPr>
              <a:t>form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prefaulting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r>
              <a:rPr sz="2200" spc="-15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698500" marR="810260" lvl="1" indent="-228600">
              <a:lnSpc>
                <a:spcPts val="210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10" dirty="0">
                <a:latin typeface="Calibri"/>
                <a:cs typeface="Calibri"/>
              </a:rPr>
              <a:t>Binding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one </a:t>
            </a:r>
            <a:r>
              <a:rPr sz="2200" dirty="0">
                <a:latin typeface="Calibri"/>
                <a:cs typeface="Calibri"/>
              </a:rPr>
              <a:t>or </a:t>
            </a:r>
            <a:r>
              <a:rPr sz="2200" spc="-10" dirty="0">
                <a:latin typeface="Calibri"/>
                <a:cs typeface="Calibri"/>
              </a:rPr>
              <a:t>more </a:t>
            </a:r>
            <a:r>
              <a:rPr sz="2200" spc="-5" dirty="0">
                <a:latin typeface="Calibri"/>
                <a:cs typeface="Calibri"/>
              </a:rPr>
              <a:t>CPUs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your </a:t>
            </a:r>
            <a:r>
              <a:rPr lang="en-US" sz="2200" spc="-20" dirty="0">
                <a:latin typeface="Calibri"/>
                <a:cs typeface="Calibri"/>
              </a:rPr>
              <a:t>real-time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processes</a:t>
            </a:r>
            <a:r>
              <a:rPr lang="en-US" sz="2200" spc="-10" dirty="0">
                <a:latin typeface="Calibri"/>
                <a:cs typeface="Calibri"/>
              </a:rPr>
              <a:t> will </a:t>
            </a:r>
            <a:r>
              <a:rPr sz="2200" spc="-10" dirty="0">
                <a:latin typeface="Calibri"/>
                <a:cs typeface="Calibri"/>
              </a:rPr>
              <a:t>shield </a:t>
            </a:r>
            <a:r>
              <a:rPr sz="2200" spc="-15" dirty="0">
                <a:latin typeface="Calibri"/>
                <a:cs typeface="Calibri"/>
              </a:rPr>
              <a:t>from</a:t>
            </a:r>
            <a:r>
              <a:rPr lang="en-US"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multitasking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5892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Assigning </a:t>
            </a:r>
            <a:r>
              <a:rPr spc="-20" dirty="0"/>
              <a:t>the </a:t>
            </a:r>
            <a:r>
              <a:rPr spc="-40" dirty="0"/>
              <a:t>RT </a:t>
            </a:r>
            <a:r>
              <a:rPr spc="-50" dirty="0"/>
              <a:t>Process </a:t>
            </a:r>
            <a:r>
              <a:rPr spc="-35" dirty="0"/>
              <a:t>to </a:t>
            </a:r>
            <a:r>
              <a:rPr spc="-25" dirty="0"/>
              <a:t>Run </a:t>
            </a:r>
            <a:r>
              <a:rPr spc="-15" dirty="0"/>
              <a:t>on </a:t>
            </a:r>
            <a:r>
              <a:rPr spc="-20" dirty="0"/>
              <a:t>CPU </a:t>
            </a:r>
            <a:r>
              <a:rPr lang="en-US" spc="-20" dirty="0"/>
              <a:t>#</a:t>
            </a:r>
            <a:r>
              <a:rPr dirty="0"/>
              <a:t>1</a:t>
            </a:r>
            <a:r>
              <a:rPr spc="-509" dirty="0"/>
              <a:t> </a:t>
            </a:r>
            <a:r>
              <a:rPr spc="-25" dirty="0"/>
              <a:t>Only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127" y="1563369"/>
            <a:ext cx="4824273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95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Modify </a:t>
            </a:r>
            <a:r>
              <a:rPr sz="2800" spc="-20" dirty="0">
                <a:latin typeface="Calibri"/>
                <a:cs typeface="Calibri"/>
              </a:rPr>
              <a:t>Linux’s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program</a:t>
            </a:r>
            <a:r>
              <a:rPr lang="en-US" sz="2800" spc="-2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5952" y="2270372"/>
            <a:ext cx="5534387" cy="38858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87408" y="2675438"/>
            <a:ext cx="1409051" cy="4098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16029" y="3403826"/>
            <a:ext cx="5533656" cy="16570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387408" y="1571381"/>
            <a:ext cx="5683942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6415" indent="-514350">
              <a:lnSpc>
                <a:spcPct val="100000"/>
              </a:lnSpc>
              <a:spcBef>
                <a:spcPts val="100"/>
              </a:spcBef>
              <a:buFont typeface="+mj-lt"/>
              <a:buAutoNum type="arabicPeriod" startAt="2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Modify </a:t>
            </a:r>
            <a:r>
              <a:rPr sz="2800" spc="-10" dirty="0">
                <a:latin typeface="Calibri"/>
                <a:cs typeface="Calibri"/>
              </a:rPr>
              <a:t>your </a:t>
            </a:r>
            <a:r>
              <a:rPr sz="2800" spc="-15" dirty="0">
                <a:latin typeface="Calibri"/>
                <a:cs typeface="Calibri"/>
              </a:rPr>
              <a:t>RT program to </a:t>
            </a:r>
            <a:r>
              <a:rPr sz="2800" dirty="0">
                <a:latin typeface="Calibri"/>
                <a:cs typeface="Calibri"/>
              </a:rPr>
              <a:t>run </a:t>
            </a:r>
            <a:r>
              <a:rPr sz="2800" spc="-10" dirty="0">
                <a:latin typeface="Calibri"/>
                <a:cs typeface="Calibri"/>
              </a:rPr>
              <a:t>on </a:t>
            </a:r>
            <a:r>
              <a:rPr sz="2800" spc="-5" dirty="0">
                <a:latin typeface="Calibri"/>
                <a:cs typeface="Calibri"/>
              </a:rPr>
              <a:t>CPU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#1</a:t>
            </a:r>
            <a:r>
              <a:rPr lang="en-US" sz="2800" spc="-5" dirty="0">
                <a:latin typeface="Calibri"/>
                <a:cs typeface="Calibri"/>
              </a:rPr>
              <a:t> only: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4791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Resource</a:t>
            </a:r>
            <a:r>
              <a:rPr spc="-170" dirty="0"/>
              <a:t> </a:t>
            </a:r>
            <a:r>
              <a:rPr spc="-25" dirty="0"/>
              <a:t>Limits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45945"/>
            <a:ext cx="11046462" cy="45635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7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Linux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dirty="0">
                <a:latin typeface="Calibri"/>
                <a:cs typeface="Calibri"/>
              </a:rPr>
              <a:t>imposes </a:t>
            </a:r>
            <a:r>
              <a:rPr sz="2400" spc="-10" dirty="0">
                <a:latin typeface="Calibri"/>
                <a:cs typeface="Calibri"/>
              </a:rPr>
              <a:t>hard </a:t>
            </a:r>
            <a:r>
              <a:rPr sz="2400" dirty="0">
                <a:latin typeface="Calibri"/>
                <a:cs typeface="Calibri"/>
              </a:rPr>
              <a:t>ceiling </a:t>
            </a:r>
            <a:r>
              <a:rPr lang="en-US" sz="2400" dirty="0">
                <a:latin typeface="Calibri"/>
                <a:cs typeface="Calibri"/>
              </a:rPr>
              <a:t>(maximum)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resource</a:t>
            </a:r>
            <a:r>
              <a:rPr lang="en-US" sz="2400" spc="-1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process can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Open </a:t>
            </a:r>
            <a:r>
              <a:rPr sz="2000" spc="-5" dirty="0">
                <a:latin typeface="Calibri"/>
                <a:cs typeface="Calibri"/>
              </a:rPr>
              <a:t>files, pages of </a:t>
            </a:r>
            <a:r>
              <a:rPr sz="2000" spc="-20" dirty="0">
                <a:latin typeface="Calibri"/>
                <a:cs typeface="Calibri"/>
              </a:rPr>
              <a:t>memory, </a:t>
            </a:r>
            <a:r>
              <a:rPr sz="2000" spc="-5" dirty="0">
                <a:latin typeface="Calibri"/>
                <a:cs typeface="Calibri"/>
              </a:rPr>
              <a:t>pending signals, </a:t>
            </a:r>
            <a:r>
              <a:rPr sz="2000" spc="-10" dirty="0">
                <a:latin typeface="Calibri"/>
                <a:cs typeface="Calibri"/>
              </a:rPr>
              <a:t>etc</a:t>
            </a:r>
            <a:r>
              <a:rPr lang="en-US" sz="2000" spc="-10" dirty="0">
                <a:latin typeface="Calibri"/>
                <a:cs typeface="Calibri"/>
              </a:rPr>
              <a:t>., are all types of resources.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20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spc="-5" dirty="0">
                <a:latin typeface="Calibri"/>
                <a:cs typeface="Calibri"/>
              </a:rPr>
              <a:t>Hard limits are s</a:t>
            </a:r>
            <a:r>
              <a:rPr sz="2000" spc="-5" dirty="0">
                <a:latin typeface="Calibri"/>
                <a:cs typeface="Calibri"/>
              </a:rPr>
              <a:t>trictly</a:t>
            </a:r>
            <a:r>
              <a:rPr sz="2000" spc="-10" dirty="0">
                <a:latin typeface="Calibri"/>
                <a:cs typeface="Calibri"/>
              </a:rPr>
              <a:t> enforced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469900" marR="6520180">
              <a:lnSpc>
                <a:spcPct val="91800"/>
              </a:lnSpc>
              <a:spcBef>
                <a:spcPts val="100"/>
              </a:spcBef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 &lt;sys/time.h&gt;  #include &lt;sys/resource.h&gt; 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rlimit</a:t>
            </a:r>
            <a:r>
              <a:rPr sz="1900" spc="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  <a:endParaRPr sz="19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27100">
              <a:lnSpc>
                <a:spcPts val="2005"/>
              </a:lnSpc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rlim_t rlim_cur; </a:t>
            </a:r>
            <a:r>
              <a:rPr sz="1900" i="1" dirty="0">
                <a:latin typeface="Consolas"/>
                <a:cs typeface="Consolas"/>
              </a:rPr>
              <a:t>/* soft limit (unsigned integer type)</a:t>
            </a:r>
            <a:r>
              <a:rPr sz="1900" i="1" spc="80" dirty="0">
                <a:latin typeface="Consolas"/>
                <a:cs typeface="Consolas"/>
              </a:rPr>
              <a:t> </a:t>
            </a:r>
            <a:r>
              <a:rPr sz="1900" i="1" spc="-5" dirty="0">
                <a:latin typeface="Consolas"/>
                <a:cs typeface="Consolas"/>
              </a:rPr>
              <a:t>*/</a:t>
            </a:r>
            <a:endParaRPr sz="1900" dirty="0">
              <a:latin typeface="Consolas"/>
              <a:cs typeface="Consolas"/>
            </a:endParaRPr>
          </a:p>
          <a:p>
            <a:pPr marL="927100">
              <a:lnSpc>
                <a:spcPts val="2095"/>
              </a:lnSpc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rlim_t rlim_max; </a:t>
            </a:r>
            <a:r>
              <a:rPr sz="1900" i="1" dirty="0">
                <a:latin typeface="Consolas"/>
                <a:cs typeface="Consolas"/>
              </a:rPr>
              <a:t>/* hard limit</a:t>
            </a:r>
            <a:r>
              <a:rPr sz="1900" i="1" spc="50" dirty="0">
                <a:latin typeface="Consolas"/>
                <a:cs typeface="Consolas"/>
              </a:rPr>
              <a:t> </a:t>
            </a:r>
            <a:r>
              <a:rPr lang="en-US" sz="1900" i="1" dirty="0">
                <a:latin typeface="Consolas"/>
                <a:cs typeface="Consolas"/>
              </a:rPr>
              <a:t>(unsigned integer type) </a:t>
            </a:r>
            <a:r>
              <a:rPr sz="1900" i="1" spc="-5" dirty="0">
                <a:latin typeface="Consolas"/>
                <a:cs typeface="Consolas"/>
              </a:rPr>
              <a:t>*/</a:t>
            </a:r>
            <a:endParaRPr sz="1900" dirty="0">
              <a:latin typeface="Consolas"/>
              <a:cs typeface="Consolas"/>
            </a:endParaRPr>
          </a:p>
          <a:p>
            <a:pPr marL="469900">
              <a:lnSpc>
                <a:spcPts val="2100"/>
              </a:lnSpc>
              <a:spcAft>
                <a:spcPts val="1200"/>
              </a:spcAft>
            </a:pP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};</a:t>
            </a:r>
            <a:endParaRPr sz="19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095"/>
              </a:lnSpc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getrlimit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resource,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rlimit</a:t>
            </a:r>
            <a:r>
              <a:rPr sz="1900" spc="8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*rlim);</a:t>
            </a:r>
          </a:p>
          <a:p>
            <a:pPr marL="469900">
              <a:lnSpc>
                <a:spcPts val="2185"/>
              </a:lnSpc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setrlimit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resource,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const struct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rlimit</a:t>
            </a:r>
            <a:r>
              <a:rPr sz="1900" spc="9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*rlim);</a:t>
            </a:r>
          </a:p>
          <a:p>
            <a:pPr marL="241300" marR="139065" indent="-228600">
              <a:lnSpc>
                <a:spcPct val="70000"/>
              </a:lnSpc>
              <a:spcBef>
                <a:spcPts val="1005"/>
              </a:spcBef>
              <a:buClr>
                <a:schemeClr val="tx1"/>
              </a:buClr>
              <a:buSzPct val="120000"/>
              <a:buFont typeface="Arial"/>
              <a:buChar char="•"/>
              <a:tabLst>
                <a:tab pos="241300" algn="l"/>
              </a:tabLst>
            </a:pPr>
            <a:r>
              <a:rPr sz="2000" b="1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getrlimit</a:t>
            </a: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saves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soft/hard </a:t>
            </a:r>
            <a:r>
              <a:rPr sz="2400" dirty="0">
                <a:latin typeface="Calibri"/>
                <a:cs typeface="Calibri"/>
              </a:rPr>
              <a:t>limit</a:t>
            </a:r>
            <a:r>
              <a:rPr lang="en-US" sz="240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resource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lang="en-US"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structure </a:t>
            </a:r>
            <a:r>
              <a:rPr lang="en-US" sz="2000" dirty="0" err="1">
                <a:solidFill>
                  <a:srgbClr val="0070C0"/>
                </a:solidFill>
                <a:latin typeface="Consolas"/>
              </a:rPr>
              <a:t>rlim</a:t>
            </a:r>
            <a:r>
              <a:rPr lang="en-US" sz="2400" spc="-10" dirty="0">
                <a:latin typeface="Calibri"/>
                <a:cs typeface="Calibri"/>
              </a:rPr>
              <a:t> and</a:t>
            </a:r>
            <a:r>
              <a:rPr sz="2400" spc="-10" dirty="0">
                <a:latin typeface="Calibri"/>
                <a:cs typeface="Calibri"/>
              </a:rPr>
              <a:t> returns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5" dirty="0">
                <a:latin typeface="Calibri"/>
                <a:cs typeface="Calibri"/>
              </a:rPr>
              <a:t>on success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-1 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failure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5"/>
              </a:spcBef>
              <a:buClr>
                <a:schemeClr val="tx1"/>
              </a:buClr>
              <a:buSzPct val="120000"/>
              <a:buFont typeface="Arial"/>
              <a:buChar char="•"/>
              <a:tabLst>
                <a:tab pos="241300" algn="l"/>
              </a:tabLst>
            </a:pPr>
            <a:r>
              <a:rPr sz="2000" b="1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setrlimit()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set</a:t>
            </a:r>
            <a:r>
              <a:rPr lang="en-US" sz="2400" spc="-1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soft/hard </a:t>
            </a:r>
            <a:r>
              <a:rPr sz="2400" dirty="0">
                <a:latin typeface="Calibri"/>
                <a:cs typeface="Calibri"/>
              </a:rPr>
              <a:t>limit</a:t>
            </a:r>
            <a:r>
              <a:rPr lang="en-US" sz="240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resource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values pointed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000" dirty="0" err="1">
                <a:solidFill>
                  <a:srgbClr val="0070C0"/>
                </a:solidFill>
                <a:latin typeface="Consolas"/>
              </a:rPr>
              <a:t>rlim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 </a:t>
            </a:r>
            <a:r>
              <a:rPr sz="2400" spc="-5" dirty="0">
                <a:latin typeface="Calibri"/>
                <a:cs typeface="Calibri"/>
              </a:rPr>
              <a:t>returns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5" dirty="0">
                <a:latin typeface="Calibri"/>
                <a:cs typeface="Calibri"/>
              </a:rPr>
              <a:t>on success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-1 on </a:t>
            </a:r>
            <a:r>
              <a:rPr sz="2400" spc="-15" dirty="0">
                <a:latin typeface="Calibri"/>
                <a:cs typeface="Calibri"/>
              </a:rPr>
              <a:t>failure. </a:t>
            </a:r>
            <a:r>
              <a:rPr sz="2400" spc="-1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15" dirty="0">
                <a:latin typeface="Calibri"/>
                <a:cs typeface="Calibri"/>
              </a:rPr>
              <a:t>update </a:t>
            </a:r>
            <a:r>
              <a:rPr lang="en-US" sz="2400" spc="-1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limits as </a:t>
            </a:r>
            <a:r>
              <a:rPr sz="2400" spc="-10" dirty="0">
                <a:latin typeface="Calibri"/>
                <a:cs typeface="Calibri"/>
              </a:rPr>
              <a:t>requested.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4991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More </a:t>
            </a:r>
            <a:r>
              <a:rPr spc="-15" dirty="0"/>
              <a:t>on </a:t>
            </a:r>
            <a:r>
              <a:rPr spc="-50" dirty="0"/>
              <a:t>Resource</a:t>
            </a:r>
            <a:r>
              <a:rPr spc="-285" dirty="0"/>
              <a:t> </a:t>
            </a:r>
            <a:r>
              <a:rPr spc="-25" dirty="0"/>
              <a:t>Limits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9975215" cy="4228722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Resources are represented by integer constants, </a:t>
            </a:r>
            <a:r>
              <a:rPr sz="2800" spc="-30" dirty="0">
                <a:latin typeface="Calibri"/>
                <a:cs typeface="Calibri"/>
              </a:rPr>
              <a:t>like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6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RLIMIT_CPU</a:t>
            </a:r>
            <a:r>
              <a:rPr lang="en-US" sz="2800" spc="-30" dirty="0">
                <a:latin typeface="Calibri"/>
                <a:cs typeface="Calibri"/>
              </a:rPr>
              <a:t>.</a:t>
            </a:r>
            <a:endParaRPr sz="2800" spc="-3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0070C0"/>
                </a:solidFill>
                <a:latin typeface="Consolas"/>
              </a:rPr>
              <a:t>rlimit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structure represents </a:t>
            </a:r>
            <a:r>
              <a:rPr sz="2800" spc="-5" dirty="0">
                <a:latin typeface="Calibri"/>
                <a:cs typeface="Calibri"/>
              </a:rPr>
              <a:t>the actual limits with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ceilings: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a</a:t>
            </a:r>
            <a:r>
              <a:rPr sz="2800" spc="-15" dirty="0">
                <a:latin typeface="Calibri"/>
                <a:cs typeface="Calibri"/>
              </a:rPr>
              <a:t> soft limit and a hard limit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spc="-15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Kernel </a:t>
            </a:r>
            <a:r>
              <a:rPr sz="2400" spc="-15" dirty="0">
                <a:latin typeface="Calibri"/>
                <a:cs typeface="Calibri"/>
              </a:rPr>
              <a:t>enforces </a:t>
            </a:r>
            <a:r>
              <a:rPr sz="2400" spc="-5" dirty="0">
                <a:latin typeface="Calibri"/>
                <a:cs typeface="Calibri"/>
              </a:rPr>
              <a:t>soft </a:t>
            </a:r>
            <a:r>
              <a:rPr sz="2400" dirty="0">
                <a:latin typeface="Calibri"/>
                <a:cs typeface="Calibri"/>
              </a:rPr>
              <a:t>limits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10" dirty="0">
                <a:latin typeface="Calibri"/>
                <a:cs typeface="Calibri"/>
              </a:rPr>
              <a:t>processes, </a:t>
            </a:r>
            <a:r>
              <a:rPr sz="2400" spc="-5" dirty="0">
                <a:latin typeface="Calibri"/>
                <a:cs typeface="Calibri"/>
              </a:rPr>
              <a:t>but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20" dirty="0">
                <a:latin typeface="Calibri"/>
                <a:cs typeface="Calibri"/>
              </a:rPr>
              <a:t>may </a:t>
            </a:r>
            <a:r>
              <a:rPr sz="2400" spc="-5" dirty="0">
                <a:latin typeface="Calibri"/>
                <a:cs typeface="Calibri"/>
              </a:rPr>
              <a:t>change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10" dirty="0">
                <a:latin typeface="Calibri"/>
                <a:cs typeface="Calibri"/>
              </a:rPr>
              <a:t> soft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limit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20" dirty="0">
                <a:latin typeface="Calibri"/>
                <a:cs typeface="Calibri"/>
              </a:rPr>
              <a:t>any </a:t>
            </a:r>
            <a:r>
              <a:rPr sz="2400" spc="-10" dirty="0">
                <a:latin typeface="Calibri"/>
                <a:cs typeface="Calibri"/>
              </a:rPr>
              <a:t>value from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15" dirty="0">
                <a:latin typeface="Calibri"/>
                <a:cs typeface="Calibri"/>
              </a:rPr>
              <a:t>to hard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limit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spc="-10" dirty="0">
                <a:latin typeface="Calibri"/>
                <a:cs typeface="Calibri"/>
              </a:rPr>
              <a:t>A n</a:t>
            </a:r>
            <a:r>
              <a:rPr sz="2400" spc="-10" dirty="0">
                <a:latin typeface="Calibri"/>
                <a:cs typeface="Calibri"/>
              </a:rPr>
              <a:t>onroot process can </a:t>
            </a:r>
            <a:r>
              <a:rPr sz="2400" spc="-5" dirty="0">
                <a:latin typeface="Calibri"/>
                <a:cs typeface="Calibri"/>
              </a:rPr>
              <a:t>only </a:t>
            </a:r>
            <a:r>
              <a:rPr sz="2400" spc="-10" dirty="0">
                <a:latin typeface="Calibri"/>
                <a:cs typeface="Calibri"/>
              </a:rPr>
              <a:t>lower </a:t>
            </a:r>
            <a:r>
              <a:rPr sz="2400" dirty="0">
                <a:latin typeface="Calibri"/>
                <a:cs typeface="Calibri"/>
              </a:rPr>
              <a:t>its </a:t>
            </a:r>
            <a:r>
              <a:rPr sz="2400" spc="-15" dirty="0">
                <a:latin typeface="Calibri"/>
                <a:cs typeface="Calibri"/>
              </a:rPr>
              <a:t>hard </a:t>
            </a:r>
            <a:r>
              <a:rPr sz="2400" dirty="0">
                <a:latin typeface="Calibri"/>
                <a:cs typeface="Calibri"/>
              </a:rPr>
              <a:t>limit, which is also </a:t>
            </a:r>
            <a:r>
              <a:rPr sz="2400" spc="-10" dirty="0">
                <a:latin typeface="Calibri"/>
                <a:cs typeface="Calibri"/>
              </a:rPr>
              <a:t>irreversible, </a:t>
            </a:r>
            <a:r>
              <a:rPr sz="2400" spc="-5" dirty="0">
                <a:latin typeface="Calibri"/>
                <a:cs typeface="Calibri"/>
              </a:rPr>
              <a:t>but </a:t>
            </a:r>
            <a:r>
              <a:rPr sz="2400" spc="-15" dirty="0">
                <a:latin typeface="Calibri"/>
                <a:cs typeface="Calibri"/>
              </a:rPr>
              <a:t>root </a:t>
            </a:r>
            <a:r>
              <a:rPr sz="2400" spc="-10" dirty="0">
                <a:latin typeface="Calibri"/>
                <a:cs typeface="Calibri"/>
              </a:rPr>
              <a:t>process can set </a:t>
            </a:r>
            <a:r>
              <a:rPr lang="en-US" sz="2400" spc="-1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higher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limit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All </a:t>
            </a:r>
            <a:r>
              <a:rPr sz="2800" spc="-15" dirty="0">
                <a:latin typeface="Calibri"/>
                <a:cs typeface="Calibri"/>
              </a:rPr>
              <a:t>resource </a:t>
            </a:r>
            <a:r>
              <a:rPr sz="2800" spc="-5" dirty="0">
                <a:latin typeface="Calibri"/>
                <a:cs typeface="Calibri"/>
              </a:rPr>
              <a:t>limits </a:t>
            </a:r>
            <a:r>
              <a:rPr sz="2800" spc="-25" dirty="0">
                <a:latin typeface="Calibri"/>
                <a:cs typeface="Calibri"/>
              </a:rPr>
              <a:t>have </a:t>
            </a:r>
            <a:r>
              <a:rPr sz="2800" spc="-10" dirty="0">
                <a:latin typeface="Calibri"/>
                <a:cs typeface="Calibri"/>
              </a:rPr>
              <a:t>two special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0</a:t>
            </a:r>
            <a:r>
              <a:rPr lang="en-US" sz="2400" dirty="0">
                <a:latin typeface="Calibri"/>
                <a:cs typeface="Calibri"/>
              </a:rPr>
              <a:t>, which </a:t>
            </a:r>
            <a:r>
              <a:rPr sz="2400" spc="-5" dirty="0">
                <a:latin typeface="Calibri"/>
                <a:cs typeface="Calibri"/>
              </a:rPr>
              <a:t>disab</a:t>
            </a:r>
            <a:r>
              <a:rPr lang="en-US" sz="2400" spc="-5" dirty="0">
                <a:latin typeface="Calibri"/>
                <a:cs typeface="Calibri"/>
              </a:rPr>
              <a:t>les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use 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resource </a:t>
            </a:r>
            <a:r>
              <a:rPr sz="2400" spc="-25" dirty="0">
                <a:latin typeface="Calibri"/>
                <a:cs typeface="Calibri"/>
              </a:rPr>
              <a:t>altogether,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Infinity </a:t>
            </a:r>
            <a:r>
              <a:rPr sz="2400" dirty="0">
                <a:latin typeface="Calibri"/>
                <a:cs typeface="Calibri"/>
              </a:rPr>
              <a:t>(-1)</a:t>
            </a:r>
            <a:r>
              <a:rPr lang="en-US" sz="2400" dirty="0">
                <a:latin typeface="Calibri"/>
                <a:cs typeface="Calibri"/>
              </a:rPr>
              <a:t>, which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remov</a:t>
            </a:r>
            <a:r>
              <a:rPr lang="en-US" sz="2400" spc="-10" dirty="0">
                <a:latin typeface="Calibri"/>
                <a:cs typeface="Calibri"/>
              </a:rPr>
              <a:t>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any </a:t>
            </a:r>
            <a:r>
              <a:rPr sz="2400" dirty="0">
                <a:latin typeface="Calibri"/>
                <a:cs typeface="Calibri"/>
              </a:rPr>
              <a:t>limit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2777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The</a:t>
            </a:r>
            <a:r>
              <a:rPr spc="-165" dirty="0"/>
              <a:t> </a:t>
            </a:r>
            <a:r>
              <a:rPr spc="-25" dirty="0"/>
              <a:t>Limits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2995" y="1736801"/>
            <a:ext cx="10979405" cy="4081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97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Linux currently provides </a:t>
            </a:r>
            <a:r>
              <a:rPr sz="2600" dirty="0">
                <a:latin typeface="Calibri"/>
                <a:cs typeface="Calibri"/>
              </a:rPr>
              <a:t>16 </a:t>
            </a:r>
            <a:r>
              <a:rPr sz="2600" spc="-10" dirty="0">
                <a:latin typeface="Calibri"/>
                <a:cs typeface="Calibri"/>
              </a:rPr>
              <a:t>resource </a:t>
            </a:r>
            <a:r>
              <a:rPr sz="2600" dirty="0">
                <a:latin typeface="Calibri"/>
                <a:cs typeface="Calibri"/>
              </a:rPr>
              <a:t>limits </a:t>
            </a:r>
            <a:r>
              <a:rPr sz="2600" spc="-5" dirty="0">
                <a:latin typeface="Calibri"/>
                <a:cs typeface="Calibri"/>
              </a:rPr>
              <a:t>(some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spc="-5" dirty="0">
                <a:latin typeface="Calibri"/>
                <a:cs typeface="Calibri"/>
              </a:rPr>
              <a:t>listed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here</a:t>
            </a:r>
            <a:r>
              <a:rPr lang="en-US" sz="2600" spc="-10" dirty="0">
                <a:latin typeface="Calibri"/>
                <a:cs typeface="Calibri"/>
              </a:rPr>
              <a:t>:</a:t>
            </a:r>
            <a:r>
              <a:rPr sz="2600" spc="-10" dirty="0">
                <a:latin typeface="Calibri"/>
                <a:cs typeface="Calibri"/>
              </a:rPr>
              <a:t>)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solidFill>
                  <a:srgbClr val="0070C0"/>
                </a:solidFill>
                <a:latin typeface="Consolas"/>
              </a:rPr>
              <a:t>RLIMIT_AS</a:t>
            </a:r>
            <a:r>
              <a:rPr sz="2200" spc="-5" dirty="0">
                <a:latin typeface="Calibri"/>
                <a:cs typeface="Calibri"/>
              </a:rPr>
              <a:t>: </a:t>
            </a:r>
            <a:r>
              <a:rPr sz="2200" spc="-15" dirty="0">
                <a:latin typeface="Calibri"/>
                <a:cs typeface="Calibri"/>
              </a:rPr>
              <a:t>max </a:t>
            </a:r>
            <a:r>
              <a:rPr sz="2200" spc="-20" dirty="0">
                <a:latin typeface="Calibri"/>
                <a:cs typeface="Calibri"/>
              </a:rPr>
              <a:t>size </a:t>
            </a:r>
            <a:r>
              <a:rPr sz="2200" spc="-5" dirty="0">
                <a:latin typeface="Calibri"/>
                <a:cs typeface="Calibri"/>
              </a:rPr>
              <a:t>of a </a:t>
            </a:r>
            <a:r>
              <a:rPr sz="2200" spc="-10" dirty="0">
                <a:latin typeface="Calibri"/>
                <a:cs typeface="Calibri"/>
              </a:rPr>
              <a:t>process’</a:t>
            </a:r>
            <a:r>
              <a:rPr lang="en-US" sz="2200" spc="-10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 address </a:t>
            </a:r>
            <a:r>
              <a:rPr sz="2200" spc="-5" dirty="0">
                <a:latin typeface="Calibri"/>
                <a:cs typeface="Calibri"/>
              </a:rPr>
              <a:t>space</a:t>
            </a:r>
            <a:r>
              <a:rPr lang="en-US" sz="2200" spc="-5" dirty="0">
                <a:latin typeface="Calibri"/>
                <a:cs typeface="Calibri"/>
              </a:rPr>
              <a:t> (memory chunk)</a:t>
            </a:r>
            <a:r>
              <a:rPr sz="2200" spc="-5" dirty="0">
                <a:latin typeface="Calibri"/>
                <a:cs typeface="Calibri"/>
              </a:rPr>
              <a:t>, in</a:t>
            </a:r>
            <a:r>
              <a:rPr sz="2200" spc="10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bytes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solidFill>
                  <a:srgbClr val="0070C0"/>
                </a:solidFill>
                <a:latin typeface="Consolas"/>
              </a:rPr>
              <a:t>RLIMIT_CORE</a:t>
            </a:r>
            <a:r>
              <a:rPr sz="2200" spc="-10" dirty="0">
                <a:latin typeface="Calibri"/>
                <a:cs typeface="Calibri"/>
              </a:rPr>
              <a:t>: </a:t>
            </a:r>
            <a:r>
              <a:rPr sz="2200" spc="-15" dirty="0">
                <a:latin typeface="Calibri"/>
                <a:cs typeface="Calibri"/>
              </a:rPr>
              <a:t>max size </a:t>
            </a:r>
            <a:r>
              <a:rPr sz="2200" spc="-5" dirty="0">
                <a:latin typeface="Calibri"/>
                <a:cs typeface="Calibri"/>
              </a:rPr>
              <a:t>of </a:t>
            </a:r>
            <a:r>
              <a:rPr sz="2200" spc="-20" dirty="0">
                <a:latin typeface="Calibri"/>
                <a:cs typeface="Calibri"/>
              </a:rPr>
              <a:t>core </a:t>
            </a:r>
            <a:r>
              <a:rPr lang="en-US" sz="2200" spc="-20" dirty="0">
                <a:latin typeface="Calibri"/>
                <a:cs typeface="Calibri"/>
              </a:rPr>
              <a:t>dump </a:t>
            </a:r>
            <a:r>
              <a:rPr sz="2200" spc="-10" dirty="0">
                <a:latin typeface="Calibri"/>
                <a:cs typeface="Calibri"/>
              </a:rPr>
              <a:t>files,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5" dirty="0">
                <a:latin typeface="Calibri"/>
                <a:cs typeface="Calibri"/>
              </a:rPr>
              <a:t>bytes </a:t>
            </a:r>
            <a:r>
              <a:rPr sz="2200" spc="-5" dirty="0">
                <a:latin typeface="Calibri"/>
                <a:cs typeface="Calibri"/>
              </a:rPr>
              <a:t>(if 0, </a:t>
            </a:r>
            <a:r>
              <a:rPr sz="2200" spc="-20" dirty="0">
                <a:latin typeface="Calibri"/>
                <a:cs typeface="Calibri"/>
              </a:rPr>
              <a:t>core </a:t>
            </a:r>
            <a:r>
              <a:rPr lang="en-US" sz="2200" spc="-5" dirty="0">
                <a:latin typeface="Calibri"/>
                <a:cs typeface="Calibri"/>
              </a:rPr>
              <a:t>dump</a:t>
            </a:r>
            <a:r>
              <a:rPr sz="2200" spc="-5" dirty="0">
                <a:latin typeface="Calibri"/>
                <a:cs typeface="Calibri"/>
              </a:rPr>
              <a:t>s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spc="-15" dirty="0">
                <a:latin typeface="Calibri"/>
                <a:cs typeface="Calibri"/>
              </a:rPr>
              <a:t>never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created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r>
              <a:rPr sz="2200" spc="-15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solidFill>
                  <a:srgbClr val="0070C0"/>
                </a:solidFill>
                <a:latin typeface="Consolas"/>
              </a:rPr>
              <a:t>RLIMIT_CPU</a:t>
            </a:r>
            <a:r>
              <a:rPr sz="2200" spc="-5" dirty="0">
                <a:latin typeface="Calibri"/>
                <a:cs typeface="Calibri"/>
              </a:rPr>
              <a:t>: </a:t>
            </a:r>
            <a:r>
              <a:rPr sz="2200" spc="-15" dirty="0">
                <a:latin typeface="Calibri"/>
                <a:cs typeface="Calibri"/>
              </a:rPr>
              <a:t>max </a:t>
            </a:r>
            <a:r>
              <a:rPr sz="2200" spc="-5" dirty="0">
                <a:latin typeface="Calibri"/>
                <a:cs typeface="Calibri"/>
              </a:rPr>
              <a:t>CPU time </a:t>
            </a:r>
            <a:r>
              <a:rPr sz="2200" spc="-10" dirty="0">
                <a:latin typeface="Calibri"/>
                <a:cs typeface="Calibri"/>
              </a:rPr>
              <a:t>that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process </a:t>
            </a:r>
            <a:r>
              <a:rPr sz="2200" spc="-15" dirty="0">
                <a:latin typeface="Calibri"/>
                <a:cs typeface="Calibri"/>
              </a:rPr>
              <a:t>can </a:t>
            </a:r>
            <a:r>
              <a:rPr sz="2200" spc="-10" dirty="0">
                <a:latin typeface="Calibri"/>
                <a:cs typeface="Calibri"/>
              </a:rPr>
              <a:t>consume,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seconds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solidFill>
                  <a:srgbClr val="0070C0"/>
                </a:solidFill>
                <a:latin typeface="Consolas"/>
              </a:rPr>
              <a:t>RLIMIT_DATA</a:t>
            </a:r>
            <a:r>
              <a:rPr sz="2200" spc="-35" dirty="0">
                <a:latin typeface="Calibri"/>
                <a:cs typeface="Calibri"/>
              </a:rPr>
              <a:t>: </a:t>
            </a:r>
            <a:r>
              <a:rPr sz="2200" spc="-15" dirty="0">
                <a:latin typeface="Calibri"/>
                <a:cs typeface="Calibri"/>
              </a:rPr>
              <a:t>max </a:t>
            </a:r>
            <a:r>
              <a:rPr sz="2200" spc="-20" dirty="0">
                <a:latin typeface="Calibri"/>
                <a:cs typeface="Calibri"/>
              </a:rPr>
              <a:t>size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lang="en-US" sz="2200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process’</a:t>
            </a:r>
            <a:r>
              <a:rPr lang="en-US" sz="2200" spc="-10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segment</a:t>
            </a:r>
            <a:r>
              <a:rPr lang="en-US" sz="2200" spc="-10" dirty="0">
                <a:latin typeface="Calibri"/>
                <a:cs typeface="Calibri"/>
              </a:rPr>
              <a:t> of the address space</a:t>
            </a:r>
            <a:r>
              <a:rPr sz="2200" spc="-5" dirty="0">
                <a:latin typeface="Calibri"/>
                <a:cs typeface="Calibri"/>
              </a:rPr>
              <a:t>, in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bytes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5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solidFill>
                  <a:srgbClr val="0070C0"/>
                </a:solidFill>
                <a:latin typeface="Consolas"/>
              </a:rPr>
              <a:t>RLIMIT_FSIZE</a:t>
            </a:r>
            <a:r>
              <a:rPr sz="2200" spc="-10" dirty="0">
                <a:latin typeface="Calibri"/>
                <a:cs typeface="Calibri"/>
              </a:rPr>
              <a:t>: </a:t>
            </a:r>
            <a:r>
              <a:rPr sz="2200" spc="-15" dirty="0">
                <a:latin typeface="Calibri"/>
                <a:cs typeface="Calibri"/>
              </a:rPr>
              <a:t>max </a:t>
            </a:r>
            <a:r>
              <a:rPr sz="2200" spc="-5" dirty="0">
                <a:latin typeface="Calibri"/>
                <a:cs typeface="Calibri"/>
              </a:rPr>
              <a:t>file </a:t>
            </a:r>
            <a:r>
              <a:rPr sz="2200" spc="-15" dirty="0">
                <a:latin typeface="Calibri"/>
                <a:cs typeface="Calibri"/>
              </a:rPr>
              <a:t>size </a:t>
            </a:r>
            <a:r>
              <a:rPr sz="2200" spc="-10" dirty="0">
                <a:latin typeface="Calibri"/>
                <a:cs typeface="Calibri"/>
              </a:rPr>
              <a:t>that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process </a:t>
            </a:r>
            <a:r>
              <a:rPr sz="2200" spc="-15" dirty="0">
                <a:latin typeface="Calibri"/>
                <a:cs typeface="Calibri"/>
              </a:rPr>
              <a:t>may create,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bytes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solidFill>
                  <a:srgbClr val="0070C0"/>
                </a:solidFill>
                <a:latin typeface="Consolas"/>
              </a:rPr>
              <a:t>RLIMIT_LOCKS</a:t>
            </a:r>
            <a:r>
              <a:rPr sz="2200" spc="-10" dirty="0">
                <a:latin typeface="Calibri"/>
                <a:cs typeface="Calibri"/>
              </a:rPr>
              <a:t>: </a:t>
            </a:r>
            <a:r>
              <a:rPr sz="2200" spc="-15" dirty="0">
                <a:latin typeface="Calibri"/>
                <a:cs typeface="Calibri"/>
              </a:rPr>
              <a:t>max </a:t>
            </a:r>
            <a:r>
              <a:rPr lang="en-US" sz="2200" spc="-5" dirty="0">
                <a:latin typeface="Calibri"/>
                <a:cs typeface="Calibri"/>
              </a:rPr>
              <a:t>amount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file </a:t>
            </a:r>
            <a:r>
              <a:rPr sz="2200" spc="-10" dirty="0">
                <a:latin typeface="Calibri"/>
                <a:cs typeface="Calibri"/>
              </a:rPr>
              <a:t>locks that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process </a:t>
            </a:r>
            <a:r>
              <a:rPr sz="2200" spc="-15" dirty="0">
                <a:latin typeface="Calibri"/>
                <a:cs typeface="Calibri"/>
              </a:rPr>
              <a:t>may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hold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solidFill>
                  <a:srgbClr val="0070C0"/>
                </a:solidFill>
                <a:latin typeface="Consolas"/>
              </a:rPr>
              <a:t>RLIMIT_NICE</a:t>
            </a:r>
            <a:r>
              <a:rPr sz="2200" spc="-5" dirty="0">
                <a:latin typeface="Calibri"/>
                <a:cs typeface="Calibri"/>
              </a:rPr>
              <a:t>: </a:t>
            </a:r>
            <a:r>
              <a:rPr sz="2200" spc="-15" dirty="0">
                <a:latin typeface="Calibri"/>
                <a:cs typeface="Calibri"/>
              </a:rPr>
              <a:t>max </a:t>
            </a:r>
            <a:r>
              <a:rPr sz="2200" spc="-10" dirty="0">
                <a:latin typeface="Calibri"/>
                <a:cs typeface="Calibri"/>
              </a:rPr>
              <a:t>value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which a </a:t>
            </a:r>
            <a:r>
              <a:rPr sz="2200" spc="-10" dirty="0">
                <a:latin typeface="Calibri"/>
                <a:cs typeface="Calibri"/>
              </a:rPr>
              <a:t>process </a:t>
            </a:r>
            <a:r>
              <a:rPr sz="2200" spc="-15" dirty="0">
                <a:latin typeface="Calibri"/>
                <a:cs typeface="Calibri"/>
              </a:rPr>
              <a:t>can </a:t>
            </a:r>
            <a:r>
              <a:rPr sz="2200" spc="-10" dirty="0">
                <a:latin typeface="Calibri"/>
                <a:cs typeface="Calibri"/>
              </a:rPr>
              <a:t>lower </a:t>
            </a:r>
            <a:r>
              <a:rPr sz="2200" spc="-5" dirty="0">
                <a:latin typeface="Calibri"/>
                <a:cs typeface="Calibri"/>
              </a:rPr>
              <a:t>its </a:t>
            </a:r>
            <a:r>
              <a:rPr sz="2200" spc="-10" dirty="0">
                <a:latin typeface="Calibri"/>
                <a:cs typeface="Calibri"/>
              </a:rPr>
              <a:t>nice value </a:t>
            </a:r>
            <a:r>
              <a:rPr sz="2200" spc="-15" dirty="0">
                <a:latin typeface="Calibri"/>
                <a:cs typeface="Calibri"/>
              </a:rPr>
              <a:t>(raise </a:t>
            </a:r>
            <a:r>
              <a:rPr sz="2200" spc="-5" dirty="0">
                <a:latin typeface="Calibri"/>
                <a:cs typeface="Calibri"/>
              </a:rPr>
              <a:t>its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priority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r>
              <a:rPr sz="2200" spc="-5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solidFill>
                  <a:srgbClr val="0070C0"/>
                </a:solidFill>
                <a:latin typeface="Consolas"/>
              </a:rPr>
              <a:t>RLIMIT_NOFILE</a:t>
            </a:r>
            <a:r>
              <a:rPr sz="2200" spc="-5" dirty="0">
                <a:latin typeface="Calibri"/>
                <a:cs typeface="Calibri"/>
              </a:rPr>
              <a:t>/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RLIMIT_NPROC</a:t>
            </a:r>
            <a:r>
              <a:rPr sz="2200" spc="-5" dirty="0">
                <a:latin typeface="Calibri"/>
                <a:cs typeface="Calibri"/>
              </a:rPr>
              <a:t>: </a:t>
            </a:r>
            <a:r>
              <a:rPr sz="2200" spc="-15" dirty="0">
                <a:latin typeface="Calibri"/>
                <a:cs typeface="Calibri"/>
              </a:rPr>
              <a:t>max </a:t>
            </a:r>
            <a:r>
              <a:rPr lang="en-US" sz="2200" spc="-5" dirty="0">
                <a:latin typeface="Calibri"/>
                <a:cs typeface="Calibri"/>
              </a:rPr>
              <a:t>#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200" spc="-55" dirty="0" err="1">
                <a:latin typeface="Calibri"/>
                <a:cs typeface="Calibri"/>
              </a:rPr>
              <a:t>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open and # of </a:t>
            </a:r>
            <a:r>
              <a:rPr sz="2200" spc="-10" dirty="0">
                <a:latin typeface="Calibri"/>
                <a:cs typeface="Calibri"/>
              </a:rPr>
              <a:t>processes</a:t>
            </a:r>
            <a:r>
              <a:rPr sz="2200" spc="19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running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100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solidFill>
                  <a:srgbClr val="0070C0"/>
                </a:solidFill>
                <a:latin typeface="Consolas"/>
              </a:rPr>
              <a:t>RLIMIT_RTTIME</a:t>
            </a:r>
            <a:r>
              <a:rPr sz="2200" spc="-10" dirty="0">
                <a:latin typeface="Calibri"/>
                <a:cs typeface="Calibri"/>
              </a:rPr>
              <a:t>: </a:t>
            </a:r>
            <a:r>
              <a:rPr sz="2200" spc="-5" dirty="0">
                <a:latin typeface="Calibri"/>
                <a:cs typeface="Calibri"/>
              </a:rPr>
              <a:t>a limit on CPU time a </a:t>
            </a:r>
            <a:r>
              <a:rPr lang="en-US" sz="2200" spc="-20" dirty="0">
                <a:latin typeface="Calibri"/>
                <a:cs typeface="Calibri"/>
              </a:rPr>
              <a:t>real-time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process </a:t>
            </a:r>
            <a:r>
              <a:rPr sz="2200" spc="-15" dirty="0">
                <a:latin typeface="Calibri"/>
                <a:cs typeface="Calibri"/>
              </a:rPr>
              <a:t>may </a:t>
            </a:r>
            <a:r>
              <a:rPr sz="2200" spc="-10" dirty="0">
                <a:latin typeface="Calibri"/>
                <a:cs typeface="Calibri"/>
              </a:rPr>
              <a:t>consume </a:t>
            </a:r>
            <a:r>
              <a:rPr sz="2200" spc="-5" dirty="0">
                <a:latin typeface="Calibri"/>
                <a:cs typeface="Calibri"/>
              </a:rPr>
              <a:t>without blocking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(in</a:t>
            </a:r>
            <a:r>
              <a:rPr lang="en-US" sz="2200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m</a:t>
            </a:r>
            <a:r>
              <a:rPr sz="2200" spc="-10" dirty="0">
                <a:latin typeface="Calibri"/>
                <a:cs typeface="Calibri"/>
              </a:rPr>
              <a:t>icrosec</a:t>
            </a:r>
            <a:r>
              <a:rPr lang="en-US" sz="2200" spc="-10" dirty="0">
                <a:latin typeface="Calibri"/>
                <a:cs typeface="Calibri"/>
              </a:rPr>
              <a:t>onds.</a:t>
            </a:r>
            <a:r>
              <a:rPr sz="2200" spc="-10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490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solidFill>
                  <a:srgbClr val="0070C0"/>
                </a:solidFill>
                <a:latin typeface="Consolas"/>
              </a:rPr>
              <a:t>RLIMIT_RTPRIO</a:t>
            </a:r>
            <a:r>
              <a:rPr sz="2200" spc="-10" dirty="0">
                <a:latin typeface="Calibri"/>
                <a:cs typeface="Calibri"/>
              </a:rPr>
              <a:t>: </a:t>
            </a:r>
            <a:r>
              <a:rPr sz="2200" spc="-15" dirty="0">
                <a:latin typeface="Calibri"/>
                <a:cs typeface="Calibri"/>
              </a:rPr>
              <a:t>max </a:t>
            </a:r>
            <a:r>
              <a:rPr lang="en-US" sz="2200" spc="-20" dirty="0">
                <a:latin typeface="Calibri"/>
                <a:cs typeface="Calibri"/>
              </a:rPr>
              <a:t>real-time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priority </a:t>
            </a:r>
            <a:r>
              <a:rPr sz="2200" spc="-10" dirty="0">
                <a:latin typeface="Calibri"/>
                <a:cs typeface="Calibri"/>
              </a:rPr>
              <a:t>level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nonroot process </a:t>
            </a:r>
            <a:r>
              <a:rPr sz="2200" spc="-15" dirty="0">
                <a:latin typeface="Calibri"/>
                <a:cs typeface="Calibri"/>
              </a:rPr>
              <a:t>may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request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Refer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lang="en-US" sz="2600" dirty="0">
                <a:latin typeface="Calibri"/>
                <a:cs typeface="Calibri"/>
              </a:rPr>
              <a:t>pages 205-207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lang="en-US" sz="2600" spc="-25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detailed </a:t>
            </a:r>
            <a:r>
              <a:rPr sz="2600" dirty="0">
                <a:latin typeface="Calibri"/>
                <a:cs typeface="Calibri"/>
              </a:rPr>
              <a:t>discussion </a:t>
            </a:r>
            <a:r>
              <a:rPr sz="2600" spc="-5" dirty="0">
                <a:latin typeface="Calibri"/>
                <a:cs typeface="Calibri"/>
              </a:rPr>
              <a:t>on </a:t>
            </a:r>
            <a:r>
              <a:rPr lang="en-US" sz="2600" dirty="0">
                <a:latin typeface="Calibri"/>
                <a:cs typeface="Calibri"/>
              </a:rPr>
              <a:t>all 16 limit types.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9591FD-F7E1-D731-9069-FE1804832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067" y="533400"/>
            <a:ext cx="4885867" cy="5923223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A6C44D51-0596-A178-EFCA-3E37B3213E8B}"/>
              </a:ext>
            </a:extLst>
          </p:cNvPr>
          <p:cNvSpPr txBox="1">
            <a:spLocks/>
          </p:cNvSpPr>
          <p:nvPr/>
        </p:nvSpPr>
        <p:spPr>
          <a:xfrm>
            <a:off x="916939" y="609676"/>
            <a:ext cx="22777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 sz="4400" spc="-20" dirty="0">
                <a:solidFill>
                  <a:srgbClr val="001F5F"/>
                </a:solidFill>
                <a:latin typeface="Calibri Light"/>
                <a:cs typeface="Calibri Light"/>
              </a:rPr>
              <a:t>Defaults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2459E1E3-2560-18C0-5002-8E7F9387DA9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266438" y="6464985"/>
            <a:ext cx="36607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B90AC0-5763-8528-0D27-DEEEEEBAC41E}"/>
              </a:ext>
            </a:extLst>
          </p:cNvPr>
          <p:cNvSpPr txBox="1"/>
          <p:nvPr/>
        </p:nvSpPr>
        <p:spPr>
          <a:xfrm>
            <a:off x="8763001" y="5562600"/>
            <a:ext cx="28193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Taken from page 208 in our textbook.</a:t>
            </a:r>
          </a:p>
        </p:txBody>
      </p:sp>
    </p:spTree>
    <p:extLst>
      <p:ext uri="{BB962C8B-B14F-4D97-AF65-F5344CB8AC3E}">
        <p14:creationId xmlns:p14="http://schemas.microsoft.com/office/powerpoint/2010/main" val="15145987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191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Examples </a:t>
            </a:r>
            <a:r>
              <a:rPr spc="-15" dirty="0"/>
              <a:t>of </a:t>
            </a:r>
            <a:r>
              <a:rPr spc="-35" dirty="0"/>
              <a:t>Setting/Retrieving</a:t>
            </a:r>
            <a:r>
              <a:rPr spc="-204" dirty="0"/>
              <a:t> </a:t>
            </a:r>
            <a:r>
              <a:rPr spc="-25" dirty="0"/>
              <a:t>Limits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3978" y="5801001"/>
            <a:ext cx="3978021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-1 </a:t>
            </a:r>
            <a:r>
              <a:rPr sz="2400" spc="-10" dirty="0">
                <a:latin typeface="Calibri"/>
                <a:cs typeface="Calibri"/>
              </a:rPr>
              <a:t>denotes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Consolas"/>
              </a:rPr>
              <a:t>RLIM_INFINITY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1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3979" y="1773945"/>
            <a:ext cx="5143500" cy="290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>
            <a:spLocks noChangeAspect="1"/>
          </p:cNvSpPr>
          <p:nvPr/>
        </p:nvSpPr>
        <p:spPr>
          <a:xfrm>
            <a:off x="838200" y="5552296"/>
            <a:ext cx="4415129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17741" y="2542794"/>
            <a:ext cx="5581650" cy="24098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317741" y="5344512"/>
            <a:ext cx="5417059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10" dirty="0">
                <a:latin typeface="Calibri"/>
                <a:cs typeface="Calibri"/>
              </a:rPr>
              <a:t>Above,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lang="en-US" sz="2400" spc="-15" dirty="0">
                <a:latin typeface="Calibri"/>
                <a:cs typeface="Calibri"/>
              </a:rPr>
              <a:t>limit of the size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of a core dump file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set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32 MB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03CBAB4E-2607-ECAF-672B-399D7CBA744D}"/>
              </a:ext>
            </a:extLst>
          </p:cNvPr>
          <p:cNvSpPr txBox="1"/>
          <p:nvPr/>
        </p:nvSpPr>
        <p:spPr>
          <a:xfrm>
            <a:off x="593978" y="5029200"/>
            <a:ext cx="4282821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The above program’s output is:</a:t>
            </a:r>
            <a:endParaRPr sz="2400" dirty="0">
              <a:latin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790</TotalTime>
  <Words>5321</Words>
  <Application>Microsoft Office PowerPoint</Application>
  <PresentationFormat>Widescreen</PresentationFormat>
  <Paragraphs>384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Calibri</vt:lpstr>
      <vt:lpstr>Calibri Light</vt:lpstr>
      <vt:lpstr>Cambria</vt:lpstr>
      <vt:lpstr>Cambria Math</vt:lpstr>
      <vt:lpstr>Consolas</vt:lpstr>
      <vt:lpstr>Courier New</vt:lpstr>
      <vt:lpstr>Times New Roman</vt:lpstr>
      <vt:lpstr>Wingdings</vt:lpstr>
      <vt:lpstr>Office Theme</vt:lpstr>
      <vt:lpstr>Linux System Programming Talking directly to the kernel and C library</vt:lpstr>
      <vt:lpstr>Ch6 – Advanced Process Management</vt:lpstr>
      <vt:lpstr>Ch6 – Advanced Process Management</vt:lpstr>
      <vt:lpstr>Multitasking: Cooperative or Preemptive</vt:lpstr>
      <vt:lpstr>Time Slices</vt:lpstr>
      <vt:lpstr>I/O-Bound Versus Processor-Bound</vt:lpstr>
      <vt:lpstr>Preemptive Scheduling</vt:lpstr>
      <vt:lpstr>The Completely Fair Scheduler (CFS)</vt:lpstr>
      <vt:lpstr>Target Latency: Example</vt:lpstr>
      <vt:lpstr>Yielding the Processor</vt:lpstr>
      <vt:lpstr>Process Priorities</vt:lpstr>
      <vt:lpstr>Examples of Setting Nice Values</vt:lpstr>
      <vt:lpstr>getpriority() and setpriority()</vt:lpstr>
      <vt:lpstr>Examples of getpriority()/setpriority()</vt:lpstr>
      <vt:lpstr>Processor Affinity</vt:lpstr>
      <vt:lpstr>sched_getaffinity() and sched_setaffinity()</vt:lpstr>
      <vt:lpstr>Example of Getting and Setting Affinity</vt:lpstr>
      <vt:lpstr>Real-Time Systems</vt:lpstr>
      <vt:lpstr>Latency, Jitter, and Deadlines</vt:lpstr>
      <vt:lpstr>Linux’s Real-Time (RT) Support</vt:lpstr>
      <vt:lpstr>Linux Scheduling Policies and Priorities</vt:lpstr>
      <vt:lpstr>The First-in, First-out Policy</vt:lpstr>
      <vt:lpstr>The Round-Robin Policy</vt:lpstr>
      <vt:lpstr>The Normal and the Special Idle Policy</vt:lpstr>
      <vt:lpstr>Setting the Linux Scheduling Policy</vt:lpstr>
      <vt:lpstr>Examples of Getting/Setting the Policy</vt:lpstr>
      <vt:lpstr>Setting Scheduling Parameters</vt:lpstr>
      <vt:lpstr>Determining the Range of Valid Priorities</vt:lpstr>
      <vt:lpstr>Examples of  Getting/Setting Priority</vt:lpstr>
      <vt:lpstr>sched_rr_get_interval()</vt:lpstr>
      <vt:lpstr>Precautions with Real-Time Processes</vt:lpstr>
      <vt:lpstr>Determinism</vt:lpstr>
      <vt:lpstr>Assigning the RT Process to Run on CPU #1 Only</vt:lpstr>
      <vt:lpstr>Resource Limits</vt:lpstr>
      <vt:lpstr>More on Resource Limits</vt:lpstr>
      <vt:lpstr>The Limits</vt:lpstr>
      <vt:lpstr>PowerPoint Presentation</vt:lpstr>
      <vt:lpstr>Examples of Setting/Retrieving Limits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Programming</dc:title>
  <dc:creator>xiang</dc:creator>
  <cp:lastModifiedBy>Miriam Briskman</cp:lastModifiedBy>
  <cp:revision>284</cp:revision>
  <dcterms:created xsi:type="dcterms:W3CDTF">2021-02-04T01:13:10Z</dcterms:created>
  <dcterms:modified xsi:type="dcterms:W3CDTF">2023-03-27T09:44:23Z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2020-03-24T00:00:00Z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2021-02-04T00:00:00Z</vt:filetime>
  </property>
</Properties>
</file>