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9" r:id="rId5"/>
    <p:sldId id="268" r:id="rId6"/>
    <p:sldId id="259" r:id="rId7"/>
    <p:sldId id="260" r:id="rId8"/>
    <p:sldId id="27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924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CADD3B-23CB-4124-A851-947A147759C4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B6C12-F5AB-4DFA-A0D2-BDEA86E19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06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35175" y="2132428"/>
            <a:ext cx="8121649" cy="1762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23468" y="1584452"/>
            <a:ext cx="5054600" cy="4298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62788"/>
            <a:ext cx="496443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65757"/>
            <a:ext cx="10121900" cy="4309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66438" y="6464985"/>
            <a:ext cx="36607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s://images.app.goo.gl/H6sRAEv8fSQ8TE6g7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68935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2905"/>
              </a:spcBef>
            </a:pPr>
            <a:r>
              <a:rPr spc="-35" dirty="0"/>
              <a:t>Linux </a:t>
            </a:r>
            <a:r>
              <a:rPr spc="-80" dirty="0"/>
              <a:t>System</a:t>
            </a:r>
            <a:r>
              <a:rPr spc="-265" dirty="0"/>
              <a:t> </a:t>
            </a:r>
            <a:r>
              <a:rPr spc="-80" dirty="0"/>
              <a:t>Programming</a:t>
            </a:r>
          </a:p>
          <a:p>
            <a:pPr marL="8255" marR="3175" algn="ctr">
              <a:lnSpc>
                <a:spcPct val="100000"/>
              </a:lnSpc>
              <a:spcBef>
                <a:spcPts val="1025"/>
              </a:spcBef>
            </a:pPr>
            <a:r>
              <a:rPr sz="2200" b="0" spc="-30" dirty="0">
                <a:solidFill>
                  <a:srgbClr val="000000"/>
                </a:solidFill>
                <a:latin typeface="Calibri"/>
                <a:cs typeface="Calibri"/>
              </a:rPr>
              <a:t>Talking </a:t>
            </a:r>
            <a:r>
              <a:rPr sz="2200" b="0" spc="-10" dirty="0">
                <a:solidFill>
                  <a:srgbClr val="000000"/>
                </a:solidFill>
                <a:latin typeface="Calibri"/>
                <a:cs typeface="Calibri"/>
              </a:rPr>
              <a:t>directly </a:t>
            </a:r>
            <a:r>
              <a:rPr sz="2200" b="0" spc="-20" dirty="0">
                <a:solidFill>
                  <a:srgbClr val="000000"/>
                </a:solidFill>
                <a:latin typeface="Calibri"/>
                <a:cs typeface="Calibri"/>
              </a:rPr>
              <a:t>to </a:t>
            </a:r>
            <a:r>
              <a:rPr sz="2200" b="0" spc="-5" dirty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sz="2200" b="0" spc="-15" dirty="0">
                <a:solidFill>
                  <a:srgbClr val="000000"/>
                </a:solidFill>
                <a:latin typeface="Calibri"/>
                <a:cs typeface="Calibri"/>
              </a:rPr>
              <a:t>kernel </a:t>
            </a:r>
            <a:r>
              <a:rPr sz="2200" b="0" spc="-5" dirty="0">
                <a:solidFill>
                  <a:srgbClr val="000000"/>
                </a:solidFill>
                <a:latin typeface="Calibri"/>
                <a:cs typeface="Calibri"/>
              </a:rPr>
              <a:t>and C</a:t>
            </a:r>
            <a:r>
              <a:rPr sz="2200" b="0" spc="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0000"/>
                </a:solidFill>
                <a:latin typeface="Calibri"/>
                <a:cs typeface="Calibri"/>
              </a:rPr>
              <a:t>library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89073" y="4534027"/>
            <a:ext cx="72129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"/>
                <a:cs typeface="Calibri"/>
              </a:rPr>
              <a:t>Memory </a:t>
            </a:r>
            <a:r>
              <a:rPr sz="4000" spc="-10" dirty="0">
                <a:latin typeface="Calibri"/>
                <a:cs typeface="Calibri"/>
              </a:rPr>
              <a:t>Management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0D8ED8-17E7-06AD-2075-2F4A14B5C56E}"/>
              </a:ext>
            </a:extLst>
          </p:cNvPr>
          <p:cNvSpPr txBox="1"/>
          <p:nvPr/>
        </p:nvSpPr>
        <p:spPr>
          <a:xfrm>
            <a:off x="2776854" y="6019800"/>
            <a:ext cx="663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Adapted from slides of </a:t>
            </a:r>
            <a:r>
              <a:rPr lang="en-US" b="1" dirty="0"/>
              <a:t>Professor Yongqing Xiang </a:t>
            </a:r>
            <a:r>
              <a:rPr lang="en-US" dirty="0"/>
              <a:t>of Brooklyn College.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9829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Ch9 </a:t>
            </a:r>
            <a:r>
              <a:rPr spc="-30" dirty="0"/>
              <a:t>Memory</a:t>
            </a:r>
            <a:r>
              <a:rPr spc="-280" dirty="0"/>
              <a:t> </a:t>
            </a:r>
            <a:r>
              <a:rPr spc="-45" dirty="0"/>
              <a:t>Management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6938" y="1706841"/>
            <a:ext cx="10665461" cy="43700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Memory is among the </a:t>
            </a:r>
            <a:r>
              <a:rPr sz="2800" spc="-10" dirty="0">
                <a:latin typeface="Calibri"/>
                <a:cs typeface="Calibri"/>
              </a:rPr>
              <a:t>most </a:t>
            </a:r>
            <a:r>
              <a:rPr sz="2800" spc="-5" dirty="0">
                <a:latin typeface="Calibri"/>
                <a:cs typeface="Calibri"/>
              </a:rPr>
              <a:t>basic, </a:t>
            </a:r>
            <a:r>
              <a:rPr sz="2800" spc="-20" dirty="0">
                <a:latin typeface="Calibri"/>
                <a:cs typeface="Calibri"/>
              </a:rPr>
              <a:t>yet </a:t>
            </a:r>
            <a:r>
              <a:rPr sz="2800" spc="-5" dirty="0">
                <a:latin typeface="Calibri"/>
                <a:cs typeface="Calibri"/>
              </a:rPr>
              <a:t>essential </a:t>
            </a:r>
            <a:r>
              <a:rPr sz="2800" spc="-10" dirty="0">
                <a:latin typeface="Calibri"/>
                <a:cs typeface="Calibri"/>
              </a:rPr>
              <a:t>resources </a:t>
            </a:r>
            <a:r>
              <a:rPr lang="en-US" sz="2800" spc="-15" dirty="0">
                <a:latin typeface="Calibri"/>
                <a:cs typeface="Calibri"/>
              </a:rPr>
              <a:t>of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</a:t>
            </a:r>
            <a:r>
              <a:rPr lang="en-US" sz="2800" spc="-10" dirty="0">
                <a:latin typeface="Calibri"/>
                <a:cs typeface="Calibri"/>
              </a:rPr>
              <a:t>es.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Management </a:t>
            </a:r>
            <a:r>
              <a:rPr sz="2800" spc="-15" dirty="0">
                <a:latin typeface="Calibri"/>
                <a:cs typeface="Calibri"/>
              </a:rPr>
              <a:t>entails </a:t>
            </a:r>
            <a:r>
              <a:rPr sz="2800" spc="-10" dirty="0">
                <a:latin typeface="Calibri"/>
                <a:cs typeface="Calibri"/>
              </a:rPr>
              <a:t>allocation, </a:t>
            </a:r>
            <a:r>
              <a:rPr sz="2800" spc="-5" dirty="0">
                <a:latin typeface="Calibri"/>
                <a:cs typeface="Calibri"/>
              </a:rPr>
              <a:t>manipulation</a:t>
            </a:r>
            <a:r>
              <a:rPr lang="en-US" sz="2800" spc="-5" dirty="0">
                <a:latin typeface="Calibri"/>
                <a:cs typeface="Calibri"/>
              </a:rPr>
              <a:t>,</a:t>
            </a:r>
            <a:r>
              <a:rPr sz="2800" spc="-5" dirty="0">
                <a:latin typeface="Calibri"/>
                <a:cs typeface="Calibri"/>
              </a:rPr>
              <a:t> and </a:t>
            </a:r>
            <a:r>
              <a:rPr sz="2800" spc="-10" dirty="0">
                <a:latin typeface="Calibri"/>
                <a:cs typeface="Calibri"/>
              </a:rPr>
              <a:t>release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memory</a:t>
            </a:r>
            <a:r>
              <a:rPr lang="en-US" sz="280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p</a:t>
            </a:r>
            <a:r>
              <a:rPr sz="2800" spc="-10" dirty="0">
                <a:latin typeface="Calibri"/>
                <a:cs typeface="Calibri"/>
              </a:rPr>
              <a:t>rocess</a:t>
            </a:r>
            <a:r>
              <a:rPr lang="en-US" sz="2800" spc="-10" dirty="0">
                <a:latin typeface="Calibri"/>
                <a:cs typeface="Calibri"/>
              </a:rPr>
              <a:t>’s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a</a:t>
            </a:r>
            <a:r>
              <a:rPr sz="2800" spc="-10" dirty="0">
                <a:latin typeface="Calibri"/>
                <a:cs typeface="Calibri"/>
              </a:rPr>
              <a:t>ddress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pace</a:t>
            </a:r>
            <a:r>
              <a:rPr lang="en-US" sz="2800" spc="-5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Processes </a:t>
            </a:r>
            <a:r>
              <a:rPr sz="2400" spc="-5" dirty="0">
                <a:latin typeface="Calibri"/>
                <a:cs typeface="Calibri"/>
              </a:rPr>
              <a:t>do not </a:t>
            </a:r>
            <a:r>
              <a:rPr sz="2400" spc="-10" dirty="0">
                <a:latin typeface="Calibri"/>
                <a:cs typeface="Calibri"/>
              </a:rPr>
              <a:t>directly </a:t>
            </a:r>
            <a:r>
              <a:rPr lang="en-US" sz="2400" spc="-10" dirty="0">
                <a:latin typeface="Calibri"/>
                <a:cs typeface="Calibri"/>
              </a:rPr>
              <a:t>address (</a:t>
            </a:r>
            <a:r>
              <a:rPr lang="en-US" sz="2400" spc="-5" dirty="0">
                <a:latin typeface="Calibri"/>
                <a:cs typeface="Calibri"/>
              </a:rPr>
              <a:t>access)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physical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lang="en-US" sz="2400" dirty="0">
                <a:latin typeface="Calibri"/>
                <a:cs typeface="Calibri"/>
              </a:rPr>
              <a:t> (RAM).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Instead, </a:t>
            </a:r>
            <a:r>
              <a:rPr lang="en-US" sz="2400" spc="-1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kernel </a:t>
            </a:r>
            <a:r>
              <a:rPr sz="2400" spc="-10" dirty="0">
                <a:latin typeface="Calibri"/>
                <a:cs typeface="Calibri"/>
              </a:rPr>
              <a:t>associates </a:t>
            </a:r>
            <a:r>
              <a:rPr sz="2400" dirty="0">
                <a:latin typeface="Calibri"/>
                <a:cs typeface="Calibri"/>
              </a:rPr>
              <a:t>each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dirty="0">
                <a:latin typeface="Calibri"/>
                <a:cs typeface="Calibri"/>
              </a:rPr>
              <a:t>with a </a:t>
            </a:r>
            <a:r>
              <a:rPr sz="2400" spc="-5" dirty="0">
                <a:latin typeface="Calibri"/>
                <a:cs typeface="Calibri"/>
              </a:rPr>
              <a:t>unique </a:t>
            </a:r>
            <a:r>
              <a:rPr sz="2400" i="1" dirty="0">
                <a:latin typeface="Calibri"/>
                <a:cs typeface="Calibri"/>
              </a:rPr>
              <a:t>virtual </a:t>
            </a:r>
            <a:r>
              <a:rPr sz="2400" i="1" spc="-5" dirty="0">
                <a:latin typeface="Calibri"/>
                <a:cs typeface="Calibri"/>
              </a:rPr>
              <a:t>address</a:t>
            </a:r>
            <a:r>
              <a:rPr sz="2400" i="1" spc="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space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Virtual address space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both </a:t>
            </a:r>
            <a:r>
              <a:rPr sz="2400" i="1" dirty="0">
                <a:latin typeface="Calibri"/>
                <a:cs typeface="Calibri"/>
              </a:rPr>
              <a:t>linear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flat</a:t>
            </a:r>
            <a:r>
              <a:rPr lang="en-US" sz="2400" i="1" spc="-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(has no levels and depth.)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Pages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Paging</a:t>
            </a:r>
            <a:r>
              <a:rPr lang="en-US" sz="2800" spc="-15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Memory </a:t>
            </a:r>
            <a:r>
              <a:rPr sz="2400" spc="-15" dirty="0">
                <a:latin typeface="Calibri"/>
                <a:cs typeface="Calibri"/>
              </a:rPr>
              <a:t>hierarchy: </a:t>
            </a:r>
            <a:r>
              <a:rPr sz="2400" spc="-5" dirty="0">
                <a:latin typeface="Calibri"/>
                <a:cs typeface="Calibri"/>
              </a:rPr>
              <a:t>bits </a:t>
            </a:r>
            <a:r>
              <a:rPr lang="en-US" sz="2400" spc="-5" dirty="0">
                <a:latin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sz="2400" spc="-10" dirty="0">
                <a:latin typeface="Calibri"/>
                <a:cs typeface="Calibri"/>
              </a:rPr>
              <a:t>byte</a:t>
            </a:r>
            <a:r>
              <a:rPr lang="en-US" sz="2400" spc="-10" dirty="0">
                <a:latin typeface="Calibri"/>
                <a:cs typeface="Calibri"/>
              </a:rPr>
              <a:t>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  <a:sym typeface="Wingdings" panose="05000000000000000000" pitchFamily="2" charset="2"/>
              </a:rPr>
              <a:t>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words </a:t>
            </a:r>
            <a:r>
              <a:rPr lang="en-US" sz="2400" spc="-5" dirty="0">
                <a:latin typeface="Calibri"/>
                <a:cs typeface="Calibri"/>
                <a:sym typeface="Wingdings" panose="05000000000000000000" pitchFamily="2" charset="2"/>
              </a:rPr>
              <a:t>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pages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250190" lvl="1" indent="-228600">
              <a:lnSpc>
                <a:spcPts val="2590"/>
              </a:lnSpc>
              <a:spcBef>
                <a:spcPts val="545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400" spc="-20" dirty="0">
                <a:latin typeface="Calibri"/>
                <a:cs typeface="Calibri"/>
              </a:rPr>
              <a:t>A p</a:t>
            </a:r>
            <a:r>
              <a:rPr sz="2400" spc="-20" dirty="0">
                <a:latin typeface="Calibri"/>
                <a:cs typeface="Calibri"/>
              </a:rPr>
              <a:t>age </a:t>
            </a:r>
            <a:r>
              <a:rPr sz="2400" dirty="0">
                <a:latin typeface="Calibri"/>
                <a:cs typeface="Calibri"/>
              </a:rPr>
              <a:t>is the </a:t>
            </a:r>
            <a:r>
              <a:rPr sz="2400" spc="-10" dirty="0">
                <a:latin typeface="Calibri"/>
                <a:cs typeface="Calibri"/>
              </a:rPr>
              <a:t>smallest </a:t>
            </a:r>
            <a:r>
              <a:rPr sz="2400" spc="-5" dirty="0">
                <a:latin typeface="Calibri"/>
                <a:cs typeface="Calibri"/>
              </a:rPr>
              <a:t>addressable unit of </a:t>
            </a:r>
            <a:r>
              <a:rPr sz="2400" dirty="0">
                <a:latin typeface="Calibri"/>
                <a:cs typeface="Calibri"/>
              </a:rPr>
              <a:t>memory the memory </a:t>
            </a:r>
            <a:r>
              <a:rPr sz="2400" spc="-5" dirty="0">
                <a:latin typeface="Calibri"/>
                <a:cs typeface="Calibri"/>
              </a:rPr>
              <a:t>management  unit </a:t>
            </a:r>
            <a:r>
              <a:rPr lang="en-US" sz="2400" spc="-5" dirty="0">
                <a:latin typeface="Calibri"/>
                <a:cs typeface="Calibri"/>
              </a:rPr>
              <a:t>software </a:t>
            </a:r>
            <a:r>
              <a:rPr sz="2400" spc="-5" dirty="0">
                <a:latin typeface="Calibri"/>
                <a:cs typeface="Calibri"/>
              </a:rPr>
              <a:t>(MMU)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manage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8188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Pages </a:t>
            </a:r>
            <a:r>
              <a:rPr spc="-20" dirty="0"/>
              <a:t>and</a:t>
            </a:r>
            <a:r>
              <a:rPr spc="-200" dirty="0"/>
              <a:t> </a:t>
            </a:r>
            <a:r>
              <a:rPr spc="-45" dirty="0"/>
              <a:t>Paging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16939" y="1736801"/>
            <a:ext cx="10817861" cy="4448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600" spc="-5" dirty="0">
                <a:latin typeface="Calibri"/>
                <a:cs typeface="Calibri"/>
              </a:rPr>
              <a:t>The v</a:t>
            </a:r>
            <a:r>
              <a:rPr sz="2600" spc="-5" dirty="0">
                <a:latin typeface="Calibri"/>
                <a:cs typeface="Calibri"/>
              </a:rPr>
              <a:t>irtual </a:t>
            </a:r>
            <a:r>
              <a:rPr lang="en-US" sz="2600" spc="-5" dirty="0">
                <a:latin typeface="Calibri"/>
                <a:cs typeface="Calibri"/>
              </a:rPr>
              <a:t>(also: logical) </a:t>
            </a:r>
            <a:r>
              <a:rPr sz="2600" spc="-5" dirty="0">
                <a:latin typeface="Calibri"/>
                <a:cs typeface="Calibri"/>
              </a:rPr>
              <a:t>address </a:t>
            </a:r>
            <a:r>
              <a:rPr sz="2600" dirty="0">
                <a:latin typeface="Calibri"/>
                <a:cs typeface="Calibri"/>
              </a:rPr>
              <a:t>space is </a:t>
            </a:r>
            <a:r>
              <a:rPr sz="2600" spc="-5" dirty="0">
                <a:latin typeface="Calibri"/>
                <a:cs typeface="Calibri"/>
              </a:rPr>
              <a:t>divided </a:t>
            </a:r>
            <a:r>
              <a:rPr sz="2600" spc="-10" dirty="0">
                <a:latin typeface="Calibri"/>
                <a:cs typeface="Calibri"/>
              </a:rPr>
              <a:t>into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pages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Machine </a:t>
            </a:r>
            <a:r>
              <a:rPr sz="2600" spc="-5" dirty="0">
                <a:latin typeface="Calibri"/>
                <a:cs typeface="Calibri"/>
              </a:rPr>
              <a:t>architecture determines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page </a:t>
            </a:r>
            <a:r>
              <a:rPr sz="2600" spc="-15" dirty="0">
                <a:latin typeface="Calibri"/>
                <a:cs typeface="Calibri"/>
              </a:rPr>
              <a:t>size. </a:t>
            </a:r>
            <a:r>
              <a:rPr sz="2600" spc="-20" dirty="0">
                <a:latin typeface="Calibri"/>
                <a:cs typeface="Calibri"/>
              </a:rPr>
              <a:t>Typical </a:t>
            </a:r>
            <a:r>
              <a:rPr sz="2600" spc="-15" dirty="0">
                <a:latin typeface="Calibri"/>
                <a:cs typeface="Calibri"/>
              </a:rPr>
              <a:t>sizes </a:t>
            </a:r>
            <a:r>
              <a:rPr sz="2600" dirty="0">
                <a:latin typeface="Calibri"/>
                <a:cs typeface="Calibri"/>
              </a:rPr>
              <a:t>include 4KB 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lang="en-US" sz="2600" spc="-5" dirty="0">
                <a:latin typeface="Calibri"/>
                <a:cs typeface="Calibri"/>
              </a:rPr>
              <a:t>n</a:t>
            </a:r>
            <a:r>
              <a:rPr sz="2600" spc="-5" dirty="0">
                <a:latin typeface="Calibri"/>
                <a:cs typeface="Calibri"/>
              </a:rPr>
              <a:t>  32-bit </a:t>
            </a:r>
            <a:r>
              <a:rPr sz="2600" spc="-20" dirty="0">
                <a:latin typeface="Calibri"/>
                <a:cs typeface="Calibri"/>
              </a:rPr>
              <a:t>systems </a:t>
            </a:r>
            <a:r>
              <a:rPr sz="2600" dirty="0">
                <a:latin typeface="Calibri"/>
                <a:cs typeface="Calibri"/>
              </a:rPr>
              <a:t>and 8KB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spc="-5" dirty="0">
                <a:latin typeface="Calibri"/>
                <a:cs typeface="Calibri"/>
              </a:rPr>
              <a:t>64-bit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systems</a:t>
            </a:r>
            <a:r>
              <a:rPr lang="en-US" sz="2600" spc="-2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976630" indent="-228600">
              <a:lnSpc>
                <a:spcPct val="70000"/>
              </a:lnSpc>
              <a:spcBef>
                <a:spcPts val="994"/>
              </a:spcBef>
              <a:spcAft>
                <a:spcPts val="600"/>
              </a:spcAft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page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i="1" dirty="0">
                <a:latin typeface="Calibri"/>
                <a:cs typeface="Calibri"/>
              </a:rPr>
              <a:t>valid </a:t>
            </a:r>
            <a:r>
              <a:rPr sz="2600" dirty="0">
                <a:latin typeface="Calibri"/>
                <a:cs typeface="Calibri"/>
              </a:rPr>
              <a:t>if </a:t>
            </a:r>
            <a:r>
              <a:rPr sz="2600" spc="-20" dirty="0">
                <a:latin typeface="Calibri"/>
                <a:cs typeface="Calibri"/>
              </a:rPr>
              <a:t>it’s </a:t>
            </a:r>
            <a:r>
              <a:rPr sz="2600" spc="-5" dirty="0">
                <a:latin typeface="Calibri"/>
                <a:cs typeface="Calibri"/>
              </a:rPr>
              <a:t>associated </a:t>
            </a:r>
            <a:r>
              <a:rPr sz="2600" dirty="0">
                <a:latin typeface="Calibri"/>
                <a:cs typeface="Calibri"/>
              </a:rPr>
              <a:t>with an actual </a:t>
            </a:r>
            <a:r>
              <a:rPr sz="2600" spc="-10" dirty="0">
                <a:latin typeface="Calibri"/>
                <a:cs typeface="Calibri"/>
              </a:rPr>
              <a:t>page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spc="-15" dirty="0">
                <a:latin typeface="Calibri"/>
                <a:cs typeface="Calibri"/>
              </a:rPr>
              <a:t>data, </a:t>
            </a:r>
            <a:r>
              <a:rPr sz="2600" dirty="0">
                <a:latin typeface="Calibri"/>
                <a:cs typeface="Calibri"/>
              </a:rPr>
              <a:t>either in  </a:t>
            </a:r>
            <a:r>
              <a:rPr sz="2600" spc="-15" dirty="0">
                <a:latin typeface="Calibri"/>
                <a:cs typeface="Calibri"/>
              </a:rPr>
              <a:t>physical </a:t>
            </a:r>
            <a:r>
              <a:rPr sz="2600" spc="5" dirty="0">
                <a:latin typeface="Calibri"/>
                <a:cs typeface="Calibri"/>
              </a:rPr>
              <a:t>RAM </a:t>
            </a:r>
            <a:r>
              <a:rPr sz="2600" dirty="0">
                <a:latin typeface="Calibri"/>
                <a:cs typeface="Calibri"/>
              </a:rPr>
              <a:t>or on </a:t>
            </a:r>
            <a:r>
              <a:rPr sz="2600" spc="-5" dirty="0">
                <a:latin typeface="Calibri"/>
                <a:cs typeface="Calibri"/>
              </a:rPr>
              <a:t>secondary </a:t>
            </a:r>
            <a:r>
              <a:rPr sz="2600" spc="-20" dirty="0">
                <a:latin typeface="Calibri"/>
                <a:cs typeface="Calibri"/>
              </a:rPr>
              <a:t>storage </a:t>
            </a:r>
            <a:r>
              <a:rPr sz="2600" dirty="0">
                <a:latin typeface="Calibri"/>
                <a:cs typeface="Calibri"/>
              </a:rPr>
              <a:t>such a </a:t>
            </a:r>
            <a:r>
              <a:rPr sz="2600" spc="-10" dirty="0">
                <a:latin typeface="Calibri"/>
                <a:cs typeface="Calibri"/>
              </a:rPr>
              <a:t>swap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partition</a:t>
            </a:r>
            <a:r>
              <a:rPr lang="en-US" sz="260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104775" indent="-228600">
              <a:lnSpc>
                <a:spcPct val="7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An </a:t>
            </a:r>
            <a:r>
              <a:rPr sz="2600" i="1" spc="-5" dirty="0">
                <a:latin typeface="Calibri"/>
                <a:cs typeface="Calibri"/>
              </a:rPr>
              <a:t>invalid </a:t>
            </a:r>
            <a:r>
              <a:rPr sz="2600" spc="-10" dirty="0">
                <a:latin typeface="Calibri"/>
                <a:cs typeface="Calibri"/>
              </a:rPr>
              <a:t>page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5" dirty="0">
                <a:latin typeface="Calibri"/>
                <a:cs typeface="Calibri"/>
              </a:rPr>
              <a:t>not associated </a:t>
            </a:r>
            <a:r>
              <a:rPr sz="2600" dirty="0">
                <a:latin typeface="Calibri"/>
                <a:cs typeface="Calibri"/>
              </a:rPr>
              <a:t>with </a:t>
            </a:r>
            <a:r>
              <a:rPr sz="2600" spc="-5" dirty="0">
                <a:latin typeface="Calibri"/>
                <a:cs typeface="Calibri"/>
              </a:rPr>
              <a:t>anything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10" dirty="0">
                <a:latin typeface="Calibri"/>
                <a:cs typeface="Calibri"/>
              </a:rPr>
              <a:t>represents unallocated  </a:t>
            </a:r>
            <a:r>
              <a:rPr sz="2600" spc="-5" dirty="0">
                <a:latin typeface="Calibri"/>
                <a:cs typeface="Calibri"/>
              </a:rPr>
              <a:t>address </a:t>
            </a:r>
            <a:r>
              <a:rPr sz="2600" dirty="0">
                <a:latin typeface="Calibri"/>
                <a:cs typeface="Calibri"/>
              </a:rPr>
              <a:t>space – accessing it </a:t>
            </a:r>
            <a:r>
              <a:rPr sz="2600" spc="-5" dirty="0">
                <a:latin typeface="Calibri"/>
                <a:cs typeface="Calibri"/>
              </a:rPr>
              <a:t>results </a:t>
            </a:r>
            <a:r>
              <a:rPr sz="2600" dirty="0">
                <a:latin typeface="Calibri"/>
                <a:cs typeface="Calibri"/>
              </a:rPr>
              <a:t>in </a:t>
            </a:r>
            <a:r>
              <a:rPr sz="2600" spc="-10" dirty="0">
                <a:latin typeface="Calibri"/>
                <a:cs typeface="Calibri"/>
              </a:rPr>
              <a:t>segmentation</a:t>
            </a:r>
            <a:r>
              <a:rPr sz="2600" spc="-1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fault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7000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600" spc="-10" dirty="0">
                <a:latin typeface="Calibri"/>
                <a:cs typeface="Calibri"/>
              </a:rPr>
              <a:t>A </a:t>
            </a:r>
            <a:r>
              <a:rPr sz="2600" i="1" spc="-10" dirty="0">
                <a:latin typeface="Calibri"/>
                <a:cs typeface="Calibri"/>
              </a:rPr>
              <a:t>Page </a:t>
            </a:r>
            <a:r>
              <a:rPr sz="2600" i="1" spc="-5" dirty="0">
                <a:latin typeface="Calibri"/>
                <a:cs typeface="Calibri"/>
              </a:rPr>
              <a:t>fault </a:t>
            </a:r>
            <a:r>
              <a:rPr sz="2600" spc="-5" dirty="0">
                <a:latin typeface="Calibri"/>
                <a:cs typeface="Calibri"/>
              </a:rPr>
              <a:t>happens </a:t>
            </a:r>
            <a:r>
              <a:rPr lang="en-US" sz="2600" dirty="0">
                <a:latin typeface="Calibri"/>
                <a:cs typeface="Calibri"/>
              </a:rPr>
              <a:t>with</a:t>
            </a:r>
            <a:r>
              <a:rPr sz="2600" dirty="0">
                <a:latin typeface="Calibri"/>
                <a:cs typeface="Calibri"/>
              </a:rPr>
              <a:t> a </a:t>
            </a:r>
            <a:r>
              <a:rPr sz="2600" spc="-10" dirty="0">
                <a:latin typeface="Calibri"/>
                <a:cs typeface="Calibri"/>
              </a:rPr>
              <a:t>valid page, </a:t>
            </a:r>
            <a:r>
              <a:rPr sz="2600" spc="-5" dirty="0">
                <a:latin typeface="Calibri"/>
                <a:cs typeface="Calibri"/>
              </a:rPr>
              <a:t>but </a:t>
            </a:r>
            <a:r>
              <a:rPr lang="en-US" sz="2600" spc="-5" dirty="0">
                <a:latin typeface="Calibri"/>
                <a:cs typeface="Calibri"/>
              </a:rPr>
              <a:t>one that is </a:t>
            </a:r>
            <a:r>
              <a:rPr sz="2600" spc="-5" dirty="0">
                <a:latin typeface="Calibri"/>
                <a:cs typeface="Calibri"/>
              </a:rPr>
              <a:t>associated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secondary</a:t>
            </a:r>
            <a:r>
              <a:rPr lang="en-US" sz="2600" spc="-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storage</a:t>
            </a:r>
            <a:r>
              <a:rPr lang="en-US" sz="2600" spc="-15" dirty="0">
                <a:latin typeface="Calibri"/>
                <a:cs typeface="Calibri"/>
              </a:rPr>
              <a:t> and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 accessed </a:t>
            </a:r>
            <a:r>
              <a:rPr sz="2600" spc="-20" dirty="0">
                <a:latin typeface="Calibri"/>
                <a:cs typeface="Calibri"/>
              </a:rPr>
              <a:t>before it’s </a:t>
            </a:r>
            <a:r>
              <a:rPr sz="2600" spc="-10" dirty="0">
                <a:latin typeface="Calibri"/>
                <a:cs typeface="Calibri"/>
              </a:rPr>
              <a:t>brought into </a:t>
            </a:r>
            <a:r>
              <a:rPr sz="2600" spc="-15" dirty="0">
                <a:latin typeface="Calibri"/>
                <a:cs typeface="Calibri"/>
              </a:rPr>
              <a:t>physical </a:t>
            </a:r>
            <a:r>
              <a:rPr sz="2600" spc="5" dirty="0">
                <a:latin typeface="Calibri"/>
                <a:cs typeface="Calibri"/>
              </a:rPr>
              <a:t>RAM </a:t>
            </a:r>
            <a:r>
              <a:rPr sz="2600" dirty="0">
                <a:latin typeface="Calibri"/>
                <a:cs typeface="Calibri"/>
              </a:rPr>
              <a:t>– </a:t>
            </a:r>
            <a:r>
              <a:rPr lang="en-US" sz="2600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kernel </a:t>
            </a:r>
            <a:r>
              <a:rPr sz="2600" dirty="0">
                <a:latin typeface="Calibri"/>
                <a:cs typeface="Calibri"/>
              </a:rPr>
              <a:t>will </a:t>
            </a:r>
            <a:r>
              <a:rPr sz="2600" i="1" dirty="0">
                <a:latin typeface="Calibri"/>
                <a:cs typeface="Calibri"/>
              </a:rPr>
              <a:t>pag</a:t>
            </a:r>
            <a:r>
              <a:rPr lang="en-US" sz="2600" i="1" dirty="0">
                <a:latin typeface="Calibri"/>
                <a:cs typeface="Calibri"/>
              </a:rPr>
              <a:t>e-</a:t>
            </a:r>
            <a:r>
              <a:rPr sz="2600" i="1" dirty="0">
                <a:latin typeface="Calibri"/>
                <a:cs typeface="Calibri"/>
              </a:rPr>
              <a:t>in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(copy)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data </a:t>
            </a:r>
            <a:r>
              <a:rPr lang="en-US" sz="2600" spc="-15" dirty="0">
                <a:latin typeface="Calibri"/>
                <a:cs typeface="Calibri"/>
              </a:rPr>
              <a:t>from the disk </a:t>
            </a:r>
            <a:r>
              <a:rPr sz="2600" spc="-10" dirty="0">
                <a:latin typeface="Calibri"/>
                <a:cs typeface="Calibri"/>
              </a:rPr>
              <a:t>into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RAM</a:t>
            </a:r>
            <a:r>
              <a:rPr lang="en-US" sz="2600" dirty="0">
                <a:latin typeface="Calibri"/>
                <a:cs typeface="Calibri"/>
              </a:rPr>
              <a:t>.</a:t>
            </a:r>
          </a:p>
          <a:p>
            <a:pPr marL="698500" lvl="1" indent="-228600">
              <a:lnSpc>
                <a:spcPct val="70000"/>
              </a:lnSpc>
              <a:spcBef>
                <a:spcPts val="60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latin typeface="Calibri"/>
                <a:cs typeface="Calibri"/>
              </a:rPr>
              <a:t>The location in RAM that stores a page is called a </a:t>
            </a:r>
            <a:r>
              <a:rPr lang="en-US" sz="2400" i="1" dirty="0">
                <a:latin typeface="Calibri"/>
                <a:cs typeface="Calibri"/>
              </a:rPr>
              <a:t>frame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i="1" spc="-10" dirty="0">
                <a:latin typeface="Calibri"/>
                <a:cs typeface="Calibri"/>
              </a:rPr>
              <a:t>Paging</a:t>
            </a:r>
            <a:r>
              <a:rPr lang="en-US" sz="2600" i="1" spc="-10" dirty="0">
                <a:latin typeface="Calibri"/>
                <a:cs typeface="Calibri"/>
              </a:rPr>
              <a:t>-</a:t>
            </a:r>
            <a:r>
              <a:rPr sz="2600" i="1" spc="-5" dirty="0">
                <a:latin typeface="Calibri"/>
                <a:cs typeface="Calibri"/>
              </a:rPr>
              <a:t>out </a:t>
            </a:r>
            <a:r>
              <a:rPr sz="2600" dirty="0">
                <a:latin typeface="Calibri"/>
                <a:cs typeface="Calibri"/>
              </a:rPr>
              <a:t>is the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spc="-5" dirty="0">
                <a:latin typeface="Calibri"/>
                <a:cs typeface="Calibri"/>
              </a:rPr>
              <a:t>of moving </a:t>
            </a:r>
            <a:r>
              <a:rPr sz="2600" spc="-15" dirty="0">
                <a:latin typeface="Calibri"/>
                <a:cs typeface="Calibri"/>
              </a:rPr>
              <a:t>data </a:t>
            </a:r>
            <a:r>
              <a:rPr sz="2600" spc="-10" dirty="0">
                <a:latin typeface="Calibri"/>
                <a:cs typeface="Calibri"/>
              </a:rPr>
              <a:t>from </a:t>
            </a:r>
            <a:r>
              <a:rPr sz="2600" dirty="0">
                <a:latin typeface="Calibri"/>
                <a:cs typeface="Calibri"/>
              </a:rPr>
              <a:t>RAM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secondary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storage</a:t>
            </a:r>
            <a:endParaRPr sz="2600" dirty="0">
              <a:latin typeface="Calibri"/>
              <a:cs typeface="Calibri"/>
            </a:endParaRPr>
          </a:p>
          <a:p>
            <a:pPr marL="241300" marR="134620">
              <a:lnSpc>
                <a:spcPct val="70000"/>
              </a:lnSpc>
            </a:pPr>
            <a:r>
              <a:rPr sz="2600" spc="-5" dirty="0">
                <a:latin typeface="Calibri"/>
                <a:cs typeface="Calibri"/>
              </a:rPr>
              <a:t>(to </a:t>
            </a:r>
            <a:r>
              <a:rPr sz="2600" spc="-20" dirty="0">
                <a:latin typeface="Calibri"/>
                <a:cs typeface="Calibri"/>
              </a:rPr>
              <a:t>make </a:t>
            </a:r>
            <a:r>
              <a:rPr sz="2600" spc="-10" dirty="0">
                <a:latin typeface="Calibri"/>
                <a:cs typeface="Calibri"/>
              </a:rPr>
              <a:t>room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lang="en-US" sz="2600" spc="-15" dirty="0">
                <a:latin typeface="Calibri"/>
                <a:cs typeface="Calibri"/>
              </a:rPr>
              <a:t>new pages</a:t>
            </a:r>
            <a:r>
              <a:rPr sz="2600" dirty="0">
                <a:latin typeface="Calibri"/>
                <a:cs typeface="Calibri"/>
              </a:rPr>
              <a:t>). </a:t>
            </a:r>
            <a:r>
              <a:rPr lang="en-US" sz="2600" dirty="0">
                <a:latin typeface="Calibri"/>
                <a:cs typeface="Calibri"/>
              </a:rPr>
              <a:t>Usually, s</a:t>
            </a:r>
            <a:r>
              <a:rPr lang="en-US" sz="2600" spc="-5" dirty="0">
                <a:latin typeface="Calibri"/>
                <a:cs typeface="Calibri"/>
              </a:rPr>
              <a:t>uch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data </a:t>
            </a:r>
            <a:r>
              <a:rPr sz="2600" spc="-10" dirty="0">
                <a:latin typeface="Calibri"/>
                <a:cs typeface="Calibri"/>
              </a:rPr>
              <a:t>are </a:t>
            </a:r>
            <a:r>
              <a:rPr lang="en-US" sz="2600" spc="-5" dirty="0">
                <a:latin typeface="Calibri"/>
                <a:cs typeface="Calibri"/>
              </a:rPr>
              <a:t>un</a:t>
            </a:r>
            <a:r>
              <a:rPr sz="2600" spc="-15" dirty="0">
                <a:latin typeface="Calibri"/>
                <a:cs typeface="Calibri"/>
              </a:rPr>
              <a:t>likely </a:t>
            </a:r>
            <a:r>
              <a:rPr lang="en-US" sz="2600" spc="-1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be </a:t>
            </a:r>
            <a:r>
              <a:rPr sz="2600" spc="-5" dirty="0">
                <a:latin typeface="Calibri"/>
                <a:cs typeface="Calibri"/>
              </a:rPr>
              <a:t>used </a:t>
            </a:r>
            <a:r>
              <a:rPr lang="en-US" sz="2600" dirty="0">
                <a:latin typeface="Calibri"/>
                <a:cs typeface="Calibri"/>
              </a:rPr>
              <a:t>soon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ome pages are out of memory.">
            <a:extLst>
              <a:ext uri="{FF2B5EF4-FFF2-40B4-BE49-F238E27FC236}">
                <a16:creationId xmlns:a16="http://schemas.microsoft.com/office/drawing/2014/main" id="{4F20AE58-228A-DE06-1E53-6CEC37C89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264" y="1"/>
            <a:ext cx="706403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0597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C0B52F84-159D-4EA9-B968-E1C6BCCB19B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667"/>
          <a:stretch/>
        </p:blipFill>
        <p:spPr>
          <a:xfrm>
            <a:off x="571500" y="1219200"/>
            <a:ext cx="11049000" cy="44196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C9CE46-FF62-472A-9AA8-6BBAAAB35569}"/>
              </a:ext>
            </a:extLst>
          </p:cNvPr>
          <p:cNvCxnSpPr>
            <a:cxnSpLocks/>
          </p:cNvCxnSpPr>
          <p:nvPr/>
        </p:nvCxnSpPr>
        <p:spPr>
          <a:xfrm>
            <a:off x="6172200" y="1219200"/>
            <a:ext cx="0" cy="44196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534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9823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Sharing </a:t>
            </a:r>
            <a:r>
              <a:rPr spc="-20" dirty="0"/>
              <a:t>and</a:t>
            </a:r>
            <a:r>
              <a:rPr spc="-175" dirty="0"/>
              <a:t> </a:t>
            </a:r>
            <a:r>
              <a:rPr spc="-55" dirty="0"/>
              <a:t>Copy-on-Write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16938" y="1793189"/>
            <a:ext cx="10284461" cy="3508461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Multiple </a:t>
            </a:r>
            <a:r>
              <a:rPr sz="2800" spc="-10" dirty="0">
                <a:latin typeface="Calibri"/>
                <a:cs typeface="Calibri"/>
              </a:rPr>
              <a:t>pages </a:t>
            </a:r>
            <a:r>
              <a:rPr sz="2800" spc="-5" dirty="0">
                <a:latin typeface="Calibri"/>
                <a:cs typeface="Calibri"/>
              </a:rPr>
              <a:t>of virtual memory (VM), </a:t>
            </a:r>
            <a:r>
              <a:rPr sz="2800" spc="-10" dirty="0">
                <a:latin typeface="Calibri"/>
                <a:cs typeface="Calibri"/>
              </a:rPr>
              <a:t>even </a:t>
            </a:r>
            <a:r>
              <a:rPr sz="2800" spc="-5" dirty="0">
                <a:latin typeface="Calibri"/>
                <a:cs typeface="Calibri"/>
              </a:rPr>
              <a:t>owned </a:t>
            </a:r>
            <a:r>
              <a:rPr sz="2800" spc="-15" dirty="0">
                <a:latin typeface="Calibri"/>
                <a:cs typeface="Calibri"/>
              </a:rPr>
              <a:t>by </a:t>
            </a:r>
            <a:r>
              <a:rPr sz="2800" spc="-25" dirty="0">
                <a:latin typeface="Calibri"/>
                <a:cs typeface="Calibri"/>
              </a:rPr>
              <a:t>different  </a:t>
            </a:r>
            <a:r>
              <a:rPr sz="2800" spc="-10" dirty="0">
                <a:latin typeface="Calibri"/>
                <a:cs typeface="Calibri"/>
              </a:rPr>
              <a:t>processes, could </a:t>
            </a:r>
            <a:r>
              <a:rPr sz="2800" spc="-5" dirty="0">
                <a:latin typeface="Calibri"/>
                <a:cs typeface="Calibri"/>
              </a:rPr>
              <a:t>map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single </a:t>
            </a:r>
            <a:r>
              <a:rPr sz="2800" spc="-20" dirty="0">
                <a:latin typeface="Calibri"/>
                <a:cs typeface="Calibri"/>
              </a:rPr>
              <a:t>physical </a:t>
            </a:r>
            <a:r>
              <a:rPr sz="2800" spc="-10" dirty="0">
                <a:latin typeface="Calibri"/>
                <a:cs typeface="Calibri"/>
              </a:rPr>
              <a:t>page </a:t>
            </a:r>
            <a:r>
              <a:rPr sz="2800" spc="-5" dirty="0">
                <a:latin typeface="Calibri"/>
                <a:cs typeface="Calibri"/>
              </a:rPr>
              <a:t>– </a:t>
            </a:r>
            <a:r>
              <a:rPr sz="2800" spc="-10" dirty="0">
                <a:latin typeface="Calibri"/>
                <a:cs typeface="Calibri"/>
              </a:rPr>
              <a:t>this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called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sharing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159385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When </a:t>
            </a:r>
            <a:r>
              <a:rPr sz="2800" spc="-10" dirty="0">
                <a:latin typeface="Calibri"/>
                <a:cs typeface="Calibri"/>
              </a:rPr>
              <a:t>processes need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write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shared </a:t>
            </a:r>
            <a:r>
              <a:rPr sz="2800" spc="-10" dirty="0">
                <a:latin typeface="Calibri"/>
                <a:cs typeface="Calibri"/>
              </a:rPr>
              <a:t>writable page, </a:t>
            </a:r>
            <a:r>
              <a:rPr lang="en-US" sz="2800" spc="-10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kernel  </a:t>
            </a:r>
            <a:r>
              <a:rPr sz="2800" spc="-5" dirty="0">
                <a:latin typeface="Calibri"/>
                <a:cs typeface="Calibri"/>
              </a:rPr>
              <a:t>either </a:t>
            </a:r>
            <a:r>
              <a:rPr sz="2800" spc="-10" dirty="0">
                <a:latin typeface="Calibri"/>
                <a:cs typeface="Calibri"/>
              </a:rPr>
              <a:t>maintains </a:t>
            </a:r>
            <a:r>
              <a:rPr sz="2800" spc="-5" dirty="0">
                <a:latin typeface="Calibri"/>
                <a:cs typeface="Calibri"/>
              </a:rPr>
              <a:t>some </a:t>
            </a:r>
            <a:r>
              <a:rPr sz="2800" spc="-10" dirty="0">
                <a:latin typeface="Calibri"/>
                <a:cs typeface="Calibri"/>
              </a:rPr>
              <a:t>level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coordination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synchronization,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or</a:t>
            </a:r>
            <a:endParaRPr sz="2800" dirty="0">
              <a:latin typeface="Calibri"/>
              <a:cs typeface="Calibri"/>
            </a:endParaRPr>
          </a:p>
          <a:p>
            <a:pPr marL="241300" marR="83185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MMU of the </a:t>
            </a:r>
            <a:r>
              <a:rPr sz="2800" spc="-15" dirty="0">
                <a:latin typeface="Calibri"/>
                <a:cs typeface="Calibri"/>
              </a:rPr>
              <a:t>kernel </a:t>
            </a:r>
            <a:r>
              <a:rPr lang="en-US" sz="2800" spc="-10" dirty="0">
                <a:latin typeface="Calibri"/>
                <a:cs typeface="Calibri"/>
              </a:rPr>
              <a:t>might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raise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20" dirty="0">
                <a:latin typeface="Calibri"/>
                <a:cs typeface="Calibri"/>
              </a:rPr>
              <a:t>exception </a:t>
            </a:r>
            <a:r>
              <a:rPr sz="2800" spc="-5" dirty="0">
                <a:latin typeface="Calibri"/>
                <a:cs typeface="Calibri"/>
              </a:rPr>
              <a:t>which </a:t>
            </a:r>
            <a:r>
              <a:rPr sz="2800" spc="-10" dirty="0">
                <a:latin typeface="Calibri"/>
                <a:cs typeface="Calibri"/>
              </a:rPr>
              <a:t>allows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new  </a:t>
            </a:r>
            <a:r>
              <a:rPr sz="2800" spc="-15" dirty="0">
                <a:latin typeface="Calibri"/>
                <a:cs typeface="Calibri"/>
              </a:rPr>
              <a:t>copy </a:t>
            </a:r>
            <a:r>
              <a:rPr sz="2800" spc="-5" dirty="0">
                <a:latin typeface="Calibri"/>
                <a:cs typeface="Calibri"/>
              </a:rPr>
              <a:t>of the </a:t>
            </a:r>
            <a:r>
              <a:rPr sz="2800" spc="-10" dirty="0">
                <a:latin typeface="Calibri"/>
                <a:cs typeface="Calibri"/>
              </a:rPr>
              <a:t>page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15" dirty="0">
                <a:latin typeface="Calibri"/>
                <a:cs typeface="Calibri"/>
              </a:rPr>
              <a:t>created </a:t>
            </a:r>
            <a:r>
              <a:rPr sz="2800" spc="-5" dirty="0">
                <a:latin typeface="Calibri"/>
                <a:cs typeface="Calibri"/>
              </a:rPr>
              <a:t>– </a:t>
            </a:r>
            <a:r>
              <a:rPr sz="2800" spc="-10" dirty="0">
                <a:latin typeface="Calibri"/>
                <a:cs typeface="Calibri"/>
              </a:rPr>
              <a:t>this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called </a:t>
            </a:r>
            <a:r>
              <a:rPr sz="2800" i="1" spc="-10" dirty="0">
                <a:latin typeface="Calibri"/>
                <a:cs typeface="Calibri"/>
              </a:rPr>
              <a:t>copy-on-write</a:t>
            </a:r>
            <a:r>
              <a:rPr sz="2800" i="1" spc="16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(COW)</a:t>
            </a:r>
            <a:r>
              <a:rPr lang="en-US" sz="2800" spc="-15" dirty="0">
                <a:latin typeface="Calibri"/>
                <a:cs typeface="Calibri"/>
              </a:rPr>
              <a:t>.</a:t>
            </a:r>
          </a:p>
          <a:p>
            <a:pPr marL="698500" marR="83185" lvl="1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15" dirty="0">
                <a:latin typeface="Calibri"/>
                <a:cs typeface="Calibri"/>
              </a:rPr>
              <a:t>We spoke about COW in Chapter 5 in the aspect of copying the memory of a parent process to its child after the parent calls </a:t>
            </a:r>
            <a:r>
              <a:rPr lang="en-US" sz="22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76110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Memory</a:t>
            </a:r>
            <a:r>
              <a:rPr spc="-170" dirty="0"/>
              <a:t> </a:t>
            </a:r>
            <a:r>
              <a:rPr spc="-45" dirty="0"/>
              <a:t>Regions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16939" y="1718759"/>
            <a:ext cx="10894061" cy="4388253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600" spc="-5" dirty="0">
                <a:latin typeface="Calibri"/>
                <a:cs typeface="Calibri"/>
              </a:rPr>
              <a:t>The k</a:t>
            </a:r>
            <a:r>
              <a:rPr sz="2600" spc="-5" dirty="0">
                <a:latin typeface="Calibri"/>
                <a:cs typeface="Calibri"/>
              </a:rPr>
              <a:t>ernel </a:t>
            </a:r>
            <a:r>
              <a:rPr sz="2600" spc="-10" dirty="0">
                <a:latin typeface="Calibri"/>
                <a:cs typeface="Calibri"/>
              </a:rPr>
              <a:t>arranges </a:t>
            </a:r>
            <a:r>
              <a:rPr sz="2600" spc="-5" dirty="0">
                <a:latin typeface="Calibri"/>
                <a:cs typeface="Calibri"/>
              </a:rPr>
              <a:t>pages </a:t>
            </a:r>
            <a:r>
              <a:rPr sz="2600" spc="-10" dirty="0">
                <a:latin typeface="Calibri"/>
                <a:cs typeface="Calibri"/>
              </a:rPr>
              <a:t>into </a:t>
            </a:r>
            <a:r>
              <a:rPr sz="2600" spc="-5" dirty="0">
                <a:latin typeface="Calibri"/>
                <a:cs typeface="Calibri"/>
              </a:rPr>
              <a:t>blocks that </a:t>
            </a:r>
            <a:r>
              <a:rPr sz="2600" spc="-10" dirty="0">
                <a:latin typeface="Calibri"/>
                <a:cs typeface="Calibri"/>
              </a:rPr>
              <a:t>share </a:t>
            </a:r>
            <a:r>
              <a:rPr sz="2600" spc="-5" dirty="0">
                <a:latin typeface="Calibri"/>
                <a:cs typeface="Calibri"/>
              </a:rPr>
              <a:t>certain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properties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These </a:t>
            </a:r>
            <a:r>
              <a:rPr sz="2600" spc="-5" dirty="0">
                <a:latin typeface="Calibri"/>
                <a:cs typeface="Calibri"/>
              </a:rPr>
              <a:t>blocks </a:t>
            </a:r>
            <a:r>
              <a:rPr sz="2600" spc="-10" dirty="0">
                <a:latin typeface="Calibri"/>
                <a:cs typeface="Calibri"/>
              </a:rPr>
              <a:t>are </a:t>
            </a:r>
            <a:r>
              <a:rPr sz="2600" spc="-5" dirty="0">
                <a:latin typeface="Calibri"/>
                <a:cs typeface="Calibri"/>
              </a:rPr>
              <a:t>called </a:t>
            </a:r>
            <a:r>
              <a:rPr sz="2600" i="1" dirty="0">
                <a:latin typeface="Calibri"/>
                <a:cs typeface="Calibri"/>
              </a:rPr>
              <a:t>mappings</a:t>
            </a:r>
            <a:r>
              <a:rPr sz="2600" dirty="0">
                <a:latin typeface="Calibri"/>
                <a:cs typeface="Calibri"/>
              </a:rPr>
              <a:t>, </a:t>
            </a:r>
            <a:r>
              <a:rPr sz="2600" spc="-5" dirty="0">
                <a:latin typeface="Calibri"/>
                <a:cs typeface="Calibri"/>
              </a:rPr>
              <a:t>or </a:t>
            </a:r>
            <a:r>
              <a:rPr sz="2600" i="1" dirty="0">
                <a:latin typeface="Calibri"/>
                <a:cs typeface="Calibri"/>
              </a:rPr>
              <a:t>memory</a:t>
            </a:r>
            <a:r>
              <a:rPr sz="2600" i="1" spc="-10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regions</a:t>
            </a:r>
            <a:r>
              <a:rPr lang="en-US" sz="2600" i="1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(</a:t>
            </a:r>
            <a:r>
              <a:rPr lang="en-US" sz="2600" i="1" dirty="0">
                <a:latin typeface="Calibri"/>
                <a:cs typeface="Calibri"/>
              </a:rPr>
              <a:t>sections</a:t>
            </a:r>
            <a:r>
              <a:rPr lang="en-US" sz="2600" dirty="0">
                <a:latin typeface="Calibri"/>
                <a:cs typeface="Calibri"/>
              </a:rPr>
              <a:t>).</a:t>
            </a:r>
            <a:endParaRPr sz="2600" dirty="0">
              <a:latin typeface="Calibri"/>
              <a:cs typeface="Calibri"/>
            </a:endParaRPr>
          </a:p>
          <a:p>
            <a:pPr marL="241300" marR="42418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Certain </a:t>
            </a:r>
            <a:r>
              <a:rPr sz="2600" dirty="0">
                <a:latin typeface="Calibri"/>
                <a:cs typeface="Calibri"/>
              </a:rPr>
              <a:t>types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memory </a:t>
            </a:r>
            <a:r>
              <a:rPr sz="2600" spc="-5" dirty="0">
                <a:latin typeface="Calibri"/>
                <a:cs typeface="Calibri"/>
              </a:rPr>
              <a:t>regions can be </a:t>
            </a:r>
            <a:r>
              <a:rPr sz="2600" spc="-15" dirty="0">
                <a:latin typeface="Calibri"/>
                <a:cs typeface="Calibri"/>
              </a:rPr>
              <a:t>found </a:t>
            </a:r>
            <a:r>
              <a:rPr sz="2600" dirty="0">
                <a:latin typeface="Calibri"/>
                <a:cs typeface="Calibri"/>
              </a:rPr>
              <a:t>in </a:t>
            </a:r>
            <a:r>
              <a:rPr sz="2600" spc="-5" dirty="0">
                <a:latin typeface="Calibri"/>
                <a:cs typeface="Calibri"/>
              </a:rPr>
              <a:t>every </a:t>
            </a:r>
            <a:r>
              <a:rPr sz="2600" spc="-10" dirty="0">
                <a:latin typeface="Calibri"/>
                <a:cs typeface="Calibri"/>
              </a:rPr>
              <a:t>process</a:t>
            </a:r>
            <a:r>
              <a:rPr sz="2600" spc="-5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698500" marR="386715" lvl="1" indent="-228600">
              <a:lnSpc>
                <a:spcPct val="80000"/>
              </a:lnSpc>
              <a:spcBef>
                <a:spcPts val="509"/>
              </a:spcBef>
              <a:buFont typeface="Arial"/>
              <a:buChar char="•"/>
              <a:tabLst>
                <a:tab pos="699135" algn="l"/>
              </a:tabLst>
            </a:pPr>
            <a:r>
              <a:rPr sz="2200" b="1" i="1" spc="-65" dirty="0">
                <a:latin typeface="Calibri"/>
                <a:cs typeface="Calibri"/>
              </a:rPr>
              <a:t>Text </a:t>
            </a:r>
            <a:r>
              <a:rPr sz="2200" b="1" i="1" spc="-15" dirty="0">
                <a:latin typeface="Calibri"/>
                <a:cs typeface="Calibri"/>
              </a:rPr>
              <a:t>segment </a:t>
            </a:r>
            <a:r>
              <a:rPr sz="2200" spc="-15" dirty="0">
                <a:latin typeface="Calibri"/>
                <a:cs typeface="Calibri"/>
              </a:rPr>
              <a:t>contains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25" dirty="0">
                <a:latin typeface="Calibri"/>
                <a:cs typeface="Calibri"/>
              </a:rPr>
              <a:t>process’s </a:t>
            </a:r>
            <a:r>
              <a:rPr sz="2200" spc="-20" dirty="0">
                <a:latin typeface="Calibri"/>
                <a:cs typeface="Calibri"/>
              </a:rPr>
              <a:t>program </a:t>
            </a:r>
            <a:r>
              <a:rPr sz="2200" spc="-15" dirty="0">
                <a:latin typeface="Calibri"/>
                <a:cs typeface="Calibri"/>
              </a:rPr>
              <a:t>code, </a:t>
            </a:r>
            <a:r>
              <a:rPr sz="2200" spc="-5" dirty="0">
                <a:latin typeface="Calibri"/>
                <a:cs typeface="Calibri"/>
              </a:rPr>
              <a:t>string </a:t>
            </a:r>
            <a:r>
              <a:rPr sz="2200" spc="-10" dirty="0">
                <a:latin typeface="Calibri"/>
                <a:cs typeface="Calibri"/>
              </a:rPr>
              <a:t>literals, </a:t>
            </a:r>
            <a:r>
              <a:rPr sz="2200" spc="-20" dirty="0">
                <a:latin typeface="Calibri"/>
                <a:cs typeface="Calibri"/>
              </a:rPr>
              <a:t>constant </a:t>
            </a:r>
            <a:r>
              <a:rPr sz="2200" spc="-10" dirty="0">
                <a:latin typeface="Calibri"/>
                <a:cs typeface="Calibri"/>
              </a:rPr>
              <a:t>variables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10" dirty="0">
                <a:latin typeface="Calibri"/>
                <a:cs typeface="Calibri"/>
              </a:rPr>
              <a:t>other read-only </a:t>
            </a:r>
            <a:r>
              <a:rPr sz="2200" spc="-15" dirty="0">
                <a:latin typeface="Calibri"/>
                <a:cs typeface="Calibri"/>
              </a:rPr>
              <a:t>data. </a:t>
            </a:r>
            <a:r>
              <a:rPr sz="2200" spc="-5" dirty="0">
                <a:latin typeface="Calibri"/>
                <a:cs typeface="Calibri"/>
              </a:rPr>
              <a:t>In Linux, this </a:t>
            </a:r>
            <a:r>
              <a:rPr sz="2200" spc="-10" dirty="0">
                <a:latin typeface="Calibri"/>
                <a:cs typeface="Calibri"/>
              </a:rPr>
              <a:t>segment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15" dirty="0">
                <a:latin typeface="Calibri"/>
                <a:cs typeface="Calibri"/>
              </a:rPr>
              <a:t>marked </a:t>
            </a:r>
            <a:r>
              <a:rPr sz="2200" spc="-10" dirty="0">
                <a:latin typeface="Calibri"/>
                <a:cs typeface="Calibri"/>
              </a:rPr>
              <a:t>read-only </a:t>
            </a:r>
            <a:r>
              <a:rPr sz="2200" spc="-5" dirty="0">
                <a:latin typeface="Calibri"/>
                <a:cs typeface="Calibri"/>
              </a:rPr>
              <a:t>and mapped </a:t>
            </a:r>
            <a:r>
              <a:rPr sz="2200" spc="-15" dirty="0">
                <a:latin typeface="Calibri"/>
                <a:cs typeface="Calibri"/>
              </a:rPr>
              <a:t>from </a:t>
            </a:r>
            <a:r>
              <a:rPr sz="2200" spc="-5" dirty="0">
                <a:latin typeface="Calibri"/>
                <a:cs typeface="Calibri"/>
              </a:rPr>
              <a:t>the object file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(executable)</a:t>
            </a:r>
            <a:r>
              <a:rPr lang="en-US" sz="2200" spc="-15" dirty="0">
                <a:latin typeface="Calibri"/>
                <a:cs typeface="Calibri"/>
              </a:rPr>
              <a:t>.</a:t>
            </a:r>
          </a:p>
          <a:p>
            <a:pPr marL="698500" marR="386715" lvl="1" indent="-228600">
              <a:lnSpc>
                <a:spcPct val="80000"/>
              </a:lnSpc>
              <a:spcBef>
                <a:spcPts val="509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200" b="1" i="1" spc="-15" dirty="0">
                <a:latin typeface="Calibri"/>
                <a:cs typeface="Calibri"/>
              </a:rPr>
              <a:t>Data segment</a:t>
            </a:r>
            <a:r>
              <a:rPr lang="en-US" sz="2200" spc="-15" dirty="0">
                <a:latin typeface="Calibri"/>
                <a:cs typeface="Calibri"/>
              </a:rPr>
              <a:t> contains initialized variables.</a:t>
            </a:r>
          </a:p>
          <a:p>
            <a:pPr marL="698500" marR="386715" lvl="1" indent="-228600">
              <a:lnSpc>
                <a:spcPct val="80000"/>
              </a:lnSpc>
              <a:spcBef>
                <a:spcPts val="509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200" b="1" i="1" spc="-10" dirty="0" err="1">
                <a:cs typeface="Calibri"/>
              </a:rPr>
              <a:t>bss</a:t>
            </a:r>
            <a:r>
              <a:rPr lang="en-US" sz="2200" i="1" spc="-10" dirty="0">
                <a:cs typeface="Calibri"/>
              </a:rPr>
              <a:t> </a:t>
            </a:r>
            <a:r>
              <a:rPr lang="en-US" sz="2200" b="1" i="1" spc="-15" dirty="0">
                <a:cs typeface="Calibri"/>
              </a:rPr>
              <a:t>segment </a:t>
            </a:r>
            <a:r>
              <a:rPr lang="en-US" sz="2200" spc="-10" dirty="0">
                <a:cs typeface="Calibri"/>
              </a:rPr>
              <a:t>(“</a:t>
            </a:r>
            <a:r>
              <a:rPr lang="en-US" sz="2200" b="1" i="1" u="sng" spc="-10" dirty="0">
                <a:cs typeface="Calibri"/>
              </a:rPr>
              <a:t>b</a:t>
            </a:r>
            <a:r>
              <a:rPr lang="en-US" sz="2200" i="1" spc="-10" dirty="0">
                <a:cs typeface="Calibri"/>
              </a:rPr>
              <a:t>lock </a:t>
            </a:r>
            <a:r>
              <a:rPr lang="en-US" sz="2200" b="1" i="1" u="sng" spc="-20" dirty="0">
                <a:cs typeface="Calibri"/>
              </a:rPr>
              <a:t>s</a:t>
            </a:r>
            <a:r>
              <a:rPr lang="en-US" sz="2200" i="1" spc="-20" dirty="0">
                <a:cs typeface="Calibri"/>
              </a:rPr>
              <a:t>tarted </a:t>
            </a:r>
            <a:r>
              <a:rPr lang="en-US" sz="2200" i="1" spc="-10" dirty="0">
                <a:cs typeface="Calibri"/>
              </a:rPr>
              <a:t>by </a:t>
            </a:r>
            <a:r>
              <a:rPr lang="en-US" sz="2200" b="1" i="1" u="sng" spc="-10" dirty="0">
                <a:cs typeface="Calibri"/>
              </a:rPr>
              <a:t>s</a:t>
            </a:r>
            <a:r>
              <a:rPr lang="en-US" sz="2200" i="1" spc="-10" dirty="0">
                <a:cs typeface="Calibri"/>
              </a:rPr>
              <a:t>ymbol”</a:t>
            </a:r>
            <a:r>
              <a:rPr lang="en-US" sz="2200" spc="-10" dirty="0">
                <a:cs typeface="Calibri"/>
              </a:rPr>
              <a:t>) </a:t>
            </a:r>
            <a:r>
              <a:rPr lang="en-US" sz="2200" spc="-15" dirty="0">
                <a:cs typeface="Calibri"/>
              </a:rPr>
              <a:t>contains </a:t>
            </a:r>
            <a:r>
              <a:rPr lang="en-US" sz="2200" spc="-10" dirty="0">
                <a:cs typeface="Calibri"/>
              </a:rPr>
              <a:t>uninitialized </a:t>
            </a:r>
            <a:r>
              <a:rPr lang="en-US" sz="2200" spc="-5" dirty="0">
                <a:cs typeface="Calibri"/>
              </a:rPr>
              <a:t>global </a:t>
            </a:r>
            <a:r>
              <a:rPr lang="en-US" sz="2200" spc="-10" dirty="0">
                <a:cs typeface="Calibri"/>
              </a:rPr>
              <a:t>variables (no  </a:t>
            </a:r>
            <a:r>
              <a:rPr lang="en-US" sz="2200" spc="-5" dirty="0">
                <a:cs typeface="Calibri"/>
              </a:rPr>
              <a:t>space is occupied </a:t>
            </a:r>
            <a:r>
              <a:rPr lang="en-US" sz="2200" spc="-10" dirty="0">
                <a:cs typeface="Calibri"/>
              </a:rPr>
              <a:t>by </a:t>
            </a:r>
            <a:r>
              <a:rPr lang="en-US" sz="2200" spc="-5" dirty="0">
                <a:cs typeface="Calibri"/>
              </a:rPr>
              <a:t>these </a:t>
            </a:r>
            <a:r>
              <a:rPr lang="en-US" sz="2200" spc="-10" dirty="0">
                <a:cs typeface="Calibri"/>
              </a:rPr>
              <a:t>values </a:t>
            </a:r>
            <a:r>
              <a:rPr lang="en-US" sz="2200" spc="-5" dirty="0">
                <a:cs typeface="Calibri"/>
              </a:rPr>
              <a:t>in the </a:t>
            </a:r>
            <a:r>
              <a:rPr lang="en-US" sz="2200" spc="-30" dirty="0">
                <a:cs typeface="Calibri"/>
              </a:rPr>
              <a:t>binary and</a:t>
            </a:r>
            <a:r>
              <a:rPr lang="en-US" sz="2200" spc="-5" dirty="0">
                <a:cs typeface="Calibri"/>
              </a:rPr>
              <a:t> will be mapped </a:t>
            </a:r>
            <a:r>
              <a:rPr lang="en-US" sz="2200" spc="-15" dirty="0">
                <a:cs typeface="Calibri"/>
              </a:rPr>
              <a:t>to </a:t>
            </a:r>
            <a:r>
              <a:rPr lang="en-US" sz="2200" spc="-5" dirty="0">
                <a:cs typeface="Calibri"/>
              </a:rPr>
              <a:t>a </a:t>
            </a:r>
            <a:r>
              <a:rPr lang="en-US" sz="2200" spc="-15" dirty="0">
                <a:cs typeface="Calibri"/>
              </a:rPr>
              <a:t>page </a:t>
            </a:r>
            <a:r>
              <a:rPr lang="en-US" sz="2200" dirty="0">
                <a:cs typeface="Calibri"/>
              </a:rPr>
              <a:t>of </a:t>
            </a:r>
            <a:r>
              <a:rPr lang="en-US" sz="2200" spc="-25" dirty="0">
                <a:cs typeface="Calibri"/>
              </a:rPr>
              <a:t>zeros </a:t>
            </a:r>
            <a:r>
              <a:rPr lang="en-US" sz="2200" spc="-5" dirty="0">
                <a:cs typeface="Calibri"/>
              </a:rPr>
              <a:t>when loaded </a:t>
            </a:r>
            <a:r>
              <a:rPr lang="en-US" sz="2200" spc="-20" dirty="0">
                <a:cs typeface="Calibri"/>
              </a:rPr>
              <a:t>into</a:t>
            </a:r>
            <a:r>
              <a:rPr lang="en-US" sz="2200" spc="45" dirty="0">
                <a:cs typeface="Calibri"/>
              </a:rPr>
              <a:t> </a:t>
            </a:r>
            <a:r>
              <a:rPr lang="en-US" sz="2200" spc="-5" dirty="0">
                <a:cs typeface="Calibri"/>
              </a:rPr>
              <a:t>memory.)</a:t>
            </a:r>
          </a:p>
          <a:p>
            <a:pPr marL="698500" marR="386715" lvl="1" indent="-228600">
              <a:lnSpc>
                <a:spcPct val="80000"/>
              </a:lnSpc>
              <a:spcBef>
                <a:spcPts val="509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200" b="1" i="1" spc="-10" dirty="0">
                <a:cs typeface="Calibri"/>
              </a:rPr>
              <a:t>Heap</a:t>
            </a:r>
            <a:r>
              <a:rPr lang="en-US" sz="2200" b="1" spc="-10" dirty="0">
                <a:cs typeface="Calibri"/>
              </a:rPr>
              <a:t> </a:t>
            </a:r>
            <a:r>
              <a:rPr lang="en-US" sz="2200" spc="-15" dirty="0">
                <a:cs typeface="Calibri"/>
              </a:rPr>
              <a:t>contains </a:t>
            </a:r>
            <a:r>
              <a:rPr lang="en-US" sz="2200" spc="-5" dirty="0">
                <a:cs typeface="Calibri"/>
              </a:rPr>
              <a:t>a </a:t>
            </a:r>
            <a:r>
              <a:rPr lang="en-US" sz="2200" spc="-25" dirty="0">
                <a:cs typeface="Calibri"/>
              </a:rPr>
              <a:t>process’s </a:t>
            </a:r>
            <a:r>
              <a:rPr lang="en-US" sz="2200" spc="-10" dirty="0">
                <a:cs typeface="Calibri"/>
              </a:rPr>
              <a:t>dynamic </a:t>
            </a:r>
            <a:r>
              <a:rPr lang="en-US" sz="2200" spc="-25" dirty="0">
                <a:cs typeface="Calibri"/>
              </a:rPr>
              <a:t>memory. </a:t>
            </a:r>
            <a:r>
              <a:rPr lang="en-US"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malloc()</a:t>
            </a:r>
            <a:r>
              <a:rPr lang="en-US" sz="2200" spc="-5" dirty="0">
                <a:cs typeface="Calibri"/>
              </a:rPr>
              <a:t> </a:t>
            </a:r>
            <a:r>
              <a:rPr lang="en-US" sz="2200" spc="-15" dirty="0">
                <a:cs typeface="Calibri"/>
              </a:rPr>
              <a:t>can </a:t>
            </a:r>
            <a:r>
              <a:rPr lang="en-US" sz="2200" spc="-10" dirty="0">
                <a:cs typeface="Calibri"/>
              </a:rPr>
              <a:t>request </a:t>
            </a:r>
            <a:r>
              <a:rPr lang="en-US" sz="2200" spc="-5" dirty="0">
                <a:cs typeface="Calibri"/>
              </a:rPr>
              <a:t>memory </a:t>
            </a:r>
            <a:r>
              <a:rPr lang="en-US" sz="2200" spc="-15" dirty="0">
                <a:cs typeface="Calibri"/>
              </a:rPr>
              <a:t>to be allocated in </a:t>
            </a:r>
            <a:r>
              <a:rPr lang="en-US" sz="2200" spc="-5" dirty="0">
                <a:cs typeface="Calibri"/>
              </a:rPr>
              <a:t>this</a:t>
            </a:r>
            <a:r>
              <a:rPr lang="en-US" sz="2200" spc="35" dirty="0">
                <a:cs typeface="Calibri"/>
              </a:rPr>
              <a:t> </a:t>
            </a:r>
            <a:r>
              <a:rPr lang="en-US" sz="2200" spc="-10" dirty="0">
                <a:cs typeface="Calibri"/>
              </a:rPr>
              <a:t>segment.</a:t>
            </a:r>
            <a:endParaRPr sz="2200" b="1" i="1" dirty="0">
              <a:latin typeface="Calibri"/>
              <a:cs typeface="Calibri"/>
            </a:endParaRPr>
          </a:p>
          <a:p>
            <a:pPr marL="698500" lvl="1" indent="-229235">
              <a:lnSpc>
                <a:spcPts val="2605"/>
              </a:lnSpc>
              <a:buFont typeface="Arial"/>
              <a:buChar char="•"/>
              <a:tabLst>
                <a:tab pos="699135" algn="l"/>
              </a:tabLst>
            </a:pPr>
            <a:r>
              <a:rPr sz="2200" b="1" i="1" spc="-10" dirty="0">
                <a:latin typeface="Calibri"/>
                <a:cs typeface="Calibri"/>
              </a:rPr>
              <a:t>Stack</a:t>
            </a:r>
            <a:r>
              <a:rPr sz="2200" i="1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contains </a:t>
            </a:r>
            <a:r>
              <a:rPr sz="2200" spc="-10" dirty="0">
                <a:latin typeface="Calibri"/>
                <a:cs typeface="Calibri"/>
              </a:rPr>
              <a:t>local variables </a:t>
            </a:r>
            <a:r>
              <a:rPr sz="2200" spc="-5" dirty="0">
                <a:latin typeface="Calibri"/>
                <a:cs typeface="Calibri"/>
              </a:rPr>
              <a:t>and function </a:t>
            </a:r>
            <a:r>
              <a:rPr sz="2200" spc="-20" dirty="0">
                <a:latin typeface="Calibri"/>
                <a:cs typeface="Calibri"/>
              </a:rPr>
              <a:t>data</a:t>
            </a:r>
            <a:r>
              <a:rPr lang="en-US" sz="2200" spc="-20" dirty="0">
                <a:latin typeface="Calibri"/>
                <a:cs typeface="Calibri"/>
              </a:rPr>
              <a:t> (parameters, return value, addresses, etc.)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CD4947E0-6AE1-4353-941F-9CAC85E11424}"/>
              </a:ext>
            </a:extLst>
          </p:cNvPr>
          <p:cNvSpPr/>
          <p:nvPr/>
        </p:nvSpPr>
        <p:spPr>
          <a:xfrm>
            <a:off x="838200" y="3124200"/>
            <a:ext cx="457201" cy="2895600"/>
          </a:xfrm>
          <a:prstGeom prst="down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95C25A-CEBE-44CC-927D-8A70A271EF5C}"/>
              </a:ext>
            </a:extLst>
          </p:cNvPr>
          <p:cNvSpPr txBox="1"/>
          <p:nvPr/>
        </p:nvSpPr>
        <p:spPr>
          <a:xfrm>
            <a:off x="0" y="2886670"/>
            <a:ext cx="1066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Lowest Address (0)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E0359F-F345-4301-9E00-ECD36A0DD195}"/>
              </a:ext>
            </a:extLst>
          </p:cNvPr>
          <p:cNvSpPr txBox="1"/>
          <p:nvPr/>
        </p:nvSpPr>
        <p:spPr>
          <a:xfrm>
            <a:off x="0" y="5486400"/>
            <a:ext cx="106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Highest Address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5784B694-FAC0-FBFA-2CAD-E4040E1EB788}"/>
              </a:ext>
            </a:extLst>
          </p:cNvPr>
          <p:cNvSpPr/>
          <p:nvPr/>
        </p:nvSpPr>
        <p:spPr>
          <a:xfrm>
            <a:off x="4991100" y="207657"/>
            <a:ext cx="2209800" cy="5981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11">
            <a:extLst>
              <a:ext uri="{FF2B5EF4-FFF2-40B4-BE49-F238E27FC236}">
                <a16:creationId xmlns:a16="http://schemas.microsoft.com/office/drawing/2014/main" id="{D0FCC521-8E07-DF18-AEBF-169D96F9B46E}"/>
              </a:ext>
            </a:extLst>
          </p:cNvPr>
          <p:cNvSpPr txBox="1"/>
          <p:nvPr/>
        </p:nvSpPr>
        <p:spPr>
          <a:xfrm>
            <a:off x="4335067" y="6189319"/>
            <a:ext cx="352186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Typical </a:t>
            </a:r>
            <a:r>
              <a:rPr b="1" spc="-5" dirty="0">
                <a:latin typeface="Calibri"/>
                <a:cs typeface="Calibri"/>
              </a:rPr>
              <a:t>memory layout </a:t>
            </a:r>
            <a:r>
              <a:rPr b="1" dirty="0">
                <a:latin typeface="Calibri"/>
                <a:cs typeface="Calibri"/>
              </a:rPr>
              <a:t>of a</a:t>
            </a:r>
            <a:r>
              <a:rPr b="1" spc="-140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program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49935C-0829-0B1F-FEB7-5486B8A9E61F}"/>
              </a:ext>
            </a:extLst>
          </p:cNvPr>
          <p:cNvSpPr txBox="1"/>
          <p:nvPr/>
        </p:nvSpPr>
        <p:spPr>
          <a:xfrm>
            <a:off x="4480859" y="569977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F8ABA-47B5-C18C-6DCB-7E0E4A577D84}"/>
              </a:ext>
            </a:extLst>
          </p:cNvPr>
          <p:cNvSpPr txBox="1"/>
          <p:nvPr/>
        </p:nvSpPr>
        <p:spPr>
          <a:xfrm>
            <a:off x="4288342" y="77666"/>
            <a:ext cx="7251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max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7A8A3937-DFFC-72F2-1864-B98D5CEAD339}"/>
              </a:ext>
            </a:extLst>
          </p:cNvPr>
          <p:cNvSpPr/>
          <p:nvPr/>
        </p:nvSpPr>
        <p:spPr>
          <a:xfrm rot="10800000">
            <a:off x="4422338" y="567208"/>
            <a:ext cx="457201" cy="5132567"/>
          </a:xfrm>
          <a:prstGeom prst="down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61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2407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Allocating Dynamic</a:t>
            </a:r>
            <a:r>
              <a:rPr spc="-215" dirty="0"/>
              <a:t> </a:t>
            </a:r>
            <a:r>
              <a:rPr spc="-35" dirty="0"/>
              <a:t>Memory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6938" y="1736801"/>
            <a:ext cx="10817862" cy="47439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Dynamic memory is </a:t>
            </a:r>
            <a:r>
              <a:rPr sz="2600" spc="-10" dirty="0">
                <a:latin typeface="Calibri"/>
                <a:cs typeface="Calibri"/>
              </a:rPr>
              <a:t>allocated at </a:t>
            </a:r>
            <a:r>
              <a:rPr sz="2600" spc="-5" dirty="0">
                <a:latin typeface="Calibri"/>
                <a:cs typeface="Calibri"/>
              </a:rPr>
              <a:t>runtime, not </a:t>
            </a:r>
            <a:r>
              <a:rPr lang="en-US" sz="2600" spc="-5" dirty="0">
                <a:latin typeface="Calibri"/>
                <a:cs typeface="Calibri"/>
              </a:rPr>
              <a:t>at </a:t>
            </a:r>
            <a:r>
              <a:rPr sz="2600" spc="-5" dirty="0">
                <a:latin typeface="Calibri"/>
                <a:cs typeface="Calibri"/>
              </a:rPr>
              <a:t>compile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time</a:t>
            </a:r>
            <a:r>
              <a:rPr lang="en-US" sz="260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301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 classic C </a:t>
            </a:r>
            <a:r>
              <a:rPr sz="2600" spc="-10" dirty="0">
                <a:latin typeface="Calibri"/>
                <a:cs typeface="Calibri"/>
              </a:rPr>
              <a:t>interface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spc="-5" dirty="0">
                <a:latin typeface="Calibri"/>
                <a:cs typeface="Calibri"/>
              </a:rPr>
              <a:t>obtaining </a:t>
            </a:r>
            <a:r>
              <a:rPr sz="2600" dirty="0">
                <a:latin typeface="Calibri"/>
                <a:cs typeface="Calibri"/>
              </a:rPr>
              <a:t>dynamic memory is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malloc()</a:t>
            </a:r>
            <a:r>
              <a:rPr lang="en-US" sz="2600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469900">
              <a:lnSpc>
                <a:spcPts val="2185"/>
              </a:lnSpc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&lt;stdlib.h&gt;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290"/>
              </a:lnSpc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malloc 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size_t</a:t>
            </a:r>
            <a:r>
              <a:rPr sz="2000" b="1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size);</a:t>
            </a:r>
          </a:p>
          <a:p>
            <a:pPr marL="241300" indent="-228600">
              <a:lnSpc>
                <a:spcPts val="2655"/>
              </a:lnSpc>
              <a:spcBef>
                <a:spcPts val="6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On </a:t>
            </a:r>
            <a:r>
              <a:rPr sz="2600" spc="-5" dirty="0">
                <a:latin typeface="Calibri"/>
                <a:cs typeface="Calibri"/>
              </a:rPr>
              <a:t>success</a:t>
            </a:r>
            <a:r>
              <a:rPr lang="en-US" sz="2600" spc="-5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 </a:t>
            </a:r>
            <a:r>
              <a:rPr sz="2600" spc="-5" dirty="0">
                <a:latin typeface="Calibri"/>
                <a:cs typeface="Calibri"/>
              </a:rPr>
              <a:t>allocates </a:t>
            </a:r>
            <a:r>
              <a:rPr sz="24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size</a:t>
            </a:r>
            <a:r>
              <a:rPr sz="2600" i="1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bytes </a:t>
            </a:r>
            <a:r>
              <a:rPr sz="2600" dirty="0">
                <a:latin typeface="Calibri"/>
                <a:cs typeface="Calibri"/>
              </a:rPr>
              <a:t>of memory and </a:t>
            </a:r>
            <a:r>
              <a:rPr sz="2600" spc="-5" dirty="0">
                <a:latin typeface="Calibri"/>
                <a:cs typeface="Calibri"/>
              </a:rPr>
              <a:t>returns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pointer to</a:t>
            </a:r>
            <a:r>
              <a:rPr sz="2600" spc="-135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its</a:t>
            </a:r>
            <a:endParaRPr sz="2600" dirty="0">
              <a:latin typeface="Calibri"/>
              <a:cs typeface="Calibri"/>
            </a:endParaRPr>
          </a:p>
          <a:p>
            <a:pPr marL="241300" marR="6985">
              <a:lnSpc>
                <a:spcPct val="70000"/>
              </a:lnSpc>
              <a:spcBef>
                <a:spcPts val="465"/>
              </a:spcBef>
            </a:pPr>
            <a:r>
              <a:rPr sz="2600" spc="-10" dirty="0">
                <a:latin typeface="Calibri"/>
                <a:cs typeface="Calibri"/>
              </a:rPr>
              <a:t>start.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contents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the memory </a:t>
            </a:r>
            <a:r>
              <a:rPr sz="2600" spc="-10" dirty="0">
                <a:latin typeface="Calibri"/>
                <a:cs typeface="Calibri"/>
              </a:rPr>
              <a:t>are </a:t>
            </a:r>
            <a:r>
              <a:rPr sz="2600" spc="-5" dirty="0">
                <a:latin typeface="Calibri"/>
                <a:cs typeface="Calibri"/>
              </a:rPr>
              <a:t>undefined</a:t>
            </a:r>
            <a:r>
              <a:rPr lang="en-US" sz="2600" spc="-5" dirty="0">
                <a:latin typeface="Calibri"/>
                <a:cs typeface="Calibri"/>
              </a:rPr>
              <a:t> (junk)</a:t>
            </a:r>
            <a:r>
              <a:rPr sz="2600" spc="-5" dirty="0">
                <a:latin typeface="Calibri"/>
                <a:cs typeface="Calibri"/>
              </a:rPr>
              <a:t>. On </a:t>
            </a:r>
            <a:r>
              <a:rPr sz="2600" spc="-10" dirty="0">
                <a:latin typeface="Calibri"/>
                <a:cs typeface="Calibri"/>
              </a:rPr>
              <a:t>failure</a:t>
            </a:r>
            <a:r>
              <a:rPr lang="en-US" sz="2600" spc="-10" dirty="0">
                <a:latin typeface="Calibri"/>
                <a:cs typeface="Calibri"/>
              </a:rPr>
              <a:t>,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 </a:t>
            </a:r>
            <a:r>
              <a:rPr sz="2600" spc="-5" dirty="0">
                <a:latin typeface="Calibri"/>
                <a:cs typeface="Calibri"/>
              </a:rPr>
              <a:t>returns</a:t>
            </a:r>
            <a:endParaRPr lang="en-US" sz="2600" spc="-5" dirty="0">
              <a:latin typeface="Calibri"/>
              <a:cs typeface="Calibri"/>
            </a:endParaRPr>
          </a:p>
          <a:p>
            <a:pPr marL="241300" marR="6985">
              <a:lnSpc>
                <a:spcPct val="70000"/>
              </a:lnSpc>
              <a:spcBef>
                <a:spcPts val="465"/>
              </a:spcBef>
            </a:pPr>
            <a:r>
              <a:rPr sz="2600" spc="5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sz="2600" spc="5" dirty="0">
                <a:latin typeface="Calibri"/>
                <a:cs typeface="Calibri"/>
              </a:rPr>
              <a:t>,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5" dirty="0">
                <a:latin typeface="Calibri"/>
                <a:cs typeface="Calibri"/>
              </a:rPr>
              <a:t>set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4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ENOMEM</a:t>
            </a:r>
            <a:r>
              <a:rPr sz="2600" spc="-5" dirty="0">
                <a:latin typeface="Calibri"/>
                <a:cs typeface="Calibri"/>
              </a:rPr>
              <a:t> (you </a:t>
            </a:r>
            <a:r>
              <a:rPr sz="2600" spc="-10" dirty="0">
                <a:latin typeface="Calibri"/>
                <a:cs typeface="Calibri"/>
              </a:rPr>
              <a:t>must </a:t>
            </a:r>
            <a:r>
              <a:rPr sz="2600" spc="-5" dirty="0">
                <a:latin typeface="Calibri"/>
                <a:cs typeface="Calibri"/>
              </a:rPr>
              <a:t>check </a:t>
            </a:r>
            <a:r>
              <a:rPr sz="2600" spc="-15" dirty="0">
                <a:latin typeface="Calibri"/>
                <a:cs typeface="Calibri"/>
              </a:rPr>
              <a:t>for </a:t>
            </a:r>
            <a:r>
              <a:rPr sz="2600" spc="-10" dirty="0">
                <a:latin typeface="Calibri"/>
                <a:cs typeface="Calibri"/>
              </a:rPr>
              <a:t>error</a:t>
            </a:r>
            <a:r>
              <a:rPr lang="en-US" sz="2600" spc="-1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r>
              <a:rPr sz="2600" dirty="0">
                <a:latin typeface="Calibri"/>
                <a:cs typeface="Calibri"/>
              </a:rPr>
              <a:t>)</a:t>
            </a:r>
          </a:p>
          <a:p>
            <a:pPr marL="241300" indent="-228600">
              <a:lnSpc>
                <a:spcPts val="3010"/>
              </a:lnSpc>
              <a:spcBef>
                <a:spcPts val="6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Usage </a:t>
            </a:r>
            <a:r>
              <a:rPr sz="2600" spc="-10" dirty="0">
                <a:latin typeface="Calibri"/>
                <a:cs typeface="Calibri"/>
              </a:rPr>
              <a:t>(to allocate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 structure):</a:t>
            </a:r>
            <a:endParaRPr sz="2600" dirty="0">
              <a:latin typeface="Calibri"/>
              <a:cs typeface="Calibri"/>
            </a:endParaRPr>
          </a:p>
          <a:p>
            <a:pPr marL="469900">
              <a:lnSpc>
                <a:spcPts val="2185"/>
              </a:lnSpc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struct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treasure_map</a:t>
            </a:r>
            <a:r>
              <a:rPr sz="20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*map;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180"/>
              </a:lnSpc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map =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malloc 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sizeof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struct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treasure_map)); </a:t>
            </a:r>
            <a:r>
              <a:rPr sz="2000" i="1" dirty="0">
                <a:latin typeface="Consolas"/>
                <a:cs typeface="Consolas"/>
              </a:rPr>
              <a:t>// Note: </a:t>
            </a:r>
            <a:r>
              <a:rPr sz="2000" i="1" spc="-5" dirty="0">
                <a:latin typeface="Consolas"/>
                <a:cs typeface="Consolas"/>
              </a:rPr>
              <a:t>in </a:t>
            </a:r>
            <a:r>
              <a:rPr sz="2000" i="1" dirty="0">
                <a:latin typeface="Consolas"/>
                <a:cs typeface="Consolas"/>
              </a:rPr>
              <a:t>C, </a:t>
            </a:r>
            <a:r>
              <a:rPr sz="2000" i="1" spc="-5" dirty="0">
                <a:latin typeface="Consolas"/>
                <a:cs typeface="Consolas"/>
              </a:rPr>
              <a:t>you</a:t>
            </a:r>
            <a:r>
              <a:rPr sz="2000" i="1" spc="20" dirty="0">
                <a:latin typeface="Consolas"/>
                <a:cs typeface="Consolas"/>
              </a:rPr>
              <a:t> </a:t>
            </a:r>
            <a:r>
              <a:rPr sz="2000" i="1" spc="-5" dirty="0">
                <a:latin typeface="Consolas"/>
                <a:cs typeface="Consolas"/>
              </a:rPr>
              <a:t>don’t</a:t>
            </a:r>
            <a:endParaRPr sz="2000" i="1" dirty="0">
              <a:latin typeface="Consolas"/>
              <a:cs typeface="Consolas"/>
            </a:endParaRPr>
          </a:p>
          <a:p>
            <a:pPr marL="469900">
              <a:lnSpc>
                <a:spcPts val="2180"/>
              </a:lnSpc>
            </a:pPr>
            <a:r>
              <a:rPr sz="2000" i="1" dirty="0">
                <a:latin typeface="Consolas"/>
                <a:cs typeface="Consolas"/>
              </a:rPr>
              <a:t>// need to typecast </a:t>
            </a:r>
            <a:r>
              <a:rPr sz="2000" i="1" spc="-5" dirty="0">
                <a:latin typeface="Consolas"/>
                <a:cs typeface="Consolas"/>
              </a:rPr>
              <a:t>the </a:t>
            </a:r>
            <a:r>
              <a:rPr sz="2000" i="1" dirty="0">
                <a:latin typeface="Consolas"/>
                <a:cs typeface="Consolas"/>
              </a:rPr>
              <a:t>returned pointer </a:t>
            </a:r>
            <a:r>
              <a:rPr sz="2000" i="1" spc="-5" dirty="0">
                <a:latin typeface="Consolas"/>
                <a:cs typeface="Consolas"/>
              </a:rPr>
              <a:t>from </a:t>
            </a:r>
            <a:r>
              <a:rPr sz="2000" i="1" dirty="0">
                <a:latin typeface="Consolas"/>
                <a:cs typeface="Consolas"/>
              </a:rPr>
              <a:t>void* to the</a:t>
            </a:r>
            <a:r>
              <a:rPr sz="2000" i="1" spc="-70" dirty="0">
                <a:latin typeface="Consolas"/>
                <a:cs typeface="Consolas"/>
              </a:rPr>
              <a:t> </a:t>
            </a:r>
            <a:r>
              <a:rPr sz="2000" i="1" spc="-5" dirty="0">
                <a:latin typeface="Consolas"/>
                <a:cs typeface="Consolas"/>
              </a:rPr>
              <a:t>correct</a:t>
            </a:r>
            <a:endParaRPr sz="2000" i="1" dirty="0">
              <a:latin typeface="Consolas"/>
              <a:cs typeface="Consolas"/>
            </a:endParaRPr>
          </a:p>
          <a:p>
            <a:pPr marL="469900" marR="64769">
              <a:lnSpc>
                <a:spcPts val="2180"/>
              </a:lnSpc>
              <a:spcBef>
                <a:spcPts val="150"/>
              </a:spcBef>
            </a:pPr>
            <a:r>
              <a:rPr sz="2000" i="1" dirty="0">
                <a:latin typeface="Consolas"/>
                <a:cs typeface="Consolas"/>
              </a:rPr>
              <a:t>// type </a:t>
            </a:r>
            <a:r>
              <a:rPr sz="2000" i="1" spc="-5" dirty="0">
                <a:latin typeface="Consolas"/>
                <a:cs typeface="Consolas"/>
              </a:rPr>
              <a:t>(it’s </a:t>
            </a:r>
            <a:r>
              <a:rPr sz="2000" i="1" dirty="0">
                <a:latin typeface="Consolas"/>
                <a:cs typeface="Consolas"/>
              </a:rPr>
              <a:t>done </a:t>
            </a:r>
            <a:r>
              <a:rPr sz="2000" i="1" spc="-5" dirty="0">
                <a:latin typeface="Consolas"/>
                <a:cs typeface="Consolas"/>
              </a:rPr>
              <a:t>automatically</a:t>
            </a:r>
            <a:r>
              <a:rPr lang="en-US" sz="2000" i="1" spc="-5" dirty="0">
                <a:latin typeface="Consolas"/>
                <a:cs typeface="Consolas"/>
              </a:rPr>
              <a:t>.) I</a:t>
            </a:r>
            <a:r>
              <a:rPr sz="2000" i="1" dirty="0">
                <a:latin typeface="Consolas"/>
                <a:cs typeface="Consolas"/>
              </a:rPr>
              <a:t>n </a:t>
            </a:r>
            <a:r>
              <a:rPr sz="2000" i="1" spc="-5" dirty="0">
                <a:latin typeface="Consolas"/>
                <a:cs typeface="Consolas"/>
              </a:rPr>
              <a:t>C++, you </a:t>
            </a:r>
            <a:r>
              <a:rPr lang="en-US" sz="2000" i="1" dirty="0">
                <a:latin typeface="Consolas"/>
                <a:cs typeface="Consolas"/>
              </a:rPr>
              <a:t>must</a:t>
            </a:r>
            <a:r>
              <a:rPr sz="2000" i="1" dirty="0">
                <a:latin typeface="Consolas"/>
                <a:cs typeface="Consolas"/>
              </a:rPr>
              <a:t> </a:t>
            </a:r>
            <a:r>
              <a:rPr sz="2000" i="1" spc="-5" dirty="0">
                <a:latin typeface="Consolas"/>
                <a:cs typeface="Consolas"/>
              </a:rPr>
              <a:t>do </a:t>
            </a:r>
            <a:r>
              <a:rPr sz="2000" i="1" dirty="0">
                <a:latin typeface="Consolas"/>
                <a:cs typeface="Consolas"/>
              </a:rPr>
              <a:t>it </a:t>
            </a:r>
            <a:r>
              <a:rPr sz="2000" i="1" spc="-5" dirty="0">
                <a:latin typeface="Consolas"/>
                <a:cs typeface="Consolas"/>
              </a:rPr>
              <a:t>explicitly.</a:t>
            </a:r>
            <a:endParaRPr lang="en-US" sz="2000" i="1" spc="-5" dirty="0">
              <a:latin typeface="Consolas"/>
              <a:cs typeface="Consolas"/>
            </a:endParaRPr>
          </a:p>
          <a:p>
            <a:pPr marL="469900" marR="64769">
              <a:lnSpc>
                <a:spcPts val="2180"/>
              </a:lnSpc>
              <a:spcBef>
                <a:spcPts val="15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(map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 == NULL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)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927100">
              <a:lnSpc>
                <a:spcPts val="2140"/>
              </a:lnSpc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perror</a:t>
            </a:r>
            <a:r>
              <a:rPr sz="20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("malloc");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6918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Allocating</a:t>
            </a:r>
            <a:r>
              <a:rPr spc="-170" dirty="0"/>
              <a:t> </a:t>
            </a:r>
            <a:r>
              <a:rPr spc="-65" dirty="0"/>
              <a:t>Arrays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6939" y="1734431"/>
            <a:ext cx="10767060" cy="3982116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5" dirty="0">
                <a:latin typeface="Calibri"/>
                <a:cs typeface="Calibri"/>
              </a:rPr>
              <a:t>To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allocate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25" dirty="0">
                <a:latin typeface="Calibri"/>
                <a:cs typeface="Calibri"/>
              </a:rPr>
              <a:t>array </a:t>
            </a:r>
            <a:r>
              <a:rPr sz="2800" spc="-5" dirty="0">
                <a:latin typeface="Calibri"/>
                <a:cs typeface="Calibri"/>
              </a:rPr>
              <a:t>with a </a:t>
            </a:r>
            <a:r>
              <a:rPr sz="2800" spc="-20" dirty="0">
                <a:latin typeface="Calibri"/>
                <a:cs typeface="Calibri"/>
              </a:rPr>
              <a:t>fixed </a:t>
            </a:r>
            <a:r>
              <a:rPr sz="2800" spc="-5" dirty="0">
                <a:latin typeface="Calibri"/>
                <a:cs typeface="Calibri"/>
              </a:rPr>
              <a:t>number of a </a:t>
            </a:r>
            <a:r>
              <a:rPr sz="2800" spc="-10" dirty="0">
                <a:latin typeface="Calibri"/>
                <a:cs typeface="Calibri"/>
              </a:rPr>
              <a:t>certain </a:t>
            </a:r>
            <a:r>
              <a:rPr sz="2800" spc="-20" dirty="0">
                <a:latin typeface="Calibri"/>
                <a:cs typeface="Calibri"/>
              </a:rPr>
              <a:t>data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type: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35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&lt;stdlib.h&gt;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5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calloc 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size_t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nr,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size_t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size); </a:t>
            </a:r>
            <a:r>
              <a:rPr sz="2000" i="1" dirty="0">
                <a:latin typeface="Consolas"/>
                <a:cs typeface="Consolas"/>
              </a:rPr>
              <a:t>// </a:t>
            </a:r>
            <a:r>
              <a:rPr lang="en-US" sz="2000" spc="-5" dirty="0">
                <a:solidFill>
                  <a:srgbClr val="0070C0"/>
                </a:solidFill>
                <a:latin typeface="Consolas"/>
              </a:rPr>
              <a:t>c</a:t>
            </a:r>
            <a:r>
              <a:rPr lang="en-US" sz="2000" i="1" dirty="0">
                <a:latin typeface="Consolas"/>
                <a:cs typeface="Consolas"/>
              </a:rPr>
              <a:t> </a:t>
            </a:r>
            <a:r>
              <a:rPr sz="2000" i="1" spc="-5" dirty="0">
                <a:latin typeface="Consolas"/>
                <a:cs typeface="Consolas"/>
              </a:rPr>
              <a:t>stands </a:t>
            </a:r>
            <a:r>
              <a:rPr sz="2000" i="1" dirty="0">
                <a:latin typeface="Consolas"/>
                <a:cs typeface="Consolas"/>
              </a:rPr>
              <a:t>for</a:t>
            </a:r>
            <a:r>
              <a:rPr sz="2000" i="1" spc="-5" dirty="0">
                <a:latin typeface="Consolas"/>
                <a:cs typeface="Consolas"/>
              </a:rPr>
              <a:t> </a:t>
            </a:r>
            <a:r>
              <a:rPr lang="en-US" sz="2000" i="1" spc="-5" dirty="0">
                <a:latin typeface="Consolas"/>
                <a:cs typeface="Consolas"/>
              </a:rPr>
              <a:t>contiguous.</a:t>
            </a:r>
            <a:endParaRPr sz="2000" i="1" dirty="0">
              <a:latin typeface="Consolas"/>
              <a:cs typeface="Consolas"/>
            </a:endParaRPr>
          </a:p>
          <a:p>
            <a:pPr marL="241300" marR="5080" indent="-228600">
              <a:lnSpc>
                <a:spcPts val="303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success, it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pointer to </a:t>
            </a:r>
            <a:r>
              <a:rPr sz="2800" spc="-5" dirty="0">
                <a:latin typeface="Calibri"/>
                <a:cs typeface="Calibri"/>
              </a:rPr>
              <a:t>a block of </a:t>
            </a:r>
            <a:r>
              <a:rPr sz="2800" dirty="0">
                <a:latin typeface="Calibri"/>
                <a:cs typeface="Calibri"/>
              </a:rPr>
              <a:t>memory </a:t>
            </a:r>
            <a:r>
              <a:rPr sz="2800" spc="-10" dirty="0">
                <a:latin typeface="Calibri"/>
                <a:cs typeface="Calibri"/>
              </a:rPr>
              <a:t>suitable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0" dirty="0">
                <a:latin typeface="Calibri"/>
                <a:cs typeface="Calibri"/>
              </a:rPr>
              <a:t>holding 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25" dirty="0">
                <a:latin typeface="Calibri"/>
                <a:cs typeface="Calibri"/>
              </a:rPr>
              <a:t>array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4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nr</a:t>
            </a:r>
            <a:r>
              <a:rPr sz="2800" i="1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elements, </a:t>
            </a:r>
            <a:r>
              <a:rPr sz="2800" spc="-5" dirty="0">
                <a:latin typeface="Calibri"/>
                <a:cs typeface="Calibri"/>
              </a:rPr>
              <a:t>each of </a:t>
            </a:r>
            <a:r>
              <a:rPr sz="24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size</a:t>
            </a:r>
            <a:r>
              <a:rPr sz="2800" i="1" spc="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bytes.</a:t>
            </a:r>
            <a:endParaRPr sz="2800" dirty="0">
              <a:latin typeface="Calibri"/>
              <a:cs typeface="Calibri"/>
            </a:endParaRPr>
          </a:p>
          <a:p>
            <a:pPr marL="241300" marR="181610" indent="-228600">
              <a:lnSpc>
                <a:spcPct val="90000"/>
              </a:lnSpc>
              <a:spcBef>
                <a:spcPts val="9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40" dirty="0">
                <a:latin typeface="Calibri"/>
                <a:cs typeface="Calibri"/>
              </a:rPr>
              <a:t>Moreover, </a:t>
            </a:r>
            <a:r>
              <a:rPr sz="24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calloc()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zeros </a:t>
            </a:r>
            <a:r>
              <a:rPr sz="2800" dirty="0">
                <a:latin typeface="Calibri"/>
                <a:cs typeface="Calibri"/>
              </a:rPr>
              <a:t>all </a:t>
            </a:r>
            <a:r>
              <a:rPr sz="2800" spc="-10" dirty="0">
                <a:latin typeface="Calibri"/>
                <a:cs typeface="Calibri"/>
              </a:rPr>
              <a:t>bytes </a:t>
            </a:r>
            <a:r>
              <a:rPr sz="2800" spc="-5" dirty="0">
                <a:latin typeface="Calibri"/>
                <a:cs typeface="Calibri"/>
              </a:rPr>
              <a:t>in the </a:t>
            </a:r>
            <a:r>
              <a:rPr sz="2800" spc="-15" dirty="0">
                <a:latin typeface="Calibri"/>
                <a:cs typeface="Calibri"/>
              </a:rPr>
              <a:t>returned </a:t>
            </a:r>
            <a:r>
              <a:rPr sz="2800" spc="-5" dirty="0">
                <a:latin typeface="Calibri"/>
                <a:cs typeface="Calibri"/>
              </a:rPr>
              <a:t>chunk of </a:t>
            </a:r>
            <a:r>
              <a:rPr sz="2800" spc="-30" dirty="0">
                <a:latin typeface="Calibri"/>
                <a:cs typeface="Calibri"/>
              </a:rPr>
              <a:t>memory. </a:t>
            </a:r>
            <a:r>
              <a:rPr sz="2800" spc="-5" dirty="0">
                <a:latin typeface="Calibri"/>
                <a:cs typeface="Calibri"/>
              </a:rPr>
              <a:t>And on all </a:t>
            </a:r>
            <a:r>
              <a:rPr sz="2800" spc="-10" dirty="0">
                <a:latin typeface="Calibri"/>
                <a:cs typeface="Calibri"/>
              </a:rPr>
              <a:t>common </a:t>
            </a:r>
            <a:r>
              <a:rPr sz="2800" spc="-15" dirty="0">
                <a:latin typeface="Calibri"/>
                <a:cs typeface="Calibri"/>
              </a:rPr>
              <a:t>platforms, </a:t>
            </a:r>
            <a:r>
              <a:rPr sz="2800" spc="-25" dirty="0">
                <a:latin typeface="Calibri"/>
                <a:cs typeface="Calibri"/>
              </a:rPr>
              <a:t>it’s </a:t>
            </a:r>
            <a:r>
              <a:rPr sz="2800" spc="-30" dirty="0">
                <a:latin typeface="Calibri"/>
                <a:cs typeface="Calibri"/>
              </a:rPr>
              <a:t>zero </a:t>
            </a:r>
            <a:r>
              <a:rPr sz="2800" spc="-10" dirty="0">
                <a:latin typeface="Calibri"/>
                <a:cs typeface="Calibri"/>
              </a:rPr>
              <a:t>even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5" dirty="0">
                <a:latin typeface="Calibri"/>
                <a:cs typeface="Calibri"/>
              </a:rPr>
              <a:t>floating-point</a:t>
            </a:r>
            <a:r>
              <a:rPr lang="en-US" sz="2800" spc="-15" dirty="0">
                <a:latin typeface="Calibri"/>
                <a:cs typeface="Calibri"/>
              </a:rPr>
              <a:t> types (e.g., </a:t>
            </a:r>
            <a:r>
              <a:rPr lang="en-US" sz="26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2800" spc="-15" dirty="0">
                <a:latin typeface="Calibri"/>
                <a:cs typeface="Calibri"/>
              </a:rPr>
              <a:t>)</a:t>
            </a:r>
            <a:r>
              <a:rPr sz="2800" spc="-15" dirty="0">
                <a:latin typeface="Calibri"/>
                <a:cs typeface="Calibri"/>
              </a:rPr>
              <a:t>,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for </a:t>
            </a:r>
            <a:r>
              <a:rPr sz="2800" spc="-20" dirty="0">
                <a:latin typeface="Calibri"/>
                <a:cs typeface="Calibri"/>
              </a:rPr>
              <a:t>pointer</a:t>
            </a:r>
            <a:r>
              <a:rPr lang="en-US" sz="2800" spc="-20" dirty="0">
                <a:latin typeface="Calibri"/>
                <a:cs typeface="Calibri"/>
              </a:rPr>
              <a:t> types.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20" dirty="0">
                <a:latin typeface="Calibri"/>
                <a:cs typeface="Calibri"/>
              </a:rPr>
              <a:t>failure,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sz="2800" spc="-5" dirty="0">
                <a:latin typeface="Calibri"/>
                <a:cs typeface="Calibri"/>
              </a:rPr>
              <a:t> and </a:t>
            </a:r>
            <a:r>
              <a:rPr sz="2800" spc="-10" dirty="0">
                <a:latin typeface="Calibri"/>
                <a:cs typeface="Calibri"/>
              </a:rPr>
              <a:t>sets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6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ENOMEM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3268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Resizing</a:t>
            </a:r>
            <a:r>
              <a:rPr spc="-120" dirty="0"/>
              <a:t> </a:t>
            </a:r>
            <a:r>
              <a:rPr spc="-40" dirty="0"/>
              <a:t>Allocations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6939" y="1734431"/>
            <a:ext cx="10347960" cy="4369914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For </a:t>
            </a:r>
            <a:r>
              <a:rPr sz="2800" spc="-10" dirty="0">
                <a:latin typeface="Calibri"/>
                <a:cs typeface="Calibri"/>
              </a:rPr>
              <a:t>resizing </a:t>
            </a:r>
            <a:r>
              <a:rPr lang="en-US" sz="2800" spc="-15" dirty="0">
                <a:cs typeface="Calibri"/>
              </a:rPr>
              <a:t>existing</a:t>
            </a:r>
            <a:r>
              <a:rPr lang="en-US" sz="2800" spc="110" dirty="0">
                <a:cs typeface="Calibri"/>
              </a:rPr>
              <a:t> </a:t>
            </a:r>
            <a:r>
              <a:rPr lang="en-US" sz="2800" spc="-5" dirty="0">
                <a:cs typeface="Calibri"/>
              </a:rPr>
              <a:t>allocations </a:t>
            </a:r>
            <a:r>
              <a:rPr sz="2800" spc="-5" dirty="0">
                <a:latin typeface="Calibri"/>
                <a:cs typeface="Calibri"/>
              </a:rPr>
              <a:t>(making </a:t>
            </a:r>
            <a:r>
              <a:rPr lang="en-US" sz="2800" spc="-5" dirty="0">
                <a:latin typeface="Calibri"/>
                <a:cs typeface="Calibri"/>
              </a:rPr>
              <a:t>them </a:t>
            </a:r>
            <a:r>
              <a:rPr sz="2800" spc="-15" dirty="0">
                <a:latin typeface="Calibri"/>
                <a:cs typeface="Calibri"/>
              </a:rPr>
              <a:t>larger </a:t>
            </a:r>
            <a:r>
              <a:rPr sz="2800" spc="-5" dirty="0">
                <a:latin typeface="Calibri"/>
                <a:cs typeface="Calibri"/>
              </a:rPr>
              <a:t>or smaller):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35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&lt;stdlib.h&gt;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5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realloc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*ptr,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size_t</a:t>
            </a:r>
            <a:r>
              <a:rPr sz="2000" b="1" spc="-4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size);</a:t>
            </a:r>
          </a:p>
          <a:p>
            <a:pPr marL="241300" marR="5080" indent="-228600">
              <a:lnSpc>
                <a:spcPct val="90000"/>
              </a:lnSpc>
              <a:spcBef>
                <a:spcPts val="9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success, it </a:t>
            </a:r>
            <a:r>
              <a:rPr sz="2800" spc="-20" dirty="0">
                <a:latin typeface="Calibri"/>
                <a:cs typeface="Calibri"/>
              </a:rPr>
              <a:t>resizes </a:t>
            </a:r>
            <a:r>
              <a:rPr sz="2800" spc="-5" dirty="0">
                <a:latin typeface="Calibri"/>
                <a:cs typeface="Calibri"/>
              </a:rPr>
              <a:t>the memory </a:t>
            </a:r>
            <a:r>
              <a:rPr sz="2800" spc="-15" dirty="0">
                <a:latin typeface="Calibri"/>
                <a:cs typeface="Calibri"/>
              </a:rPr>
              <a:t>pointed at by </a:t>
            </a:r>
            <a:r>
              <a:rPr sz="26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ptr</a:t>
            </a:r>
            <a:r>
              <a:rPr sz="2800" spc="-5" dirty="0">
                <a:latin typeface="Calibri"/>
                <a:cs typeface="Calibri"/>
              </a:rPr>
              <a:t>, which </a:t>
            </a:r>
            <a:r>
              <a:rPr sz="2800" spc="-15" dirty="0">
                <a:latin typeface="Calibri"/>
                <a:cs typeface="Calibri"/>
              </a:rPr>
              <a:t>must </a:t>
            </a:r>
            <a:r>
              <a:rPr sz="2800" spc="-10" dirty="0">
                <a:latin typeface="Calibri"/>
                <a:cs typeface="Calibri"/>
              </a:rPr>
              <a:t>be 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previous </a:t>
            </a:r>
            <a:r>
              <a:rPr sz="2800" spc="-10" dirty="0">
                <a:latin typeface="Calibri"/>
                <a:cs typeface="Calibri"/>
              </a:rPr>
              <a:t>call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6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sz="26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sz="2800" spc="-10" dirty="0">
                <a:latin typeface="Calibri"/>
                <a:cs typeface="Calibri"/>
              </a:rPr>
              <a:t>/</a:t>
            </a:r>
            <a:r>
              <a:rPr sz="2600" spc="-15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calloc</a:t>
            </a:r>
            <a:r>
              <a:rPr lang="en-US" sz="26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sz="2800" spc="-10" dirty="0">
                <a:latin typeface="Calibri"/>
                <a:cs typeface="Calibri"/>
              </a:rPr>
              <a:t>/</a:t>
            </a:r>
            <a:r>
              <a:rPr sz="2600" spc="-15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realloc</a:t>
            </a:r>
            <a:r>
              <a:rPr lang="en-US" sz="26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new </a:t>
            </a:r>
            <a:r>
              <a:rPr sz="2800" spc="-25" dirty="0">
                <a:latin typeface="Calibri"/>
                <a:cs typeface="Calibri"/>
              </a:rPr>
              <a:t>size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6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size</a:t>
            </a:r>
            <a:r>
              <a:rPr sz="2800" i="1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bytes,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pointer to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newly </a:t>
            </a:r>
            <a:r>
              <a:rPr sz="2800" spc="-20" dirty="0">
                <a:latin typeface="Calibri"/>
                <a:cs typeface="Calibri"/>
              </a:rPr>
              <a:t>sized </a:t>
            </a:r>
            <a:r>
              <a:rPr sz="2800" spc="-35" dirty="0">
                <a:latin typeface="Calibri"/>
                <a:cs typeface="Calibri"/>
              </a:rPr>
              <a:t>memory, </a:t>
            </a:r>
            <a:r>
              <a:rPr sz="2800" spc="-5" dirty="0">
                <a:latin typeface="Calibri"/>
                <a:cs typeface="Calibri"/>
              </a:rPr>
              <a:t>which </a:t>
            </a:r>
            <a:r>
              <a:rPr sz="2800" spc="-20" dirty="0">
                <a:latin typeface="Calibri"/>
                <a:cs typeface="Calibri"/>
              </a:rPr>
              <a:t>may </a:t>
            </a:r>
            <a:r>
              <a:rPr sz="2800" spc="-10" dirty="0">
                <a:latin typeface="Calibri"/>
                <a:cs typeface="Calibri"/>
              </a:rPr>
              <a:t>or </a:t>
            </a:r>
            <a:r>
              <a:rPr sz="2800" spc="-20" dirty="0">
                <a:latin typeface="Calibri"/>
                <a:cs typeface="Calibri"/>
              </a:rPr>
              <a:t>may </a:t>
            </a:r>
            <a:r>
              <a:rPr sz="2800" spc="-5" dirty="0">
                <a:latin typeface="Calibri"/>
                <a:cs typeface="Calibri"/>
              </a:rPr>
              <a:t>not be </a:t>
            </a:r>
            <a:r>
              <a:rPr lang="en-US" sz="2800" spc="-5" dirty="0">
                <a:latin typeface="Calibri"/>
                <a:cs typeface="Calibri"/>
              </a:rPr>
              <a:t>at the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same</a:t>
            </a:r>
            <a:r>
              <a:rPr lang="en-US" sz="2800" spc="-5" dirty="0">
                <a:latin typeface="Calibri"/>
                <a:cs typeface="Calibri"/>
              </a:rPr>
              <a:t> spot in RAM</a:t>
            </a:r>
            <a:r>
              <a:rPr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If </a:t>
            </a:r>
            <a:r>
              <a:rPr sz="26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ptr</a:t>
            </a:r>
            <a:r>
              <a:rPr sz="2800" i="1" spc="-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dirty="0">
                <a:latin typeface="Calibri"/>
                <a:cs typeface="Calibri"/>
              </a:rPr>
              <a:t>NULL, </a:t>
            </a:r>
            <a:r>
              <a:rPr sz="2800" spc="-10" dirty="0">
                <a:latin typeface="Calibri"/>
                <a:cs typeface="Calibri"/>
              </a:rPr>
              <a:t>this </a:t>
            </a:r>
            <a:r>
              <a:rPr sz="2800" spc="-5" dirty="0">
                <a:latin typeface="Calibri"/>
                <a:cs typeface="Calibri"/>
              </a:rPr>
              <a:t>is the same as </a:t>
            </a:r>
            <a:r>
              <a:rPr lang="en-US" sz="2800" spc="-5" dirty="0">
                <a:latin typeface="Calibri"/>
                <a:cs typeface="Calibri"/>
              </a:rPr>
              <a:t>just calling </a:t>
            </a:r>
            <a:r>
              <a:rPr sz="26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malloc()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spc="-5" dirty="0">
              <a:latin typeface="Calibri"/>
              <a:cs typeface="Calibri"/>
            </a:endParaRPr>
          </a:p>
          <a:p>
            <a:pPr marL="241300" marR="280035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20" dirty="0">
                <a:latin typeface="Calibri"/>
                <a:cs typeface="Calibri"/>
              </a:rPr>
              <a:t>failure,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6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sz="2800" spc="-5" dirty="0">
                <a:latin typeface="Calibri"/>
                <a:cs typeface="Calibri"/>
              </a:rPr>
              <a:t> and </a:t>
            </a:r>
            <a:r>
              <a:rPr sz="2800" spc="-10" dirty="0">
                <a:latin typeface="Calibri"/>
                <a:cs typeface="Calibri"/>
              </a:rPr>
              <a:t>sets </a:t>
            </a:r>
            <a:r>
              <a:rPr sz="26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6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ENOMEM</a:t>
            </a:r>
            <a:r>
              <a:rPr sz="2800" spc="-5" dirty="0">
                <a:latin typeface="Calibri"/>
                <a:cs typeface="Calibri"/>
              </a:rPr>
              <a:t>, </a:t>
            </a:r>
            <a:r>
              <a:rPr sz="2800" spc="-10" dirty="0">
                <a:latin typeface="Calibri"/>
                <a:cs typeface="Calibri"/>
              </a:rPr>
              <a:t>but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30" dirty="0">
                <a:latin typeface="Calibri"/>
                <a:cs typeface="Calibri"/>
              </a:rPr>
              <a:t>state  </a:t>
            </a:r>
            <a:r>
              <a:rPr sz="2800" spc="-5" dirty="0">
                <a:latin typeface="Calibri"/>
                <a:cs typeface="Calibri"/>
              </a:rPr>
              <a:t>of the memory </a:t>
            </a:r>
            <a:r>
              <a:rPr sz="2800" spc="-15" dirty="0">
                <a:latin typeface="Calibri"/>
                <a:cs typeface="Calibri"/>
              </a:rPr>
              <a:t>pointed at by </a:t>
            </a:r>
            <a:r>
              <a:rPr sz="26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ptr</a:t>
            </a:r>
            <a:r>
              <a:rPr sz="2800" i="1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unchanged.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3507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Example</a:t>
            </a:r>
            <a:r>
              <a:rPr lang="en-US" spc="-45" dirty="0"/>
              <a:t>s</a:t>
            </a:r>
            <a:r>
              <a:rPr spc="-45" dirty="0"/>
              <a:t> </a:t>
            </a:r>
            <a:r>
              <a:rPr spc="-15" dirty="0"/>
              <a:t>of </a:t>
            </a:r>
            <a:r>
              <a:rPr spc="-35" dirty="0"/>
              <a:t>Shrinking</a:t>
            </a:r>
            <a:r>
              <a:rPr spc="-285" dirty="0"/>
              <a:t> </a:t>
            </a:r>
            <a:r>
              <a:rPr spc="-35" dirty="0"/>
              <a:t>Memory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423468" y="1584452"/>
            <a:ext cx="5054600" cy="467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02310">
              <a:lnSpc>
                <a:spcPct val="100000"/>
              </a:lnSpc>
              <a:spcBef>
                <a:spcPts val="100"/>
              </a:spcBef>
            </a:pPr>
            <a:r>
              <a:rPr lang="en-US" spc="-45" dirty="0"/>
              <a:t>Below, t</a:t>
            </a:r>
            <a:r>
              <a:rPr spc="-45" dirty="0"/>
              <a:t>wo </a:t>
            </a:r>
            <a:r>
              <a:rPr spc="-5" dirty="0"/>
              <a:t>elements of </a:t>
            </a:r>
            <a:r>
              <a:rPr sz="2200" kern="1200" spc="-15" dirty="0">
                <a:solidFill>
                  <a:srgbClr val="0070C0"/>
                </a:solidFill>
                <a:latin typeface="Consolas" panose="020B0609020204030204" pitchFamily="49" charset="0"/>
              </a:rPr>
              <a:t>map</a:t>
            </a:r>
            <a:r>
              <a:rPr dirty="0"/>
              <a:t> </a:t>
            </a:r>
            <a:r>
              <a:rPr spc="-15" dirty="0"/>
              <a:t>are </a:t>
            </a:r>
            <a:r>
              <a:rPr spc="-10" dirty="0"/>
              <a:t>allocated </a:t>
            </a:r>
            <a:r>
              <a:rPr dirty="0"/>
              <a:t>via</a:t>
            </a:r>
            <a:r>
              <a:rPr spc="-15" dirty="0"/>
              <a:t> </a:t>
            </a:r>
            <a:r>
              <a:rPr sz="2200" kern="1200" spc="-15" dirty="0" err="1">
                <a:solidFill>
                  <a:srgbClr val="0070C0"/>
                </a:solidFill>
                <a:latin typeface="Consolas" panose="020B0609020204030204" pitchFamily="49" charset="0"/>
              </a:rPr>
              <a:t>calloc</a:t>
            </a:r>
            <a:r>
              <a:rPr sz="2200" kern="1200" spc="-15" dirty="0">
                <a:solidFill>
                  <a:srgbClr val="0070C0"/>
                </a:solidFill>
                <a:latin typeface="Consolas" panose="020B0609020204030204" pitchFamily="49" charset="0"/>
              </a:rPr>
              <a:t>()</a:t>
            </a:r>
            <a:r>
              <a:rPr lang="en-US" spc="-5" dirty="0"/>
              <a:t>:</a:t>
            </a:r>
            <a:endParaRPr spc="-5" dirty="0"/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struct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map</a:t>
            </a:r>
            <a:r>
              <a:rPr sz="2000" spc="-3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*p;</a:t>
            </a:r>
          </a:p>
          <a:p>
            <a:pPr marL="12700">
              <a:lnSpc>
                <a:spcPts val="2280"/>
              </a:lnSpc>
              <a:spcBef>
                <a:spcPts val="755"/>
              </a:spcBef>
            </a:pPr>
            <a:r>
              <a:rPr sz="2000" i="1" dirty="0">
                <a:latin typeface="Consolas"/>
                <a:cs typeface="Consolas"/>
              </a:rPr>
              <a:t>/* </a:t>
            </a:r>
            <a:r>
              <a:rPr lang="en-US" sz="2000" i="1" spc="-5" dirty="0">
                <a:latin typeface="Consolas"/>
                <a:cs typeface="Consolas"/>
              </a:rPr>
              <a:t>A</a:t>
            </a:r>
            <a:r>
              <a:rPr sz="2000" i="1" spc="-5" dirty="0">
                <a:latin typeface="Consolas"/>
                <a:cs typeface="Consolas"/>
              </a:rPr>
              <a:t>llocate </a:t>
            </a:r>
            <a:r>
              <a:rPr sz="2000" i="1" dirty="0">
                <a:latin typeface="Consolas"/>
                <a:cs typeface="Consolas"/>
              </a:rPr>
              <a:t>memory </a:t>
            </a:r>
            <a:r>
              <a:rPr sz="2000" i="1" spc="-5" dirty="0">
                <a:latin typeface="Consolas"/>
                <a:cs typeface="Consolas"/>
              </a:rPr>
              <a:t>for </a:t>
            </a:r>
            <a:r>
              <a:rPr sz="2000" i="1" dirty="0">
                <a:latin typeface="Consolas"/>
                <a:cs typeface="Consolas"/>
              </a:rPr>
              <a:t>two</a:t>
            </a:r>
            <a:r>
              <a:rPr sz="2000" i="1" spc="-35" dirty="0">
                <a:latin typeface="Consolas"/>
                <a:cs typeface="Consolas"/>
              </a:rPr>
              <a:t> </a:t>
            </a:r>
            <a:r>
              <a:rPr sz="2000" i="1" spc="-5" dirty="0">
                <a:latin typeface="Consolas"/>
                <a:cs typeface="Consolas"/>
              </a:rPr>
              <a:t>map</a:t>
            </a:r>
            <a:r>
              <a:rPr lang="en-US" sz="2000" spc="-5" dirty="0">
                <a:latin typeface="Consolas"/>
                <a:cs typeface="Consolas"/>
              </a:rPr>
              <a:t> </a:t>
            </a:r>
            <a:r>
              <a:rPr lang="en-US" sz="2000" i="1" dirty="0">
                <a:latin typeface="Consolas"/>
                <a:cs typeface="Consolas"/>
              </a:rPr>
              <a:t>s</a:t>
            </a:r>
            <a:r>
              <a:rPr sz="2000" i="1" dirty="0">
                <a:latin typeface="Consolas"/>
                <a:cs typeface="Consolas"/>
              </a:rPr>
              <a:t>tructure</a:t>
            </a:r>
            <a:r>
              <a:rPr lang="en-US" sz="2000" i="1" dirty="0">
                <a:latin typeface="Consolas"/>
                <a:cs typeface="Consolas"/>
              </a:rPr>
              <a:t> instances:</a:t>
            </a:r>
            <a:r>
              <a:rPr sz="2000" i="1" spc="-25" dirty="0">
                <a:latin typeface="Consolas"/>
                <a:cs typeface="Consolas"/>
              </a:rPr>
              <a:t> </a:t>
            </a:r>
            <a:r>
              <a:rPr sz="2000" i="1" dirty="0">
                <a:latin typeface="Consolas"/>
                <a:cs typeface="Consolas"/>
              </a:rPr>
              <a:t>*/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p = calloc (2,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sizeof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struct</a:t>
            </a:r>
            <a:r>
              <a:rPr sz="2000" b="1" spc="-10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map));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(p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 == NULL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)</a:t>
            </a:r>
            <a:r>
              <a:rPr sz="20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{</a:t>
            </a:r>
          </a:p>
          <a:p>
            <a:pPr marL="926465">
              <a:lnSpc>
                <a:spcPct val="100000"/>
              </a:lnSpc>
              <a:spcBef>
                <a:spcPts val="760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perror</a:t>
            </a:r>
            <a:r>
              <a:rPr sz="20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("calloc");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926465">
              <a:lnSpc>
                <a:spcPct val="100000"/>
              </a:lnSpc>
              <a:spcBef>
                <a:spcPts val="77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return</a:t>
            </a:r>
            <a:r>
              <a:rPr sz="2000" b="1" spc="-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/>
                <a:cs typeface="Consolas"/>
              </a:rPr>
              <a:t>EXIT_FAILURE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i="1" dirty="0">
                <a:latin typeface="Consolas"/>
                <a:cs typeface="Consolas"/>
              </a:rPr>
              <a:t>/* </a:t>
            </a:r>
            <a:r>
              <a:rPr lang="en-US" sz="2000" i="1" dirty="0">
                <a:latin typeface="Consolas"/>
                <a:cs typeface="Consolas"/>
              </a:rPr>
              <a:t>After the above executes, we can now proceed to </a:t>
            </a:r>
            <a:r>
              <a:rPr sz="2000" i="1" dirty="0">
                <a:latin typeface="Consolas"/>
                <a:cs typeface="Consolas"/>
              </a:rPr>
              <a:t>use p[0] and </a:t>
            </a:r>
            <a:r>
              <a:rPr sz="2000" i="1" spc="-5" dirty="0">
                <a:latin typeface="Consolas"/>
                <a:cs typeface="Consolas"/>
              </a:rPr>
              <a:t>p[1]</a:t>
            </a:r>
            <a:r>
              <a:rPr lang="en-US" sz="2000" i="1" spc="-5" dirty="0">
                <a:latin typeface="Consolas"/>
                <a:cs typeface="Consolas"/>
              </a:rPr>
              <a:t>.</a:t>
            </a:r>
            <a:r>
              <a:rPr sz="2000" i="1" spc="-50" dirty="0">
                <a:latin typeface="Consolas"/>
                <a:cs typeface="Consolas"/>
              </a:rPr>
              <a:t> </a:t>
            </a:r>
            <a:r>
              <a:rPr sz="2000" i="1" dirty="0">
                <a:latin typeface="Consolas"/>
                <a:cs typeface="Consolas"/>
              </a:rPr>
              <a:t>*/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63056" y="1418362"/>
            <a:ext cx="6047944" cy="5090496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2400" spc="-5" dirty="0">
                <a:latin typeface="Calibri"/>
                <a:cs typeface="Calibri"/>
              </a:rPr>
              <a:t>Only one element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retained </a:t>
            </a:r>
            <a:r>
              <a:rPr sz="2400" dirty="0">
                <a:latin typeface="Calibri"/>
                <a:cs typeface="Calibri"/>
              </a:rPr>
              <a:t>via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200" spc="-1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realloc</a:t>
            </a:r>
            <a:r>
              <a:rPr sz="22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()</a:t>
            </a:r>
            <a:r>
              <a:rPr lang="en-US" sz="2400" spc="-10" dirty="0">
                <a:latin typeface="Calibri"/>
                <a:cs typeface="Calibri"/>
              </a:rPr>
              <a:t>:</a:t>
            </a:r>
            <a:endParaRPr sz="2400" spc="-10" dirty="0">
              <a:latin typeface="Calibri"/>
              <a:cs typeface="Calibri"/>
            </a:endParaRPr>
          </a:p>
          <a:p>
            <a:pPr marL="42545">
              <a:lnSpc>
                <a:spcPct val="100000"/>
              </a:lnSpc>
              <a:spcBef>
                <a:spcPts val="119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struct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map</a:t>
            </a:r>
            <a:r>
              <a:rPr sz="2000" spc="-3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*r;</a:t>
            </a:r>
          </a:p>
          <a:p>
            <a:pPr marL="42545">
              <a:lnSpc>
                <a:spcPct val="100000"/>
              </a:lnSpc>
              <a:spcBef>
                <a:spcPts val="515"/>
              </a:spcBef>
            </a:pPr>
            <a:r>
              <a:rPr sz="2000" i="1" dirty="0">
                <a:latin typeface="Consolas"/>
                <a:cs typeface="Consolas"/>
              </a:rPr>
              <a:t>/* </a:t>
            </a:r>
            <a:r>
              <a:rPr lang="en-US" sz="2000" i="1" dirty="0">
                <a:latin typeface="Consolas"/>
                <a:cs typeface="Consolas"/>
              </a:rPr>
              <a:t>W</a:t>
            </a:r>
            <a:r>
              <a:rPr sz="2000" i="1" dirty="0">
                <a:latin typeface="Consolas"/>
                <a:cs typeface="Consolas"/>
              </a:rPr>
              <a:t>e </a:t>
            </a:r>
            <a:r>
              <a:rPr sz="2000" i="1" spc="-5" dirty="0">
                <a:latin typeface="Consolas"/>
                <a:cs typeface="Consolas"/>
              </a:rPr>
              <a:t>now need memory </a:t>
            </a:r>
            <a:r>
              <a:rPr sz="2000" i="1" dirty="0">
                <a:latin typeface="Consolas"/>
                <a:cs typeface="Consolas"/>
              </a:rPr>
              <a:t>for </a:t>
            </a:r>
            <a:r>
              <a:rPr sz="2000" i="1" spc="-5" dirty="0">
                <a:latin typeface="Consolas"/>
                <a:cs typeface="Consolas"/>
              </a:rPr>
              <a:t>only one </a:t>
            </a:r>
            <a:r>
              <a:rPr sz="2000" i="1" dirty="0">
                <a:latin typeface="Consolas"/>
                <a:cs typeface="Consolas"/>
              </a:rPr>
              <a:t>map</a:t>
            </a:r>
            <a:r>
              <a:rPr lang="en-US" sz="2000" i="1" dirty="0">
                <a:latin typeface="Consolas"/>
                <a:cs typeface="Consolas"/>
              </a:rPr>
              <a:t>:</a:t>
            </a:r>
            <a:r>
              <a:rPr sz="2000" i="1" spc="5" dirty="0">
                <a:latin typeface="Consolas"/>
                <a:cs typeface="Consolas"/>
              </a:rPr>
              <a:t> </a:t>
            </a:r>
            <a:r>
              <a:rPr sz="2000" i="1" spc="-10" dirty="0">
                <a:latin typeface="Consolas"/>
                <a:cs typeface="Consolas"/>
              </a:rPr>
              <a:t>*/</a:t>
            </a:r>
            <a:endParaRPr sz="2000" dirty="0">
              <a:latin typeface="Consolas"/>
              <a:cs typeface="Consolas"/>
            </a:endParaRPr>
          </a:p>
          <a:p>
            <a:pPr marL="42545">
              <a:lnSpc>
                <a:spcPct val="100000"/>
              </a:lnSpc>
              <a:spcBef>
                <a:spcPts val="530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r =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realloc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(p,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sizeof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struct</a:t>
            </a:r>
            <a:r>
              <a:rPr sz="2000" b="1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map));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2545">
              <a:lnSpc>
                <a:spcPct val="100000"/>
              </a:lnSpc>
              <a:spcBef>
                <a:spcPts val="51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(r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 == NULL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)</a:t>
            </a:r>
            <a:r>
              <a:rPr sz="20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{</a:t>
            </a:r>
          </a:p>
          <a:p>
            <a:pPr marL="1377950" marR="346710" indent="-421005">
              <a:lnSpc>
                <a:spcPts val="2930"/>
              </a:lnSpc>
              <a:spcBef>
                <a:spcPts val="175"/>
              </a:spcBef>
            </a:pPr>
            <a:r>
              <a:rPr sz="2000" i="1" dirty="0">
                <a:latin typeface="Consolas"/>
                <a:cs typeface="Consolas"/>
              </a:rPr>
              <a:t>/* note </a:t>
            </a:r>
            <a:r>
              <a:rPr sz="2000" i="1" spc="-5" dirty="0">
                <a:latin typeface="Consolas"/>
                <a:cs typeface="Consolas"/>
              </a:rPr>
              <a:t>that </a:t>
            </a:r>
            <a:r>
              <a:rPr sz="2000" i="1" dirty="0">
                <a:latin typeface="Consolas"/>
                <a:cs typeface="Consolas"/>
              </a:rPr>
              <a:t>'p' </a:t>
            </a:r>
            <a:r>
              <a:rPr sz="2000" i="1" spc="-10" dirty="0">
                <a:latin typeface="Consolas"/>
                <a:cs typeface="Consolas"/>
              </a:rPr>
              <a:t>is </a:t>
            </a:r>
            <a:r>
              <a:rPr sz="2000" i="1" spc="-5" dirty="0">
                <a:latin typeface="Consolas"/>
                <a:cs typeface="Consolas"/>
              </a:rPr>
              <a:t>still valid  and need</a:t>
            </a:r>
            <a:r>
              <a:rPr lang="en-US" sz="2000" i="1" spc="-5" dirty="0">
                <a:latin typeface="Consolas"/>
                <a:cs typeface="Consolas"/>
              </a:rPr>
              <a:t>s</a:t>
            </a:r>
            <a:r>
              <a:rPr sz="2000" i="1" spc="-5" dirty="0">
                <a:latin typeface="Consolas"/>
                <a:cs typeface="Consolas"/>
              </a:rPr>
              <a:t> </a:t>
            </a:r>
            <a:r>
              <a:rPr sz="2000" i="1" dirty="0">
                <a:latin typeface="Consolas"/>
                <a:cs typeface="Consolas"/>
              </a:rPr>
              <a:t>to be </a:t>
            </a:r>
            <a:r>
              <a:rPr sz="2000" i="1" spc="-5" dirty="0">
                <a:latin typeface="Consolas"/>
                <a:cs typeface="Consolas"/>
              </a:rPr>
              <a:t>freed </a:t>
            </a:r>
            <a:r>
              <a:rPr lang="en-US" sz="2000" i="1" dirty="0">
                <a:latin typeface="Consolas"/>
                <a:cs typeface="Consolas"/>
              </a:rPr>
              <a:t>l</a:t>
            </a:r>
            <a:r>
              <a:rPr sz="2000" i="1" dirty="0">
                <a:latin typeface="Consolas"/>
                <a:cs typeface="Consolas"/>
              </a:rPr>
              <a:t>ater</a:t>
            </a:r>
            <a:r>
              <a:rPr lang="en-US" sz="2000" i="1" dirty="0">
                <a:latin typeface="Consolas"/>
                <a:cs typeface="Consolas"/>
              </a:rPr>
              <a:t>. </a:t>
            </a:r>
            <a:r>
              <a:rPr sz="2000" i="1" dirty="0">
                <a:latin typeface="Consolas"/>
                <a:cs typeface="Consolas"/>
              </a:rPr>
              <a:t>*/</a:t>
            </a:r>
            <a:endParaRPr sz="2000" dirty="0">
              <a:latin typeface="Consolas"/>
              <a:cs typeface="Consolas"/>
            </a:endParaRPr>
          </a:p>
          <a:p>
            <a:pPr marL="957580">
              <a:lnSpc>
                <a:spcPct val="100000"/>
              </a:lnSpc>
              <a:spcBef>
                <a:spcPts val="330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perror</a:t>
            </a:r>
            <a:r>
              <a:rPr sz="20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("</a:t>
            </a:r>
            <a:r>
              <a:rPr sz="2000" spc="-5" dirty="0" err="1">
                <a:solidFill>
                  <a:srgbClr val="0070C0"/>
                </a:solidFill>
                <a:latin typeface="Consolas"/>
                <a:cs typeface="Consolas"/>
              </a:rPr>
              <a:t>realloc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");</a:t>
            </a:r>
            <a:endParaRPr lang="en-US" sz="2000" spc="-5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957580">
              <a:lnSpc>
                <a:spcPct val="100000"/>
              </a:lnSpc>
              <a:spcBef>
                <a:spcPts val="330"/>
              </a:spcBef>
            </a:pP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free (p); </a:t>
            </a:r>
            <a:r>
              <a:rPr lang="en-US" sz="2000" i="1" spc="-5" dirty="0">
                <a:latin typeface="Consolas"/>
                <a:cs typeface="Consolas"/>
              </a:rPr>
              <a:t>// </a:t>
            </a:r>
            <a:r>
              <a:rPr lang="en-US" sz="2000" i="1" dirty="0">
                <a:latin typeface="Consolas"/>
                <a:cs typeface="Consolas"/>
              </a:rPr>
              <a:t>p is now freed</a:t>
            </a:r>
            <a:r>
              <a:rPr lang="en-US" sz="2000" i="1" spc="-55" dirty="0">
                <a:latin typeface="Consolas"/>
                <a:cs typeface="Consolas"/>
              </a:rPr>
              <a:t>.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957580">
              <a:lnSpc>
                <a:spcPct val="100000"/>
              </a:lnSpc>
              <a:spcBef>
                <a:spcPts val="51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return</a:t>
            </a:r>
            <a:r>
              <a:rPr sz="2000" b="1" spc="-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−1;</a:t>
            </a:r>
          </a:p>
          <a:p>
            <a:pPr marL="42545">
              <a:lnSpc>
                <a:spcPct val="100000"/>
              </a:lnSpc>
              <a:spcBef>
                <a:spcPts val="530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}</a:t>
            </a:r>
          </a:p>
          <a:p>
            <a:pPr marL="42545">
              <a:lnSpc>
                <a:spcPct val="100000"/>
              </a:lnSpc>
              <a:spcBef>
                <a:spcPts val="515"/>
              </a:spcBef>
            </a:pPr>
            <a:r>
              <a:rPr sz="2000" i="1" dirty="0">
                <a:latin typeface="Consolas"/>
                <a:cs typeface="Consolas"/>
              </a:rPr>
              <a:t>/* </a:t>
            </a:r>
            <a:r>
              <a:rPr lang="en-US" sz="2000" i="1" dirty="0">
                <a:latin typeface="Consolas"/>
                <a:cs typeface="Consolas"/>
              </a:rPr>
              <a:t>Proceed to </a:t>
            </a:r>
            <a:r>
              <a:rPr sz="2000" i="1" dirty="0">
                <a:latin typeface="Consolas"/>
                <a:cs typeface="Consolas"/>
              </a:rPr>
              <a:t>use </a:t>
            </a:r>
            <a:r>
              <a:rPr sz="2000" i="1" spc="-5" dirty="0">
                <a:latin typeface="Consolas"/>
                <a:cs typeface="Consolas"/>
              </a:rPr>
              <a:t>r.</a:t>
            </a:r>
            <a:r>
              <a:rPr sz="2000" i="1" spc="-20" dirty="0">
                <a:latin typeface="Consolas"/>
                <a:cs typeface="Consolas"/>
              </a:rPr>
              <a:t> </a:t>
            </a:r>
            <a:r>
              <a:rPr sz="2000" i="1" dirty="0">
                <a:latin typeface="Consolas"/>
                <a:cs typeface="Consolas"/>
              </a:rPr>
              <a:t>*/</a:t>
            </a:r>
            <a:endParaRPr sz="2000" dirty="0">
              <a:latin typeface="Consolas"/>
              <a:cs typeface="Consolas"/>
            </a:endParaRPr>
          </a:p>
          <a:p>
            <a:pPr marL="42545">
              <a:lnSpc>
                <a:spcPct val="100000"/>
              </a:lnSpc>
              <a:spcBef>
                <a:spcPts val="51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free (r); </a:t>
            </a:r>
            <a:r>
              <a:rPr sz="2000" i="1" spc="-5" dirty="0">
                <a:latin typeface="Consolas"/>
                <a:cs typeface="Consolas"/>
              </a:rPr>
              <a:t>// </a:t>
            </a:r>
            <a:r>
              <a:rPr lang="en-US" sz="2000" i="1" dirty="0">
                <a:latin typeface="Consolas"/>
                <a:cs typeface="Consolas"/>
              </a:rPr>
              <a:t>r</a:t>
            </a:r>
            <a:r>
              <a:rPr sz="2000" i="1" dirty="0">
                <a:latin typeface="Consolas"/>
                <a:cs typeface="Consolas"/>
              </a:rPr>
              <a:t> is now freed</a:t>
            </a:r>
            <a:r>
              <a:rPr lang="en-US" sz="2000" i="1" spc="-55" dirty="0">
                <a:latin typeface="Consolas"/>
                <a:cs typeface="Consolas"/>
              </a:rPr>
              <a:t>.</a:t>
            </a:r>
            <a:endParaRPr sz="2000" i="1" dirty="0">
              <a:latin typeface="Consolas"/>
              <a:cs typeface="Consola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1F8E67-0FBB-3347-C086-34570E42FED1}"/>
              </a:ext>
            </a:extLst>
          </p:cNvPr>
          <p:cNvCxnSpPr/>
          <p:nvPr/>
        </p:nvCxnSpPr>
        <p:spPr>
          <a:xfrm>
            <a:off x="5623560" y="1306906"/>
            <a:ext cx="0" cy="515807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7169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Freeing </a:t>
            </a:r>
            <a:r>
              <a:rPr spc="-35" dirty="0"/>
              <a:t>Dynamic</a:t>
            </a:r>
            <a:r>
              <a:rPr spc="-185" dirty="0"/>
              <a:t> </a:t>
            </a:r>
            <a:r>
              <a:rPr spc="-35" dirty="0"/>
              <a:t>Memory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6939" y="1739498"/>
            <a:ext cx="10513061" cy="448648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10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return dynamically </a:t>
            </a:r>
            <a:r>
              <a:rPr sz="2600" spc="-10" dirty="0">
                <a:latin typeface="Calibri"/>
                <a:cs typeface="Calibri"/>
              </a:rPr>
              <a:t>allocated </a:t>
            </a:r>
            <a:r>
              <a:rPr sz="2600" dirty="0">
                <a:latin typeface="Calibri"/>
                <a:cs typeface="Calibri"/>
              </a:rPr>
              <a:t>memory</a:t>
            </a:r>
            <a:r>
              <a:rPr lang="en-US" sz="2600" dirty="0">
                <a:latin typeface="Calibri"/>
                <a:cs typeface="Calibri"/>
              </a:rPr>
              <a:t> back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65" dirty="0">
                <a:latin typeface="Calibri"/>
                <a:cs typeface="Calibri"/>
              </a:rPr>
              <a:t> </a:t>
            </a:r>
            <a:r>
              <a:rPr lang="en-US" sz="2600" spc="-15" dirty="0">
                <a:latin typeface="Calibri"/>
                <a:cs typeface="Calibri"/>
              </a:rPr>
              <a:t>OS</a:t>
            </a:r>
            <a:r>
              <a:rPr sz="2600" spc="-15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30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&lt;stdlib.h&gt;</a:t>
            </a:r>
          </a:p>
          <a:p>
            <a:pPr marL="469900">
              <a:lnSpc>
                <a:spcPct val="100000"/>
              </a:lnSpc>
              <a:spcBef>
                <a:spcPts val="27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free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sz="2000" b="1" spc="3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*ptr);</a:t>
            </a:r>
          </a:p>
          <a:p>
            <a:pPr marL="241300" marR="960755" indent="-228600">
              <a:lnSpc>
                <a:spcPct val="90000"/>
              </a:lnSpc>
              <a:spcBef>
                <a:spcPts val="944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parameter </a:t>
            </a:r>
            <a:r>
              <a:rPr sz="24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ptr</a:t>
            </a:r>
            <a:r>
              <a:rPr sz="2600" i="1" spc="-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must </a:t>
            </a:r>
            <a:r>
              <a:rPr sz="2600" spc="-20" dirty="0">
                <a:latin typeface="Calibri"/>
                <a:cs typeface="Calibri"/>
              </a:rPr>
              <a:t>have </a:t>
            </a:r>
            <a:r>
              <a:rPr sz="2600" spc="-5" dirty="0">
                <a:latin typeface="Calibri"/>
                <a:cs typeface="Calibri"/>
              </a:rPr>
              <a:t>been previously returned by </a:t>
            </a:r>
            <a:r>
              <a:rPr kumimoji="0" lang="en-US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malloc()</a:t>
            </a:r>
            <a:r>
              <a:rPr kumimoji="0" lang="en-US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</a:t>
            </a:r>
            <a:r>
              <a:rPr lang="en-US" sz="2400" spc="-15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calloc</a:t>
            </a:r>
            <a:r>
              <a:rPr lang="en-US" sz="2400" spc="-15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kumimoji="0" lang="en-US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</a:t>
            </a:r>
            <a:r>
              <a:rPr lang="en-US" sz="2400" spc="-15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realloc</a:t>
            </a:r>
            <a:r>
              <a:rPr lang="en-US" sz="2400" spc="-15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600" dirty="0">
                <a:latin typeface="Calibri"/>
                <a:cs typeface="Calibri"/>
              </a:rPr>
              <a:t>;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 </a:t>
            </a:r>
            <a:r>
              <a:rPr sz="2600" spc="-5" dirty="0">
                <a:latin typeface="Calibri"/>
                <a:cs typeface="Calibri"/>
              </a:rPr>
              <a:t>can’t be </a:t>
            </a:r>
            <a:r>
              <a:rPr sz="2600" dirty="0">
                <a:latin typeface="Calibri"/>
                <a:cs typeface="Calibri"/>
              </a:rPr>
              <a:t>an </a:t>
            </a:r>
            <a:r>
              <a:rPr sz="2600" spc="-5" dirty="0">
                <a:latin typeface="Calibri"/>
                <a:cs typeface="Calibri"/>
              </a:rPr>
              <a:t>arbitrary </a:t>
            </a:r>
            <a:r>
              <a:rPr sz="2600" spc="-10" dirty="0">
                <a:latin typeface="Calibri"/>
                <a:cs typeface="Calibri"/>
              </a:rPr>
              <a:t>pointer </a:t>
            </a:r>
            <a:r>
              <a:rPr sz="2600" spc="-15" dirty="0">
                <a:latin typeface="Calibri"/>
                <a:cs typeface="Calibri"/>
              </a:rPr>
              <a:t>halfway </a:t>
            </a:r>
            <a:r>
              <a:rPr sz="2600" spc="-10" dirty="0">
                <a:latin typeface="Calibri"/>
                <a:cs typeface="Calibri"/>
              </a:rPr>
              <a:t>into </a:t>
            </a:r>
            <a:r>
              <a:rPr sz="2600" dirty="0">
                <a:latin typeface="Calibri"/>
                <a:cs typeface="Calibri"/>
              </a:rPr>
              <a:t>an </a:t>
            </a:r>
            <a:r>
              <a:rPr sz="2600" spc="-10" dirty="0">
                <a:latin typeface="Calibri"/>
                <a:cs typeface="Calibri"/>
              </a:rPr>
              <a:t>allocated</a:t>
            </a:r>
            <a:r>
              <a:rPr sz="2600" spc="-5" dirty="0">
                <a:latin typeface="Calibri"/>
                <a:cs typeface="Calibri"/>
              </a:rPr>
              <a:t> block.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81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But </a:t>
            </a:r>
            <a:r>
              <a:rPr sz="24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ptr</a:t>
            </a:r>
            <a:r>
              <a:rPr sz="2600" i="1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can </a:t>
            </a:r>
            <a:r>
              <a:rPr sz="2600" spc="-5" dirty="0">
                <a:latin typeface="Calibri"/>
                <a:cs typeface="Calibri"/>
              </a:rPr>
              <a:t>be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sz="2600" dirty="0">
                <a:latin typeface="Calibri"/>
                <a:cs typeface="Calibri"/>
              </a:rPr>
              <a:t>, in which</a:t>
            </a:r>
            <a:r>
              <a:rPr lang="en-US" sz="2600" dirty="0">
                <a:latin typeface="Calibri"/>
                <a:cs typeface="Calibri"/>
              </a:rPr>
              <a:t> case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free()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silently returns. Thus</a:t>
            </a:r>
            <a:r>
              <a:rPr lang="en-US" sz="2600" spc="-5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you </a:t>
            </a:r>
            <a:r>
              <a:rPr sz="2600" spc="-5" dirty="0">
                <a:latin typeface="Calibri"/>
                <a:cs typeface="Calibri"/>
              </a:rPr>
              <a:t>don’t need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check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non-NULL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use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free()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spc="-5" dirty="0">
              <a:latin typeface="Calibri"/>
              <a:cs typeface="Calibri"/>
            </a:endParaRPr>
          </a:p>
          <a:p>
            <a:pPr marL="241300" marR="333375" indent="-228600">
              <a:lnSpc>
                <a:spcPts val="281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Not </a:t>
            </a:r>
            <a:r>
              <a:rPr sz="2600" spc="-5" dirty="0">
                <a:latin typeface="Calibri"/>
                <a:cs typeface="Calibri"/>
              </a:rPr>
              <a:t>calling </a:t>
            </a:r>
            <a:r>
              <a:rPr sz="2400" spc="-15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free()</a:t>
            </a:r>
            <a:r>
              <a:rPr sz="2600" spc="-5" dirty="0">
                <a:latin typeface="Calibri"/>
                <a:cs typeface="Calibri"/>
              </a:rPr>
              <a:t> on </a:t>
            </a:r>
            <a:r>
              <a:rPr sz="2600" spc="-10" dirty="0">
                <a:latin typeface="Calibri"/>
                <a:cs typeface="Calibri"/>
              </a:rPr>
              <a:t>allocated </a:t>
            </a:r>
            <a:r>
              <a:rPr sz="2600" dirty="0">
                <a:latin typeface="Calibri"/>
                <a:cs typeface="Calibri"/>
              </a:rPr>
              <a:t>memory </a:t>
            </a:r>
            <a:r>
              <a:rPr sz="2600" spc="-10" dirty="0">
                <a:latin typeface="Calibri"/>
                <a:cs typeface="Calibri"/>
              </a:rPr>
              <a:t>could </a:t>
            </a:r>
            <a:r>
              <a:rPr sz="2600" dirty="0">
                <a:latin typeface="Calibri"/>
                <a:cs typeface="Calibri"/>
              </a:rPr>
              <a:t>lead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i="1" dirty="0">
                <a:latin typeface="Calibri"/>
                <a:cs typeface="Calibri"/>
              </a:rPr>
              <a:t>memory leak</a:t>
            </a:r>
            <a:r>
              <a:rPr sz="2600" dirty="0">
                <a:latin typeface="Calibri"/>
                <a:cs typeface="Calibri"/>
              </a:rPr>
              <a:t>, if the </a:t>
            </a:r>
            <a:r>
              <a:rPr sz="2600" spc="-10" dirty="0">
                <a:latin typeface="Calibri"/>
                <a:cs typeface="Calibri"/>
              </a:rPr>
              <a:t>pointer goes </a:t>
            </a:r>
            <a:r>
              <a:rPr sz="2600" spc="-5" dirty="0">
                <a:latin typeface="Calibri"/>
                <a:cs typeface="Calibri"/>
              </a:rPr>
              <a:t>out of scope. On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30" dirty="0">
                <a:latin typeface="Calibri"/>
                <a:cs typeface="Calibri"/>
              </a:rPr>
              <a:t>contrary,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pointer after </a:t>
            </a:r>
            <a:r>
              <a:rPr sz="2600" dirty="0">
                <a:latin typeface="Calibri"/>
                <a:cs typeface="Calibri"/>
              </a:rPr>
              <a:t>the memory it </a:t>
            </a:r>
            <a:r>
              <a:rPr sz="2600" spc="-5" dirty="0">
                <a:latin typeface="Calibri"/>
                <a:cs typeface="Calibri"/>
              </a:rPr>
              <a:t>points </a:t>
            </a:r>
            <a:r>
              <a:rPr sz="2600" spc="-10" dirty="0">
                <a:latin typeface="Calibri"/>
                <a:cs typeface="Calibri"/>
              </a:rPr>
              <a:t>at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10" dirty="0">
                <a:latin typeface="Calibri"/>
                <a:cs typeface="Calibri"/>
              </a:rPr>
              <a:t>freed </a:t>
            </a:r>
            <a:r>
              <a:rPr sz="2600" spc="-5" dirty="0">
                <a:latin typeface="Calibri"/>
                <a:cs typeface="Calibri"/>
              </a:rPr>
              <a:t>becomes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i="1" dirty="0">
                <a:latin typeface="Calibri"/>
                <a:cs typeface="Calibri"/>
              </a:rPr>
              <a:t>dangling </a:t>
            </a:r>
            <a:r>
              <a:rPr lang="en-US" sz="2600" i="1" spc="-5" dirty="0">
                <a:latin typeface="Calibri"/>
                <a:cs typeface="Calibri"/>
              </a:rPr>
              <a:t>pointer </a:t>
            </a:r>
            <a:r>
              <a:rPr lang="en-US" sz="2600" spc="-10" dirty="0">
                <a:latin typeface="Calibri"/>
                <a:cs typeface="Calibri"/>
              </a:rPr>
              <a:t>and</a:t>
            </a:r>
            <a:r>
              <a:rPr sz="2600" spc="-10" dirty="0">
                <a:latin typeface="Calibri"/>
                <a:cs typeface="Calibri"/>
              </a:rPr>
              <a:t> s</a:t>
            </a:r>
            <a:r>
              <a:rPr sz="2600" spc="-5" dirty="0">
                <a:latin typeface="Calibri"/>
                <a:cs typeface="Calibri"/>
              </a:rPr>
              <a:t>hould not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17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used.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612648"/>
            <a:ext cx="49644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Manipulating</a:t>
            </a:r>
            <a:r>
              <a:rPr spc="-145" dirty="0"/>
              <a:t> </a:t>
            </a:r>
            <a:r>
              <a:rPr spc="-30" dirty="0"/>
              <a:t>Memory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6939" y="1493458"/>
            <a:ext cx="10665461" cy="4602542"/>
          </a:xfrm>
          <a:prstGeom prst="rect">
            <a:avLst/>
          </a:prstGeom>
        </p:spPr>
        <p:txBody>
          <a:bodyPr vert="horz" wrap="square" lIns="0" tIns="300990" rIns="0" bIns="0" rtlCol="0">
            <a:spAutoFit/>
          </a:bodyPr>
          <a:lstStyle/>
          <a:p>
            <a:pPr marL="237744" indent="-228600" algn="l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sz="2800" spc="-10" dirty="0">
                <a:latin typeface="Calibri"/>
                <a:cs typeface="Calibri"/>
              </a:rPr>
              <a:t>Setting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Bytes</a:t>
            </a:r>
            <a:r>
              <a:rPr lang="en-US"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60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&lt;string.h&gt;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355"/>
              </a:lnSpc>
              <a:spcBef>
                <a:spcPts val="1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memset 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*s,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c,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size_t</a:t>
            </a:r>
            <a:r>
              <a:rPr sz="2000" b="1" spc="3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n);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698500" lvl="1" indent="-229235">
              <a:lnSpc>
                <a:spcPts val="2800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On success,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5" dirty="0">
                <a:latin typeface="Calibri"/>
                <a:cs typeface="Calibri"/>
              </a:rPr>
              <a:t>sets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n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bytes </a:t>
            </a:r>
            <a:r>
              <a:rPr sz="2400" spc="-10" dirty="0">
                <a:latin typeface="Calibri"/>
                <a:cs typeface="Calibri"/>
              </a:rPr>
              <a:t>starting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s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lang="en-US" sz="2400" spc="-10" dirty="0">
                <a:latin typeface="Calibri"/>
                <a:cs typeface="Calibri"/>
              </a:rPr>
              <a:t>character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c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returns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s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45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So</a:t>
            </a:r>
            <a:r>
              <a:rPr lang="en-US" sz="2400" spc="-5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25" dirty="0">
                <a:latin typeface="Calibri"/>
                <a:cs typeface="Calibri"/>
              </a:rPr>
              <a:t>zero </a:t>
            </a:r>
            <a:r>
              <a:rPr sz="2400" spc="-5" dirty="0">
                <a:latin typeface="Calibri"/>
                <a:cs typeface="Calibri"/>
              </a:rPr>
              <a:t>out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block 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memory:</a:t>
            </a:r>
          </a:p>
          <a:p>
            <a:pPr marL="469900">
              <a:lnSpc>
                <a:spcPct val="100000"/>
              </a:lnSpc>
              <a:spcBef>
                <a:spcPts val="30"/>
              </a:spcBef>
            </a:pPr>
            <a:r>
              <a:rPr sz="2000" i="1" dirty="0">
                <a:latin typeface="Consolas"/>
                <a:cs typeface="Consolas"/>
              </a:rPr>
              <a:t>/* </a:t>
            </a:r>
            <a:r>
              <a:rPr lang="en-US" sz="2000" i="1" dirty="0">
                <a:latin typeface="Consolas"/>
                <a:cs typeface="Consolas"/>
              </a:rPr>
              <a:t>Z</a:t>
            </a:r>
            <a:r>
              <a:rPr sz="2000" i="1" dirty="0">
                <a:latin typeface="Consolas"/>
                <a:cs typeface="Consolas"/>
              </a:rPr>
              <a:t>ero </a:t>
            </a:r>
            <a:r>
              <a:rPr sz="2000" i="1" spc="-5" dirty="0">
                <a:latin typeface="Consolas"/>
                <a:cs typeface="Consolas"/>
              </a:rPr>
              <a:t>out </a:t>
            </a:r>
            <a:r>
              <a:rPr lang="en-US" sz="2000" i="1" spc="-5" dirty="0">
                <a:latin typeface="Consolas"/>
                <a:cs typeface="Consolas"/>
              </a:rPr>
              <a:t>everything from 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s</a:t>
            </a:r>
            <a:r>
              <a:rPr lang="en-US" sz="2000" i="1" spc="-5" dirty="0">
                <a:latin typeface="Consolas"/>
                <a:cs typeface="Consolas"/>
              </a:rPr>
              <a:t> (including) to </a:t>
            </a:r>
            <a:r>
              <a:rPr lang="en-US" sz="2000" spc="-5" dirty="0">
                <a:solidFill>
                  <a:srgbClr val="0070C0"/>
                </a:solidFill>
                <a:latin typeface="Consolas"/>
              </a:rPr>
              <a:t>s+256</a:t>
            </a:r>
            <a:r>
              <a:rPr lang="en-US" sz="2000" i="1" dirty="0">
                <a:latin typeface="Consolas"/>
                <a:cs typeface="Consolas"/>
              </a:rPr>
              <a:t> (excluding </a:t>
            </a:r>
            <a:r>
              <a:rPr lang="en-US" sz="2000" spc="-5" dirty="0">
                <a:solidFill>
                  <a:srgbClr val="0070C0"/>
                </a:solidFill>
                <a:latin typeface="Consolas"/>
              </a:rPr>
              <a:t>s+256</a:t>
            </a:r>
            <a:r>
              <a:rPr lang="en-US" sz="2000" i="1" dirty="0">
                <a:latin typeface="Consolas"/>
                <a:cs typeface="Consolas"/>
              </a:rPr>
              <a:t>): </a:t>
            </a:r>
            <a:r>
              <a:rPr sz="2000" i="1" dirty="0">
                <a:latin typeface="Consolas"/>
                <a:cs typeface="Consolas"/>
              </a:rPr>
              <a:t>*/</a:t>
            </a:r>
            <a:endParaRPr sz="2000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memset (s, '\0',</a:t>
            </a:r>
            <a:r>
              <a:rPr sz="2000" spc="-3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256);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Comparing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Bytes</a:t>
            </a:r>
            <a:r>
              <a:rPr lang="en-US"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60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&lt;string.h&gt;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350"/>
              </a:lnSpc>
              <a:spcBef>
                <a:spcPts val="2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memcmp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*s1,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*s2,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size_t</a:t>
            </a:r>
            <a:r>
              <a:rPr sz="2000" b="1" spc="-4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n);</a:t>
            </a:r>
          </a:p>
          <a:p>
            <a:pPr marL="698500" lvl="1" indent="-229235">
              <a:lnSpc>
                <a:spcPts val="2800"/>
              </a:lnSpc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It </a:t>
            </a:r>
            <a:r>
              <a:rPr sz="2400" spc="-10" dirty="0">
                <a:latin typeface="Calibri"/>
                <a:cs typeface="Calibri"/>
              </a:rPr>
              <a:t>compares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first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n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bytes of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s1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s2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returns </a:t>
            </a:r>
            <a:r>
              <a:rPr sz="2400" dirty="0">
                <a:latin typeface="Calibri"/>
                <a:cs typeface="Calibri"/>
              </a:rPr>
              <a:t>0 if they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dirty="0">
                <a:latin typeface="Calibri"/>
                <a:cs typeface="Calibri"/>
              </a:rPr>
              <a:t>equal, </a:t>
            </a:r>
            <a:r>
              <a:rPr sz="2400" spc="-5" dirty="0">
                <a:latin typeface="Calibri"/>
                <a:cs typeface="Calibri"/>
              </a:rPr>
              <a:t>&lt;0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200" dirty="0"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s1</a:t>
            </a:r>
          </a:p>
          <a:p>
            <a:pPr marL="698500">
              <a:lnSpc>
                <a:spcPts val="2590"/>
              </a:lnSpc>
            </a:pP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less than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s2</a:t>
            </a:r>
            <a:r>
              <a:rPr sz="2400" spc="-5" dirty="0">
                <a:latin typeface="Calibri"/>
                <a:cs typeface="Calibri"/>
              </a:rPr>
              <a:t>,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&gt;0 </a:t>
            </a:r>
            <a:r>
              <a:rPr sz="2400" dirty="0">
                <a:latin typeface="Calibri"/>
                <a:cs typeface="Calibri"/>
              </a:rPr>
              <a:t>if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s1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5" dirty="0">
                <a:latin typeface="Calibri"/>
                <a:cs typeface="Calibri"/>
              </a:rPr>
              <a:t>greater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s2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spc="-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9644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Manipulating</a:t>
            </a:r>
            <a:r>
              <a:rPr spc="-145" dirty="0"/>
              <a:t> </a:t>
            </a:r>
            <a:r>
              <a:rPr spc="-30" dirty="0"/>
              <a:t>Memory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916939" y="1765757"/>
            <a:ext cx="10121900" cy="47121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Moving</a:t>
            </a:r>
            <a:r>
              <a:rPr spc="-5" dirty="0"/>
              <a:t> </a:t>
            </a:r>
            <a:r>
              <a:rPr spc="-10" dirty="0"/>
              <a:t>Bytes</a:t>
            </a:r>
            <a:r>
              <a:rPr lang="en-US" spc="-10" dirty="0"/>
              <a:t>:</a:t>
            </a:r>
            <a:endParaRPr spc="-10" dirty="0"/>
          </a:p>
          <a:p>
            <a:pPr marL="469900">
              <a:lnSpc>
                <a:spcPct val="100000"/>
              </a:lnSpc>
              <a:spcBef>
                <a:spcPts val="50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&lt;string.h&gt;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385"/>
              </a:lnSpc>
              <a:spcBef>
                <a:spcPts val="1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memmove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*dst,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void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*src,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size_t</a:t>
            </a:r>
            <a:r>
              <a:rPr sz="2000" b="1" spc="-9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n);</a:t>
            </a:r>
          </a:p>
          <a:p>
            <a:pPr marL="698500" lvl="1" indent="-229235">
              <a:lnSpc>
                <a:spcPts val="280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It </a:t>
            </a:r>
            <a:r>
              <a:rPr sz="2200" spc="-10" dirty="0">
                <a:latin typeface="Calibri"/>
                <a:cs typeface="Calibri"/>
              </a:rPr>
              <a:t>copies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5" dirty="0">
                <a:latin typeface="Calibri"/>
                <a:cs typeface="Calibri"/>
              </a:rPr>
              <a:t>first </a:t>
            </a:r>
            <a:r>
              <a:rPr sz="2000" kern="1200" spc="-5" dirty="0">
                <a:solidFill>
                  <a:srgbClr val="0070C0"/>
                </a:solidFill>
                <a:latin typeface="Consolas"/>
              </a:rPr>
              <a:t>n</a:t>
            </a:r>
            <a:r>
              <a:rPr sz="2200" i="1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bytes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000" kern="1200" spc="-5" dirty="0">
                <a:solidFill>
                  <a:srgbClr val="0070C0"/>
                </a:solidFill>
                <a:latin typeface="Consolas"/>
              </a:rPr>
              <a:t>src</a:t>
            </a:r>
            <a:r>
              <a:rPr sz="2200" i="1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000" kern="1200" spc="-5" dirty="0">
                <a:solidFill>
                  <a:srgbClr val="0070C0"/>
                </a:solidFill>
                <a:latin typeface="Consolas"/>
              </a:rPr>
              <a:t>dst</a:t>
            </a:r>
            <a:r>
              <a:rPr sz="2200" spc="-15" dirty="0">
                <a:latin typeface="Calibri"/>
                <a:cs typeface="Calibri"/>
              </a:rPr>
              <a:t>, </a:t>
            </a:r>
            <a:r>
              <a:rPr sz="2200" spc="-10" dirty="0">
                <a:latin typeface="Calibri"/>
                <a:cs typeface="Calibri"/>
              </a:rPr>
              <a:t>returning</a:t>
            </a:r>
            <a:r>
              <a:rPr sz="2200" spc="100" dirty="0">
                <a:latin typeface="Calibri"/>
                <a:cs typeface="Calibri"/>
              </a:rPr>
              <a:t> </a:t>
            </a:r>
            <a:r>
              <a:rPr sz="2000" kern="1200" spc="-5" dirty="0" err="1">
                <a:solidFill>
                  <a:srgbClr val="0070C0"/>
                </a:solidFill>
                <a:latin typeface="Consolas"/>
              </a:rPr>
              <a:t>dst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spc="-10" dirty="0">
              <a:latin typeface="Calibri"/>
              <a:cs typeface="Calibri"/>
            </a:endParaRPr>
          </a:p>
          <a:p>
            <a:pPr marL="698500" lvl="1" indent="-229235">
              <a:lnSpc>
                <a:spcPts val="263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It </a:t>
            </a:r>
            <a:r>
              <a:rPr sz="2200" spc="-15" dirty="0">
                <a:latin typeface="Calibri"/>
                <a:cs typeface="Calibri"/>
              </a:rPr>
              <a:t>can safely </a:t>
            </a:r>
            <a:r>
              <a:rPr sz="2200" spc="-5" dirty="0">
                <a:latin typeface="Calibri"/>
                <a:cs typeface="Calibri"/>
              </a:rPr>
              <a:t>handle </a:t>
            </a:r>
            <a:r>
              <a:rPr sz="2200" spc="-10" dirty="0">
                <a:latin typeface="Calibri"/>
                <a:cs typeface="Calibri"/>
              </a:rPr>
              <a:t>overlapping </a:t>
            </a:r>
            <a:r>
              <a:rPr sz="2200" spc="-5" dirty="0">
                <a:latin typeface="Calibri"/>
                <a:cs typeface="Calibri"/>
              </a:rPr>
              <a:t>memory </a:t>
            </a:r>
            <a:r>
              <a:rPr sz="2200" spc="-10" dirty="0">
                <a:latin typeface="Calibri"/>
                <a:cs typeface="Calibri"/>
              </a:rPr>
              <a:t>regions.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variant:</a:t>
            </a:r>
            <a:endParaRPr sz="2200" dirty="0">
              <a:latin typeface="Calibri"/>
              <a:cs typeface="Calibri"/>
            </a:endParaRPr>
          </a:p>
          <a:p>
            <a:pPr marL="692150">
              <a:lnSpc>
                <a:spcPct val="100000"/>
              </a:lnSpc>
              <a:spcBef>
                <a:spcPts val="20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&lt;string.h&gt;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692150">
              <a:lnSpc>
                <a:spcPts val="2385"/>
              </a:lnSpc>
              <a:spcBef>
                <a:spcPts val="2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memcpy 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*dst,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*src,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size_t</a:t>
            </a:r>
            <a:r>
              <a:rPr sz="2000" b="1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n);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692150" lvl="2">
              <a:lnSpc>
                <a:spcPts val="2625"/>
              </a:lnSpc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20" dirty="0">
                <a:latin typeface="Calibri"/>
                <a:cs typeface="Calibri"/>
              </a:rPr>
              <a:t>faster </a:t>
            </a:r>
            <a:r>
              <a:rPr sz="2200" spc="-5" dirty="0">
                <a:latin typeface="Calibri"/>
                <a:cs typeface="Calibri"/>
              </a:rPr>
              <a:t>than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memmove()</a:t>
            </a:r>
            <a:r>
              <a:rPr sz="2200" spc="-5" dirty="0">
                <a:latin typeface="Calibri"/>
                <a:cs typeface="Calibri"/>
              </a:rPr>
              <a:t>, </a:t>
            </a:r>
            <a:r>
              <a:rPr sz="2200" spc="-10" dirty="0">
                <a:latin typeface="Calibri"/>
                <a:cs typeface="Calibri"/>
              </a:rPr>
              <a:t>but </a:t>
            </a:r>
            <a:r>
              <a:rPr sz="2000" kern="1200" spc="-5" dirty="0">
                <a:solidFill>
                  <a:srgbClr val="0070C0"/>
                </a:solidFill>
                <a:latin typeface="Consolas"/>
              </a:rPr>
              <a:t>dst</a:t>
            </a:r>
            <a:r>
              <a:rPr sz="2200" i="1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000" kern="1200" spc="-5" dirty="0" err="1">
                <a:solidFill>
                  <a:srgbClr val="0070C0"/>
                </a:solidFill>
                <a:latin typeface="Consolas"/>
              </a:rPr>
              <a:t>src</a:t>
            </a:r>
            <a:r>
              <a:rPr sz="2200" i="1" spc="-5" dirty="0">
                <a:latin typeface="Calibri"/>
                <a:cs typeface="Calibri"/>
              </a:rPr>
              <a:t> </a:t>
            </a:r>
            <a:r>
              <a:rPr lang="en-US" sz="2200" spc="-15" dirty="0">
                <a:latin typeface="Calibri"/>
                <a:cs typeface="Calibri"/>
              </a:rPr>
              <a:t>must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not</a:t>
            </a:r>
            <a:r>
              <a:rPr sz="2200" spc="1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overlap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spc="-5" dirty="0"/>
              <a:t>Searching</a:t>
            </a:r>
            <a:r>
              <a:rPr spc="-30" dirty="0"/>
              <a:t> </a:t>
            </a:r>
            <a:r>
              <a:rPr spc="-10" dirty="0"/>
              <a:t>Bytes</a:t>
            </a:r>
            <a:r>
              <a:rPr lang="en-US" spc="-10" dirty="0"/>
              <a:t>:</a:t>
            </a:r>
            <a:endParaRPr spc="-10" dirty="0"/>
          </a:p>
          <a:p>
            <a:pPr marL="469900">
              <a:lnSpc>
                <a:spcPct val="100000"/>
              </a:lnSpc>
              <a:spcBef>
                <a:spcPts val="50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&lt;string.h&gt;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385"/>
              </a:lnSpc>
              <a:spcBef>
                <a:spcPts val="1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memchr 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const void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*s,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c,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size_t</a:t>
            </a:r>
            <a:r>
              <a:rPr sz="2000" b="1" spc="-3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n);</a:t>
            </a:r>
          </a:p>
          <a:p>
            <a:pPr marL="698500" lvl="1" indent="-229235">
              <a:lnSpc>
                <a:spcPts val="280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It </a:t>
            </a:r>
            <a:r>
              <a:rPr sz="2200" spc="-10" dirty="0">
                <a:latin typeface="Calibri"/>
                <a:cs typeface="Calibri"/>
              </a:rPr>
              <a:t>scans </a:t>
            </a:r>
            <a:r>
              <a:rPr sz="2000" kern="1200" spc="-5" dirty="0">
                <a:solidFill>
                  <a:srgbClr val="0070C0"/>
                </a:solidFill>
                <a:latin typeface="Consolas"/>
              </a:rPr>
              <a:t>n</a:t>
            </a:r>
            <a:r>
              <a:rPr sz="2200" i="1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bytes </a:t>
            </a:r>
            <a:r>
              <a:rPr sz="2200" spc="-5" dirty="0">
                <a:latin typeface="Calibri"/>
                <a:cs typeface="Calibri"/>
              </a:rPr>
              <a:t>of memory </a:t>
            </a:r>
            <a:r>
              <a:rPr sz="2200" spc="-15" dirty="0">
                <a:latin typeface="Calibri"/>
                <a:cs typeface="Calibri"/>
              </a:rPr>
              <a:t>pointed at </a:t>
            </a:r>
            <a:r>
              <a:rPr sz="2200" spc="-10" dirty="0">
                <a:latin typeface="Calibri"/>
                <a:cs typeface="Calibri"/>
              </a:rPr>
              <a:t>by </a:t>
            </a:r>
            <a:r>
              <a:rPr sz="2000" kern="1200" spc="-5" dirty="0">
                <a:solidFill>
                  <a:srgbClr val="0070C0"/>
                </a:solidFill>
                <a:latin typeface="Consolas"/>
              </a:rPr>
              <a:t>s</a:t>
            </a:r>
            <a:r>
              <a:rPr sz="2200" i="1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5" dirty="0">
                <a:latin typeface="Calibri"/>
                <a:cs typeface="Calibri"/>
              </a:rPr>
              <a:t>character </a:t>
            </a:r>
            <a:r>
              <a:rPr sz="2000" kern="1200" spc="-5" dirty="0">
                <a:solidFill>
                  <a:srgbClr val="0070C0"/>
                </a:solidFill>
                <a:latin typeface="Consolas"/>
              </a:rPr>
              <a:t>c</a:t>
            </a:r>
            <a:r>
              <a:rPr lang="en-US" sz="2200" spc="-5" dirty="0">
                <a:latin typeface="Calibri"/>
                <a:cs typeface="Calibri"/>
              </a:rPr>
              <a:t> and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returns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 pointer</a:t>
            </a:r>
            <a:r>
              <a:rPr lang="en-US" sz="2200" spc="-10" dirty="0">
                <a:latin typeface="Calibri"/>
                <a:cs typeface="Calibri"/>
              </a:rPr>
              <a:t> </a:t>
            </a:r>
            <a:r>
              <a:rPr sz="2200" spc="-20" dirty="0"/>
              <a:t>to </a:t>
            </a:r>
            <a:r>
              <a:rPr sz="2200" spc="-5" dirty="0"/>
              <a:t>the </a:t>
            </a:r>
            <a:r>
              <a:rPr sz="2200" spc="-15" dirty="0"/>
              <a:t>first match, </a:t>
            </a:r>
            <a:r>
              <a:rPr sz="2200" spc="-5" dirty="0"/>
              <a:t>or 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sz="2200" spc="-5" dirty="0"/>
              <a:t> if</a:t>
            </a:r>
            <a:r>
              <a:rPr sz="2400" kern="1200" spc="-5" dirty="0">
                <a:solidFill>
                  <a:srgbClr val="0070C0"/>
                </a:solidFill>
                <a:latin typeface="+mj-lt"/>
                <a:cs typeface="+mn-cs"/>
              </a:rPr>
              <a:t> </a:t>
            </a:r>
            <a:r>
              <a:rPr sz="2000" kern="1200" spc="-5" dirty="0">
                <a:solidFill>
                  <a:srgbClr val="0070C0"/>
                </a:solidFill>
                <a:latin typeface="Consolas"/>
              </a:rPr>
              <a:t>c</a:t>
            </a:r>
            <a:r>
              <a:rPr sz="2400" kern="1200" spc="-5" dirty="0">
                <a:solidFill>
                  <a:srgbClr val="0070C0"/>
                </a:solidFill>
                <a:latin typeface="+mj-lt"/>
                <a:cs typeface="+mn-cs"/>
              </a:rPr>
              <a:t> </a:t>
            </a:r>
            <a:r>
              <a:rPr sz="2200" spc="-5" dirty="0"/>
              <a:t>is not</a:t>
            </a:r>
            <a:r>
              <a:rPr sz="2200" spc="110" dirty="0"/>
              <a:t> </a:t>
            </a:r>
            <a:r>
              <a:rPr sz="2200" spc="-15" dirty="0"/>
              <a:t>found</a:t>
            </a:r>
            <a:r>
              <a:rPr lang="en-US" sz="2200" spc="-15" dirty="0"/>
              <a:t>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</TotalTime>
  <Words>1786</Words>
  <Application>Microsoft Office PowerPoint</Application>
  <PresentationFormat>Widescreen</PresentationFormat>
  <Paragraphs>138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Courier New</vt:lpstr>
      <vt:lpstr>Office Theme</vt:lpstr>
      <vt:lpstr>Linux System Programming Talking directly to the kernel and C library</vt:lpstr>
      <vt:lpstr>Ch9 Memory Management</vt:lpstr>
      <vt:lpstr>Pages and Paging</vt:lpstr>
      <vt:lpstr>PowerPoint Presentation</vt:lpstr>
      <vt:lpstr>PowerPoint Presentation</vt:lpstr>
      <vt:lpstr>Sharing and Copy-on-Write</vt:lpstr>
      <vt:lpstr>Memory Regions</vt:lpstr>
      <vt:lpstr>PowerPoint Presentation</vt:lpstr>
      <vt:lpstr>Allocating Dynamic Memory</vt:lpstr>
      <vt:lpstr>Allocating Arrays</vt:lpstr>
      <vt:lpstr>Resizing Allocations</vt:lpstr>
      <vt:lpstr>Examples of Shrinking Memory</vt:lpstr>
      <vt:lpstr>Freeing Dynamic Memory</vt:lpstr>
      <vt:lpstr>Manipulating Memory</vt:lpstr>
      <vt:lpstr>Manipulating Memory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Programming</dc:title>
  <dc:creator>xiang</dc:creator>
  <cp:lastModifiedBy>Miriam Briskman</cp:lastModifiedBy>
  <cp:revision>89</cp:revision>
  <dcterms:created xsi:type="dcterms:W3CDTF">2021-02-04T01:14:12Z</dcterms:created>
  <dcterms:modified xsi:type="dcterms:W3CDTF">2023-05-14T08:35:21Z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2020-05-18T00:00:00Z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2021-02-04T00:00:00Z</vt:filetime>
  </property>
</Properties>
</file>