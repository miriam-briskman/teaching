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4653D-1D6B-49FF-AD00-8C0702E79AA2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A9A81-8F0F-4E7E-97A1-2DF866BAD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9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A9A81-8F0F-4E7E-97A1-2DF866BAD0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4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9661"/>
            <a:ext cx="9841230" cy="1686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global-variables-in-c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cplusplus.com/reference/cstd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07458" y="4534027"/>
            <a:ext cx="2580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latin typeface="Calibri"/>
                <a:cs typeface="Calibri"/>
              </a:rPr>
              <a:t>Buffered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I/O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4D0A8-2F32-A9E0-9E6D-0F81CDFD77F7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114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Ch3 </a:t>
            </a:r>
            <a:r>
              <a:rPr dirty="0"/>
              <a:t>– </a:t>
            </a:r>
            <a:r>
              <a:rPr spc="-65" dirty="0"/>
              <a:t>Buffered</a:t>
            </a:r>
            <a:r>
              <a:rPr spc="-310" dirty="0"/>
              <a:t> </a:t>
            </a:r>
            <a:r>
              <a:rPr spc="-15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655724"/>
            <a:ext cx="10513062" cy="448340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smallest unit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25" dirty="0">
                <a:latin typeface="Calibri"/>
                <a:cs typeface="Calibri"/>
              </a:rPr>
              <a:t>storage for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filesystem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lang="en-US" sz="2800" spc="-5" dirty="0">
                <a:latin typeface="Calibri"/>
                <a:cs typeface="Calibri"/>
              </a:rPr>
              <a:t> a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block</a:t>
            </a:r>
            <a:r>
              <a:rPr lang="en-US" sz="2800" spc="-10" dirty="0">
                <a:latin typeface="Calibri"/>
                <a:cs typeface="Calibri"/>
              </a:rPr>
              <a:t>: a chunk of data.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All I/O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operations must </a:t>
            </a:r>
            <a:r>
              <a:rPr sz="2800" spc="-5" dirty="0">
                <a:latin typeface="Calibri"/>
                <a:cs typeface="Calibri"/>
              </a:rPr>
              <a:t>be in an </a:t>
            </a:r>
            <a:r>
              <a:rPr sz="2800" spc="-15" dirty="0">
                <a:latin typeface="Calibri"/>
                <a:cs typeface="Calibri"/>
              </a:rPr>
              <a:t>integer </a:t>
            </a:r>
            <a:r>
              <a:rPr lang="en-US" sz="2800" spc="-15" dirty="0">
                <a:latin typeface="Calibri"/>
                <a:cs typeface="Calibri"/>
              </a:rPr>
              <a:t>(&gt;= 1)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multiple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block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size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2545" indent="-228600">
              <a:lnSpc>
                <a:spcPct val="800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Most </a:t>
            </a:r>
            <a:r>
              <a:rPr sz="2800" spc="-10" dirty="0">
                <a:latin typeface="Calibri"/>
                <a:cs typeface="Calibri"/>
              </a:rPr>
              <a:t>applications </a:t>
            </a:r>
            <a:r>
              <a:rPr sz="2800" spc="-20" dirty="0">
                <a:latin typeface="Calibri"/>
                <a:cs typeface="Calibri"/>
              </a:rPr>
              <a:t>operate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terms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higher-level abstractions, </a:t>
            </a:r>
            <a:r>
              <a:rPr sz="2800" spc="-10" dirty="0">
                <a:latin typeface="Calibri"/>
                <a:cs typeface="Calibri"/>
              </a:rPr>
              <a:t>such 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lang="en-US" sz="2800" spc="-10" dirty="0">
                <a:latin typeface="Calibri"/>
                <a:cs typeface="Calibri"/>
              </a:rPr>
              <a:t>variables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strings</a:t>
            </a:r>
            <a:r>
              <a:rPr lang="en-US" sz="2800" spc="-10" dirty="0">
                <a:latin typeface="Calibri"/>
                <a:cs typeface="Calibri"/>
              </a:rPr>
              <a:t> → might become very time-inefficient!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35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solution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i="1" spc="-20" dirty="0">
                <a:latin typeface="Calibri"/>
                <a:cs typeface="Calibri"/>
              </a:rPr>
              <a:t>user-buffered</a:t>
            </a:r>
            <a:r>
              <a:rPr sz="2800" i="1" spc="10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I/O</a:t>
            </a:r>
            <a:r>
              <a:rPr lang="en-US"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Done e</a:t>
            </a:r>
            <a:r>
              <a:rPr sz="2400" spc="-5" dirty="0">
                <a:latin typeface="Calibri"/>
                <a:cs typeface="Calibri"/>
              </a:rPr>
              <a:t>ither </a:t>
            </a:r>
            <a:r>
              <a:rPr sz="2400" dirty="0">
                <a:latin typeface="Calibri"/>
                <a:cs typeface="Calibri"/>
              </a:rPr>
              <a:t>manually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transparently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library </a:t>
            </a:r>
            <a:r>
              <a:rPr sz="2400" spc="-15" dirty="0">
                <a:latin typeface="Calibri"/>
                <a:cs typeface="Calibri"/>
              </a:rPr>
              <a:t>to improve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performance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separate from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30" dirty="0">
                <a:latin typeface="Calibri"/>
                <a:cs typeface="Calibri"/>
              </a:rPr>
              <a:t>kernel’s </a:t>
            </a:r>
            <a:r>
              <a:rPr sz="2400" spc="-15" dirty="0">
                <a:latin typeface="Calibri"/>
                <a:cs typeface="Calibri"/>
              </a:rPr>
              <a:t>buffering </a:t>
            </a:r>
            <a:r>
              <a:rPr sz="2400" spc="-10" dirty="0">
                <a:latin typeface="Calibri"/>
                <a:cs typeface="Calibri"/>
              </a:rPr>
              <a:t>(write </a:t>
            </a:r>
            <a:r>
              <a:rPr sz="2400" spc="-40" dirty="0">
                <a:latin typeface="Calibri"/>
                <a:cs typeface="Calibri"/>
              </a:rPr>
              <a:t>delay</a:t>
            </a:r>
            <a:r>
              <a:rPr lang="en-US" sz="2400" spc="-40" dirty="0">
                <a:latin typeface="Calibri"/>
                <a:cs typeface="Calibri"/>
              </a:rPr>
              <a:t>s</a:t>
            </a:r>
            <a:r>
              <a:rPr sz="2400" spc="-40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read</a:t>
            </a:r>
            <a:r>
              <a:rPr lang="en-US" sz="2400" spc="-5" dirty="0">
                <a:latin typeface="Calibri"/>
                <a:cs typeface="Calibri"/>
              </a:rPr>
              <a:t>s </a:t>
            </a:r>
            <a:r>
              <a:rPr sz="2400" spc="-5" dirty="0">
                <a:latin typeface="Calibri"/>
                <a:cs typeface="Calibri"/>
              </a:rPr>
              <a:t>ahead,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Example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US" sz="1800" i="1" spc="-5" dirty="0">
                <a:latin typeface="Consolas"/>
                <a:cs typeface="Consolas"/>
              </a:rPr>
              <a:t>// dd = a Linux terminal command to copy files: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time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dd bs=1 count=2097152 if=/dev/zero</a:t>
            </a:r>
            <a:r>
              <a:rPr sz="1800" spc="-9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of=pirate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1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time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dd bs=1024 count=2048 if=/dev/zero</a:t>
            </a:r>
            <a:r>
              <a:rPr sz="1800" spc="-7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of=pirate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2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23062" y="4724400"/>
            <a:ext cx="3778338" cy="1414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176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Block</a:t>
            </a:r>
            <a:r>
              <a:rPr spc="-170" dirty="0"/>
              <a:t> </a:t>
            </a:r>
            <a:r>
              <a:rPr spc="-45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17547"/>
            <a:ext cx="10970262" cy="465999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Usually in multiples of 512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sz="2800" spc="-5" dirty="0">
                <a:latin typeface="Calibri"/>
                <a:cs typeface="Calibri"/>
              </a:rPr>
              <a:t>(use </a:t>
            </a:r>
            <a:r>
              <a:rPr sz="24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stat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command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figure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Extracting 4K = </a:t>
            </a:r>
            <a:r>
              <a:rPr sz="2800" spc="-5" dirty="0">
                <a:latin typeface="Calibri"/>
                <a:cs typeface="Calibri"/>
              </a:rPr>
              <a:t>4</a:t>
            </a:r>
            <a:r>
              <a:rPr lang="en-US" sz="2800" spc="-5" dirty="0">
                <a:latin typeface="Calibri"/>
                <a:cs typeface="Calibri"/>
              </a:rPr>
              <a:t>096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8K = </a:t>
            </a:r>
            <a:r>
              <a:rPr sz="2800" spc="-5" dirty="0">
                <a:latin typeface="Calibri"/>
                <a:cs typeface="Calibri"/>
              </a:rPr>
              <a:t>8</a:t>
            </a:r>
            <a:r>
              <a:rPr lang="en-US" sz="2800" spc="-5" dirty="0">
                <a:latin typeface="Calibri"/>
                <a:cs typeface="Calibri"/>
              </a:rPr>
              <a:t>192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lang="en-US" sz="2800" spc="-10" dirty="0">
                <a:latin typeface="Calibri"/>
                <a:cs typeface="Calibri"/>
              </a:rPr>
              <a:t>at a time </a:t>
            </a:r>
            <a:r>
              <a:rPr sz="2800" spc="-10" dirty="0">
                <a:latin typeface="Calibri"/>
                <a:cs typeface="Calibri"/>
              </a:rPr>
              <a:t>work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great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But </a:t>
            </a: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work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lang="en-US" sz="2800" spc="-10" dirty="0">
                <a:latin typeface="Calibri"/>
                <a:cs typeface="Calibri"/>
              </a:rPr>
              <a:t>variables</a:t>
            </a:r>
            <a:r>
              <a:rPr sz="2800" spc="-10" dirty="0">
                <a:latin typeface="Calibri"/>
                <a:cs typeface="Calibri"/>
              </a:rPr>
              <a:t>, lines</a:t>
            </a:r>
            <a:r>
              <a:rPr lang="en-US" sz="2800" spc="-10" dirty="0">
                <a:latin typeface="Calibri"/>
                <a:cs typeface="Calibri"/>
              </a:rPr>
              <a:t> of text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single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char</a:t>
            </a:r>
            <a:r>
              <a:rPr lang="en-US" sz="2800" spc="-15" dirty="0">
                <a:latin typeface="Calibri"/>
                <a:cs typeface="Calibri"/>
              </a:rPr>
              <a:t>s. What should be done to keep file access efficient?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User-buffered </a:t>
            </a:r>
            <a:r>
              <a:rPr sz="2400" spc="-5" dirty="0">
                <a:latin typeface="Calibri"/>
                <a:cs typeface="Calibri"/>
              </a:rPr>
              <a:t>I/O </a:t>
            </a:r>
            <a:r>
              <a:rPr lang="en-US" sz="2400" spc="-10" dirty="0">
                <a:latin typeface="Calibri"/>
                <a:cs typeface="Calibri"/>
              </a:rPr>
              <a:t>uses a buffer in the program’s address space (= memory chunk.)</a:t>
            </a:r>
            <a:endParaRPr sz="2400" dirty="0">
              <a:latin typeface="Calibri"/>
              <a:cs typeface="Calibri"/>
            </a:endParaRPr>
          </a:p>
          <a:p>
            <a:pPr marL="698500" marR="304165" lvl="1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/>
              <a:t>For</a:t>
            </a:r>
            <a:r>
              <a:rPr sz="2400" dirty="0"/>
              <a:t> writing, data is stored in </a:t>
            </a:r>
            <a:r>
              <a:rPr lang="en-US" sz="2400" dirty="0"/>
              <a:t>this buffer</a:t>
            </a:r>
            <a:r>
              <a:rPr sz="2400" dirty="0"/>
              <a:t> and is written out in one single operation when it reaches the buffer size</a:t>
            </a:r>
            <a:r>
              <a:rPr lang="en-US" sz="2400" dirty="0"/>
              <a:t>.</a:t>
            </a:r>
            <a:endParaRPr sz="2400" dirty="0"/>
          </a:p>
          <a:p>
            <a:pPr marL="698500" lvl="1" indent="-228600"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reading, data is read </a:t>
            </a:r>
            <a:r>
              <a:rPr lang="en-US" sz="2400" spc="-5" dirty="0">
                <a:latin typeface="Calibri"/>
                <a:cs typeface="Calibri"/>
              </a:rPr>
              <a:t>into this buffer </a:t>
            </a:r>
            <a:r>
              <a:rPr sz="2400" spc="-5" dirty="0">
                <a:latin typeface="Calibri"/>
                <a:cs typeface="Calibri"/>
              </a:rPr>
              <a:t>using buffer-sized</a:t>
            </a:r>
            <a:r>
              <a:rPr lang="en-US" sz="2400" spc="-5" dirty="0">
                <a:latin typeface="Calibri"/>
                <a:cs typeface="Calibri"/>
              </a:rPr>
              <a:t> and</a:t>
            </a:r>
            <a:r>
              <a:rPr sz="2400" spc="-5" dirty="0">
                <a:latin typeface="Calibri"/>
                <a:cs typeface="Calibri"/>
              </a:rPr>
              <a:t> block</a:t>
            </a:r>
            <a:r>
              <a:rPr lang="en-US" sz="2400" spc="-5" dirty="0">
                <a:latin typeface="Calibri"/>
                <a:cs typeface="Calibri"/>
              </a:rPr>
              <a:t>-</a:t>
            </a:r>
            <a:r>
              <a:rPr sz="2400" spc="-5" dirty="0">
                <a:latin typeface="Calibri"/>
                <a:cs typeface="Calibri"/>
              </a:rPr>
              <a:t>aligned </a:t>
            </a:r>
            <a:r>
              <a:rPr sz="2400" spc="-10" dirty="0">
                <a:latin typeface="Calibri"/>
                <a:cs typeface="Calibri"/>
              </a:rPr>
              <a:t>chunks</a:t>
            </a:r>
            <a:r>
              <a:rPr lang="en-US" sz="2400" spc="-10" dirty="0">
                <a:latin typeface="Calibri"/>
                <a:cs typeface="Calibri"/>
              </a:rPr>
              <a:t> to increase efficiency.</a:t>
            </a:r>
          </a:p>
          <a:p>
            <a:pPr marL="241300" indent="-228600"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It’s </a:t>
            </a:r>
            <a:r>
              <a:rPr sz="2800" spc="-10" dirty="0">
                <a:latin typeface="Calibri"/>
                <a:cs typeface="Calibri"/>
              </a:rPr>
              <a:t>possible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implement </a:t>
            </a:r>
            <a:r>
              <a:rPr sz="2800" spc="-5" dirty="0">
                <a:latin typeface="Calibri"/>
                <a:cs typeface="Calibri"/>
              </a:rPr>
              <a:t>this in </a:t>
            </a:r>
            <a:r>
              <a:rPr sz="2800" spc="-15" dirty="0">
                <a:latin typeface="Calibri"/>
                <a:cs typeface="Calibri"/>
              </a:rPr>
              <a:t>your </a:t>
            </a:r>
            <a:r>
              <a:rPr sz="2800" spc="-10" dirty="0">
                <a:latin typeface="Calibri"/>
                <a:cs typeface="Calibri"/>
              </a:rPr>
              <a:t>own </a:t>
            </a:r>
            <a:r>
              <a:rPr lang="en-US" sz="2800" spc="-15" dirty="0">
                <a:latin typeface="Calibri"/>
                <a:cs typeface="Calibri"/>
              </a:rPr>
              <a:t>programs. However,</a:t>
            </a:r>
            <a:r>
              <a:rPr sz="2800" spc="-10" dirty="0">
                <a:latin typeface="Calibri"/>
                <a:cs typeface="Calibri"/>
              </a:rPr>
              <a:t> us</a:t>
            </a:r>
            <a:r>
              <a:rPr lang="en-US" sz="2800" spc="-10" dirty="0">
                <a:latin typeface="Calibri"/>
                <a:cs typeface="Calibri"/>
              </a:rPr>
              <a:t>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standard </a:t>
            </a:r>
            <a:r>
              <a:rPr sz="2800" spc="-5" dirty="0">
                <a:latin typeface="Calibri"/>
                <a:cs typeface="Calibri"/>
              </a:rPr>
              <a:t>I/O </a:t>
            </a:r>
            <a:r>
              <a:rPr sz="2800" spc="-15" dirty="0">
                <a:latin typeface="Calibri"/>
                <a:cs typeface="Calibri"/>
              </a:rPr>
              <a:t>library</a:t>
            </a:r>
            <a:r>
              <a:rPr lang="en-US" sz="2800" spc="-15" dirty="0">
                <a:latin typeface="Calibri"/>
                <a:cs typeface="Calibri"/>
              </a:rPr>
              <a:t>: </a:t>
            </a:r>
            <a:r>
              <a:rPr lang="en-US" sz="24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&lt;</a:t>
            </a:r>
            <a:r>
              <a:rPr lang="en-US" sz="2400" spc="-2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stdio.h</a:t>
            </a:r>
            <a:r>
              <a:rPr lang="en-US" sz="24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&gt;</a:t>
            </a:r>
            <a:r>
              <a:rPr lang="en-US" sz="2800" spc="-15" dirty="0">
                <a:latin typeface="Calibri"/>
                <a:cs typeface="Calibri"/>
              </a:rPr>
              <a:t> is better!</a:t>
            </a:r>
            <a:endParaRPr sz="2800" spc="-1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6456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Standard </a:t>
            </a:r>
            <a:r>
              <a:rPr spc="-15" dirty="0"/>
              <a:t>I/O</a:t>
            </a:r>
            <a:r>
              <a:rPr spc="-220" dirty="0"/>
              <a:t> </a:t>
            </a:r>
            <a:r>
              <a:rPr spc="-45" dirty="0"/>
              <a:t>(</a:t>
            </a:r>
            <a:r>
              <a:rPr sz="4000" spc="-45" dirty="0">
                <a:latin typeface="Consolas" panose="020B0609020204030204" pitchFamily="49" charset="0"/>
              </a:rPr>
              <a:t>stdio</a:t>
            </a:r>
            <a:r>
              <a:rPr spc="-4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1122661" cy="403636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platform-independent</a:t>
            </a:r>
            <a:r>
              <a:rPr lang="en-US" sz="2800" spc="-15" dirty="0">
                <a:latin typeface="Calibri"/>
                <a:cs typeface="Calibri"/>
              </a:rPr>
              <a:t> (= portable)</a:t>
            </a:r>
            <a:r>
              <a:rPr sz="2800" spc="-15" dirty="0">
                <a:latin typeface="Calibri"/>
                <a:cs typeface="Calibri"/>
              </a:rPr>
              <a:t>, user-buffering </a:t>
            </a:r>
            <a:r>
              <a:rPr sz="2800" spc="-10" dirty="0">
                <a:latin typeface="Calibri"/>
                <a:cs typeface="Calibri"/>
              </a:rPr>
              <a:t>solution since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1989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It uses </a:t>
            </a:r>
            <a:r>
              <a:rPr lang="en-US" sz="2800" i="1" spc="-10" dirty="0">
                <a:latin typeface="Calibri"/>
                <a:cs typeface="Calibri"/>
              </a:rPr>
              <a:t>f</a:t>
            </a:r>
            <a:r>
              <a:rPr sz="2800" i="1" spc="-10" dirty="0">
                <a:latin typeface="Calibri"/>
                <a:cs typeface="Calibri"/>
              </a:rPr>
              <a:t>ile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lang="en-US" sz="2800" i="1" spc="-25" dirty="0">
                <a:latin typeface="Calibri"/>
                <a:cs typeface="Calibri"/>
              </a:rPr>
              <a:t>p</a:t>
            </a:r>
            <a:r>
              <a:rPr sz="2800" i="1" spc="-25" dirty="0">
                <a:latin typeface="Calibri"/>
                <a:cs typeface="Calibri"/>
              </a:rPr>
              <a:t>ointers</a:t>
            </a:r>
            <a:r>
              <a:rPr lang="en-US" sz="2800" spc="-2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Standard </a:t>
            </a:r>
            <a:r>
              <a:rPr sz="2400" spc="-5" dirty="0">
                <a:latin typeface="Calibri"/>
                <a:cs typeface="Calibri"/>
              </a:rPr>
              <a:t>I/O </a:t>
            </a:r>
            <a:r>
              <a:rPr sz="2400" spc="-10" dirty="0">
                <a:latin typeface="Calibri"/>
                <a:cs typeface="Calibri"/>
              </a:rPr>
              <a:t>routines don’t </a:t>
            </a:r>
            <a:r>
              <a:rPr sz="2400" spc="-15" dirty="0">
                <a:latin typeface="Calibri"/>
                <a:cs typeface="Calibri"/>
              </a:rPr>
              <a:t>operate </a:t>
            </a:r>
            <a:r>
              <a:rPr sz="2400" spc="-5" dirty="0">
                <a:latin typeface="Calibri"/>
                <a:cs typeface="Calibri"/>
              </a:rPr>
              <a:t>directly </a:t>
            </a:r>
            <a:r>
              <a:rPr lang="en-US" sz="2400" spc="-5" dirty="0">
                <a:latin typeface="Calibri"/>
                <a:cs typeface="Calibri"/>
              </a:rPr>
              <a:t>with file descriptors (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400" spc="-5" dirty="0" err="1">
                <a:latin typeface="Calibri"/>
                <a:cs typeface="Calibri"/>
              </a:rPr>
              <a:t>s</a:t>
            </a:r>
            <a:r>
              <a:rPr lang="en-US" sz="2400" spc="-5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A f</a:t>
            </a:r>
            <a:r>
              <a:rPr sz="2400" spc="-5" dirty="0">
                <a:latin typeface="Calibri"/>
                <a:cs typeface="Calibri"/>
              </a:rPr>
              <a:t>ile </a:t>
            </a:r>
            <a:r>
              <a:rPr sz="2400" spc="-10" dirty="0">
                <a:latin typeface="Calibri"/>
                <a:cs typeface="Calibri"/>
              </a:rPr>
              <a:t>pointer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lang="en-US" sz="2400" dirty="0">
                <a:latin typeface="Calibri"/>
                <a:cs typeface="Calibri"/>
              </a:rPr>
              <a:t>the file’s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unique identifier (</a:t>
            </a:r>
            <a:r>
              <a:rPr lang="en-US" sz="2400" spc="-5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mapped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lang="en-US" sz="2400" spc="-15" dirty="0">
                <a:latin typeface="Calibri"/>
                <a:cs typeface="Calibri"/>
              </a:rPr>
              <a:t>the </a:t>
            </a:r>
            <a:r>
              <a:rPr sz="2400" spc="-3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internally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Represented by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pointer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0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FILE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type, </a:t>
            </a:r>
            <a:r>
              <a:rPr lang="en-US" sz="2400" spc="-25" dirty="0">
                <a:latin typeface="Calibri"/>
                <a:cs typeface="Calibri"/>
              </a:rPr>
              <a:t>which is </a:t>
            </a:r>
            <a:r>
              <a:rPr sz="2400" spc="-10" dirty="0">
                <a:latin typeface="Calibri"/>
                <a:cs typeface="Calibri"/>
              </a:rPr>
              <a:t>defined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&lt;</a:t>
            </a:r>
            <a:r>
              <a:rPr sz="2000" spc="-2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stdio.h</a:t>
            </a:r>
            <a:r>
              <a:rPr sz="20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&gt;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lang="en-US" sz="2000" spc="-25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1155700" lvl="2" indent="-229235"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10" dirty="0">
                <a:latin typeface="Calibri"/>
                <a:cs typeface="Calibri"/>
              </a:rPr>
              <a:t>The </a:t>
            </a:r>
            <a:r>
              <a:rPr lang="en-US" sz="20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FILE</a:t>
            </a:r>
            <a:r>
              <a:rPr lang="en-US" sz="2400" spc="-10" dirty="0">
                <a:latin typeface="Calibri"/>
                <a:cs typeface="Calibri"/>
              </a:rPr>
              <a:t> type is a </a:t>
            </a:r>
            <a:r>
              <a:rPr lang="en-US"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400" spc="-10" dirty="0">
                <a:latin typeface="Calibri"/>
                <a:cs typeface="Calibri"/>
              </a:rPr>
              <a:t> whose implementation is hidden.</a:t>
            </a:r>
            <a:endParaRPr sz="24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 </a:t>
            </a:r>
            <a:r>
              <a:rPr sz="24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stdio</a:t>
            </a:r>
            <a:r>
              <a:rPr sz="2800" spc="-3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open file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called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stream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Streams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opened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reading </a:t>
            </a:r>
            <a:r>
              <a:rPr sz="2800" spc="-5" dirty="0">
                <a:latin typeface="Calibri"/>
                <a:cs typeface="Calibri"/>
              </a:rPr>
              <a:t>(input </a:t>
            </a:r>
            <a:r>
              <a:rPr sz="2800" spc="-10" dirty="0">
                <a:latin typeface="Calibri"/>
                <a:cs typeface="Calibri"/>
              </a:rPr>
              <a:t>streams), </a:t>
            </a:r>
            <a:r>
              <a:rPr sz="2800" spc="-5" dirty="0">
                <a:latin typeface="Calibri"/>
                <a:cs typeface="Calibri"/>
              </a:rPr>
              <a:t>writing </a:t>
            </a:r>
            <a:r>
              <a:rPr sz="2800" spc="-10" dirty="0">
                <a:latin typeface="Calibri"/>
                <a:cs typeface="Calibri"/>
              </a:rPr>
              <a:t>(output  streams), </a:t>
            </a:r>
            <a:r>
              <a:rPr sz="2800" spc="-5" dirty="0">
                <a:latin typeface="Calibri"/>
                <a:cs typeface="Calibri"/>
              </a:rPr>
              <a:t>or both </a:t>
            </a:r>
            <a:r>
              <a:rPr sz="2800" spc="-10" dirty="0">
                <a:latin typeface="Calibri"/>
                <a:cs typeface="Calibri"/>
              </a:rPr>
              <a:t>(input/output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streams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r>
              <a:rPr sz="2800" spc="-1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998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Opening</a:t>
            </a:r>
            <a:r>
              <a:rPr spc="-160" dirty="0"/>
              <a:t> </a:t>
            </a:r>
            <a:r>
              <a:rPr spc="-20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452064"/>
            <a:ext cx="11046462" cy="4521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spcBef>
                <a:spcPts val="100"/>
              </a:spcBef>
            </a:pP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/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FILE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fopen (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*mode); </a:t>
            </a:r>
            <a:r>
              <a:rPr i="1" dirty="0">
                <a:latin typeface="Consolas"/>
                <a:cs typeface="Consolas"/>
              </a:rPr>
              <a:t>//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path</a:t>
            </a:r>
            <a:r>
              <a:rPr i="1" spc="-5" dirty="0">
                <a:latin typeface="Consolas"/>
                <a:cs typeface="Consolas"/>
              </a:rPr>
              <a:t> </a:t>
            </a:r>
            <a:r>
              <a:rPr i="1" dirty="0">
                <a:latin typeface="Consolas"/>
                <a:cs typeface="Consolas"/>
              </a:rPr>
              <a:t>is the</a:t>
            </a:r>
            <a:r>
              <a:rPr i="1" spc="25" dirty="0">
                <a:latin typeface="Consolas"/>
                <a:cs typeface="Consolas"/>
              </a:rPr>
              <a:t> </a:t>
            </a:r>
            <a:r>
              <a:rPr i="1" spc="-5" dirty="0">
                <a:latin typeface="Consolas"/>
                <a:cs typeface="Consolas"/>
              </a:rPr>
              <a:t>filename</a:t>
            </a:r>
            <a:endParaRPr lang="en-US" i="1" spc="-5" dirty="0">
              <a:latin typeface="Consolas"/>
              <a:cs typeface="Consolas"/>
            </a:endParaRPr>
          </a:p>
          <a:p>
            <a:pPr marL="469900">
              <a:lnSpc>
                <a:spcPts val="1775"/>
              </a:lnSpc>
            </a:pPr>
            <a:endParaRPr lang="en-US" sz="15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/>
            <a:r>
              <a:rPr lang="en-US" i="1" dirty="0">
                <a:latin typeface="Consolas"/>
                <a:cs typeface="Consolas"/>
              </a:rPr>
              <a:t>/* </a:t>
            </a:r>
            <a:r>
              <a:rPr lang="en-US" i="1" spc="-5" dirty="0">
                <a:latin typeface="Consolas"/>
                <a:cs typeface="Consolas"/>
              </a:rPr>
              <a:t>Example:</a:t>
            </a:r>
            <a:r>
              <a:rPr lang="en-US" i="1" spc="5" dirty="0">
                <a:latin typeface="Consolas"/>
                <a:cs typeface="Consolas"/>
              </a:rPr>
              <a:t> </a:t>
            </a:r>
            <a:r>
              <a:rPr lang="en-US" i="1" dirty="0">
                <a:latin typeface="Consolas"/>
                <a:cs typeface="Consolas"/>
              </a:rPr>
              <a:t>*/</a:t>
            </a:r>
          </a:p>
          <a:p>
            <a:pPr marL="469900"/>
            <a:r>
              <a:rPr lang="en-US" b="1" dirty="0">
                <a:solidFill>
                  <a:srgbClr val="0070C0"/>
                </a:solidFill>
                <a:latin typeface="Consolas"/>
                <a:cs typeface="Consolas"/>
              </a:rPr>
              <a:t>FILE </a:t>
            </a:r>
            <a:r>
              <a:rPr lang="en-US" spc="-5" dirty="0">
                <a:solidFill>
                  <a:srgbClr val="0070C0"/>
                </a:solidFill>
                <a:latin typeface="Consolas"/>
                <a:cs typeface="Consolas"/>
              </a:rPr>
              <a:t>*stream </a:t>
            </a:r>
            <a:r>
              <a:rPr lang="en-US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lang="en-US" spc="-5" dirty="0" err="1">
                <a:solidFill>
                  <a:srgbClr val="0070C0"/>
                </a:solidFill>
                <a:latin typeface="Consolas"/>
                <a:cs typeface="Consolas"/>
              </a:rPr>
              <a:t>fopen</a:t>
            </a:r>
            <a:r>
              <a:rPr lang="en-US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lang="en-US" spc="-10" dirty="0">
                <a:solidFill>
                  <a:srgbClr val="0070C0"/>
                </a:solidFill>
                <a:latin typeface="Consolas"/>
                <a:cs typeface="Consolas"/>
              </a:rPr>
              <a:t>"</a:t>
            </a:r>
            <a:r>
              <a:rPr lang="en-US" spc="-5" dirty="0">
                <a:solidFill>
                  <a:srgbClr val="0070C0"/>
                </a:solidFill>
                <a:latin typeface="Consolas"/>
                <a:cs typeface="Consolas"/>
              </a:rPr>
              <a:t>myfile.txt", </a:t>
            </a:r>
            <a:r>
              <a:rPr lang="en-US" spc="-10" dirty="0">
                <a:solidFill>
                  <a:srgbClr val="0070C0"/>
                </a:solidFill>
                <a:latin typeface="Consolas"/>
                <a:cs typeface="Consolas"/>
              </a:rPr>
              <a:t>"r"); </a:t>
            </a:r>
            <a:r>
              <a:rPr lang="en-US" i="1" spc="-5" dirty="0">
                <a:latin typeface="Consolas"/>
                <a:cs typeface="Consolas"/>
              </a:rPr>
              <a:t>/* </a:t>
            </a:r>
            <a:r>
              <a:rPr lang="en-US" i="1" spc="-5" dirty="0" err="1">
                <a:solidFill>
                  <a:srgbClr val="0070C0"/>
                </a:solidFill>
                <a:latin typeface="Consolas"/>
              </a:rPr>
              <a:t>fopen</a:t>
            </a:r>
            <a:r>
              <a:rPr lang="en-US" i="1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i="1" spc="-5" dirty="0">
                <a:latin typeface="Consolas"/>
                <a:cs typeface="Consolas"/>
              </a:rPr>
              <a:t> is a function, not a syscall. */</a:t>
            </a:r>
            <a:endParaRPr lang="en-US" spc="-1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/>
            <a:r>
              <a:rPr lang="en-US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lang="en-US" spc="-5" dirty="0">
                <a:solidFill>
                  <a:srgbClr val="0070C0"/>
                </a:solidFill>
                <a:latin typeface="Consolas"/>
                <a:cs typeface="Consolas"/>
              </a:rPr>
              <a:t>(!stream) </a:t>
            </a:r>
            <a:r>
              <a:rPr lang="en-US" i="1" spc="-5" dirty="0">
                <a:latin typeface="Consolas"/>
                <a:cs typeface="Consolas"/>
              </a:rPr>
              <a:t>/* Check for an error.</a:t>
            </a:r>
            <a:r>
              <a:rPr lang="en-US" i="1" dirty="0">
                <a:latin typeface="Consolas"/>
                <a:cs typeface="Consolas"/>
              </a:rPr>
              <a:t> </a:t>
            </a:r>
            <a:r>
              <a:rPr lang="en-US" i="1" spc="-5" dirty="0">
                <a:latin typeface="Consolas"/>
                <a:cs typeface="Consolas"/>
              </a:rPr>
              <a:t>It is the same as: if (</a:t>
            </a:r>
            <a:r>
              <a:rPr lang="en-US" i="1" spc="-5" dirty="0">
                <a:solidFill>
                  <a:srgbClr val="0070C0"/>
                </a:solidFill>
                <a:latin typeface="Consolas"/>
              </a:rPr>
              <a:t>stream</a:t>
            </a:r>
            <a:r>
              <a:rPr lang="en-US" i="1" spc="-5" dirty="0">
                <a:latin typeface="Consolas"/>
                <a:cs typeface="Consolas"/>
              </a:rPr>
              <a:t> == </a:t>
            </a:r>
            <a:r>
              <a:rPr lang="en-US" i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i="1" spc="-5" dirty="0">
                <a:latin typeface="Consolas"/>
                <a:cs typeface="Consolas"/>
              </a:rPr>
              <a:t>). */</a:t>
            </a:r>
            <a:endParaRPr i="1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2775"/>
              </a:lnSpc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Modes</a:t>
            </a:r>
          </a:p>
          <a:p>
            <a:pPr marL="698500" lvl="1" indent="-229235">
              <a:lnSpc>
                <a:spcPts val="218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r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reading</a:t>
            </a:r>
            <a:r>
              <a:rPr lang="en-US" sz="2000" dirty="0">
                <a:latin typeface="Calibri"/>
                <a:cs typeface="Calibri"/>
              </a:rPr>
              <a:t> from the file.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stream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positioned </a:t>
            </a:r>
            <a:r>
              <a:rPr sz="2000" spc="-10" dirty="0">
                <a:latin typeface="Calibri"/>
                <a:cs typeface="Calibri"/>
              </a:rPr>
              <a:t>at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lang="en-US" sz="2000" spc="-10" dirty="0">
                <a:latin typeface="Calibri"/>
                <a:cs typeface="Calibri"/>
              </a:rPr>
              <a:t>file’s start in all modes except 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"a"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r+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reading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writing (</a:t>
            </a:r>
            <a:r>
              <a:rPr lang="en-US" sz="2000" spc="-5" dirty="0">
                <a:latin typeface="Calibri"/>
                <a:cs typeface="Calibri"/>
              </a:rPr>
              <a:t>but not</a:t>
            </a:r>
            <a:r>
              <a:rPr sz="2000" spc="-5" dirty="0">
                <a:latin typeface="Calibri"/>
                <a:cs typeface="Calibri"/>
              </a:rPr>
              <a:t> truncating 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creating</a:t>
            </a:r>
            <a:r>
              <a:rPr lang="en-US" sz="2000" spc="-5" dirty="0">
                <a:latin typeface="Calibri"/>
                <a:cs typeface="Calibri"/>
              </a:rPr>
              <a:t> the file.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w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writing</a:t>
            </a:r>
            <a:r>
              <a:rPr lang="en-US" sz="2000" dirty="0">
                <a:latin typeface="Calibri"/>
                <a:cs typeface="Calibri"/>
              </a:rPr>
              <a:t> to the file</a:t>
            </a:r>
            <a:r>
              <a:rPr sz="2000" dirty="0">
                <a:latin typeface="Calibri"/>
                <a:cs typeface="Calibri"/>
              </a:rPr>
              <a:t>. If </a:t>
            </a:r>
            <a:r>
              <a:rPr lang="en-US"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file </a:t>
            </a:r>
            <a:r>
              <a:rPr sz="2000" spc="-15" dirty="0">
                <a:latin typeface="Calibri"/>
                <a:cs typeface="Calibri"/>
              </a:rPr>
              <a:t>exists, </a:t>
            </a:r>
            <a:r>
              <a:rPr lang="en-US" sz="2000" spc="-15" dirty="0">
                <a:latin typeface="Calibri"/>
                <a:cs typeface="Calibri"/>
              </a:rPr>
              <a:t>it </a:t>
            </a:r>
            <a:r>
              <a:rPr sz="2000" spc="-5" dirty="0">
                <a:latin typeface="Calibri"/>
                <a:cs typeface="Calibri"/>
              </a:rPr>
              <a:t>truncate</a:t>
            </a:r>
            <a:r>
              <a:rPr lang="en-US" sz="2000" spc="-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the file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25" dirty="0">
                <a:latin typeface="Calibri"/>
                <a:cs typeface="Calibri"/>
              </a:rPr>
              <a:t>zero </a:t>
            </a:r>
            <a:r>
              <a:rPr sz="2000" spc="-5" dirty="0">
                <a:latin typeface="Calibri"/>
                <a:cs typeface="Calibri"/>
              </a:rPr>
              <a:t>length</a:t>
            </a:r>
            <a:r>
              <a:rPr lang="en-US" sz="2000" spc="-5" dirty="0">
                <a:latin typeface="Calibri"/>
                <a:cs typeface="Calibri"/>
              </a:rPr>
              <a:t>;</a:t>
            </a:r>
            <a:r>
              <a:rPr sz="2000" spc="-5" dirty="0">
                <a:latin typeface="Calibri"/>
                <a:cs typeface="Calibri"/>
              </a:rPr>
              <a:t> if not, </a:t>
            </a:r>
            <a:r>
              <a:rPr lang="en-US" sz="2000" spc="-5" dirty="0">
                <a:latin typeface="Calibri"/>
                <a:cs typeface="Calibri"/>
              </a:rPr>
              <a:t>it </a:t>
            </a:r>
            <a:r>
              <a:rPr sz="2000" spc="-15" dirty="0">
                <a:latin typeface="Calibri"/>
                <a:cs typeface="Calibri"/>
              </a:rPr>
              <a:t>create</a:t>
            </a:r>
            <a:r>
              <a:rPr lang="en-US" sz="2000" spc="-15" dirty="0">
                <a:latin typeface="Calibri"/>
                <a:cs typeface="Calibri"/>
              </a:rPr>
              <a:t>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w+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reading </a:t>
            </a:r>
            <a:r>
              <a:rPr sz="2000" dirty="0">
                <a:latin typeface="Calibri"/>
                <a:cs typeface="Calibri"/>
              </a:rPr>
              <a:t>and writing, </a:t>
            </a:r>
            <a:r>
              <a:rPr lang="en-US" sz="2000" dirty="0">
                <a:latin typeface="Calibri"/>
                <a:cs typeface="Calibri"/>
              </a:rPr>
              <a:t>together </a:t>
            </a:r>
            <a:r>
              <a:rPr sz="2000" spc="-5" dirty="0">
                <a:latin typeface="Calibri"/>
                <a:cs typeface="Calibri"/>
              </a:rPr>
              <a:t>with truncating</a:t>
            </a:r>
            <a:r>
              <a:rPr lang="en-US" sz="2000" spc="-5" dirty="0">
                <a:latin typeface="Calibri"/>
                <a:cs typeface="Calibri"/>
              </a:rPr>
              <a:t> and </a:t>
            </a:r>
            <a:r>
              <a:rPr sz="2000" spc="-5" dirty="0">
                <a:latin typeface="Calibri"/>
                <a:cs typeface="Calibri"/>
              </a:rPr>
              <a:t>creating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lang="en-US" sz="2000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mode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w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lang="en-US" sz="1800" dirty="0">
                <a:latin typeface="Calibri"/>
                <a:cs typeface="Calibri"/>
              </a:rPr>
              <a:t>.</a:t>
            </a:r>
            <a:endParaRPr spc="-10" dirty="0">
              <a:solidFill>
                <a:srgbClr val="0070C0"/>
              </a:solidFill>
              <a:latin typeface="Consolas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610"/>
              </a:spcBef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a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   </a:t>
            </a:r>
            <a:r>
              <a:rPr sz="2000" spc="-5" dirty="0">
                <a:latin typeface="Calibri"/>
                <a:cs typeface="Calibri"/>
              </a:rPr>
              <a:t>writing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5" dirty="0">
                <a:latin typeface="Calibri"/>
                <a:cs typeface="Calibri"/>
              </a:rPr>
              <a:t>append </a:t>
            </a:r>
            <a:r>
              <a:rPr sz="2000" dirty="0">
                <a:latin typeface="Calibri"/>
                <a:cs typeface="Calibri"/>
              </a:rPr>
              <a:t>mode, </a:t>
            </a:r>
            <a:r>
              <a:rPr lang="en-US"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creating </a:t>
            </a:r>
            <a:r>
              <a:rPr sz="2000" spc="-5" dirty="0">
                <a:latin typeface="Calibri"/>
                <a:cs typeface="Calibri"/>
              </a:rPr>
              <a:t>if file doesn’t </a:t>
            </a:r>
            <a:r>
              <a:rPr sz="2000" spc="-15" dirty="0">
                <a:latin typeface="Calibri"/>
                <a:cs typeface="Calibri"/>
              </a:rPr>
              <a:t>exist</a:t>
            </a:r>
            <a:r>
              <a:rPr lang="en-US" sz="2000" spc="-1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lang="en-US" sz="2000" spc="-15" dirty="0">
                <a:latin typeface="Calibri"/>
                <a:cs typeface="Calibri"/>
              </a:rPr>
              <a:t>Only with 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"a"</a:t>
            </a:r>
            <a:r>
              <a:rPr lang="en-US" sz="1800" spc="-15" dirty="0">
                <a:latin typeface="Calibri"/>
                <a:cs typeface="Calibri"/>
              </a:rPr>
              <a:t>,</a:t>
            </a:r>
            <a:r>
              <a:rPr lang="en-US" sz="2000" spc="-5" dirty="0">
                <a:latin typeface="Calibri"/>
                <a:cs typeface="Calibri"/>
              </a:rPr>
              <a:t> the </a:t>
            </a:r>
            <a:r>
              <a:rPr sz="2000" spc="-10" dirty="0">
                <a:latin typeface="Calibri"/>
                <a:cs typeface="Calibri"/>
              </a:rPr>
              <a:t>stream</a:t>
            </a:r>
            <a:r>
              <a:rPr lang="en-US" sz="2000" spc="-10" dirty="0">
                <a:latin typeface="Calibri"/>
                <a:cs typeface="Calibri"/>
              </a:rPr>
              <a:t> 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positioned </a:t>
            </a:r>
            <a:r>
              <a:rPr sz="2000" spc="-15" dirty="0">
                <a:latin typeface="Calibri"/>
                <a:cs typeface="Calibri"/>
              </a:rPr>
              <a:t>at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EOF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(i.e.</a:t>
            </a:r>
            <a:r>
              <a:rPr lang="en-US" sz="2000" spc="-5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 </a:t>
            </a:r>
            <a:r>
              <a:rPr sz="2000" spc="-5" dirty="0">
                <a:latin typeface="Calibri"/>
                <a:cs typeface="Calibri"/>
              </a:rPr>
              <a:t>writes will </a:t>
            </a:r>
            <a:r>
              <a:rPr sz="2000" dirty="0">
                <a:latin typeface="Calibri"/>
                <a:cs typeface="Calibri"/>
              </a:rPr>
              <a:t>append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file </a:t>
            </a:r>
            <a:r>
              <a:rPr sz="2000" dirty="0">
                <a:latin typeface="Calibri"/>
                <a:cs typeface="Calibri"/>
              </a:rPr>
              <a:t>– </a:t>
            </a:r>
            <a:r>
              <a:rPr sz="2000" spc="-5" dirty="0">
                <a:latin typeface="Calibri"/>
                <a:cs typeface="Calibri"/>
              </a:rPr>
              <a:t>no truncati</a:t>
            </a:r>
            <a:r>
              <a:rPr lang="en-US" sz="2000" spc="-5" dirty="0">
                <a:latin typeface="Calibri"/>
                <a:cs typeface="Calibri"/>
              </a:rPr>
              <a:t>on occurs.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06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a+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reading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writing </a:t>
            </a:r>
            <a:r>
              <a:rPr sz="2000" dirty="0">
                <a:latin typeface="Calibri"/>
                <a:cs typeface="Calibri"/>
              </a:rPr>
              <a:t>in append mode</a:t>
            </a:r>
            <a:r>
              <a:rPr lang="en-US" sz="2000" dirty="0">
                <a:latin typeface="Calibri"/>
                <a:cs typeface="Calibri"/>
              </a:rPr>
              <a:t>;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like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 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a</a:t>
            </a:r>
            <a:r>
              <a:rPr lang="en-US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lang="en-US" sz="2000" spc="-15" dirty="0">
                <a:latin typeface="Calibri"/>
                <a:cs typeface="Calibri"/>
              </a:rPr>
              <a:t>,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lang="en-US" sz="2000" spc="-15" dirty="0">
                <a:latin typeface="Calibri"/>
                <a:cs typeface="Calibri"/>
              </a:rPr>
              <a:t>but also allows </a:t>
            </a:r>
            <a:r>
              <a:rPr sz="2000" spc="-5" dirty="0">
                <a:latin typeface="Calibri"/>
                <a:cs typeface="Calibri"/>
              </a:rPr>
              <a:t>read</a:t>
            </a:r>
            <a:r>
              <a:rPr lang="en-US" sz="2000" spc="-5" dirty="0">
                <a:latin typeface="Calibri"/>
                <a:cs typeface="Calibri"/>
              </a:rPr>
              <a:t>ing.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On success, returns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valid </a:t>
            </a:r>
            <a:r>
              <a:rPr sz="2400" spc="-2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FILE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pointer</a:t>
            </a:r>
            <a:r>
              <a:rPr lang="en-US" sz="2400" spc="-35" dirty="0">
                <a:latin typeface="Calibri"/>
                <a:cs typeface="Calibri"/>
              </a:rPr>
              <a:t>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 </a:t>
            </a:r>
            <a:r>
              <a:rPr sz="2400" spc="-15" dirty="0">
                <a:latin typeface="Calibri"/>
                <a:cs typeface="Calibri"/>
              </a:rPr>
              <a:t>failure, </a:t>
            </a: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400" dirty="0">
                <a:latin typeface="Calibri"/>
                <a:cs typeface="Calibri"/>
              </a:rPr>
              <a:t> and </a:t>
            </a:r>
            <a:r>
              <a:rPr sz="2400" spc="-5" dirty="0">
                <a:latin typeface="Calibri"/>
                <a:cs typeface="Calibri"/>
              </a:rPr>
              <a:t>sets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35" dirty="0">
                <a:latin typeface="Calibri"/>
                <a:cs typeface="Calibri"/>
              </a:rPr>
              <a:t>.</a:t>
            </a:r>
            <a:endParaRPr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28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Opening </a:t>
            </a:r>
            <a:r>
              <a:rPr dirty="0"/>
              <a:t>a </a:t>
            </a:r>
            <a:r>
              <a:rPr spc="-35" dirty="0"/>
              <a:t>Stream </a:t>
            </a:r>
            <a:r>
              <a:rPr spc="-15" dirty="0"/>
              <a:t>via File</a:t>
            </a:r>
            <a:r>
              <a:rPr spc="-370" dirty="0"/>
              <a:t> </a:t>
            </a:r>
            <a:r>
              <a:rPr spc="-40" dirty="0"/>
              <a:t>Descriptor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5205"/>
            <a:ext cx="10513061" cy="45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spcBef>
                <a:spcPts val="100"/>
              </a:spcBef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/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FILE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fdopen (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const char</a:t>
            </a:r>
            <a:r>
              <a:rPr sz="1800" b="1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*mode);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function </a:t>
            </a:r>
            <a:r>
              <a:rPr sz="20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fdopen()</a:t>
            </a:r>
            <a:r>
              <a:rPr sz="2400" spc="-15" dirty="0">
                <a:latin typeface="Calibri"/>
                <a:cs typeface="Calibri"/>
              </a:rPr>
              <a:t> converts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already open </a:t>
            </a:r>
            <a:r>
              <a:rPr sz="2000" spc="-3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stream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  <a:tab pos="8111490" algn="l"/>
              </a:tabLst>
            </a:pPr>
            <a:r>
              <a:rPr sz="2400" dirty="0">
                <a:latin typeface="Calibri"/>
                <a:cs typeface="Calibri"/>
              </a:rPr>
              <a:t>Modes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the same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lang="en-US"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</a:t>
            </a:r>
            <a:r>
              <a:rPr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open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but </a:t>
            </a:r>
            <a:r>
              <a:rPr sz="2400" spc="-5" dirty="0">
                <a:latin typeface="Calibri"/>
                <a:cs typeface="Calibri"/>
              </a:rPr>
              <a:t>no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truncation </a:t>
            </a:r>
            <a:r>
              <a:rPr lang="en-US" sz="2400" spc="-5" dirty="0">
                <a:latin typeface="Calibri"/>
                <a:cs typeface="Calibri"/>
              </a:rPr>
              <a:t>occurs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0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</a:t>
            </a:r>
            <a:r>
              <a:rPr sz="20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</a:t>
            </a:r>
            <a:r>
              <a:rPr lang="en-US" sz="20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0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</a:t>
            </a:r>
            <a:r>
              <a:rPr sz="20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w+</a:t>
            </a:r>
            <a:r>
              <a:rPr lang="en-US" sz="20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 and </a:t>
            </a:r>
            <a:r>
              <a:rPr sz="2400" spc="-5" dirty="0">
                <a:latin typeface="Calibri"/>
                <a:cs typeface="Calibri"/>
              </a:rPr>
              <a:t>file  position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not changed. </a:t>
            </a:r>
            <a:endParaRPr lang="en-US" sz="2400" spc="-1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  <a:tab pos="8111490" algn="l"/>
              </a:tabLst>
            </a:pPr>
            <a:r>
              <a:rPr lang="en-US" sz="2000" spc="-10" dirty="0">
                <a:latin typeface="Calibri"/>
                <a:cs typeface="Calibri"/>
              </a:rPr>
              <a:t>Modes </a:t>
            </a:r>
            <a:r>
              <a:rPr sz="2000" spc="-5" dirty="0">
                <a:latin typeface="Calibri"/>
                <a:cs typeface="Calibri"/>
              </a:rPr>
              <a:t>must be compatible </a:t>
            </a:r>
            <a:r>
              <a:rPr sz="2000" dirty="0">
                <a:latin typeface="Calibri"/>
                <a:cs typeface="Calibri"/>
              </a:rPr>
              <a:t>with those </a:t>
            </a:r>
            <a:r>
              <a:rPr sz="2000" spc="-5" dirty="0">
                <a:latin typeface="Calibri"/>
                <a:cs typeface="Calibri"/>
              </a:rPr>
              <a:t>used </a:t>
            </a:r>
            <a:r>
              <a:rPr lang="en-US" sz="2000" spc="-20" dirty="0">
                <a:latin typeface="Calibri"/>
                <a:cs typeface="Calibri"/>
              </a:rPr>
              <a:t>in the system call </a:t>
            </a:r>
            <a:r>
              <a:rPr lang="en-US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open()</a:t>
            </a:r>
            <a:r>
              <a:rPr lang="en-US" sz="2000" spc="-5" dirty="0">
                <a:latin typeface="Calibri"/>
                <a:cs typeface="Calibri"/>
              </a:rPr>
              <a:t> for getting the descriptor</a:t>
            </a:r>
            <a:r>
              <a:rPr lang="en-US" sz="1800" spc="-5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From now on, </a:t>
            </a:r>
            <a:r>
              <a:rPr sz="2400" dirty="0">
                <a:latin typeface="Calibri"/>
                <a:cs typeface="Calibri"/>
              </a:rPr>
              <a:t>I/O </a:t>
            </a:r>
            <a:r>
              <a:rPr sz="2400" spc="-5" dirty="0">
                <a:latin typeface="Calibri"/>
                <a:cs typeface="Calibri"/>
              </a:rPr>
              <a:t>should be </a:t>
            </a:r>
            <a:r>
              <a:rPr sz="2400" spc="-10" dirty="0">
                <a:latin typeface="Calibri"/>
                <a:cs typeface="Calibri"/>
              </a:rPr>
              <a:t>performed </a:t>
            </a:r>
            <a:r>
              <a:rPr sz="2400" dirty="0">
                <a:latin typeface="Calibri"/>
                <a:cs typeface="Calibri"/>
              </a:rPr>
              <a:t>via the </a:t>
            </a:r>
            <a:r>
              <a:rPr sz="2400" spc="-10" dirty="0">
                <a:latin typeface="Calibri"/>
                <a:cs typeface="Calibri"/>
              </a:rPr>
              <a:t>stream</a:t>
            </a:r>
            <a:r>
              <a:rPr lang="en-US" sz="2400" spc="-10" dirty="0">
                <a:latin typeface="Calibri"/>
                <a:cs typeface="Calibri"/>
              </a:rPr>
              <a:t> and not via the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41300" indent="-228600">
              <a:lnSpc>
                <a:spcPts val="281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Closing the </a:t>
            </a:r>
            <a:r>
              <a:rPr sz="2400" spc="-10" dirty="0">
                <a:latin typeface="Calibri"/>
                <a:cs typeface="Calibri"/>
              </a:rPr>
              <a:t>stream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5" dirty="0">
                <a:latin typeface="Calibri"/>
                <a:cs typeface="Calibri"/>
              </a:rPr>
              <a:t>close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fd</a:t>
            </a:r>
            <a:r>
              <a:rPr lang="en-US" sz="2400" spc="-65" dirty="0">
                <a:latin typeface="Calibri"/>
                <a:cs typeface="Calibri"/>
              </a:rPr>
              <a:t>, too.</a:t>
            </a:r>
            <a:endParaRPr sz="2400" dirty="0">
              <a:latin typeface="Calibri"/>
              <a:cs typeface="Calibri"/>
            </a:endParaRPr>
          </a:p>
          <a:p>
            <a:pPr marL="2755900" lvl="5">
              <a:lnSpc>
                <a:spcPts val="2014"/>
              </a:lnSpc>
            </a:pP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FILE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*stream;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755900" lvl="5">
              <a:lnSpc>
                <a:spcPts val="2020"/>
              </a:lnSpc>
            </a:pP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b="1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fd;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755900" lvl="5">
              <a:lnSpc>
                <a:spcPts val="2010"/>
              </a:lnSpc>
            </a:pP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fd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open ("/home/kidd/map.txt",</a:t>
            </a:r>
            <a:r>
              <a:rPr spc="-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O_RDONLY);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755900" lvl="5">
              <a:lnSpc>
                <a:spcPts val="2080"/>
              </a:lnSpc>
            </a:pP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(fd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==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-1) </a:t>
            </a:r>
            <a:r>
              <a:rPr i="1" spc="-5" dirty="0">
                <a:latin typeface="Consolas"/>
                <a:cs typeface="Consolas"/>
              </a:rPr>
              <a:t>/* </a:t>
            </a:r>
            <a:r>
              <a:rPr lang="en-US" i="1" spc="-5" dirty="0">
                <a:latin typeface="Consolas"/>
                <a:cs typeface="Consolas"/>
              </a:rPr>
              <a:t>checks for </a:t>
            </a:r>
            <a:r>
              <a:rPr i="1" spc="-5" dirty="0">
                <a:latin typeface="Consolas"/>
                <a:cs typeface="Consolas"/>
              </a:rPr>
              <a:t>error</a:t>
            </a:r>
            <a:r>
              <a:rPr lang="en-US" i="1" spc="-5" dirty="0">
                <a:latin typeface="Consolas"/>
                <a:cs typeface="Consolas"/>
              </a:rPr>
              <a:t>s</a:t>
            </a:r>
            <a:r>
              <a:rPr i="1" spc="-55" dirty="0">
                <a:latin typeface="Consolas"/>
                <a:cs typeface="Consolas"/>
              </a:rPr>
              <a:t> </a:t>
            </a:r>
            <a:r>
              <a:rPr i="1" spc="5" dirty="0">
                <a:latin typeface="Consolas"/>
                <a:cs typeface="Consolas"/>
              </a:rPr>
              <a:t>*/</a:t>
            </a:r>
            <a:endParaRPr dirty="0">
              <a:latin typeface="Consolas"/>
              <a:cs typeface="Consolas"/>
            </a:endParaRPr>
          </a:p>
          <a:p>
            <a:pPr lvl="5">
              <a:spcBef>
                <a:spcPts val="30"/>
              </a:spcBef>
            </a:pPr>
            <a:endParaRPr sz="16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2755900" lvl="5">
              <a:lnSpc>
                <a:spcPts val="2080"/>
              </a:lnSpc>
            </a:pP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stream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fdopen (fd,</a:t>
            </a:r>
            <a:r>
              <a:rPr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"r");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755900" lvl="5">
              <a:lnSpc>
                <a:spcPts val="2080"/>
              </a:lnSpc>
            </a:pP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(!stream) </a:t>
            </a:r>
            <a:r>
              <a:rPr i="1" spc="-5" dirty="0">
                <a:latin typeface="Consolas"/>
                <a:cs typeface="Consolas"/>
              </a:rPr>
              <a:t>/* </a:t>
            </a:r>
            <a:r>
              <a:rPr lang="en-US" i="1" spc="-5" dirty="0">
                <a:latin typeface="Consolas"/>
                <a:cs typeface="Consolas"/>
              </a:rPr>
              <a:t>checks for errors</a:t>
            </a:r>
            <a:r>
              <a:rPr i="1" spc="-35" dirty="0">
                <a:latin typeface="Consolas"/>
                <a:cs typeface="Consolas"/>
              </a:rPr>
              <a:t> </a:t>
            </a:r>
            <a:r>
              <a:rPr i="1" spc="-5" dirty="0">
                <a:latin typeface="Consolas"/>
                <a:cs typeface="Consolas"/>
              </a:rPr>
              <a:t>*/</a:t>
            </a:r>
            <a:endParaRPr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217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Closing</a:t>
            </a:r>
            <a:r>
              <a:rPr spc="-165" dirty="0"/>
              <a:t> </a:t>
            </a:r>
            <a:r>
              <a:rPr spc="-40" dirty="0"/>
              <a:t>Streams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0664"/>
            <a:ext cx="10817861" cy="428450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Closing </a:t>
            </a:r>
            <a:r>
              <a:rPr sz="2800" spc="-5" dirty="0">
                <a:latin typeface="Calibri"/>
                <a:cs typeface="Calibri"/>
              </a:rPr>
              <a:t>a single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stream: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65"/>
              </a:spcBef>
            </a:pP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fclose (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b="1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8500" lvl="1" indent="-229235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20" dirty="0">
                <a:latin typeface="Calibri"/>
                <a:cs typeface="Calibri"/>
              </a:rPr>
              <a:t>buffered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first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flushed</a:t>
            </a:r>
            <a:r>
              <a:rPr lang="en-US" sz="2400" spc="-5" dirty="0">
                <a:latin typeface="Calibri"/>
                <a:cs typeface="Calibri"/>
              </a:rPr>
              <a:t> (= saved) to disk (which is not guaranteed to happen when using the 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close()</a:t>
            </a:r>
            <a:r>
              <a:rPr lang="en-US" sz="2400" spc="-20" dirty="0">
                <a:latin typeface="Calibri"/>
                <a:cs typeface="Calibri"/>
              </a:rPr>
              <a:t> system call</a:t>
            </a:r>
            <a:r>
              <a:rPr lang="en-US" sz="2400" spc="-5" dirty="0">
                <a:latin typeface="Calibri"/>
                <a:cs typeface="Calibri"/>
              </a:rPr>
              <a:t>.)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success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(= a constant, usually -1)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5" dirty="0">
                <a:latin typeface="Calibri"/>
                <a:cs typeface="Calibri"/>
              </a:rPr>
              <a:t>failure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sets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Closing </a:t>
            </a: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streams</a:t>
            </a:r>
            <a:r>
              <a:rPr lang="en-US" sz="2800" spc="-15" dirty="0">
                <a:latin typeface="Calibri"/>
                <a:cs typeface="Calibri"/>
              </a:rPr>
              <a:t> at once:</a:t>
            </a:r>
          </a:p>
          <a:p>
            <a:pPr marL="469900" lvl="1">
              <a:spcBef>
                <a:spcPts val="635"/>
              </a:spcBef>
              <a:tabLst>
                <a:tab pos="241300" algn="l"/>
              </a:tabLst>
            </a:pPr>
            <a:r>
              <a:rPr lang="fr-FR" dirty="0">
                <a:solidFill>
                  <a:srgbClr val="0070C0"/>
                </a:solidFill>
                <a:latin typeface="Consolas" panose="020B0609020204030204" pitchFamily="49" charset="0"/>
              </a:rPr>
              <a:t>#define _</a:t>
            </a:r>
            <a:r>
              <a:rPr lang="fr-FR" dirty="0" err="1">
                <a:solidFill>
                  <a:srgbClr val="0070C0"/>
                </a:solidFill>
                <a:latin typeface="Consolas" panose="020B0609020204030204" pitchFamily="49" charset="0"/>
              </a:rPr>
              <a:t>GNU_SOURCE</a:t>
            </a:r>
            <a:r>
              <a:rPr lang="fr-FR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fr-FR" i="1" dirty="0">
                <a:latin typeface="Consolas" panose="020B0609020204030204" pitchFamily="49" charset="0"/>
              </a:rPr>
              <a:t>/* non-standard GNU/Linux-</a:t>
            </a:r>
            <a:r>
              <a:rPr lang="fr-FR" i="1" dirty="0" err="1">
                <a:latin typeface="Consolas" panose="020B0609020204030204" pitchFamily="49" charset="0"/>
              </a:rPr>
              <a:t>specific</a:t>
            </a:r>
            <a:r>
              <a:rPr lang="fr-FR" i="1" dirty="0">
                <a:latin typeface="Consolas" panose="020B0609020204030204" pitchFamily="49" charset="0"/>
              </a:rPr>
              <a:t> extension </a:t>
            </a:r>
            <a:r>
              <a:rPr lang="fr-FR" i="1" dirty="0" err="1">
                <a:latin typeface="Consolas" panose="020B0609020204030204" pitchFamily="49" charset="0"/>
              </a:rPr>
              <a:t>functions</a:t>
            </a:r>
            <a:r>
              <a:rPr lang="fr-FR" i="1" dirty="0">
                <a:latin typeface="Consolas" panose="020B0609020204030204" pitchFamily="49" charset="0"/>
              </a:rPr>
              <a:t>. */</a:t>
            </a:r>
          </a:p>
          <a:p>
            <a:pPr marL="469900" lvl="1">
              <a:spcBef>
                <a:spcPts val="635"/>
              </a:spcBef>
              <a:tabLst>
                <a:tab pos="241300" algn="l"/>
              </a:tabLst>
            </a:pPr>
            <a:r>
              <a:rPr lang="en-US" sz="1800" spc="-1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&lt;</a:t>
            </a:r>
            <a:r>
              <a:rPr lang="en-US" sz="1800" spc="-5" dirty="0" err="1">
                <a:solidFill>
                  <a:srgbClr val="0070C0"/>
                </a:solidFill>
                <a:latin typeface="Consolas"/>
                <a:cs typeface="Consolas"/>
              </a:rPr>
              <a:t>stdio.h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lang="fr-FR" i="1" dirty="0">
              <a:latin typeface="Consolas" panose="020B0609020204030204" pitchFamily="49" charset="0"/>
            </a:endParaRPr>
          </a:p>
          <a:p>
            <a:pPr marL="469900" lvl="1">
              <a:spcBef>
                <a:spcPts val="635"/>
              </a:spcBef>
              <a:tabLst>
                <a:tab pos="241300" algn="l"/>
              </a:tabLst>
            </a:pPr>
            <a:r>
              <a:rPr lang="en-US"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lang="en-US" sz="1800" spc="-5" dirty="0" err="1">
                <a:solidFill>
                  <a:srgbClr val="0070C0"/>
                </a:solidFill>
                <a:latin typeface="Consolas"/>
                <a:cs typeface="Consolas"/>
              </a:rPr>
              <a:t>fcloseall</a:t>
            </a:r>
            <a:r>
              <a:rPr lang="en-US" sz="1800" spc="-6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lang="en-US" sz="1800" b="1" spc="-5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endParaRPr lang="en-US" sz="1800" i="1" spc="-5" dirty="0">
              <a:latin typeface="Consolas"/>
              <a:cs typeface="Consolas"/>
            </a:endParaRPr>
          </a:p>
          <a:p>
            <a:pPr marL="698500" lvl="1" indent="-229235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All </a:t>
            </a:r>
            <a:r>
              <a:rPr sz="2400" spc="-10" dirty="0">
                <a:latin typeface="Calibri"/>
                <a:cs typeface="Calibri"/>
              </a:rPr>
              <a:t>streams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flushed </a:t>
            </a:r>
            <a:r>
              <a:rPr sz="2400" spc="-25" dirty="0">
                <a:latin typeface="Calibri"/>
                <a:cs typeface="Calibri"/>
              </a:rPr>
              <a:t>before </a:t>
            </a:r>
            <a:r>
              <a:rPr sz="2400" spc="-5" dirty="0">
                <a:latin typeface="Calibri"/>
                <a:cs typeface="Calibri"/>
              </a:rPr>
              <a:t>closing. </a:t>
            </a:r>
            <a:r>
              <a:rPr lang="en-US" sz="2400" spc="-10" dirty="0">
                <a:latin typeface="Calibri"/>
                <a:cs typeface="Calibri"/>
              </a:rPr>
              <a:t>Returns </a:t>
            </a:r>
            <a:r>
              <a:rPr lang="en-US" sz="2400" dirty="0">
                <a:latin typeface="Calibri"/>
                <a:cs typeface="Calibri"/>
              </a:rPr>
              <a:t>0 </a:t>
            </a:r>
            <a:r>
              <a:rPr lang="en-US" sz="2400" spc="-5" dirty="0">
                <a:latin typeface="Calibri"/>
                <a:cs typeface="Calibri"/>
              </a:rPr>
              <a:t>on success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on </a:t>
            </a:r>
            <a:r>
              <a:rPr lang="en-US" sz="2400" spc="-15" dirty="0">
                <a:latin typeface="Calibri"/>
                <a:cs typeface="Calibri"/>
              </a:rPr>
              <a:t>failure.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0641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Reading </a:t>
            </a:r>
            <a:r>
              <a:rPr spc="-40" dirty="0"/>
              <a:t>from </a:t>
            </a:r>
            <a:r>
              <a:rPr dirty="0"/>
              <a:t>a</a:t>
            </a:r>
            <a:r>
              <a:rPr spc="-240" dirty="0"/>
              <a:t> </a:t>
            </a:r>
            <a:r>
              <a:rPr spc="-35" dirty="0"/>
              <a:t>Stream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56565"/>
            <a:ext cx="10360662" cy="385554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Open</a:t>
            </a:r>
            <a:r>
              <a:rPr lang="en-US" sz="2800" spc="-5" dirty="0">
                <a:latin typeface="Calibri"/>
                <a:cs typeface="Calibri"/>
              </a:rPr>
              <a:t>ed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streams </a:t>
            </a:r>
            <a:r>
              <a:rPr sz="2800" spc="-20" dirty="0">
                <a:latin typeface="Calibri"/>
                <a:cs typeface="Calibri"/>
              </a:rPr>
              <a:t>(except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mode</a:t>
            </a:r>
            <a:r>
              <a:rPr lang="en-US" sz="2800" spc="-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</a:t>
            </a:r>
            <a:r>
              <a:rPr lang="en-US"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lang="en-US"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a</a:t>
            </a:r>
            <a:r>
              <a:rPr lang="en-US"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</a:t>
            </a:r>
            <a:r>
              <a:rPr sz="2800" spc="-5" dirty="0">
                <a:latin typeface="Calibri"/>
                <a:cs typeface="Calibri"/>
              </a:rPr>
              <a:t>)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read </a:t>
            </a:r>
            <a:r>
              <a:rPr sz="2800" spc="-5" dirty="0">
                <a:latin typeface="Calibri"/>
                <a:cs typeface="Calibri"/>
              </a:rPr>
              <a:t>in 3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ways: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Reading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30" dirty="0">
                <a:latin typeface="Calibri"/>
                <a:cs typeface="Calibri"/>
              </a:rPr>
              <a:t>character,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entire </a:t>
            </a:r>
            <a:r>
              <a:rPr sz="2400" dirty="0">
                <a:latin typeface="Calibri"/>
                <a:cs typeface="Calibri"/>
              </a:rPr>
              <a:t>line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a time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5" dirty="0">
                <a:latin typeface="Calibri"/>
                <a:cs typeface="Calibri"/>
              </a:rPr>
              <a:t>binary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Reading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character </a:t>
            </a:r>
            <a:r>
              <a:rPr sz="2800" spc="-10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fgetc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8500" lvl="1" indent="-229235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returned 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unsigned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char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cast </a:t>
            </a:r>
            <a:r>
              <a:rPr lang="en-US"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int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15" dirty="0">
                <a:cs typeface="Calibri"/>
              </a:rPr>
              <a:t>to be able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400" spc="-5" dirty="0">
                <a:latin typeface="Calibri"/>
                <a:cs typeface="Calibri"/>
              </a:rPr>
              <a:t> (-1)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c;</a:t>
            </a: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c = fgetc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(stream);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i="1" spc="-5" dirty="0">
                <a:latin typeface="Consolas"/>
                <a:cs typeface="Consolas"/>
              </a:rPr>
              <a:t>/* </a:t>
            </a:r>
            <a:r>
              <a:rPr lang="en-US" sz="2000" i="1" spc="-5" dirty="0">
                <a:solidFill>
                  <a:srgbClr val="0070C0"/>
                </a:solidFill>
                <a:latin typeface="Consolas"/>
              </a:rPr>
              <a:t>stream</a:t>
            </a:r>
            <a:r>
              <a:rPr lang="en-US" sz="2000" i="1" spc="-5" dirty="0">
                <a:latin typeface="Consolas"/>
                <a:cs typeface="Consolas"/>
              </a:rPr>
              <a:t> should’ve been opened for reading. */</a:t>
            </a:r>
            <a:endParaRPr sz="2000" i="1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(c == EOF) </a:t>
            </a:r>
            <a:r>
              <a:rPr sz="2000" i="1" spc="-5" dirty="0">
                <a:latin typeface="Consolas"/>
                <a:cs typeface="Consolas"/>
              </a:rPr>
              <a:t>/* </a:t>
            </a:r>
            <a:r>
              <a:rPr lang="en-US" sz="2000" i="1" spc="-5" dirty="0">
                <a:latin typeface="Consolas"/>
                <a:cs typeface="Consolas"/>
              </a:rPr>
              <a:t>check for </a:t>
            </a:r>
            <a:r>
              <a:rPr sz="2000" i="1" spc="-5" dirty="0">
                <a:latin typeface="Consolas"/>
                <a:cs typeface="Consolas"/>
              </a:rPr>
              <a:t>error</a:t>
            </a:r>
            <a:r>
              <a:rPr lang="en-US" sz="2000" i="1" spc="-5" dirty="0">
                <a:latin typeface="Consolas"/>
                <a:cs typeface="Consolas"/>
              </a:rPr>
              <a:t>s</a:t>
            </a:r>
            <a:r>
              <a:rPr sz="2000" i="1" spc="2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else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printf ("c=%c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\n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",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c);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i="1" spc="-5" dirty="0">
                <a:latin typeface="Consolas"/>
                <a:cs typeface="Consolas"/>
              </a:rPr>
              <a:t>/* </a:t>
            </a:r>
            <a:r>
              <a:rPr lang="en-US" sz="2000" i="1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lang="en-US" sz="2000" b="1" i="1" spc="-5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lang="en-US" sz="2000" i="1" spc="-5" dirty="0">
                <a:solidFill>
                  <a:srgbClr val="0070C0"/>
                </a:solidFill>
                <a:latin typeface="Consolas"/>
                <a:cs typeface="Consolas"/>
              </a:rPr>
              <a:t>)c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i="1" spc="-5" dirty="0">
                <a:latin typeface="Consolas"/>
                <a:cs typeface="Consolas"/>
              </a:rPr>
              <a:t>casts </a:t>
            </a:r>
            <a:r>
              <a:rPr lang="en-US" sz="2000" b="1" i="1" dirty="0">
                <a:solidFill>
                  <a:srgbClr val="0070C0"/>
                </a:solidFill>
                <a:latin typeface="Consolas"/>
              </a:rPr>
              <a:t>int</a:t>
            </a:r>
            <a:r>
              <a:rPr lang="en-US" sz="2000" i="1" spc="-5" dirty="0">
                <a:latin typeface="Consolas"/>
                <a:cs typeface="Consolas"/>
              </a:rPr>
              <a:t> to </a:t>
            </a:r>
            <a:r>
              <a:rPr lang="en-US" sz="2000" b="1" i="1" dirty="0">
                <a:solidFill>
                  <a:srgbClr val="0070C0"/>
                </a:solidFill>
                <a:latin typeface="Consolas"/>
              </a:rPr>
              <a:t>char</a:t>
            </a:r>
            <a:r>
              <a:rPr lang="en-US" sz="2000" i="1" spc="-5" dirty="0">
                <a:latin typeface="Consolas"/>
                <a:cs typeface="Consolas"/>
              </a:rPr>
              <a:t>.</a:t>
            </a:r>
            <a:r>
              <a:rPr lang="en-US" sz="2000" i="1" spc="20" dirty="0">
                <a:latin typeface="Consolas"/>
                <a:cs typeface="Consolas"/>
              </a:rPr>
              <a:t> </a:t>
            </a:r>
            <a:r>
              <a:rPr lang="en-US" sz="2000" i="1" dirty="0">
                <a:latin typeface="Consolas"/>
                <a:cs typeface="Consolas"/>
              </a:rPr>
              <a:t>*/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84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 </a:t>
            </a:r>
            <a:r>
              <a:rPr spc="-45" dirty="0"/>
              <a:t>Reading </a:t>
            </a:r>
            <a:r>
              <a:rPr spc="-40" dirty="0"/>
              <a:t>from </a:t>
            </a:r>
            <a:r>
              <a:rPr dirty="0"/>
              <a:t>a</a:t>
            </a:r>
            <a:r>
              <a:rPr spc="-345" dirty="0"/>
              <a:t> </a:t>
            </a:r>
            <a:r>
              <a:rPr spc="-35" dirty="0"/>
              <a:t>Stream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0664"/>
            <a:ext cx="10284461" cy="4405052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Putting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character </a:t>
            </a:r>
            <a:r>
              <a:rPr sz="2800" spc="-5" dirty="0">
                <a:latin typeface="Calibri"/>
                <a:cs typeface="Calibri"/>
              </a:rPr>
              <a:t>back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lang="en-US" sz="2800" spc="25" dirty="0">
                <a:latin typeface="Calibri"/>
                <a:cs typeface="Calibri"/>
              </a:rPr>
              <a:t>using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ungetc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sz="2800" spc="25" dirty="0">
                <a:latin typeface="Calibri"/>
                <a:cs typeface="Calibri"/>
              </a:rPr>
              <a:t>:</a:t>
            </a:r>
            <a:endParaRPr sz="2800" spc="25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65"/>
              </a:spcBef>
            </a:pP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ungetc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c,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8500" lvl="1" indent="-229235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success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failure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next read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10" dirty="0">
                <a:latin typeface="Calibri"/>
                <a:cs typeface="Calibri"/>
              </a:rPr>
              <a:t>stream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0" dirty="0">
                <a:latin typeface="Calibri"/>
                <a:cs typeface="Calibri"/>
              </a:rPr>
              <a:t>return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c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solidFill>
                <a:srgbClr val="0070C0"/>
              </a:solidFill>
              <a:latin typeface="Consolas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Multiple </a:t>
            </a:r>
            <a:r>
              <a:rPr sz="2400" spc="-10" dirty="0">
                <a:latin typeface="Calibri"/>
                <a:cs typeface="Calibri"/>
              </a:rPr>
              <a:t>pushbacks work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LIFO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(“Last in First Out”) </a:t>
            </a:r>
            <a:r>
              <a:rPr sz="2400" spc="-10" dirty="0">
                <a:latin typeface="Calibri"/>
                <a:cs typeface="Calibri"/>
              </a:rPr>
              <a:t>fashion</a:t>
            </a:r>
            <a:r>
              <a:rPr lang="en-US" sz="2400" spc="-10" dirty="0">
                <a:latin typeface="Calibri"/>
                <a:cs typeface="Calibri"/>
              </a:rPr>
              <a:t>: e.g., pushing ‘a’, ‘b’ and ‘c’ will result in reading ‘c’, ‘b’, and ‘a’.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3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400" spc="-10" dirty="0">
                <a:latin typeface="Calibri"/>
                <a:cs typeface="Calibri"/>
              </a:rPr>
              <a:t>after </a:t>
            </a:r>
            <a:r>
              <a:rPr sz="2400" spc="-5" dirty="0">
                <a:latin typeface="Calibri"/>
                <a:cs typeface="Calibri"/>
              </a:rPr>
              <a:t>calling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ungetc()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seeking function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called</a:t>
            </a:r>
            <a:r>
              <a:rPr lang="en-US" sz="2400" spc="-5" dirty="0">
                <a:latin typeface="Calibri"/>
                <a:cs typeface="Calibri"/>
              </a:rPr>
              <a:t> (more on seeking in the following slides</a:t>
            </a:r>
            <a:r>
              <a:rPr sz="2400" spc="-5" dirty="0">
                <a:latin typeface="Calibri"/>
                <a:cs typeface="Calibri"/>
              </a:rPr>
              <a:t>,</a:t>
            </a:r>
            <a:r>
              <a:rPr lang="en-US" sz="2400" spc="-5" dirty="0">
                <a:latin typeface="Calibri"/>
                <a:cs typeface="Calibri"/>
              </a:rPr>
              <a:t>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will </a:t>
            </a:r>
            <a:r>
              <a:rPr sz="2400" spc="-5" dirty="0">
                <a:latin typeface="Calibri"/>
                <a:cs typeface="Calibri"/>
              </a:rPr>
              <a:t>cause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pushed-back </a:t>
            </a:r>
            <a:r>
              <a:rPr sz="2400" spc="-10" dirty="0">
                <a:latin typeface="Calibri"/>
                <a:cs typeface="Calibri"/>
              </a:rPr>
              <a:t>characters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discarded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880110" indent="-228600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 function allows </a:t>
            </a:r>
            <a:r>
              <a:rPr sz="2800" spc="-20" dirty="0">
                <a:latin typeface="Calibri"/>
                <a:cs typeface="Calibri"/>
              </a:rPr>
              <a:t>you to </a:t>
            </a:r>
            <a:r>
              <a:rPr sz="2800" i="1" spc="-10" dirty="0">
                <a:latin typeface="Calibri"/>
                <a:cs typeface="Calibri"/>
              </a:rPr>
              <a:t>peek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stream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the  </a:t>
            </a:r>
            <a:r>
              <a:rPr sz="2800" spc="-10" dirty="0">
                <a:latin typeface="Calibri"/>
                <a:cs typeface="Calibri"/>
              </a:rPr>
              <a:t>character </a:t>
            </a:r>
            <a:r>
              <a:rPr sz="2800" spc="-5" dirty="0">
                <a:latin typeface="Calibri"/>
                <a:cs typeface="Calibri"/>
              </a:rPr>
              <a:t>if it turns </a:t>
            </a:r>
            <a:r>
              <a:rPr sz="2800" spc="-10" dirty="0">
                <a:latin typeface="Calibri"/>
                <a:cs typeface="Calibri"/>
              </a:rPr>
              <a:t>out that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don’t </a:t>
            </a:r>
            <a:r>
              <a:rPr sz="2800" spc="-15" dirty="0">
                <a:latin typeface="Calibri"/>
                <a:cs typeface="Calibri"/>
              </a:rPr>
              <a:t>want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to use it.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187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Reading </a:t>
            </a:r>
            <a:r>
              <a:rPr spc="-15" dirty="0"/>
              <a:t>an </a:t>
            </a:r>
            <a:r>
              <a:rPr spc="-45" dirty="0"/>
              <a:t>Entire</a:t>
            </a:r>
            <a:r>
              <a:rPr spc="-235" dirty="0"/>
              <a:t> </a:t>
            </a:r>
            <a:r>
              <a:rPr spc="-20" dirty="0"/>
              <a:t>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80921"/>
            <a:ext cx="10817862" cy="446404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390"/>
              </a:spcBef>
            </a:pP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fgets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*str, </a:t>
            </a: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size,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-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reads </a:t>
            </a:r>
            <a:r>
              <a:rPr sz="2800" spc="-5" dirty="0">
                <a:latin typeface="Calibri"/>
                <a:cs typeface="Calibri"/>
              </a:rPr>
              <a:t>up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one less </a:t>
            </a:r>
            <a:r>
              <a:rPr sz="2800" spc="-5" dirty="0">
                <a:latin typeface="Calibri"/>
                <a:cs typeface="Calibri"/>
              </a:rPr>
              <a:t>than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size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stream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25" dirty="0">
                <a:latin typeface="Calibri"/>
                <a:cs typeface="Calibri"/>
              </a:rPr>
              <a:t>stor</a:t>
            </a:r>
            <a:r>
              <a:rPr lang="en-US" sz="2800" spc="-25" dirty="0">
                <a:latin typeface="Calibri"/>
                <a:cs typeface="Calibri"/>
              </a:rPr>
              <a:t>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them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lang="en-US" sz="2800" spc="24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str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null </a:t>
            </a:r>
            <a:r>
              <a:rPr sz="2800" dirty="0">
                <a:latin typeface="Calibri"/>
                <a:cs typeface="Calibri"/>
              </a:rPr>
              <a:t>char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\0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2800" spc="-5" dirty="0">
                <a:latin typeface="Calibri"/>
                <a:cs typeface="Calibri"/>
              </a:rPr>
              <a:t>) will </a:t>
            </a:r>
            <a:r>
              <a:rPr sz="2800" spc="-1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added in the </a:t>
            </a:r>
            <a:r>
              <a:rPr sz="2800" spc="-25" dirty="0">
                <a:latin typeface="Calibri"/>
                <a:cs typeface="Calibri"/>
              </a:rPr>
              <a:t>buffer </a:t>
            </a:r>
            <a:r>
              <a:rPr sz="2800" spc="-5" dirty="0">
                <a:latin typeface="Calibri"/>
                <a:cs typeface="Calibri"/>
              </a:rPr>
              <a:t>(thus the </a:t>
            </a:r>
            <a:r>
              <a:rPr lang="en-US" sz="2800" spc="-5" dirty="0">
                <a:latin typeface="Calibri"/>
                <a:cs typeface="Calibri"/>
              </a:rPr>
              <a:t>"</a:t>
            </a:r>
            <a:r>
              <a:rPr sz="2800" spc="-5" dirty="0">
                <a:latin typeface="Calibri"/>
                <a:cs typeface="Calibri"/>
              </a:rPr>
              <a:t>one less</a:t>
            </a:r>
            <a:r>
              <a:rPr lang="en-US" sz="2800" spc="-5" dirty="0">
                <a:latin typeface="Calibri"/>
                <a:cs typeface="Calibri"/>
              </a:rPr>
              <a:t>"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above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Reading </a:t>
            </a:r>
            <a:r>
              <a:rPr sz="2800" spc="-20" dirty="0">
                <a:latin typeface="Calibri"/>
                <a:cs typeface="Calibri"/>
              </a:rPr>
              <a:t>stops </a:t>
            </a:r>
            <a:r>
              <a:rPr sz="2800" b="1" spc="-15" dirty="0">
                <a:latin typeface="Calibri"/>
                <a:cs typeface="Calibri"/>
              </a:rPr>
              <a:t>after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lang="en-US"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800" spc="-10" dirty="0">
                <a:latin typeface="Calibri"/>
                <a:cs typeface="Calibri"/>
              </a:rPr>
              <a:t> is read </a:t>
            </a:r>
            <a:r>
              <a:rPr sz="2800" spc="5" dirty="0">
                <a:latin typeface="Calibri"/>
                <a:cs typeface="Calibri"/>
              </a:rPr>
              <a:t>(</a:t>
            </a:r>
            <a:r>
              <a:rPr lang="en-US"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will </a:t>
            </a:r>
            <a:r>
              <a:rPr sz="2800" b="1" spc="-5" dirty="0">
                <a:latin typeface="Calibri"/>
                <a:cs typeface="Calibri"/>
              </a:rPr>
              <a:t>be part of</a:t>
            </a:r>
            <a:r>
              <a:rPr sz="2800" b="1" spc="23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70C0"/>
                </a:solidFill>
                <a:latin typeface="Consolas"/>
              </a:rPr>
              <a:t>str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Return</a:t>
            </a:r>
            <a:r>
              <a:rPr lang="en-US" sz="2800" spc="-15" dirty="0">
                <a:latin typeface="Calibri"/>
                <a:cs typeface="Calibri"/>
              </a:rPr>
              <a:t>s a pointer 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str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success,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800" spc="-5" dirty="0">
                <a:latin typeface="Calibri"/>
                <a:cs typeface="Calibri"/>
              </a:rPr>
              <a:t> on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failure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60"/>
              </a:spcBef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buf[</a:t>
            </a:r>
            <a:r>
              <a:rPr sz="1800" spc="-5" dirty="0" err="1">
                <a:solidFill>
                  <a:srgbClr val="0070C0"/>
                </a:solidFill>
                <a:latin typeface="Consolas"/>
                <a:cs typeface="Consolas"/>
              </a:rPr>
              <a:t>LINE_MAX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];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i="1" spc="-5" dirty="0">
                <a:latin typeface="Consolas"/>
                <a:cs typeface="Consolas"/>
              </a:rPr>
              <a:t>/* buffer on the stack */</a:t>
            </a:r>
            <a:endParaRPr sz="1800" i="1" dirty="0">
              <a:latin typeface="Consolas"/>
              <a:cs typeface="Consolas"/>
            </a:endParaRPr>
          </a:p>
          <a:p>
            <a:pPr marL="469900">
              <a:spcBef>
                <a:spcPts val="295"/>
              </a:spcBef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(!fgets (buf, LINE_MAX,</a:t>
            </a:r>
            <a:r>
              <a:rPr sz="18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stream))</a:t>
            </a:r>
            <a:r>
              <a:rPr lang="en-US" i="1" spc="-5" dirty="0">
                <a:latin typeface="Consolas"/>
                <a:cs typeface="Consolas"/>
              </a:rPr>
              <a:t> /* call </a:t>
            </a:r>
            <a:r>
              <a:rPr lang="en-US" i="1" spc="-5" dirty="0" err="1">
                <a:solidFill>
                  <a:srgbClr val="0070C0"/>
                </a:solidFill>
                <a:latin typeface="Consolas"/>
              </a:rPr>
              <a:t>fgets</a:t>
            </a:r>
            <a:r>
              <a:rPr lang="en-US" i="1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i="1" spc="-5" dirty="0">
                <a:latin typeface="Consolas"/>
                <a:cs typeface="Consolas"/>
              </a:rPr>
              <a:t> and check for errors</a:t>
            </a:r>
            <a:r>
              <a:rPr lang="en-US" i="1" spc="-20" dirty="0">
                <a:latin typeface="Consolas"/>
                <a:cs typeface="Consolas"/>
              </a:rPr>
              <a:t> </a:t>
            </a:r>
            <a:r>
              <a:rPr lang="en-US" i="1" spc="-5" dirty="0">
                <a:latin typeface="Consolas"/>
                <a:cs typeface="Consolas"/>
              </a:rPr>
              <a:t>*/</a:t>
            </a:r>
            <a:endParaRPr lang="en-US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49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LINE_MAX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defined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POSIX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&lt;limits.h&gt;</a:t>
            </a:r>
            <a:r>
              <a:rPr sz="2400" dirty="0">
                <a:latin typeface="Calibri"/>
                <a:cs typeface="Calibri"/>
              </a:rPr>
              <a:t>), </a:t>
            </a:r>
            <a:r>
              <a:rPr sz="2400" spc="-5" dirty="0">
                <a:latin typeface="Calibri"/>
                <a:cs typeface="Calibri"/>
              </a:rPr>
              <a:t>but Linux has no such </a:t>
            </a:r>
            <a:r>
              <a:rPr sz="2400" dirty="0">
                <a:latin typeface="Calibri"/>
                <a:cs typeface="Calibri"/>
              </a:rPr>
              <a:t>limit, </a:t>
            </a:r>
            <a:r>
              <a:rPr sz="2400" spc="-5" dirty="0">
                <a:latin typeface="Calibri"/>
                <a:cs typeface="Calibri"/>
              </a:rPr>
              <a:t>so </a:t>
            </a:r>
            <a:r>
              <a:rPr sz="2400" spc="-20" dirty="0">
                <a:latin typeface="Calibri"/>
                <a:cs typeface="Calibri"/>
              </a:rPr>
              <a:t>it’s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portability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only</a:t>
            </a:r>
            <a:r>
              <a:rPr lang="en-US" sz="2400" spc="-5" dirty="0">
                <a:latin typeface="Calibri"/>
                <a:cs typeface="Calibri"/>
              </a:rPr>
              <a:t>. You need to 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#include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lang="en-US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limits.h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&gt;</a:t>
            </a:r>
            <a:r>
              <a:rPr lang="en-US" sz="2400" spc="-5" dirty="0">
                <a:latin typeface="Calibri"/>
                <a:cs typeface="Calibri"/>
              </a:rPr>
              <a:t> to use 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LINE_MAX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349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Replacement </a:t>
            </a:r>
            <a:r>
              <a:rPr spc="-55" dirty="0"/>
              <a:t>for</a:t>
            </a:r>
            <a:r>
              <a:rPr spc="-170" dirty="0"/>
              <a:t> </a:t>
            </a:r>
            <a:r>
              <a:rPr spc="-50" dirty="0"/>
              <a:t>fgets()?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8" y="1759661"/>
            <a:ext cx="10360662" cy="168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pc="-5" dirty="0"/>
              <a:t>Accepting </a:t>
            </a:r>
            <a:r>
              <a:rPr spc="-10" dirty="0"/>
              <a:t>delimiter </a:t>
            </a:r>
            <a:r>
              <a:rPr spc="-5" dirty="0"/>
              <a:t>other than </a:t>
            </a:r>
            <a:r>
              <a:rPr lang="en-US"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spc="-70" dirty="0"/>
              <a:t>, </a:t>
            </a:r>
            <a:r>
              <a:rPr spc="-5" dirty="0"/>
              <a:t>and </a:t>
            </a:r>
            <a:r>
              <a:rPr spc="-15" dirty="0"/>
              <a:t>leaving </a:t>
            </a:r>
            <a:r>
              <a:rPr spc="-5" dirty="0"/>
              <a:t>it out of </a:t>
            </a:r>
            <a:r>
              <a:rPr spc="-25" dirty="0"/>
              <a:t>buffer</a:t>
            </a:r>
            <a:r>
              <a:rPr spc="-15" dirty="0"/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str</a:t>
            </a:r>
            <a:r>
              <a:rPr lang="en-US" spc="-25" dirty="0"/>
              <a:t>:</a:t>
            </a:r>
            <a:endParaRPr spc="-25" dirty="0"/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c =</a:t>
            </a:r>
            <a:r>
              <a:rPr sz="20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0;</a:t>
            </a:r>
          </a:p>
          <a:p>
            <a:pPr marL="469900">
              <a:lnSpc>
                <a:spcPct val="100000"/>
              </a:lnSpc>
              <a:spcBef>
                <a:spcPts val="20"/>
              </a:spcBef>
              <a:tabLst>
                <a:tab pos="2755900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</a:t>
            </a:r>
            <a:r>
              <a:rPr sz="20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str;	</a:t>
            </a:r>
            <a:r>
              <a:rPr sz="2000" i="1" dirty="0">
                <a:latin typeface="Consolas"/>
                <a:cs typeface="Consolas"/>
              </a:rPr>
              <a:t>// </a:t>
            </a:r>
            <a:r>
              <a:rPr sz="2000" i="1" spc="-5" dirty="0">
                <a:solidFill>
                  <a:srgbClr val="0070C0"/>
                </a:solidFill>
                <a:latin typeface="Consolas"/>
              </a:rPr>
              <a:t>str</a:t>
            </a:r>
            <a:r>
              <a:rPr sz="2000" i="1" spc="-5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is </a:t>
            </a:r>
            <a:r>
              <a:rPr sz="2000" i="1" spc="-5" dirty="0">
                <a:latin typeface="Consolas"/>
                <a:cs typeface="Consolas"/>
              </a:rPr>
              <a:t>the </a:t>
            </a:r>
            <a:r>
              <a:rPr sz="2000" i="1" dirty="0">
                <a:latin typeface="Consolas"/>
                <a:cs typeface="Consolas"/>
              </a:rPr>
              <a:t>buffer, and </a:t>
            </a:r>
            <a:r>
              <a:rPr sz="2000" i="1" spc="-5" dirty="0">
                <a:solidFill>
                  <a:srgbClr val="0070C0"/>
                </a:solidFill>
                <a:latin typeface="Consolas"/>
              </a:rPr>
              <a:t>n</a:t>
            </a:r>
            <a:r>
              <a:rPr sz="2000" i="1" dirty="0">
                <a:latin typeface="Consolas"/>
                <a:cs typeface="Consolas"/>
              </a:rPr>
              <a:t> </a:t>
            </a:r>
            <a:r>
              <a:rPr sz="2000" i="1" spc="-10" dirty="0">
                <a:latin typeface="Consolas"/>
                <a:cs typeface="Consolas"/>
              </a:rPr>
              <a:t>is </a:t>
            </a:r>
            <a:r>
              <a:rPr sz="2000" i="1" spc="-5" dirty="0">
                <a:latin typeface="Consolas"/>
                <a:cs typeface="Consolas"/>
              </a:rPr>
              <a:t>the</a:t>
            </a:r>
            <a:r>
              <a:rPr sz="2000" i="1" spc="-20" dirty="0">
                <a:latin typeface="Consolas"/>
                <a:cs typeface="Consolas"/>
              </a:rPr>
              <a:t> </a:t>
            </a:r>
            <a:r>
              <a:rPr lang="en-US" sz="2000" i="1" spc="-20" dirty="0">
                <a:latin typeface="Consolas"/>
                <a:cs typeface="Consolas"/>
              </a:rPr>
              <a:t>buffer’s </a:t>
            </a:r>
            <a:r>
              <a:rPr sz="2000" i="1" dirty="0">
                <a:latin typeface="Consolas"/>
                <a:cs typeface="Consolas"/>
              </a:rPr>
              <a:t>size</a:t>
            </a:r>
            <a:r>
              <a:rPr lang="en-US" sz="2000" i="1" dirty="0">
                <a:latin typeface="Consolas"/>
                <a:cs typeface="Consolas"/>
              </a:rPr>
              <a:t>.</a:t>
            </a:r>
            <a:endParaRPr sz="2000" i="1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while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(--n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&gt; 0 &amp;&amp; (c = fgetc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(stream)) != EOF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&amp;&amp; (*s++ = c) != d)</a:t>
            </a:r>
            <a:r>
              <a:rPr sz="2000" spc="-6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0394" y="3421760"/>
            <a:ext cx="7157212" cy="6418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Consolas"/>
                <a:cs typeface="Consolas"/>
              </a:rPr>
              <a:t>// </a:t>
            </a:r>
            <a:r>
              <a:rPr lang="en-US" sz="2000" i="1" spc="-5" dirty="0">
                <a:latin typeface="Consolas"/>
                <a:cs typeface="Consolas"/>
              </a:rPr>
              <a:t>checking if it’s</a:t>
            </a:r>
            <a:r>
              <a:rPr sz="2000" i="1" spc="-5" dirty="0">
                <a:latin typeface="Consolas"/>
                <a:cs typeface="Consolas"/>
              </a:rPr>
              <a:t> the delimiter </a:t>
            </a:r>
            <a:r>
              <a:rPr lang="en-US" sz="2000" i="1" spc="-5" dirty="0">
                <a:solidFill>
                  <a:srgbClr val="0070C0"/>
                </a:solidFill>
                <a:latin typeface="Consolas"/>
              </a:rPr>
              <a:t>d</a:t>
            </a:r>
            <a:r>
              <a:rPr lang="en-US" sz="2000" i="1" spc="-5" dirty="0">
                <a:latin typeface="Consolas"/>
              </a:rPr>
              <a:t>.</a:t>
            </a:r>
            <a:endParaRPr lang="en-US" sz="2000" i="1" spc="-5" dirty="0">
              <a:solidFill>
                <a:srgbClr val="0070C0"/>
              </a:solidFill>
              <a:latin typeface="Consola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Consolas"/>
                <a:cs typeface="Consolas"/>
              </a:rPr>
              <a:t>// </a:t>
            </a:r>
            <a:r>
              <a:rPr lang="en-US" sz="2000" i="1" dirty="0">
                <a:latin typeface="Consolas"/>
                <a:cs typeface="Consolas"/>
              </a:rPr>
              <a:t>if so, </a:t>
            </a:r>
            <a:r>
              <a:rPr sz="2000" i="1" spc="-5" dirty="0">
                <a:latin typeface="Consolas"/>
                <a:cs typeface="Consolas"/>
              </a:rPr>
              <a:t>replacing </a:t>
            </a:r>
            <a:r>
              <a:rPr sz="2000" i="1" spc="-5" dirty="0">
                <a:solidFill>
                  <a:srgbClr val="0070C0"/>
                </a:solidFill>
                <a:latin typeface="Consolas"/>
              </a:rPr>
              <a:t>d</a:t>
            </a:r>
            <a:r>
              <a:rPr sz="2000" i="1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with</a:t>
            </a:r>
            <a:r>
              <a:rPr sz="2000" i="1" dirty="0">
                <a:latin typeface="Consolas"/>
                <a:cs typeface="Consolas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i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\0</a:t>
            </a:r>
            <a:r>
              <a:rPr lang="en-US" i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i="1" spc="-5" dirty="0">
                <a:latin typeface="Consolas"/>
              </a:rPr>
              <a:t>.</a:t>
            </a:r>
            <a:endParaRPr sz="2000" i="1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394" y="3421760"/>
            <a:ext cx="2157730" cy="1253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(c ==</a:t>
            </a:r>
            <a:r>
              <a:rPr sz="20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d)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*--s =</a:t>
            </a:r>
            <a:r>
              <a:rPr sz="2000" spc="-9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'\0';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else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 =</a:t>
            </a:r>
            <a:r>
              <a:rPr sz="2000" spc="-5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'\0';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60394" y="4343476"/>
            <a:ext cx="807440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Consolas"/>
                <a:cs typeface="Consolas"/>
              </a:rPr>
              <a:t>// </a:t>
            </a:r>
            <a:r>
              <a:rPr lang="en-US" sz="2000" i="1" spc="-5" dirty="0">
                <a:latin typeface="Consolas"/>
                <a:cs typeface="Consolas"/>
              </a:rPr>
              <a:t>all</a:t>
            </a:r>
            <a:r>
              <a:rPr sz="2000" i="1" spc="-5" dirty="0">
                <a:latin typeface="Consolas"/>
                <a:cs typeface="Consolas"/>
              </a:rPr>
              <a:t> </a:t>
            </a:r>
            <a:r>
              <a:rPr sz="2000" b="1" i="1" dirty="0">
                <a:latin typeface="Consolas"/>
                <a:cs typeface="Consolas"/>
              </a:rPr>
              <a:t>n-1 </a:t>
            </a:r>
            <a:r>
              <a:rPr sz="2000" i="1" spc="-5" dirty="0">
                <a:latin typeface="Consolas"/>
                <a:cs typeface="Consolas"/>
              </a:rPr>
              <a:t>char</a:t>
            </a:r>
            <a:r>
              <a:rPr lang="en-US" sz="2000" i="1" spc="-5" dirty="0">
                <a:latin typeface="Consolas"/>
                <a:cs typeface="Consolas"/>
              </a:rPr>
              <a:t>s</a:t>
            </a:r>
            <a:r>
              <a:rPr sz="2000" i="1" spc="-5" dirty="0">
                <a:latin typeface="Consolas"/>
                <a:cs typeface="Consolas"/>
              </a:rPr>
              <a:t> or </a:t>
            </a:r>
            <a:r>
              <a:rPr i="1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000" i="1" spc="-5" dirty="0">
                <a:latin typeface="Consolas"/>
              </a:rPr>
              <a:t> were read</a:t>
            </a:r>
            <a:r>
              <a:rPr lang="en-US" sz="2000" i="1" spc="-5" dirty="0">
                <a:latin typeface="Consolas"/>
                <a:cs typeface="Consolas"/>
              </a:rPr>
              <a:t>;</a:t>
            </a:r>
            <a:r>
              <a:rPr sz="2000" i="1" spc="-5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add </a:t>
            </a:r>
            <a:r>
              <a:rPr i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000" i="1" dirty="0">
                <a:latin typeface="Consolas"/>
                <a:cs typeface="Consolas"/>
              </a:rPr>
              <a:t> </a:t>
            </a:r>
            <a:r>
              <a:rPr lang="en-US" sz="2000" i="1" dirty="0">
                <a:latin typeface="Consolas"/>
                <a:cs typeface="Consolas"/>
              </a:rPr>
              <a:t>to end of</a:t>
            </a:r>
            <a:r>
              <a:rPr sz="2000" i="1" spc="-10" dirty="0">
                <a:latin typeface="Consolas"/>
                <a:cs typeface="Consolas"/>
              </a:rPr>
              <a:t> </a:t>
            </a:r>
            <a:r>
              <a:rPr sz="2000" i="1" spc="-5" dirty="0">
                <a:solidFill>
                  <a:srgbClr val="0070C0"/>
                </a:solidFill>
                <a:latin typeface="Consolas"/>
                <a:cs typeface="Calibri"/>
              </a:rPr>
              <a:t>str</a:t>
            </a:r>
            <a:r>
              <a:rPr lang="en-US" sz="2000" i="1" spc="-5" dirty="0">
                <a:latin typeface="Consolas"/>
              </a:rPr>
              <a:t>.</a:t>
            </a:r>
            <a:endParaRPr sz="2000" i="1" spc="-5" dirty="0">
              <a:latin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4646828"/>
            <a:ext cx="11046461" cy="131164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Replacing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d</a:t>
            </a:r>
            <a:r>
              <a:rPr sz="2800" spc="-5" dirty="0">
                <a:latin typeface="Calibri"/>
                <a:cs typeface="Calibri"/>
              </a:rPr>
              <a:t> with </a:t>
            </a:r>
            <a:r>
              <a:rPr lang="en-US"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sz="2800" spc="-15" dirty="0">
                <a:latin typeface="Calibri"/>
                <a:cs typeface="Calibri"/>
              </a:rPr>
              <a:t> behav</a:t>
            </a:r>
            <a:r>
              <a:rPr lang="en-US" sz="2800" spc="-15" dirty="0">
                <a:latin typeface="Calibri"/>
                <a:cs typeface="Calibri"/>
              </a:rPr>
              <a:t>es the same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fgets()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minus </a:t>
            </a:r>
            <a:r>
              <a:rPr sz="2800" spc="-20" dirty="0">
                <a:latin typeface="Calibri"/>
                <a:cs typeface="Calibri"/>
              </a:rPr>
              <a:t>storing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 </a:t>
            </a:r>
            <a:r>
              <a:rPr sz="2800" spc="-15" dirty="0">
                <a:latin typeface="Calibri"/>
                <a:cs typeface="Calibri"/>
              </a:rPr>
              <a:t>version incurs repeated </a:t>
            </a:r>
            <a:r>
              <a:rPr sz="2800" spc="-5" dirty="0">
                <a:latin typeface="Calibri"/>
                <a:cs typeface="Calibri"/>
              </a:rPr>
              <a:t>function </a:t>
            </a:r>
            <a:r>
              <a:rPr sz="2800" spc="-10" dirty="0">
                <a:latin typeface="Calibri"/>
                <a:cs typeface="Calibri"/>
              </a:rPr>
              <a:t>calls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fgetc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(</a:t>
            </a:r>
            <a:r>
              <a:rPr lang="en-US" sz="2400" spc="-5" dirty="0">
                <a:solidFill>
                  <a:srgbClr val="0070C0"/>
                </a:solidFill>
                <a:latin typeface="Consolas"/>
              </a:rPr>
              <a:t>)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but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doesn’t </a:t>
            </a:r>
            <a:r>
              <a:rPr sz="2800" spc="-5" dirty="0">
                <a:latin typeface="Calibri"/>
                <a:cs typeface="Calibri"/>
              </a:rPr>
              <a:t>incur the </a:t>
            </a:r>
            <a:r>
              <a:rPr sz="2800" spc="-10" dirty="0">
                <a:latin typeface="Calibri"/>
                <a:cs typeface="Calibri"/>
              </a:rPr>
              <a:t>unaligned </a:t>
            </a:r>
            <a:r>
              <a:rPr sz="2800" spc="-5" dirty="0">
                <a:latin typeface="Calibri"/>
                <a:cs typeface="Calibri"/>
              </a:rPr>
              <a:t>I/O penalty </a:t>
            </a:r>
            <a:r>
              <a:rPr sz="2800" spc="-25" dirty="0">
                <a:latin typeface="Calibri"/>
                <a:cs typeface="Calibri"/>
              </a:rPr>
              <a:t>(like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dd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bs=1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example</a:t>
            </a:r>
            <a:r>
              <a:rPr lang="en-US" sz="2800" spc="-20" dirty="0">
                <a:latin typeface="Calibri"/>
                <a:cs typeface="Calibri"/>
              </a:rPr>
              <a:t>;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why?)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450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Reading </a:t>
            </a:r>
            <a:r>
              <a:rPr spc="-20" dirty="0"/>
              <a:t>Binary</a:t>
            </a:r>
            <a:r>
              <a:rPr spc="-204" dirty="0"/>
              <a:t> </a:t>
            </a:r>
            <a:r>
              <a:rPr spc="-5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7398"/>
            <a:ext cx="11275061" cy="44480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fread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*buf,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size,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nr,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reads </a:t>
            </a:r>
            <a:r>
              <a:rPr sz="2800" spc="-5" dirty="0">
                <a:latin typeface="Calibri"/>
                <a:cs typeface="Calibri"/>
              </a:rPr>
              <a:t>up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nr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elements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data, </a:t>
            </a:r>
            <a:r>
              <a:rPr sz="2800" spc="-5" dirty="0">
                <a:latin typeface="Calibri"/>
                <a:cs typeface="Calibri"/>
              </a:rPr>
              <a:t>each of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size</a:t>
            </a:r>
            <a:r>
              <a:rPr sz="2800" i="1" spc="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</a:t>
            </a:r>
            <a:r>
              <a:rPr lang="en-US" sz="2800" spc="-10" dirty="0">
                <a:latin typeface="Calibri"/>
                <a:cs typeface="Calibri"/>
              </a:rPr>
              <a:t>, from </a:t>
            </a:r>
            <a:r>
              <a:rPr lang="en-US" sz="2400" spc="-5" dirty="0">
                <a:solidFill>
                  <a:srgbClr val="0070C0"/>
                </a:solidFill>
                <a:latin typeface="Consolas"/>
              </a:rPr>
              <a:t>stream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lang="en-US" sz="2800" spc="-15" dirty="0">
                <a:latin typeface="Calibri"/>
                <a:cs typeface="Calibri"/>
              </a:rPr>
              <a:t>position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advanced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lang="en-US" sz="2800" spc="-5" dirty="0">
                <a:latin typeface="Calibri"/>
                <a:cs typeface="Calibri"/>
              </a:rPr>
              <a:t>number</a:t>
            </a:r>
            <a:r>
              <a:rPr sz="2800" spc="-5" dirty="0">
                <a:latin typeface="Calibri"/>
                <a:cs typeface="Calibri"/>
              </a:rPr>
              <a:t> of </a:t>
            </a:r>
            <a:r>
              <a:rPr sz="2800" spc="-10" dirty="0">
                <a:latin typeface="Calibri"/>
                <a:cs typeface="Calibri"/>
              </a:rPr>
              <a:t>bytes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that are </a:t>
            </a:r>
            <a:r>
              <a:rPr sz="2800" spc="-15" dirty="0">
                <a:latin typeface="Calibri"/>
                <a:cs typeface="Calibri"/>
              </a:rPr>
              <a:t>read</a:t>
            </a:r>
            <a:r>
              <a:rPr lang="en-US" sz="2800" spc="-15" dirty="0">
                <a:latin typeface="Calibri"/>
                <a:cs typeface="Calibri"/>
              </a:rPr>
              <a:t>-in.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</a:t>
            </a:r>
            <a:r>
              <a:rPr lang="en-US" sz="2800" spc="-5" dirty="0">
                <a:latin typeface="Calibri"/>
                <a:cs typeface="Calibri"/>
              </a:rPr>
              <a:t>, 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lang="en-US" sz="2800" spc="-5" dirty="0">
                <a:latin typeface="Calibri"/>
                <a:cs typeface="Calibri"/>
              </a:rPr>
              <a:t>the number</a:t>
            </a:r>
            <a:r>
              <a:rPr sz="2800" spc="-5" dirty="0">
                <a:latin typeface="Calibri"/>
                <a:cs typeface="Calibri"/>
              </a:rPr>
              <a:t> of elements </a:t>
            </a:r>
            <a:r>
              <a:rPr sz="2800" spc="-15" dirty="0">
                <a:latin typeface="Calibri"/>
                <a:cs typeface="Calibri"/>
              </a:rPr>
              <a:t>read </a:t>
            </a:r>
            <a:r>
              <a:rPr sz="2800" spc="-5" dirty="0">
                <a:latin typeface="Calibri"/>
                <a:cs typeface="Calibri"/>
              </a:rPr>
              <a:t>(not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bytes</a:t>
            </a:r>
            <a:r>
              <a:rPr lang="en-US" sz="2800" spc="-10" dirty="0"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 </a:t>
            </a:r>
            <a:r>
              <a:rPr lang="en-US" sz="2800" spc="-5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n </a:t>
            </a:r>
            <a:r>
              <a:rPr sz="2800" spc="-20" dirty="0">
                <a:latin typeface="Calibri"/>
                <a:cs typeface="Calibri"/>
              </a:rPr>
              <a:t>failure </a:t>
            </a:r>
            <a:r>
              <a:rPr lang="en-US" sz="2800" dirty="0">
                <a:latin typeface="Calibri"/>
                <a:cs typeface="Calibri"/>
              </a:rPr>
              <a:t>or at the end-of-file, 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value </a:t>
            </a:r>
            <a:r>
              <a:rPr lang="en-US" sz="2800" spc="-5" dirty="0">
                <a:latin typeface="Calibri"/>
                <a:cs typeface="Calibri"/>
              </a:rPr>
              <a:t>less than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nr</a:t>
            </a:r>
            <a:r>
              <a:rPr lang="en-US" sz="2800" spc="-5" dirty="0">
                <a:latin typeface="Calibri"/>
                <a:cs typeface="Calibri"/>
              </a:rPr>
              <a:t>. You can’t tell, therefore, if it’s an error or end-of-file without calling additional functions.</a:t>
            </a:r>
            <a:endParaRPr sz="2800" spc="-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You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lang="en-US" sz="2800" dirty="0">
                <a:latin typeface="Calibri"/>
                <a:cs typeface="Calibri"/>
              </a:rPr>
              <a:t>call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ferror()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feof()</a:t>
            </a:r>
            <a:r>
              <a:rPr sz="2800" spc="-20" dirty="0">
                <a:latin typeface="Calibri"/>
                <a:cs typeface="Calibri"/>
              </a:rPr>
              <a:t> to </a:t>
            </a:r>
            <a:r>
              <a:rPr sz="2800" spc="-10" dirty="0">
                <a:latin typeface="Calibri"/>
                <a:cs typeface="Calibri"/>
              </a:rPr>
              <a:t>tell </a:t>
            </a:r>
            <a:r>
              <a:rPr sz="2800" spc="-20" dirty="0">
                <a:latin typeface="Calibri"/>
                <a:cs typeface="Calibri"/>
              </a:rPr>
              <a:t>failure </a:t>
            </a:r>
            <a:r>
              <a:rPr sz="2800" spc="-5" dirty="0">
                <a:latin typeface="Calibri"/>
                <a:cs typeface="Calibri"/>
              </a:rPr>
              <a:t>apart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800" spc="-8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buf[64];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nr;</a:t>
            </a: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nr = fread (buf,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sizeof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(buf),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1,</a:t>
            </a:r>
            <a:r>
              <a:rPr sz="20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stream);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i="1" dirty="0">
                <a:latin typeface="Consolas"/>
                <a:cs typeface="Consolas"/>
              </a:rPr>
              <a:t>/* 1 element of a group of bytes</a:t>
            </a:r>
            <a:r>
              <a:rPr lang="en-US" sz="2000" i="1" spc="-20" dirty="0">
                <a:latin typeface="Consolas"/>
                <a:cs typeface="Consolas"/>
              </a:rPr>
              <a:t> </a:t>
            </a:r>
            <a:r>
              <a:rPr lang="en-US" sz="2000" i="1" dirty="0">
                <a:latin typeface="Consolas"/>
                <a:cs typeface="Consolas"/>
              </a:rPr>
              <a:t>*/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(nr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== 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0) </a:t>
            </a:r>
            <a:r>
              <a:rPr sz="2000" i="1" dirty="0">
                <a:latin typeface="Consolas"/>
                <a:cs typeface="Consolas"/>
              </a:rPr>
              <a:t>/* </a:t>
            </a:r>
            <a:r>
              <a:rPr lang="en-US" sz="2000" i="1" dirty="0">
                <a:latin typeface="Consolas"/>
                <a:cs typeface="Consolas"/>
              </a:rPr>
              <a:t>Since we tried reading 1 element, 0 &lt; 1 indicates </a:t>
            </a:r>
            <a:r>
              <a:rPr sz="2000" i="1" dirty="0">
                <a:latin typeface="Consolas"/>
                <a:cs typeface="Consolas"/>
              </a:rPr>
              <a:t>error</a:t>
            </a:r>
            <a:r>
              <a:rPr lang="en-US" sz="2000" i="1" dirty="0">
                <a:latin typeface="Consolas"/>
                <a:cs typeface="Consolas"/>
              </a:rPr>
              <a:t>.</a:t>
            </a:r>
            <a:r>
              <a:rPr sz="2000" i="1" spc="-2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249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Writing </a:t>
            </a:r>
            <a:r>
              <a:rPr spc="-35" dirty="0"/>
              <a:t>to </a:t>
            </a:r>
            <a:r>
              <a:rPr dirty="0"/>
              <a:t>a</a:t>
            </a:r>
            <a:r>
              <a:rPr spc="-180" dirty="0"/>
              <a:t> </a:t>
            </a:r>
            <a:r>
              <a:rPr spc="-35" dirty="0"/>
              <a:t>Stream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34431"/>
            <a:ext cx="10894061" cy="4496103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20" dirty="0">
                <a:latin typeface="Calibri"/>
                <a:cs typeface="Calibri"/>
              </a:rPr>
              <a:t>To write into a stream, it must be opened with a mode other than </a:t>
            </a:r>
            <a:r>
              <a:rPr lang="en-US" sz="2400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lang="en-US" sz="2400" spc="-2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</a:t>
            </a:r>
            <a:r>
              <a:rPr lang="en-US" sz="2400" spc="-10" dirty="0">
                <a:solidFill>
                  <a:srgbClr val="0070C0"/>
                </a:solidFill>
                <a:latin typeface="Consolas"/>
              </a:rPr>
              <a:t>"</a:t>
            </a:r>
            <a:r>
              <a:rPr lang="en-US" sz="2800" spc="-20" dirty="0">
                <a:latin typeface="Calibri"/>
                <a:cs typeface="Calibri"/>
              </a:rPr>
              <a:t>.</a:t>
            </a:r>
          </a:p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Writing </a:t>
            </a:r>
            <a:r>
              <a:rPr sz="2800" spc="-5" dirty="0">
                <a:latin typeface="Calibri"/>
                <a:cs typeface="Calibri"/>
              </a:rPr>
              <a:t>a single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character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fputc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c,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(fputc('p', stream)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==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EOF) </a:t>
            </a:r>
            <a:r>
              <a:rPr sz="2000" i="1" spc="-5" dirty="0">
                <a:latin typeface="Consolas"/>
                <a:cs typeface="Consolas"/>
              </a:rPr>
              <a:t>/* </a:t>
            </a:r>
            <a:r>
              <a:rPr lang="en-US" sz="2000" i="1" spc="-5" dirty="0">
                <a:latin typeface="Consolas"/>
                <a:cs typeface="Consolas"/>
              </a:rPr>
              <a:t>check for </a:t>
            </a:r>
            <a:r>
              <a:rPr sz="2000" i="1" dirty="0">
                <a:latin typeface="Consolas"/>
                <a:cs typeface="Consolas"/>
              </a:rPr>
              <a:t>error</a:t>
            </a:r>
            <a:r>
              <a:rPr lang="en-US" sz="2000" i="1" dirty="0">
                <a:latin typeface="Consolas"/>
                <a:cs typeface="Consolas"/>
              </a:rPr>
              <a:t>s</a:t>
            </a:r>
            <a:r>
              <a:rPr sz="2000" i="1" spc="-5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(which is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'p'</a:t>
            </a:r>
            <a:r>
              <a:rPr lang="en-US" sz="2400" dirty="0">
                <a:latin typeface="Calibri"/>
                <a:cs typeface="Calibri"/>
              </a:rPr>
              <a:t> in the example above) </a:t>
            </a:r>
            <a:r>
              <a:rPr sz="2400" spc="-5" dirty="0">
                <a:latin typeface="Calibri"/>
                <a:cs typeface="Calibri"/>
              </a:rPr>
              <a:t>on success</a:t>
            </a:r>
            <a:r>
              <a:rPr lang="en-US" sz="2400" spc="-5" dirty="0">
                <a:latin typeface="Calibri"/>
                <a:cs typeface="Calibri"/>
              </a:rPr>
              <a:t> 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failure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Writing </a:t>
            </a:r>
            <a:r>
              <a:rPr lang="en-US" sz="2800" spc="-5" dirty="0">
                <a:latin typeface="Calibri"/>
                <a:cs typeface="Calibri"/>
              </a:rPr>
              <a:t>an array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characters</a:t>
            </a:r>
            <a:r>
              <a:rPr lang="en-US" sz="2800" spc="-1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4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fputs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*str,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stream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alibri"/>
                <a:cs typeface="Calibri"/>
              </a:rPr>
              <a:t>Writes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null-terminated </a:t>
            </a:r>
            <a:r>
              <a:rPr sz="2400" spc="-5" dirty="0">
                <a:latin typeface="Calibri"/>
                <a:cs typeface="Calibri"/>
              </a:rPr>
              <a:t>string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str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stream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b="1" spc="-5" dirty="0">
                <a:latin typeface="Calibri"/>
                <a:cs typeface="Calibri"/>
              </a:rPr>
              <a:t>but </a:t>
            </a:r>
            <a:r>
              <a:rPr lang="en-US"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\0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2400" b="1" dirty="0">
                <a:latin typeface="Calibri"/>
                <a:cs typeface="Calibri"/>
              </a:rPr>
              <a:t> is </a:t>
            </a:r>
            <a:r>
              <a:rPr sz="2400" b="1" spc="-5" dirty="0">
                <a:latin typeface="Calibri"/>
                <a:cs typeface="Calibri"/>
              </a:rPr>
              <a:t>not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written</a:t>
            </a:r>
            <a:r>
              <a:rPr sz="2400" spc="-15" dirty="0">
                <a:latin typeface="Calibri"/>
                <a:cs typeface="Calibri"/>
              </a:rPr>
              <a:t>!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On success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spc="-15" dirty="0">
                <a:latin typeface="Calibri"/>
                <a:cs typeface="Calibri"/>
              </a:rPr>
              <a:t>non-negative </a:t>
            </a:r>
            <a:r>
              <a:rPr sz="2400" spc="-10" dirty="0">
                <a:latin typeface="Calibri"/>
                <a:cs typeface="Calibri"/>
              </a:rPr>
              <a:t>value (likely </a:t>
            </a:r>
            <a:r>
              <a:rPr sz="2400" dirty="0">
                <a:latin typeface="Calibri"/>
                <a:cs typeface="Calibri"/>
              </a:rPr>
              <a:t>0)</a:t>
            </a:r>
            <a:r>
              <a:rPr lang="en-US" sz="2400" dirty="0">
                <a:latin typeface="Calibri"/>
                <a:cs typeface="Calibri"/>
              </a:rPr>
              <a:t> and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5" dirty="0">
                <a:latin typeface="Calibri"/>
                <a:cs typeface="Calibri"/>
              </a:rPr>
              <a:t>failure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spc="-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3436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 </a:t>
            </a:r>
            <a:r>
              <a:rPr spc="-50" dirty="0"/>
              <a:t>Writing </a:t>
            </a:r>
            <a:r>
              <a:rPr spc="-35" dirty="0"/>
              <a:t>to </a:t>
            </a:r>
            <a:r>
              <a:rPr dirty="0"/>
              <a:t>a</a:t>
            </a:r>
            <a:r>
              <a:rPr spc="-305" dirty="0"/>
              <a:t> </a:t>
            </a:r>
            <a:r>
              <a:rPr spc="-35" dirty="0"/>
              <a:t>Stream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65757"/>
            <a:ext cx="10741662" cy="42607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An e</a:t>
            </a:r>
            <a:r>
              <a:rPr sz="2600" spc="-5" dirty="0">
                <a:latin typeface="Calibri"/>
                <a:cs typeface="Calibri"/>
              </a:rPr>
              <a:t>xample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Consolas"/>
              </a:rPr>
              <a:t>fputs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sz="2600" spc="-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1900" b="1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*stream;</a:t>
            </a: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stream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= fopen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("journal.txt",</a:t>
            </a:r>
            <a:r>
              <a:rPr sz="1900" spc="5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"a");</a:t>
            </a:r>
            <a:endParaRPr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(!stream) </a:t>
            </a:r>
            <a:r>
              <a:rPr sz="1900" i="1" dirty="0">
                <a:latin typeface="Consolas"/>
                <a:cs typeface="Consolas"/>
              </a:rPr>
              <a:t>/* error</a:t>
            </a:r>
            <a:r>
              <a:rPr sz="1900" i="1" spc="30" dirty="0">
                <a:latin typeface="Consolas"/>
                <a:cs typeface="Consolas"/>
              </a:rPr>
              <a:t> </a:t>
            </a:r>
            <a:r>
              <a:rPr lang="en-US" sz="1900" i="1" spc="30" dirty="0">
                <a:latin typeface="Consolas"/>
                <a:cs typeface="Consolas"/>
              </a:rPr>
              <a:t>check </a:t>
            </a:r>
            <a:r>
              <a:rPr sz="1900" i="1" spc="-5" dirty="0">
                <a:latin typeface="Consolas"/>
                <a:cs typeface="Consolas"/>
              </a:rPr>
              <a:t>*/</a:t>
            </a:r>
            <a:endParaRPr sz="19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(fputs ("The ship is made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of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wood.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\n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", stream) == EOF) </a:t>
            </a:r>
            <a:r>
              <a:rPr sz="1900" i="1" spc="-5" dirty="0">
                <a:latin typeface="Consolas"/>
                <a:cs typeface="Consolas"/>
              </a:rPr>
              <a:t>/* </a:t>
            </a:r>
            <a:r>
              <a:rPr sz="1900" i="1" dirty="0">
                <a:latin typeface="Consolas"/>
                <a:cs typeface="Consolas"/>
              </a:rPr>
              <a:t>error</a:t>
            </a:r>
            <a:r>
              <a:rPr sz="1900" i="1" spc="165" dirty="0">
                <a:latin typeface="Consolas"/>
                <a:cs typeface="Consolas"/>
              </a:rPr>
              <a:t> </a:t>
            </a:r>
            <a:r>
              <a:rPr lang="en-US" sz="1900" i="1" spc="30" dirty="0">
                <a:latin typeface="Consolas"/>
                <a:cs typeface="Consolas"/>
              </a:rPr>
              <a:t>check </a:t>
            </a:r>
            <a:r>
              <a:rPr sz="1900" i="1" spc="-5" dirty="0">
                <a:latin typeface="Consolas"/>
                <a:cs typeface="Consolas"/>
              </a:rPr>
              <a:t>*/</a:t>
            </a:r>
            <a:endParaRPr sz="19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40"/>
              </a:spcBef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(fclose (stream)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==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EOF) </a:t>
            </a:r>
            <a:r>
              <a:rPr sz="1900" i="1" dirty="0">
                <a:latin typeface="Consolas"/>
                <a:cs typeface="Consolas"/>
              </a:rPr>
              <a:t>/* </a:t>
            </a:r>
            <a:r>
              <a:rPr sz="1900" i="1" spc="-5" dirty="0">
                <a:latin typeface="Consolas"/>
                <a:cs typeface="Consolas"/>
              </a:rPr>
              <a:t>error</a:t>
            </a:r>
            <a:r>
              <a:rPr sz="1900" i="1" spc="85" dirty="0">
                <a:latin typeface="Consolas"/>
                <a:cs typeface="Consolas"/>
              </a:rPr>
              <a:t> </a:t>
            </a:r>
            <a:r>
              <a:rPr lang="en-US" sz="1900" i="1" spc="30" dirty="0">
                <a:latin typeface="Consolas"/>
                <a:cs typeface="Consolas"/>
              </a:rPr>
              <a:t>check </a:t>
            </a:r>
            <a:r>
              <a:rPr sz="1900" i="1" spc="5" dirty="0">
                <a:latin typeface="Consolas"/>
                <a:cs typeface="Consolas"/>
              </a:rPr>
              <a:t>*/</a:t>
            </a:r>
            <a:endParaRPr sz="1900" dirty="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Writing </a:t>
            </a:r>
            <a:r>
              <a:rPr sz="2600" dirty="0">
                <a:latin typeface="Calibri"/>
                <a:cs typeface="Calibri"/>
              </a:rPr>
              <a:t>binary</a:t>
            </a:r>
            <a:r>
              <a:rPr sz="2600" spc="-15" dirty="0">
                <a:latin typeface="Calibri"/>
                <a:cs typeface="Calibri"/>
              </a:rPr>
              <a:t> data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lang="en-US" sz="2000" b="1" dirty="0" err="1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lang="en-US" sz="2000" b="1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spc="-5" dirty="0" err="1">
                <a:solidFill>
                  <a:srgbClr val="0070C0"/>
                </a:solidFill>
                <a:latin typeface="Consolas"/>
                <a:cs typeface="Consolas"/>
              </a:rPr>
              <a:t>fwrite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(</a:t>
            </a:r>
            <a:r>
              <a:rPr lang="en-US" sz="2000" b="1" spc="-5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lang="en-US" sz="2000" b="1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lang="en-US" sz="2000" spc="-5" dirty="0" err="1">
                <a:solidFill>
                  <a:srgbClr val="0070C0"/>
                </a:solidFill>
                <a:latin typeface="Consolas"/>
                <a:cs typeface="Consolas"/>
              </a:rPr>
              <a:t>buf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,      </a:t>
            </a:r>
            <a:r>
              <a:rPr lang="en-US" sz="2000" i="1" dirty="0">
                <a:latin typeface="Consolas"/>
              </a:rPr>
              <a:t>// Write up to </a:t>
            </a:r>
            <a:r>
              <a:rPr lang="en-US" sz="2000" i="1" spc="-5" dirty="0">
                <a:solidFill>
                  <a:srgbClr val="0070C0"/>
                </a:solidFill>
                <a:latin typeface="Consolas"/>
              </a:rPr>
              <a:t>nr</a:t>
            </a:r>
            <a:r>
              <a:rPr lang="en-US" sz="2000" i="1" dirty="0">
                <a:latin typeface="Consolas"/>
              </a:rPr>
              <a:t> elements to </a:t>
            </a:r>
            <a:r>
              <a:rPr lang="en-US" sz="2000" i="1" spc="-5" dirty="0">
                <a:solidFill>
                  <a:srgbClr val="0070C0"/>
                </a:solidFill>
                <a:latin typeface="Consolas"/>
              </a:rPr>
              <a:t>stream</a:t>
            </a:r>
            <a:r>
              <a:rPr lang="en-US" sz="2000" i="1" dirty="0">
                <a:latin typeface="Consolas"/>
              </a:rPr>
              <a:t>. </a:t>
            </a:r>
          </a:p>
          <a:p>
            <a:pPr marL="469900">
              <a:spcBef>
                <a:spcPts val="25"/>
              </a:spcBef>
            </a:pPr>
            <a:r>
              <a:rPr lang="en-US" sz="2000" b="1" spc="-5" dirty="0">
                <a:solidFill>
                  <a:srgbClr val="0070C0"/>
                </a:solidFill>
                <a:latin typeface="Consolas"/>
                <a:cs typeface="Consolas"/>
              </a:rPr>
              <a:t>              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lang="en-US" sz="2000" b="1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size,    </a:t>
            </a:r>
            <a:r>
              <a:rPr lang="en-US" sz="2000" i="1" dirty="0">
                <a:latin typeface="Consolas"/>
              </a:rPr>
              <a:t>// </a:t>
            </a:r>
            <a:r>
              <a:rPr lang="en-US" sz="2000" i="1" spc="-5" dirty="0">
                <a:latin typeface="Consolas"/>
                <a:cs typeface="Consolas"/>
              </a:rPr>
              <a:t>Each element is </a:t>
            </a:r>
            <a:r>
              <a:rPr lang="en-US" sz="2000" i="1" spc="-5" dirty="0">
                <a:solidFill>
                  <a:srgbClr val="0070C0"/>
                </a:solidFill>
                <a:latin typeface="Consolas"/>
              </a:rPr>
              <a:t>size</a:t>
            </a:r>
            <a:r>
              <a:rPr lang="en-US" sz="2000" i="1" spc="-5" dirty="0">
                <a:latin typeface="Consolas"/>
                <a:cs typeface="Consolas"/>
              </a:rPr>
              <a:t> bytes in length. </a:t>
            </a:r>
            <a:endParaRPr lang="en-US" sz="2000" i="1" dirty="0">
              <a:latin typeface="Consolas"/>
            </a:endParaRPr>
          </a:p>
          <a:p>
            <a:pPr marL="469900">
              <a:spcBef>
                <a:spcPts val="25"/>
              </a:spcBef>
            </a:pPr>
            <a:r>
              <a:rPr lang="en-US" sz="2000" b="1" spc="-5" dirty="0">
                <a:solidFill>
                  <a:srgbClr val="0070C0"/>
                </a:solidFill>
                <a:latin typeface="Consolas"/>
                <a:cs typeface="Consolas"/>
              </a:rPr>
              <a:t>               </a:t>
            </a:r>
            <a:r>
              <a:rPr sz="2000" b="1" dirty="0" err="1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nr,</a:t>
            </a:r>
            <a:r>
              <a:rPr lang="en-US" sz="2000" i="1" spc="-5" dirty="0">
                <a:latin typeface="Consolas"/>
                <a:cs typeface="Consolas"/>
              </a:rPr>
              <a:t>      // </a:t>
            </a:r>
            <a:r>
              <a:rPr lang="en-US" sz="2000" i="1" dirty="0">
                <a:latin typeface="Consolas"/>
              </a:rPr>
              <a:t>The data is taken </a:t>
            </a:r>
            <a:r>
              <a:rPr lang="en-US" sz="2000" i="1" spc="-5" dirty="0">
                <a:latin typeface="Consolas"/>
                <a:cs typeface="Consolas"/>
              </a:rPr>
              <a:t>from </a:t>
            </a:r>
            <a:r>
              <a:rPr lang="en-US" sz="2000" i="1" spc="-5" dirty="0" err="1">
                <a:solidFill>
                  <a:srgbClr val="0070C0"/>
                </a:solidFill>
                <a:latin typeface="Consolas"/>
              </a:rPr>
              <a:t>buf</a:t>
            </a:r>
            <a:r>
              <a:rPr lang="en-US" sz="2000" i="1" spc="-5" dirty="0">
                <a:latin typeface="Consolas"/>
                <a:cs typeface="Consolas"/>
              </a:rPr>
              <a:t>.</a:t>
            </a:r>
            <a:endParaRPr lang="en-US"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spcBef>
                <a:spcPts val="25"/>
              </a:spcBef>
            </a:pPr>
            <a:r>
              <a:rPr lang="en-US" sz="2000" b="1" dirty="0">
                <a:solidFill>
                  <a:srgbClr val="0070C0"/>
                </a:solidFill>
                <a:latin typeface="Consolas"/>
                <a:cs typeface="Consolas"/>
              </a:rPr>
              <a:t>             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-5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</a:p>
          <a:p>
            <a:pPr marL="692150" indent="-222250">
              <a:spcBef>
                <a:spcPts val="25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cs typeface="Calibri"/>
              </a:rPr>
              <a:t>Returns the number of </a:t>
            </a:r>
            <a:r>
              <a:rPr lang="en-US" sz="2400" spc="-10" dirty="0">
                <a:cs typeface="Calibri"/>
              </a:rPr>
              <a:t>written items </a:t>
            </a:r>
            <a:r>
              <a:rPr lang="en-US" sz="2400" spc="-5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 success</a:t>
            </a:r>
            <a:r>
              <a:rPr lang="en-US" sz="2400" spc="-5" dirty="0">
                <a:latin typeface="Calibri"/>
                <a:cs typeface="Calibri"/>
              </a:rPr>
              <a:t> or </a:t>
            </a:r>
            <a:r>
              <a:rPr lang="en-US" sz="2400" spc="-15" dirty="0">
                <a:cs typeface="Calibri"/>
              </a:rPr>
              <a:t>a </a:t>
            </a:r>
            <a:r>
              <a:rPr lang="en-US" sz="2400" spc="-10" dirty="0">
                <a:cs typeface="Calibri"/>
              </a:rPr>
              <a:t>value </a:t>
            </a:r>
            <a:r>
              <a:rPr lang="en-US" sz="2400" spc="-5" dirty="0">
                <a:cs typeface="Calibri"/>
              </a:rPr>
              <a:t>less than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nr</a:t>
            </a:r>
            <a:r>
              <a:rPr lang="en-US" sz="2400" spc="-5" dirty="0"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5" dirty="0">
                <a:latin typeface="Calibri"/>
                <a:cs typeface="Calibri"/>
              </a:rPr>
              <a:t>failure</a:t>
            </a:r>
            <a:r>
              <a:rPr lang="en-US" sz="2400" spc="-15" dirty="0">
                <a:latin typeface="Calibri"/>
                <a:cs typeface="Calibri"/>
              </a:rPr>
              <a:t>. </a:t>
            </a:r>
            <a:endParaRPr sz="2400" dirty="0">
              <a:solidFill>
                <a:srgbClr val="0070C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449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Sample</a:t>
            </a:r>
            <a:r>
              <a:rPr spc="-165" dirty="0"/>
              <a:t> </a:t>
            </a:r>
            <a:r>
              <a:rPr spc="-60" dirty="0"/>
              <a:t>Program</a:t>
            </a:r>
          </a:p>
        </p:txBody>
      </p:sp>
      <p:sp>
        <p:nvSpPr>
          <p:cNvPr id="3" name="object 3"/>
          <p:cNvSpPr/>
          <p:nvPr/>
        </p:nvSpPr>
        <p:spPr>
          <a:xfrm>
            <a:off x="834570" y="1761650"/>
            <a:ext cx="5263534" cy="3662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37711" y="720484"/>
            <a:ext cx="4275306" cy="4997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6087108"/>
            <a:ext cx="4324714" cy="1807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0D5F7-EDA6-56F3-49D8-FCB48813DB69}"/>
              </a:ext>
            </a:extLst>
          </p:cNvPr>
          <p:cNvSpPr txBox="1"/>
          <p:nvPr/>
        </p:nvSpPr>
        <p:spPr>
          <a:xfrm>
            <a:off x="676745" y="5656638"/>
            <a:ext cx="366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output of this program is: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8150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Seeking </a:t>
            </a:r>
            <a:r>
              <a:rPr dirty="0"/>
              <a:t>a</a:t>
            </a:r>
            <a:r>
              <a:rPr spc="-185" dirty="0"/>
              <a:t> </a:t>
            </a:r>
            <a:r>
              <a:rPr spc="-35" dirty="0"/>
              <a:t>Stream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7398"/>
            <a:ext cx="10970261" cy="4081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fseek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FILE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*stream,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long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offset,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whence);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ts val="3329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Choices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whence</a:t>
            </a:r>
            <a:r>
              <a:rPr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SEEK_SET</a:t>
            </a:r>
            <a:r>
              <a:rPr sz="2400" spc="-20" dirty="0">
                <a:latin typeface="Calibri"/>
                <a:cs typeface="Calibri"/>
              </a:rPr>
              <a:t>: </a:t>
            </a:r>
            <a:r>
              <a:rPr sz="2400" spc="-5" dirty="0">
                <a:latin typeface="Calibri"/>
                <a:cs typeface="Calibri"/>
              </a:rPr>
              <a:t>sets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spc="-10" dirty="0">
                <a:latin typeface="Calibri"/>
                <a:cs typeface="Calibri"/>
              </a:rPr>
              <a:t>position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offset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SEEK_CUR</a:t>
            </a:r>
            <a:r>
              <a:rPr sz="2400" dirty="0">
                <a:latin typeface="Calibri"/>
                <a:cs typeface="Calibri"/>
              </a:rPr>
              <a:t>: </a:t>
            </a:r>
            <a:r>
              <a:rPr sz="2400" spc="-5" dirty="0">
                <a:latin typeface="Calibri"/>
                <a:cs typeface="Calibri"/>
              </a:rPr>
              <a:t>sets the file </a:t>
            </a:r>
            <a:r>
              <a:rPr sz="2400" spc="-10" dirty="0">
                <a:latin typeface="Calibri"/>
                <a:cs typeface="Calibri"/>
              </a:rPr>
              <a:t>position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current position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offset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SEEK_END</a:t>
            </a:r>
            <a:r>
              <a:rPr sz="2400" dirty="0">
                <a:latin typeface="Calibri"/>
                <a:cs typeface="Calibri"/>
              </a:rPr>
              <a:t>: </a:t>
            </a:r>
            <a:r>
              <a:rPr sz="2400" spc="-5" dirty="0">
                <a:latin typeface="Calibri"/>
                <a:cs typeface="Calibri"/>
              </a:rPr>
              <a:t>sets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spc="-10" dirty="0">
                <a:latin typeface="Calibri"/>
                <a:cs typeface="Calibri"/>
              </a:rPr>
              <a:t>position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end +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offset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 </a:t>
            </a:r>
            <a:r>
              <a:rPr lang="en-US"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0, </a:t>
            </a:r>
            <a:r>
              <a:rPr lang="en-US" sz="2800" spc="-5" dirty="0">
                <a:latin typeface="Calibri"/>
                <a:cs typeface="Calibri"/>
              </a:rPr>
              <a:t>and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5" dirty="0">
                <a:latin typeface="Calibri"/>
                <a:cs typeface="Calibri"/>
              </a:rPr>
              <a:t>error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obtain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current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stream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position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355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long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ftell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</a:p>
          <a:p>
            <a:pPr marL="698500" lvl="1" indent="-229235">
              <a:lnSpc>
                <a:spcPts val="2835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On success it returns an integer standing for current position.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45" dirty="0">
                <a:latin typeface="Calibri"/>
                <a:cs typeface="Calibri"/>
              </a:rPr>
              <a:t>error</a:t>
            </a:r>
            <a:r>
              <a:rPr lang="en-US" sz="2400" spc="-45" dirty="0">
                <a:latin typeface="Calibri"/>
                <a:cs typeface="Calibri"/>
              </a:rPr>
              <a:t> 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7886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Seeking </a:t>
            </a:r>
            <a:r>
              <a:rPr dirty="0"/>
              <a:t>a</a:t>
            </a:r>
            <a:r>
              <a:rPr spc="-185" dirty="0"/>
              <a:t> </a:t>
            </a:r>
            <a:r>
              <a:rPr spc="-35" dirty="0"/>
              <a:t>Stream</a:t>
            </a:r>
            <a:r>
              <a:rPr lang="en-US" spc="-35" dirty="0"/>
              <a:t> – </a:t>
            </a:r>
            <a:r>
              <a:rPr lang="en-US" spc="-35" dirty="0" err="1"/>
              <a:t>Cont</a:t>
            </a:r>
            <a:r>
              <a:rPr lang="en-US" spc="-35" dirty="0"/>
              <a:t>’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600200"/>
            <a:ext cx="10665461" cy="48660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29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 err="1">
                <a:solidFill>
                  <a:srgbClr val="0070C0"/>
                </a:solidFill>
                <a:latin typeface="Consolas"/>
              </a:rPr>
              <a:t>fsetpos</a:t>
            </a:r>
            <a:r>
              <a:rPr lang="fr-FR" sz="2400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fr-FR" sz="3200" spc="-5" dirty="0">
                <a:latin typeface="Calibri"/>
                <a:cs typeface="Calibri"/>
              </a:rPr>
              <a:t> </a:t>
            </a:r>
            <a:r>
              <a:rPr lang="fr-FR" sz="2800" spc="-5" dirty="0">
                <a:latin typeface="Calibri"/>
                <a:cs typeface="Calibri"/>
              </a:rPr>
              <a:t>sets </a:t>
            </a:r>
            <a:r>
              <a:rPr lang="en-US" sz="2800" spc="-5" dirty="0">
                <a:latin typeface="Calibri"/>
                <a:cs typeface="Calibri"/>
              </a:rPr>
              <a:t>the stream position of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stream</a:t>
            </a:r>
            <a:r>
              <a:rPr lang="en-US" sz="2800" spc="-5" dirty="0">
                <a:latin typeface="Calibri"/>
                <a:cs typeface="Calibri"/>
              </a:rPr>
              <a:t> to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pos</a:t>
            </a:r>
            <a:r>
              <a:rPr lang="en-US" sz="2800" spc="-5" dirty="0">
                <a:latin typeface="Calibri"/>
                <a:cs typeface="Calibri"/>
              </a:rPr>
              <a:t>:</a:t>
            </a: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#include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 &lt;</a:t>
            </a:r>
            <a:r>
              <a:rPr kumimoji="0" lang="en-US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stdio.h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&gt;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/>
              <a:ea typeface="+mn-ea"/>
              <a:cs typeface="Consolas"/>
            </a:endParaRP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fsetpos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FILE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*stream,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fpos_t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*pos);</a:t>
            </a:r>
            <a:endParaRPr lang="en-US" sz="2800" spc="-5" dirty="0">
              <a:latin typeface="Calibri"/>
              <a:cs typeface="Calibri"/>
            </a:endParaRPr>
          </a:p>
          <a:p>
            <a:pPr marL="698500" lvl="1" indent="-228600">
              <a:lnSpc>
                <a:spcPts val="3329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Same as </a:t>
            </a:r>
            <a:r>
              <a:rPr lang="en-US" sz="2000" dirty="0" err="1">
                <a:solidFill>
                  <a:srgbClr val="0070C0"/>
                </a:solidFill>
                <a:latin typeface="Consolas"/>
              </a:rPr>
              <a:t>fseek</a:t>
            </a:r>
            <a:r>
              <a:rPr lang="en-US" sz="2000" dirty="0">
                <a:solidFill>
                  <a:srgbClr val="0070C0"/>
                </a:solidFill>
                <a:latin typeface="Consolas"/>
              </a:rPr>
              <a:t> (stream, pos, </a:t>
            </a:r>
            <a:r>
              <a:rPr lang="en-US" sz="2000" dirty="0" err="1">
                <a:solidFill>
                  <a:srgbClr val="0070C0"/>
                </a:solidFill>
                <a:latin typeface="Consolas"/>
              </a:rPr>
              <a:t>SEEK_SET</a:t>
            </a:r>
            <a:r>
              <a:rPr lang="en-US" sz="2000" dirty="0">
                <a:solidFill>
                  <a:srgbClr val="0070C0"/>
                </a:solidFill>
                <a:latin typeface="Consolas"/>
              </a:rPr>
              <a:t>)</a:t>
            </a:r>
            <a:r>
              <a:rPr lang="en-US" sz="2400" spc="-5" dirty="0">
                <a:solidFill>
                  <a:srgbClr val="0070C0"/>
                </a:solidFill>
                <a:latin typeface="Calibri"/>
                <a:cs typeface="Calibri"/>
              </a:rPr>
              <a:t>;</a:t>
            </a:r>
            <a:endParaRPr sz="2400" spc="-5" dirty="0">
              <a:latin typeface="Calibri"/>
              <a:cs typeface="Calibri"/>
            </a:endParaRPr>
          </a:p>
          <a:p>
            <a:pPr marL="698500" lvl="1" indent="-228600"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On success </a:t>
            </a:r>
            <a:r>
              <a:rPr lang="en-US" sz="2400" spc="-5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spc="-5" dirty="0">
                <a:latin typeface="Calibri"/>
                <a:cs typeface="Calibri"/>
              </a:rPr>
              <a:t>0, </a:t>
            </a:r>
            <a:r>
              <a:rPr lang="en-US" sz="2400" spc="-5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5" dirty="0">
                <a:latin typeface="Calibri"/>
                <a:cs typeface="Calibri"/>
              </a:rPr>
              <a:t>error </a:t>
            </a:r>
            <a:r>
              <a:rPr lang="en-US" sz="2400" spc="-15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spc="-5" dirty="0">
                <a:latin typeface="Calibri"/>
                <a:cs typeface="Calibri"/>
              </a:rPr>
              <a:t>-1 and </a:t>
            </a:r>
            <a:r>
              <a:rPr sz="2400" spc="-10" dirty="0">
                <a:latin typeface="Calibri"/>
                <a:cs typeface="Calibri"/>
              </a:rPr>
              <a:t>sets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10" dirty="0">
                <a:latin typeface="Calibri"/>
                <a:cs typeface="Calibri"/>
              </a:rPr>
              <a:t>.</a:t>
            </a:r>
          </a:p>
          <a:p>
            <a:pPr marL="698500" lvl="1" indent="-228600">
              <a:spcBef>
                <a:spcPts val="31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kumimoji="0" lang="fr-FR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fsetpos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()</a:t>
            </a:r>
            <a:r>
              <a:rPr kumimoji="0" lang="fr-FR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is the one to </a:t>
            </a:r>
            <a:r>
              <a:rPr lang="en-US" sz="2400" spc="-5" dirty="0">
                <a:cs typeface="Calibri"/>
              </a:rPr>
              <a:t>use on non-Unix systems, for portability.</a:t>
            </a:r>
            <a:endParaRPr lang="en-US" sz="2400" spc="-5" dirty="0">
              <a:latin typeface="Calibri"/>
              <a:cs typeface="Calibri"/>
            </a:endParaRPr>
          </a:p>
          <a:p>
            <a:pPr marL="285750" indent="-28575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Consolas"/>
              </a:rPr>
              <a:t>rewind()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resets the position back to the start of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stream</a:t>
            </a:r>
            <a:r>
              <a:rPr lang="en-US" sz="2800" spc="-5" dirty="0">
                <a:latin typeface="Calibri"/>
                <a:cs typeface="Calibri"/>
              </a:rPr>
              <a:t>:</a:t>
            </a:r>
          </a:p>
          <a:p>
            <a:pPr marL="469900" lvl="1">
              <a:spcBef>
                <a:spcPts val="310"/>
              </a:spcBef>
              <a:tabLst>
                <a:tab pos="241300" algn="l"/>
              </a:tabLst>
            </a:pPr>
            <a:r>
              <a:rPr lang="en-US" sz="2000" dirty="0">
                <a:solidFill>
                  <a:srgbClr val="0070C0"/>
                </a:solidFill>
                <a:latin typeface="Consolas"/>
              </a:rPr>
              <a:t>#include &lt;</a:t>
            </a:r>
            <a:r>
              <a:rPr lang="en-US" sz="2000" dirty="0" err="1">
                <a:solidFill>
                  <a:srgbClr val="0070C0"/>
                </a:solidFill>
                <a:latin typeface="Consolas"/>
              </a:rPr>
              <a:t>stdio.h</a:t>
            </a:r>
            <a:r>
              <a:rPr lang="en-US" sz="2000" dirty="0">
                <a:solidFill>
                  <a:srgbClr val="0070C0"/>
                </a:solidFill>
                <a:latin typeface="Consolas"/>
              </a:rPr>
              <a:t>&gt;</a:t>
            </a:r>
          </a:p>
          <a:p>
            <a:pPr marL="469900" lvl="1">
              <a:spcBef>
                <a:spcPts val="310"/>
              </a:spcBef>
              <a:tabLst>
                <a:tab pos="241300" algn="l"/>
              </a:tabLst>
            </a:pPr>
            <a:r>
              <a:rPr lang="en-US" sz="2000" b="1" dirty="0">
                <a:solidFill>
                  <a:srgbClr val="0070C0"/>
                </a:solidFill>
                <a:latin typeface="Consolas"/>
              </a:rPr>
              <a:t>void</a:t>
            </a:r>
            <a:r>
              <a:rPr lang="en-US" sz="2000" dirty="0">
                <a:solidFill>
                  <a:srgbClr val="0070C0"/>
                </a:solidFill>
                <a:latin typeface="Consolas"/>
              </a:rPr>
              <a:t> rewind (</a:t>
            </a:r>
            <a:r>
              <a:rPr lang="en-US" sz="2000" b="1" dirty="0">
                <a:solidFill>
                  <a:srgbClr val="0070C0"/>
                </a:solidFill>
                <a:latin typeface="Consolas"/>
              </a:rPr>
              <a:t>FILE</a:t>
            </a:r>
            <a:r>
              <a:rPr lang="en-US" sz="2000" dirty="0">
                <a:solidFill>
                  <a:srgbClr val="0070C0"/>
                </a:solidFill>
                <a:latin typeface="Consolas"/>
              </a:rPr>
              <a:t> *stream);</a:t>
            </a:r>
          </a:p>
          <a:p>
            <a:pPr marL="812800" lvl="1" indent="-342900">
              <a:spcBef>
                <a:spcPts val="3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Same as </a:t>
            </a:r>
            <a:r>
              <a:rPr lang="en-US" sz="2000" dirty="0" err="1">
                <a:solidFill>
                  <a:srgbClr val="0070C0"/>
                </a:solidFill>
                <a:latin typeface="Consolas"/>
              </a:rPr>
              <a:t>fseek</a:t>
            </a:r>
            <a:r>
              <a:rPr lang="en-US" sz="2000" dirty="0">
                <a:solidFill>
                  <a:srgbClr val="0070C0"/>
                </a:solidFill>
                <a:latin typeface="Consolas"/>
              </a:rPr>
              <a:t> (stream, 0, </a:t>
            </a:r>
            <a:r>
              <a:rPr lang="en-US" sz="2000" dirty="0" err="1">
                <a:solidFill>
                  <a:srgbClr val="0070C0"/>
                </a:solidFill>
                <a:latin typeface="Consolas"/>
              </a:rPr>
              <a:t>SEEK_SET</a:t>
            </a:r>
            <a:r>
              <a:rPr lang="en-US" sz="2000" dirty="0">
                <a:solidFill>
                  <a:srgbClr val="0070C0"/>
                </a:solidFill>
                <a:latin typeface="Consolas"/>
              </a:rPr>
              <a:t>);</a:t>
            </a:r>
          </a:p>
          <a:p>
            <a:pPr marL="812800" lvl="1" indent="-342900">
              <a:spcBef>
                <a:spcPts val="31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It doesn’t return a value. Instead, you must set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 = 0</a:t>
            </a:r>
            <a:r>
              <a:rPr lang="en-US" sz="2400" spc="-5" dirty="0">
                <a:latin typeface="Calibri"/>
                <a:cs typeface="Calibri"/>
              </a:rPr>
              <a:t> before the call, and,</a:t>
            </a:r>
            <a:r>
              <a:rPr lang="en-US" sz="2400" spc="-5" dirty="0">
                <a:cs typeface="Calibri"/>
              </a:rPr>
              <a:t> after the call, check </a:t>
            </a:r>
            <a:r>
              <a:rPr lang="en-US" sz="2400" spc="-5" dirty="0">
                <a:latin typeface="Calibri"/>
                <a:cs typeface="Calibri"/>
              </a:rPr>
              <a:t>if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5" dirty="0">
                <a:latin typeface="Calibri"/>
                <a:cs typeface="Calibri"/>
              </a:rPr>
              <a:t> is non-zero to check for errors.</a:t>
            </a:r>
          </a:p>
        </p:txBody>
      </p:sp>
    </p:spTree>
    <p:extLst>
      <p:ext uri="{BB962C8B-B14F-4D97-AF65-F5344CB8AC3E}">
        <p14:creationId xmlns:p14="http://schemas.microsoft.com/office/powerpoint/2010/main" val="613763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37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Flushing </a:t>
            </a:r>
            <a:r>
              <a:rPr dirty="0"/>
              <a:t>a</a:t>
            </a:r>
            <a:r>
              <a:rPr spc="-185" dirty="0"/>
              <a:t> </a:t>
            </a:r>
            <a:r>
              <a:rPr spc="-35" dirty="0"/>
              <a:t>Stream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0006"/>
            <a:ext cx="10436861" cy="4370042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3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fflush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2000" b="1" spc="-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</a:p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Writes </a:t>
            </a:r>
            <a:r>
              <a:rPr sz="2800" spc="-10" dirty="0">
                <a:latin typeface="Calibri"/>
                <a:cs typeface="Calibri"/>
              </a:rPr>
              <a:t>out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25" dirty="0">
                <a:latin typeface="Calibri"/>
                <a:cs typeface="Calibri"/>
              </a:rPr>
              <a:t>buffer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kernel</a:t>
            </a:r>
            <a:r>
              <a:rPr lang="en-US" sz="2800" spc="-15" dirty="0">
                <a:latin typeface="Calibri"/>
                <a:cs typeface="Calibri"/>
              </a:rPr>
              <a:t> buffer.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lang="en-US" sz="2800" spc="-5" dirty="0">
                <a:latin typeface="Calibri"/>
                <a:cs typeface="Calibri"/>
              </a:rPr>
              <a:t>you put </a:t>
            </a:r>
            <a:r>
              <a:rPr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800" spc="-5" dirty="0">
                <a:latin typeface="Calibri"/>
                <a:cs typeface="Calibri"/>
              </a:rPr>
              <a:t> as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stream</a:t>
            </a:r>
            <a:r>
              <a:rPr sz="280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open </a:t>
            </a:r>
            <a:r>
              <a:rPr sz="2800" spc="-15" dirty="0">
                <a:latin typeface="Calibri"/>
                <a:cs typeface="Calibri"/>
              </a:rPr>
              <a:t>streams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flushed</a:t>
            </a:r>
            <a:r>
              <a:rPr lang="en-US" sz="2800" spc="-10" dirty="0">
                <a:latin typeface="Calibri"/>
                <a:cs typeface="Calibri"/>
              </a:rPr>
              <a:t>:</a:t>
            </a:r>
          </a:p>
          <a:p>
            <a:pPr marL="469900" lvl="1">
              <a:spcBef>
                <a:spcPts val="670"/>
              </a:spcBef>
              <a:tabLst>
                <a:tab pos="241300" algn="l"/>
              </a:tabLst>
            </a:pPr>
            <a:r>
              <a:rPr lang="en-US"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fflush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(NULL);</a:t>
            </a:r>
            <a:endParaRPr sz="200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 </a:t>
            </a:r>
            <a:r>
              <a:rPr lang="en-US"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0, </a:t>
            </a:r>
            <a:r>
              <a:rPr lang="en-US" sz="2800" spc="-5" dirty="0">
                <a:latin typeface="Calibri"/>
                <a:cs typeface="Calibri"/>
              </a:rPr>
              <a:t>and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 </a:t>
            </a:r>
            <a:r>
              <a:rPr lang="en-US" sz="2800" spc="-20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Not</a:t>
            </a:r>
            <a:r>
              <a:rPr lang="en-US" sz="2800" spc="-5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15" dirty="0">
                <a:latin typeface="Calibri"/>
                <a:cs typeface="Calibri"/>
              </a:rPr>
              <a:t>here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what’s </a:t>
            </a:r>
            <a:r>
              <a:rPr sz="2800" spc="-10" dirty="0">
                <a:latin typeface="Calibri"/>
                <a:cs typeface="Calibri"/>
              </a:rPr>
              <a:t>being flushed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5" dirty="0">
                <a:latin typeface="Calibri"/>
                <a:cs typeface="Calibri"/>
              </a:rPr>
              <a:t>in the user space, and </a:t>
            </a:r>
            <a:r>
              <a:rPr sz="2800" spc="-25" dirty="0">
                <a:latin typeface="Calibri"/>
                <a:cs typeface="Calibri"/>
              </a:rPr>
              <a:t>it’s </a:t>
            </a:r>
            <a:r>
              <a:rPr sz="2800" spc="-10" dirty="0">
                <a:latin typeface="Calibri"/>
                <a:cs typeface="Calibri"/>
              </a:rPr>
              <a:t>being </a:t>
            </a:r>
            <a:r>
              <a:rPr sz="2800" spc="-15" dirty="0">
                <a:latin typeface="Calibri"/>
                <a:cs typeface="Calibri"/>
              </a:rPr>
              <a:t>written 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25" dirty="0">
                <a:latin typeface="Calibri"/>
                <a:cs typeface="Calibri"/>
              </a:rPr>
              <a:t>buffer</a:t>
            </a:r>
            <a:r>
              <a:rPr lang="en-US" sz="2800" spc="-25" dirty="0">
                <a:latin typeface="Calibri"/>
                <a:cs typeface="Calibri"/>
              </a:rPr>
              <a:t> in memory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spc="-25" dirty="0">
                <a:latin typeface="Calibri"/>
                <a:cs typeface="Calibri"/>
              </a:rPr>
              <a:t>different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fsync()</a:t>
            </a:r>
            <a:r>
              <a:rPr sz="2800" spc="-15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10" dirty="0">
                <a:latin typeface="Calibri"/>
                <a:cs typeface="Calibri"/>
              </a:rPr>
              <a:t>ensures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35" dirty="0">
                <a:latin typeface="Calibri"/>
                <a:cs typeface="Calibri"/>
              </a:rPr>
              <a:t>kernel’s </a:t>
            </a:r>
            <a:r>
              <a:rPr sz="2800" spc="-25" dirty="0">
                <a:latin typeface="Calibri"/>
                <a:cs typeface="Calibri"/>
              </a:rPr>
              <a:t>buffer </a:t>
            </a:r>
            <a:r>
              <a:rPr sz="2800" spc="-10" dirty="0">
                <a:latin typeface="Calibri"/>
                <a:cs typeface="Calibri"/>
              </a:rPr>
              <a:t>being </a:t>
            </a:r>
            <a:r>
              <a:rPr sz="2800" spc="-15" dirty="0">
                <a:latin typeface="Calibri"/>
                <a:cs typeface="Calibri"/>
              </a:rPr>
              <a:t>written </a:t>
            </a:r>
            <a:r>
              <a:rPr sz="2800" spc="-5" dirty="0">
                <a:latin typeface="Calibri"/>
                <a:cs typeface="Calibri"/>
              </a:rPr>
              <a:t>out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disk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08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Errors </a:t>
            </a:r>
            <a:r>
              <a:rPr spc="-20" dirty="0"/>
              <a:t>and</a:t>
            </a:r>
            <a:r>
              <a:rPr spc="-150" dirty="0"/>
              <a:t> </a:t>
            </a:r>
            <a:r>
              <a:rPr spc="-35" dirty="0"/>
              <a:t>End-of-File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65757"/>
            <a:ext cx="10589261" cy="4324902"/>
          </a:xfrm>
          <a:prstGeom prst="rect">
            <a:avLst/>
          </a:prstGeom>
        </p:spPr>
        <p:txBody>
          <a:bodyPr vert="horz" wrap="square" lIns="0" tIns="13335" rIns="0" bIns="0" numCol="1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tell </a:t>
            </a:r>
            <a:r>
              <a:rPr sz="2600" spc="-15" dirty="0">
                <a:latin typeface="Calibri"/>
                <a:cs typeface="Calibri"/>
              </a:rPr>
              <a:t>errors</a:t>
            </a:r>
            <a:r>
              <a:rPr lang="en-US" sz="2600" spc="-15" dirty="0">
                <a:latin typeface="Calibri"/>
                <a:cs typeface="Calibri"/>
              </a:rPr>
              <a:t> apart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from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 </a:t>
            </a:r>
            <a:r>
              <a:rPr sz="2600" spc="-10" dirty="0">
                <a:latin typeface="Calibri"/>
                <a:cs typeface="Calibri"/>
              </a:rPr>
              <a:t>problem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4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fread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sz="2600" spc="-5" dirty="0">
                <a:latin typeface="Calibri"/>
                <a:cs typeface="Calibri"/>
              </a:rPr>
              <a:t>),</a:t>
            </a:r>
            <a:r>
              <a:rPr lang="en-US" sz="2600" spc="-5" dirty="0">
                <a:latin typeface="Calibri"/>
                <a:cs typeface="Calibri"/>
              </a:rPr>
              <a:t> we use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4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ferror</a:t>
            </a:r>
            <a:r>
              <a:rPr lang="en-US"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600" spc="-5" dirty="0">
                <a:latin typeface="Calibri"/>
                <a:cs typeface="Calibri"/>
              </a:rPr>
              <a:t>:</a:t>
            </a:r>
            <a:endParaRPr sz="2400" spc="-1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</a:p>
          <a:p>
            <a:pPr marL="469900">
              <a:lnSpc>
                <a:spcPts val="2260"/>
              </a:lnSpc>
              <a:spcBef>
                <a:spcPts val="35"/>
              </a:spcBef>
              <a:spcAft>
                <a:spcPts val="600"/>
              </a:spcAft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ferror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1900" b="1" spc="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  <a:endParaRPr lang="en-US"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755650" indent="-285750" algn="l">
              <a:lnSpc>
                <a:spcPts val="2260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Returns a nonzero integer if an error occurred, and 0 if there’s no error.</a:t>
            </a: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lang="en-US" sz="2600" spc="-15" dirty="0">
                <a:latin typeface="Calibri"/>
                <a:cs typeface="Calibri"/>
              </a:rPr>
              <a:t>Another function </a:t>
            </a:r>
            <a:r>
              <a:rPr lang="en-US" sz="24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feof</a:t>
            </a:r>
            <a:r>
              <a:rPr lang="en-US"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kumimoji="0" lang="en-US" sz="26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tests for </a:t>
            </a:r>
            <a:r>
              <a:rPr lang="en-US" sz="24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endParaRPr sz="4000" dirty="0"/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</a:p>
          <a:p>
            <a:pPr marL="469900">
              <a:lnSpc>
                <a:spcPts val="2275"/>
              </a:lnSpc>
              <a:spcBef>
                <a:spcPts val="275"/>
              </a:spcBef>
              <a:spcAft>
                <a:spcPts val="600"/>
              </a:spcAft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feof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1900" b="1" spc="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</a:p>
          <a:p>
            <a:pPr marL="698500" lvl="1" indent="-229235">
              <a:lnSpc>
                <a:spcPts val="263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Returns </a:t>
            </a:r>
            <a:r>
              <a:rPr lang="en-US" sz="2400" dirty="0"/>
              <a:t>a nonzero integer</a:t>
            </a:r>
            <a:r>
              <a:rPr sz="2400" spc="-20" dirty="0">
                <a:latin typeface="Calibri"/>
                <a:cs typeface="Calibri"/>
              </a:rPr>
              <a:t> for </a:t>
            </a:r>
            <a:r>
              <a:rPr sz="24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400" dirty="0"/>
              <a:t>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0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if we didn’t reach the end-of-file.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clearerr()</a:t>
            </a:r>
            <a:r>
              <a:rPr sz="2600" spc="-5" dirty="0">
                <a:latin typeface="Calibri"/>
                <a:cs typeface="Calibri"/>
              </a:rPr>
              <a:t> function </a:t>
            </a:r>
            <a:r>
              <a:rPr sz="2600" spc="-10" dirty="0">
                <a:latin typeface="Calibri"/>
                <a:cs typeface="Calibri"/>
              </a:rPr>
              <a:t>clears </a:t>
            </a:r>
            <a:r>
              <a:rPr sz="2600" spc="-5" dirty="0">
                <a:latin typeface="Calibri"/>
                <a:cs typeface="Calibri"/>
              </a:rPr>
              <a:t>both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error </a:t>
            </a:r>
            <a:r>
              <a:rPr sz="2600" dirty="0">
                <a:latin typeface="Calibri"/>
                <a:cs typeface="Calibri"/>
              </a:rPr>
              <a:t>and the </a:t>
            </a:r>
            <a:r>
              <a:rPr sz="24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indicators</a:t>
            </a:r>
            <a:r>
              <a:rPr lang="en-US" sz="2600" spc="-1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clearerr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1900" b="1" spc="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</a:p>
          <a:p>
            <a:pPr marL="698500" lvl="1" indent="-229235">
              <a:lnSpc>
                <a:spcPct val="10000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dirty="0" err="1">
                <a:solidFill>
                  <a:srgbClr val="0070C0"/>
                </a:solidFill>
                <a:latin typeface="Consolas"/>
                <a:cs typeface="Consolas"/>
              </a:rPr>
              <a:t>clearerr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()</a:t>
            </a:r>
            <a:r>
              <a:rPr lang="en-US" sz="2000" dirty="0">
                <a:solidFill>
                  <a:srgbClr val="0070C0"/>
                </a:solidFill>
                <a:latin typeface="+mj-lt"/>
                <a:cs typeface="Consolas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cannot fail; </a:t>
            </a:r>
            <a:r>
              <a:rPr sz="2200" spc="-5" dirty="0">
                <a:latin typeface="Calibri"/>
                <a:cs typeface="Calibri"/>
              </a:rPr>
              <a:t>Call this function only </a:t>
            </a:r>
            <a:r>
              <a:rPr sz="2200" spc="-10" dirty="0">
                <a:latin typeface="Calibri"/>
                <a:cs typeface="Calibri"/>
              </a:rPr>
              <a:t>after </a:t>
            </a:r>
            <a:r>
              <a:rPr sz="2200" spc="-5" dirty="0">
                <a:latin typeface="Calibri"/>
                <a:cs typeface="Calibri"/>
              </a:rPr>
              <a:t>checking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lang="en-US" sz="2200" spc="5" dirty="0">
                <a:latin typeface="Calibri"/>
                <a:cs typeface="Calibri"/>
              </a:rPr>
              <a:t>for </a:t>
            </a:r>
            <a:r>
              <a:rPr sz="2200" spc="-15" dirty="0">
                <a:latin typeface="Calibri"/>
                <a:cs typeface="Calibri"/>
              </a:rPr>
              <a:t>error</a:t>
            </a:r>
            <a:r>
              <a:rPr lang="en-US" sz="2200" spc="-15" dirty="0">
                <a:latin typeface="Calibri"/>
                <a:cs typeface="Calibri"/>
              </a:rPr>
              <a:t>s</a:t>
            </a:r>
            <a:r>
              <a:rPr sz="2200" spc="-15" dirty="0">
                <a:latin typeface="Calibri"/>
                <a:cs typeface="Calibri"/>
              </a:rPr>
              <a:t>/</a:t>
            </a:r>
            <a:r>
              <a:rPr sz="20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1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51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Getting </a:t>
            </a:r>
            <a:r>
              <a:rPr spc="-15" dirty="0"/>
              <a:t>File </a:t>
            </a:r>
            <a:r>
              <a:rPr spc="-35" dirty="0"/>
              <a:t>Descriptor </a:t>
            </a:r>
            <a:r>
              <a:rPr spc="-20" dirty="0"/>
              <a:t>and</a:t>
            </a:r>
            <a:r>
              <a:rPr spc="-295" dirty="0"/>
              <a:t> </a:t>
            </a:r>
            <a:r>
              <a:rPr spc="-55" dirty="0"/>
              <a:t>Buffering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65757"/>
            <a:ext cx="10970262" cy="39247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need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lang="en-US" sz="2600" spc="-20" dirty="0">
                <a:latin typeface="Calibri"/>
                <a:cs typeface="Calibri"/>
              </a:rPr>
              <a:t>make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lang="en-US" sz="2600" spc="-20" dirty="0">
                <a:latin typeface="Calibri"/>
                <a:cs typeface="Calibri"/>
              </a:rPr>
              <a:t>a syscall </a:t>
            </a:r>
            <a:r>
              <a:rPr sz="2600" dirty="0">
                <a:latin typeface="Calibri"/>
                <a:cs typeface="Calibri"/>
              </a:rPr>
              <a:t>on a </a:t>
            </a:r>
            <a:r>
              <a:rPr sz="2600" spc="-5" dirty="0">
                <a:latin typeface="Calibri"/>
                <a:cs typeface="Calibri"/>
              </a:rPr>
              <a:t>stream, </a:t>
            </a:r>
            <a:r>
              <a:rPr lang="en-US" sz="2600" spc="-5" dirty="0">
                <a:latin typeface="Calibri"/>
                <a:cs typeface="Calibri"/>
              </a:rPr>
              <a:t>use the following </a:t>
            </a:r>
            <a:r>
              <a:rPr sz="2600" spc="-10" dirty="0">
                <a:latin typeface="Calibri"/>
                <a:cs typeface="Calibri"/>
              </a:rPr>
              <a:t>to get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600" spc="-3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</a:p>
          <a:p>
            <a:pPr marL="469900">
              <a:lnSpc>
                <a:spcPts val="2260"/>
              </a:lnSpc>
              <a:spcBef>
                <a:spcPts val="35"/>
              </a:spcBef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fileno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1900" b="1" spc="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0" dirty="0">
                <a:latin typeface="Calibri"/>
                <a:cs typeface="Calibri"/>
              </a:rPr>
              <a:t>returns</a:t>
            </a:r>
            <a:r>
              <a:rPr lang="en-US" sz="2200" spc="-10" dirty="0">
                <a:latin typeface="Calibri"/>
                <a:cs typeface="Calibri"/>
              </a:rPr>
              <a:t> 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pc="-3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 </a:t>
            </a:r>
            <a:r>
              <a:rPr sz="2200" spc="-10" dirty="0">
                <a:latin typeface="Calibri"/>
                <a:cs typeface="Calibri"/>
              </a:rPr>
              <a:t>success </a:t>
            </a:r>
            <a:r>
              <a:rPr sz="2200" spc="-5" dirty="0">
                <a:latin typeface="Calibri"/>
                <a:cs typeface="Calibri"/>
              </a:rPr>
              <a:t>and -1 on </a:t>
            </a:r>
            <a:r>
              <a:rPr sz="2200" spc="-15" dirty="0">
                <a:latin typeface="Calibri"/>
                <a:cs typeface="Calibri"/>
              </a:rPr>
              <a:t>failure </a:t>
            </a:r>
            <a:r>
              <a:rPr sz="2200" spc="-5" dirty="0">
                <a:latin typeface="Calibri"/>
                <a:cs typeface="Calibri"/>
              </a:rPr>
              <a:t>(with</a:t>
            </a:r>
            <a:r>
              <a:rPr lang="en-US" sz="2200" spc="-5" dirty="0">
                <a:latin typeface="Calibri"/>
                <a:cs typeface="Calibri"/>
              </a:rPr>
              <a:t> </a:t>
            </a:r>
            <a:r>
              <a:rPr lang="en-US" sz="24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lang="en-US" sz="2200" spc="-15" dirty="0">
                <a:latin typeface="Calibri"/>
                <a:cs typeface="Calibri"/>
              </a:rPr>
              <a:t>being set to </a:t>
            </a:r>
            <a:r>
              <a:rPr sz="2000" spc="-3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EBADF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r>
              <a:rPr sz="2200" spc="-1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However </a:t>
            </a:r>
            <a:r>
              <a:rPr sz="2600" dirty="0">
                <a:latin typeface="Calibri"/>
                <a:cs typeface="Calibri"/>
              </a:rPr>
              <a:t>mixing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calls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15" dirty="0">
                <a:latin typeface="Calibri"/>
                <a:cs typeface="Calibri"/>
              </a:rPr>
              <a:t>syscalls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advised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normally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Syscalls may conflict </a:t>
            </a:r>
            <a:r>
              <a:rPr sz="2200" spc="-5" dirty="0">
                <a:latin typeface="Calibri"/>
                <a:cs typeface="Calibri"/>
              </a:rPr>
              <a:t>with the </a:t>
            </a:r>
            <a:r>
              <a:rPr sz="2200" spc="-10" dirty="0">
                <a:latin typeface="Calibri"/>
                <a:cs typeface="Calibri"/>
              </a:rPr>
              <a:t>user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buffering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A g</a:t>
            </a:r>
            <a:r>
              <a:rPr sz="2200" spc="-5" dirty="0">
                <a:latin typeface="Calibri"/>
                <a:cs typeface="Calibri"/>
              </a:rPr>
              <a:t>ood </a:t>
            </a:r>
            <a:r>
              <a:rPr sz="2200" spc="-15" dirty="0">
                <a:latin typeface="Calibri"/>
                <a:cs typeface="Calibri"/>
              </a:rPr>
              <a:t>practice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lang="en-US" sz="2200" spc="-5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flush</a:t>
            </a:r>
            <a:r>
              <a:rPr lang="en-US" sz="2200" spc="-10" dirty="0">
                <a:latin typeface="Calibri"/>
                <a:cs typeface="Calibri"/>
              </a:rPr>
              <a:t> 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stream </a:t>
            </a:r>
            <a:r>
              <a:rPr lang="en-US" sz="2200" spc="-15" dirty="0">
                <a:latin typeface="Calibri"/>
                <a:cs typeface="Calibri"/>
              </a:rPr>
              <a:t>to the kernel buffer </a:t>
            </a:r>
            <a:r>
              <a:rPr sz="2200" spc="-25" dirty="0">
                <a:latin typeface="Calibri"/>
                <a:cs typeface="Calibri"/>
              </a:rPr>
              <a:t>before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lang="en-US" sz="2200" spc="-15" dirty="0">
                <a:latin typeface="Calibri"/>
                <a:cs typeface="Calibri"/>
              </a:rPr>
              <a:t>issuing system calls.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Controlling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uffering</a:t>
            </a:r>
            <a:r>
              <a:rPr lang="en-US" sz="2600" spc="-10" dirty="0">
                <a:latin typeface="Calibri"/>
                <a:cs typeface="Calibri"/>
              </a:rPr>
              <a:t>: </a:t>
            </a:r>
            <a:r>
              <a:rPr sz="2400" spc="-1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calls implement </a:t>
            </a:r>
            <a:r>
              <a:rPr sz="2400" spc="-5" dirty="0">
                <a:latin typeface="Calibri"/>
                <a:cs typeface="Calibri"/>
              </a:rPr>
              <a:t>3 types of </a:t>
            </a:r>
            <a:r>
              <a:rPr sz="2400" spc="-10" dirty="0">
                <a:latin typeface="Calibri"/>
                <a:cs typeface="Calibri"/>
              </a:rPr>
              <a:t>user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buffering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spcBef>
                <a:spcPts val="5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u="sng" spc="-15" dirty="0">
                <a:latin typeface="Calibri"/>
                <a:cs typeface="Calibri"/>
              </a:rPr>
              <a:t>Unbuffered</a:t>
            </a:r>
            <a:r>
              <a:rPr sz="2000" spc="-15" dirty="0">
                <a:latin typeface="Calibri"/>
                <a:cs typeface="Calibri"/>
              </a:rPr>
              <a:t>: </a:t>
            </a:r>
            <a:r>
              <a:rPr lang="en-US" sz="2000" spc="-1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not </a:t>
            </a:r>
            <a:r>
              <a:rPr lang="en-US" sz="2000" spc="-10" dirty="0">
                <a:latin typeface="Calibri"/>
                <a:cs typeface="Calibri"/>
              </a:rPr>
              <a:t>commonly </a:t>
            </a:r>
            <a:r>
              <a:rPr sz="2000" spc="-5" dirty="0">
                <a:latin typeface="Calibri"/>
                <a:cs typeface="Calibri"/>
              </a:rPr>
              <a:t>used </a:t>
            </a:r>
            <a:r>
              <a:rPr sz="2000" spc="-20" dirty="0">
                <a:latin typeface="Calibri"/>
                <a:cs typeface="Calibri"/>
              </a:rPr>
              <a:t>except for </a:t>
            </a:r>
            <a:r>
              <a:rPr sz="2000" spc="-15" dirty="0">
                <a:latin typeface="Calibri"/>
                <a:cs typeface="Calibri"/>
              </a:rPr>
              <a:t>standard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error</a:t>
            </a:r>
            <a:r>
              <a:rPr lang="en-US" sz="2000" spc="-15" dirty="0">
                <a:latin typeface="Calibri"/>
                <a:cs typeface="Calibri"/>
              </a:rPr>
              <a:t>, which is usually unbuffered.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u="sng" spc="-15" dirty="0">
                <a:latin typeface="Calibri"/>
                <a:cs typeface="Calibri"/>
              </a:rPr>
              <a:t>Line-buffered</a:t>
            </a:r>
            <a:r>
              <a:rPr sz="2000" spc="-15" dirty="0">
                <a:latin typeface="Calibri"/>
                <a:cs typeface="Calibri"/>
              </a:rPr>
              <a:t>: </a:t>
            </a:r>
            <a:r>
              <a:rPr lang="en-US" sz="2000" spc="-15" dirty="0">
                <a:latin typeface="Calibri"/>
                <a:cs typeface="Calibri"/>
              </a:rPr>
              <a:t>the </a:t>
            </a:r>
            <a:r>
              <a:rPr sz="2000" spc="-20" dirty="0">
                <a:latin typeface="Calibri"/>
                <a:cs typeface="Calibri"/>
              </a:rPr>
              <a:t>buffer </a:t>
            </a:r>
            <a:r>
              <a:rPr lang="en-US" sz="2000" spc="-20" dirty="0">
                <a:latin typeface="Calibri"/>
                <a:cs typeface="Calibri"/>
              </a:rPr>
              <a:t>is </a:t>
            </a:r>
            <a:r>
              <a:rPr sz="2000" spc="-15" dirty="0">
                <a:latin typeface="Calibri"/>
                <a:cs typeface="Calibri"/>
              </a:rPr>
              <a:t>submitted to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kernel </a:t>
            </a:r>
            <a:r>
              <a:rPr sz="2000" spc="-20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each </a:t>
            </a: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2000" spc="-10" dirty="0">
                <a:latin typeface="Calibri"/>
                <a:cs typeface="Calibri"/>
              </a:rPr>
              <a:t> character</a:t>
            </a:r>
            <a:r>
              <a:rPr lang="en-US" sz="2000" spc="-10" dirty="0">
                <a:latin typeface="Calibri"/>
                <a:cs typeface="Calibri"/>
              </a:rPr>
              <a:t>; </a:t>
            </a:r>
            <a:r>
              <a:rPr sz="2000" spc="-10" dirty="0">
                <a:latin typeface="Calibri"/>
                <a:cs typeface="Calibri"/>
              </a:rPr>
              <a:t>default </a:t>
            </a:r>
            <a:r>
              <a:rPr sz="2000" spc="-20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terminals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spcBef>
                <a:spcPts val="5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u="sng" spc="-15" dirty="0">
                <a:latin typeface="Calibri"/>
                <a:cs typeface="Calibri"/>
              </a:rPr>
              <a:t>Block-buffered</a:t>
            </a:r>
            <a:r>
              <a:rPr sz="2000" spc="-15" dirty="0">
                <a:latin typeface="Calibri"/>
                <a:cs typeface="Calibri"/>
              </a:rPr>
              <a:t>: </a:t>
            </a:r>
            <a:r>
              <a:rPr lang="en-US" sz="2000" spc="-1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default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streams associated </a:t>
            </a:r>
            <a:r>
              <a:rPr sz="2000" spc="-5" dirty="0">
                <a:latin typeface="Calibri"/>
                <a:cs typeface="Calibri"/>
              </a:rPr>
              <a:t>with </a:t>
            </a:r>
            <a:r>
              <a:rPr sz="2000" spc="-10" dirty="0">
                <a:latin typeface="Calibri"/>
                <a:cs typeface="Calibri"/>
              </a:rPr>
              <a:t>disk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files</a:t>
            </a:r>
            <a:r>
              <a:rPr lang="en-US" sz="2000" spc="-5" dirty="0">
                <a:latin typeface="Calibri"/>
                <a:cs typeface="Calibri"/>
              </a:rPr>
              <a:t>; another name: </a:t>
            </a:r>
            <a:r>
              <a:rPr lang="en-US" sz="2000" u="sng" spc="-5" dirty="0">
                <a:latin typeface="Calibri"/>
                <a:cs typeface="Calibri"/>
              </a:rPr>
              <a:t>fully-buffered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u="sng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0595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</a:t>
            </a:r>
            <a:r>
              <a:rPr spc="-180" dirty="0"/>
              <a:t> </a:t>
            </a:r>
            <a:r>
              <a:rPr spc="-55" dirty="0"/>
              <a:t>Buffering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4431"/>
            <a:ext cx="10284461" cy="4355038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 </a:t>
            </a:r>
            <a:r>
              <a:rPr sz="2800" spc="-20" dirty="0">
                <a:latin typeface="Calibri"/>
                <a:cs typeface="Calibri"/>
              </a:rPr>
              <a:t>control </a:t>
            </a:r>
            <a:r>
              <a:rPr sz="2800" spc="-5" dirty="0">
                <a:latin typeface="Calibri"/>
                <a:cs typeface="Calibri"/>
              </a:rPr>
              <a:t>the type of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buffering</a:t>
            </a:r>
            <a:r>
              <a:rPr lang="en-US" sz="2800" spc="-2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stdio.h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setvbuf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FILE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*stream,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buf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mode, </a:t>
            </a:r>
            <a:r>
              <a:rPr sz="2000" b="1" dirty="0" err="1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size);</a:t>
            </a: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Clr>
                <a:schemeClr val="tx1"/>
              </a:buClr>
              <a:buFont typeface="Arial"/>
              <a:buChar char="•"/>
              <a:tabLst>
                <a:tab pos="699135" algn="l"/>
              </a:tabLst>
            </a:pPr>
            <a:r>
              <a:rPr lang="en-US"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mode</a:t>
            </a:r>
            <a:r>
              <a:rPr lang="en-US" sz="24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 </a:t>
            </a:r>
            <a:r>
              <a:rPr sz="2400" spc="-5" dirty="0">
                <a:latin typeface="Calibri"/>
                <a:cs typeface="Calibri"/>
              </a:rPr>
              <a:t>be one 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following: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_</a:t>
            </a:r>
            <a:r>
              <a:rPr sz="22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IONBF</a:t>
            </a:r>
            <a:r>
              <a:rPr sz="2400" spc="-40" dirty="0">
                <a:latin typeface="Calibri"/>
                <a:cs typeface="Calibri"/>
              </a:rPr>
              <a:t>,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_</a:t>
            </a:r>
            <a:r>
              <a:rPr sz="22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IOLBF</a:t>
            </a:r>
            <a:r>
              <a:rPr sz="2400" spc="-40" dirty="0">
                <a:latin typeface="Calibri"/>
                <a:cs typeface="Calibri"/>
              </a:rPr>
              <a:t>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_</a:t>
            </a:r>
            <a:r>
              <a:rPr sz="22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IOFBF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latter </a:t>
            </a:r>
            <a:r>
              <a:rPr sz="2400" spc="-10" dirty="0">
                <a:latin typeface="Calibri"/>
                <a:cs typeface="Calibri"/>
              </a:rPr>
              <a:t>two </a:t>
            </a:r>
            <a:r>
              <a:rPr sz="2400" dirty="0">
                <a:latin typeface="Calibri"/>
                <a:cs typeface="Calibri"/>
              </a:rPr>
              <a:t>modes,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buf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size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bytes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dirty="0">
                <a:latin typeface="Calibri"/>
                <a:cs typeface="Calibri"/>
              </a:rPr>
              <a:t>as 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buffer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buf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400" dirty="0">
                <a:latin typeface="Calibri"/>
                <a:cs typeface="Calibri"/>
              </a:rPr>
              <a:t>, a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size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bytes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allocated automatically by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i="1" spc="-5" dirty="0" err="1">
                <a:latin typeface="Calibri"/>
                <a:cs typeface="Calibri"/>
              </a:rPr>
              <a:t>glibc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spc="-15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Must </a:t>
            </a:r>
            <a:r>
              <a:rPr sz="2400" spc="-5" dirty="0">
                <a:latin typeface="Calibri"/>
                <a:cs typeface="Calibri"/>
              </a:rPr>
              <a:t>be called </a:t>
            </a:r>
            <a:r>
              <a:rPr sz="2400" spc="-10" dirty="0">
                <a:latin typeface="Calibri"/>
                <a:cs typeface="Calibri"/>
              </a:rPr>
              <a:t>after </a:t>
            </a:r>
            <a:r>
              <a:rPr sz="2400" spc="-5" dirty="0">
                <a:latin typeface="Calibri"/>
                <a:cs typeface="Calibri"/>
              </a:rPr>
              <a:t>opening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stream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400" spc="-25" dirty="0">
                <a:latin typeface="Calibri"/>
                <a:cs typeface="Calibri"/>
              </a:rPr>
              <a:t>before </a:t>
            </a: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file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success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a </a:t>
            </a:r>
            <a:r>
              <a:rPr sz="2400" spc="-15" dirty="0">
                <a:latin typeface="Calibri"/>
                <a:cs typeface="Calibri"/>
              </a:rPr>
              <a:t>nonzero </a:t>
            </a:r>
            <a:r>
              <a:rPr sz="2400" spc="-10" dirty="0">
                <a:latin typeface="Calibri"/>
                <a:cs typeface="Calibri"/>
              </a:rPr>
              <a:t>value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otherwise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alibri"/>
                <a:cs typeface="Calibri"/>
              </a:rPr>
              <a:t>Make </a:t>
            </a:r>
            <a:r>
              <a:rPr sz="2400" spc="-15" dirty="0">
                <a:latin typeface="Calibri"/>
                <a:cs typeface="Calibri"/>
              </a:rPr>
              <a:t>sure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sz="2400" spc="-15" dirty="0">
                <a:latin typeface="Calibri"/>
                <a:cs typeface="Calibri"/>
              </a:rPr>
              <a:t>exists </a:t>
            </a:r>
            <a:r>
              <a:rPr sz="2400" dirty="0">
                <a:latin typeface="Calibri"/>
                <a:cs typeface="Calibri"/>
              </a:rPr>
              <a:t>when the </a:t>
            </a:r>
            <a:r>
              <a:rPr sz="2400" spc="-10" dirty="0">
                <a:latin typeface="Calibri"/>
                <a:cs typeface="Calibri"/>
              </a:rPr>
              <a:t>stream </a:t>
            </a:r>
            <a:r>
              <a:rPr sz="2400" dirty="0">
                <a:latin typeface="Calibri"/>
                <a:cs typeface="Calibri"/>
              </a:rPr>
              <a:t>is closed </a:t>
            </a:r>
            <a:r>
              <a:rPr sz="2400" spc="-5" dirty="0">
                <a:latin typeface="Calibri"/>
                <a:cs typeface="Calibri"/>
              </a:rPr>
              <a:t>(so </a:t>
            </a:r>
            <a:r>
              <a:rPr sz="2400" spc="-20" dirty="0">
                <a:latin typeface="Calibri"/>
                <a:cs typeface="Calibri"/>
              </a:rPr>
              <a:t>make </a:t>
            </a:r>
            <a:r>
              <a:rPr sz="22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buf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  <a:hlinkClick r:id="rId2"/>
              </a:rPr>
              <a:t>global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Generally,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developers don’t </a:t>
            </a:r>
            <a:r>
              <a:rPr sz="2400" spc="-5" dirty="0">
                <a:latin typeface="Calibri"/>
                <a:cs typeface="Calibri"/>
              </a:rPr>
              <a:t>need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mess with </a:t>
            </a:r>
            <a:r>
              <a:rPr sz="2400" spc="-15" dirty="0">
                <a:latin typeface="Calibri"/>
                <a:cs typeface="Calibri"/>
              </a:rPr>
              <a:t>buffering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stream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default </a:t>
            </a:r>
            <a:r>
              <a:rPr sz="2400" spc="-20" dirty="0">
                <a:latin typeface="Calibri"/>
                <a:cs typeface="Calibri"/>
              </a:rPr>
              <a:t>buffer size for </a:t>
            </a:r>
            <a:r>
              <a:rPr sz="2400" spc="-5" dirty="0">
                <a:latin typeface="Calibri"/>
                <a:cs typeface="Calibri"/>
              </a:rPr>
              <a:t>block </a:t>
            </a:r>
            <a:r>
              <a:rPr sz="2400" spc="-15" dirty="0">
                <a:latin typeface="Calibri"/>
                <a:cs typeface="Calibri"/>
              </a:rPr>
              <a:t>buffering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BUFSIZ</a:t>
            </a:r>
            <a:r>
              <a:rPr sz="2400" spc="-10" dirty="0">
                <a:latin typeface="Calibri"/>
                <a:cs typeface="Calibri"/>
              </a:rPr>
              <a:t>)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defined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lang="en-US"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&lt;</a:t>
            </a:r>
            <a:r>
              <a:rPr sz="22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stdio.h</a:t>
            </a:r>
            <a:r>
              <a:rPr lang="en-US"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&gt;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lang="en-US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046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Thread</a:t>
            </a:r>
            <a:r>
              <a:rPr spc="-155" dirty="0"/>
              <a:t> </a:t>
            </a:r>
            <a:r>
              <a:rPr spc="-55" dirty="0"/>
              <a:t>Safety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1275061" cy="42652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1001394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Multi</a:t>
            </a:r>
            <a:r>
              <a:rPr lang="en-US" sz="2800" spc="-10" dirty="0">
                <a:latin typeface="Calibri"/>
                <a:cs typeface="Calibri"/>
              </a:rPr>
              <a:t>-</a:t>
            </a:r>
            <a:r>
              <a:rPr sz="2800" spc="-10" dirty="0">
                <a:latin typeface="Calibri"/>
                <a:cs typeface="Calibri"/>
              </a:rPr>
              <a:t>threaded processes </a:t>
            </a:r>
            <a:r>
              <a:rPr lang="en-US" sz="2800" spc="-10" dirty="0">
                <a:latin typeface="Calibri"/>
                <a:cs typeface="Calibri"/>
              </a:rPr>
              <a:t>(= running programs)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30" dirty="0">
                <a:latin typeface="Calibri"/>
                <a:cs typeface="Calibri"/>
              </a:rPr>
              <a:t>like </a:t>
            </a:r>
            <a:r>
              <a:rPr lang="en-US" sz="2800" spc="-5" dirty="0">
                <a:latin typeface="Calibri"/>
                <a:cs typeface="Calibri"/>
              </a:rPr>
              <a:t>several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 sharing </a:t>
            </a:r>
            <a:r>
              <a:rPr lang="en-US" sz="2800" spc="-5" dirty="0">
                <a:latin typeface="Calibri"/>
                <a:cs typeface="Calibri"/>
              </a:rPr>
              <a:t>the same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space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lang="en-US"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multi</a:t>
            </a:r>
            <a:r>
              <a:rPr lang="en-US" sz="2800" spc="-10" dirty="0">
                <a:latin typeface="Calibri"/>
                <a:cs typeface="Calibri"/>
              </a:rPr>
              <a:t>-</a:t>
            </a:r>
            <a:r>
              <a:rPr sz="2800" spc="-10" dirty="0">
                <a:latin typeface="Calibri"/>
                <a:cs typeface="Calibri"/>
              </a:rPr>
              <a:t>processor </a:t>
            </a:r>
            <a:r>
              <a:rPr sz="2800" spc="-25" dirty="0">
                <a:latin typeface="Calibri"/>
                <a:cs typeface="Calibri"/>
              </a:rPr>
              <a:t>system, </a:t>
            </a:r>
            <a:r>
              <a:rPr sz="2800" spc="-10" dirty="0">
                <a:latin typeface="Calibri"/>
                <a:cs typeface="Calibri"/>
              </a:rPr>
              <a:t>multiple threads could </a:t>
            </a:r>
            <a:r>
              <a:rPr sz="2800" spc="-5" dirty="0">
                <a:latin typeface="Calibri"/>
                <a:cs typeface="Calibri"/>
              </a:rPr>
              <a:t>run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concurrently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Threads </a:t>
            </a:r>
            <a:r>
              <a:rPr lang="en-US" sz="2800" spc="-10" dirty="0">
                <a:latin typeface="Calibri"/>
                <a:cs typeface="Calibri"/>
              </a:rPr>
              <a:t>may</a:t>
            </a:r>
            <a:r>
              <a:rPr sz="2800" spc="-10" dirty="0">
                <a:latin typeface="Calibri"/>
                <a:cs typeface="Calibri"/>
              </a:rPr>
              <a:t> overwrite shared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10" dirty="0">
                <a:latin typeface="Calibri"/>
                <a:cs typeface="Calibri"/>
              </a:rPr>
              <a:t>unless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measures </a:t>
            </a:r>
            <a:r>
              <a:rPr lang="en-US" sz="2800" spc="-10" dirty="0">
                <a:latin typeface="Calibri"/>
                <a:cs typeface="Calibri"/>
              </a:rPr>
              <a:t>below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taken</a:t>
            </a:r>
            <a:r>
              <a:rPr lang="en-US" sz="2800" spc="-3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Synchron</a:t>
            </a:r>
            <a:r>
              <a:rPr lang="en-US" sz="2400" spc="-10" dirty="0">
                <a:latin typeface="Calibri"/>
                <a:cs typeface="Calibri"/>
              </a:rPr>
              <a:t>ize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 </a:t>
            </a:r>
            <a:r>
              <a:rPr sz="2400" spc="-15" dirty="0">
                <a:latin typeface="Calibri"/>
                <a:cs typeface="Calibri"/>
              </a:rPr>
              <a:t>to data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locking</a:t>
            </a:r>
            <a:r>
              <a:rPr sz="2400" dirty="0">
                <a:latin typeface="Calibri"/>
                <a:cs typeface="Calibri"/>
              </a:rPr>
              <a:t>),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Mak</a:t>
            </a:r>
            <a:r>
              <a:rPr lang="en-US" sz="240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 data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thread-local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thread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confinement</a:t>
            </a:r>
            <a:r>
              <a:rPr sz="2400" spc="-5" dirty="0">
                <a:latin typeface="Calibri"/>
                <a:cs typeface="Calibri"/>
              </a:rPr>
              <a:t>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330835" indent="-228600">
              <a:lnSpc>
                <a:spcPts val="302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An </a:t>
            </a:r>
            <a:r>
              <a:rPr sz="2800" spc="-5" dirty="0">
                <a:latin typeface="Calibri"/>
                <a:cs typeface="Calibri"/>
              </a:rPr>
              <a:t>OS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locking mechanisms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allow </a:t>
            </a:r>
            <a:r>
              <a:rPr sz="2800" spc="-15" dirty="0">
                <a:latin typeface="Calibri"/>
                <a:cs typeface="Calibri"/>
              </a:rPr>
              <a:t>concurrent </a:t>
            </a:r>
            <a:r>
              <a:rPr sz="28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calls, but </a:t>
            </a:r>
            <a:r>
              <a:rPr sz="2800" spc="-20" dirty="0">
                <a:latin typeface="Calibri"/>
                <a:cs typeface="Calibri"/>
              </a:rPr>
              <a:t>you may </a:t>
            </a:r>
            <a:r>
              <a:rPr sz="2800" spc="-15" dirty="0">
                <a:latin typeface="Calibri"/>
                <a:cs typeface="Calibri"/>
              </a:rPr>
              <a:t>want to </a:t>
            </a:r>
            <a:r>
              <a:rPr sz="2800" spc="-25" dirty="0">
                <a:latin typeface="Calibri"/>
                <a:cs typeface="Calibri"/>
              </a:rPr>
              <a:t>have </a:t>
            </a:r>
            <a:r>
              <a:rPr sz="2800" spc="-15" dirty="0">
                <a:latin typeface="Calibri"/>
                <a:cs typeface="Calibri"/>
              </a:rPr>
              <a:t>more refined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22225" lvl="1" indent="-228600">
              <a:lnSpc>
                <a:spcPts val="2590"/>
              </a:lnSpc>
              <a:spcBef>
                <a:spcPts val="5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While individual </a:t>
            </a:r>
            <a:r>
              <a:rPr sz="24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thread-safe, you </a:t>
            </a:r>
            <a:r>
              <a:rPr sz="2400" spc="-15" dirty="0">
                <a:latin typeface="Calibri"/>
                <a:cs typeface="Calibri"/>
              </a:rPr>
              <a:t>may want to </a:t>
            </a:r>
            <a:r>
              <a:rPr sz="2400" dirty="0">
                <a:latin typeface="Calibri"/>
                <a:cs typeface="Calibri"/>
              </a:rPr>
              <a:t>lock </a:t>
            </a:r>
            <a:r>
              <a:rPr lang="en-US" sz="2400" dirty="0">
                <a:latin typeface="Calibri"/>
                <a:cs typeface="Calibri"/>
              </a:rPr>
              <a:t>a whole code section </a:t>
            </a:r>
            <a:r>
              <a:rPr sz="2400" spc="-5" dirty="0">
                <a:latin typeface="Calibri"/>
                <a:cs typeface="Calibri"/>
              </a:rPr>
              <a:t>so </a:t>
            </a:r>
            <a:r>
              <a:rPr lang="en-US" sz="2400" spc="-5" dirty="0">
                <a:latin typeface="Calibri"/>
                <a:cs typeface="Calibri"/>
              </a:rPr>
              <a:t>that only 1 thread accesses it at a time, to prevent race conditions.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73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Manual </a:t>
            </a:r>
            <a:r>
              <a:rPr spc="-15" dirty="0"/>
              <a:t>File</a:t>
            </a:r>
            <a:r>
              <a:rPr spc="-190" dirty="0"/>
              <a:t> </a:t>
            </a:r>
            <a:r>
              <a:rPr spc="-30" dirty="0"/>
              <a:t>Locking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70633"/>
            <a:ext cx="10741661" cy="42600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ts val="2185"/>
              </a:lnSpc>
              <a:spcBef>
                <a:spcPts val="95"/>
              </a:spcBef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&lt;stdio.h&gt;</a:t>
            </a:r>
          </a:p>
          <a:p>
            <a:pPr marL="469900" marR="5414010">
              <a:lnSpc>
                <a:spcPct val="92200"/>
              </a:lnSpc>
              <a:spcBef>
                <a:spcPts val="80"/>
              </a:spcBef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flockfile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FILE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  <a:endParaRPr lang="en-US"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5414010">
              <a:lnSpc>
                <a:spcPct val="92200"/>
              </a:lnSpc>
              <a:spcBef>
                <a:spcPts val="80"/>
              </a:spcBef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funlockfile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FILE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*stream);  </a:t>
            </a: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ftrylockfile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FILE</a:t>
            </a:r>
            <a:r>
              <a:rPr sz="1900" b="1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*stream);</a:t>
            </a:r>
          </a:p>
          <a:p>
            <a:pPr marL="241300" marR="5080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flockfile()</a:t>
            </a:r>
            <a:r>
              <a:rPr sz="2600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function waits (blocks) until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stream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no longer </a:t>
            </a:r>
            <a:r>
              <a:rPr sz="2600" spc="-10" dirty="0">
                <a:latin typeface="Calibri"/>
                <a:cs typeface="Calibri"/>
              </a:rPr>
              <a:t>locked,  </a:t>
            </a:r>
            <a:r>
              <a:rPr sz="2600" spc="-5" dirty="0">
                <a:latin typeface="Calibri"/>
                <a:cs typeface="Calibri"/>
              </a:rPr>
              <a:t>increase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lock </a:t>
            </a:r>
            <a:r>
              <a:rPr sz="2600" spc="-10" dirty="0">
                <a:latin typeface="Calibri"/>
                <a:cs typeface="Calibri"/>
              </a:rPr>
              <a:t>count, </a:t>
            </a:r>
            <a:r>
              <a:rPr lang="en-US" sz="2600" spc="-10" dirty="0">
                <a:latin typeface="Calibri"/>
                <a:cs typeface="Calibri"/>
              </a:rPr>
              <a:t>and then </a:t>
            </a:r>
            <a:r>
              <a:rPr sz="2600" spc="-5" dirty="0">
                <a:latin typeface="Calibri"/>
                <a:cs typeface="Calibri"/>
              </a:rPr>
              <a:t>acquires </a:t>
            </a:r>
            <a:r>
              <a:rPr sz="2600" dirty="0">
                <a:latin typeface="Calibri"/>
                <a:cs typeface="Calibri"/>
              </a:rPr>
              <a:t>the lock, </a:t>
            </a:r>
            <a:r>
              <a:rPr lang="en-US" sz="2600" dirty="0">
                <a:latin typeface="Calibri"/>
                <a:cs typeface="Calibri"/>
              </a:rPr>
              <a:t>thus </a:t>
            </a:r>
            <a:r>
              <a:rPr sz="2600" spc="-5" dirty="0">
                <a:latin typeface="Calibri"/>
                <a:cs typeface="Calibri"/>
              </a:rPr>
              <a:t>becoming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lang="en-US" sz="2600" spc="-5" dirty="0">
                <a:cs typeface="Calibri"/>
              </a:rPr>
              <a:t>thread that </a:t>
            </a:r>
            <a:r>
              <a:rPr sz="2600" spc="-5" dirty="0">
                <a:latin typeface="Calibri"/>
                <a:cs typeface="Calibri"/>
              </a:rPr>
              <a:t>own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 of </a:t>
            </a:r>
            <a:r>
              <a:rPr sz="2600" spc="-10" dirty="0">
                <a:latin typeface="Calibri"/>
                <a:cs typeface="Calibri"/>
              </a:rPr>
              <a:t>stream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25971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funlockfile()</a:t>
            </a:r>
            <a:r>
              <a:rPr sz="2600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function decreases </a:t>
            </a:r>
            <a:r>
              <a:rPr sz="2600" dirty="0">
                <a:latin typeface="Calibri"/>
                <a:cs typeface="Calibri"/>
              </a:rPr>
              <a:t>the lock </a:t>
            </a:r>
            <a:r>
              <a:rPr sz="2600" spc="-10" dirty="0">
                <a:latin typeface="Calibri"/>
                <a:cs typeface="Calibri"/>
              </a:rPr>
              <a:t>count, </a:t>
            </a:r>
            <a:r>
              <a:rPr sz="2600" dirty="0">
                <a:latin typeface="Calibri"/>
                <a:cs typeface="Calibri"/>
              </a:rPr>
              <a:t>and if the lock </a:t>
            </a:r>
            <a:r>
              <a:rPr sz="2600" spc="-15" dirty="0">
                <a:latin typeface="Calibri"/>
                <a:cs typeface="Calibri"/>
              </a:rPr>
              <a:t>count  </a:t>
            </a:r>
            <a:r>
              <a:rPr sz="2600" spc="-5" dirty="0">
                <a:latin typeface="Calibri"/>
                <a:cs typeface="Calibri"/>
              </a:rPr>
              <a:t>reaches </a:t>
            </a:r>
            <a:r>
              <a:rPr sz="2600" spc="-30" dirty="0">
                <a:latin typeface="Calibri"/>
                <a:cs typeface="Calibri"/>
              </a:rPr>
              <a:t>zero,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current thread relinquishes </a:t>
            </a:r>
            <a:r>
              <a:rPr sz="2600" spc="-10" dirty="0">
                <a:latin typeface="Calibri"/>
                <a:cs typeface="Calibri"/>
              </a:rPr>
              <a:t>ownership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stream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5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These </a:t>
            </a:r>
            <a:r>
              <a:rPr sz="2600" spc="-5" dirty="0">
                <a:latin typeface="Calibri"/>
                <a:cs typeface="Calibri"/>
              </a:rPr>
              <a:t>calls can nest</a:t>
            </a:r>
            <a:r>
              <a:rPr lang="en-US" sz="2600" spc="-5" dirty="0">
                <a:latin typeface="Calibri"/>
                <a:cs typeface="Calibri"/>
              </a:rPr>
              <a:t>-up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 lock(lock </a:t>
            </a:r>
            <a:r>
              <a:rPr sz="2600" spc="-5" dirty="0">
                <a:latin typeface="Calibri"/>
                <a:cs typeface="Calibri"/>
              </a:rPr>
              <a:t>-&gt; unlock) -&gt; unlock </a:t>
            </a:r>
            <a:r>
              <a:rPr sz="2600" dirty="0">
                <a:latin typeface="Calibri"/>
                <a:cs typeface="Calibri"/>
              </a:rPr>
              <a:t>)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same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thread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28829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ftrylockfile()</a:t>
            </a:r>
            <a:r>
              <a:rPr sz="2600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function </a:t>
            </a:r>
            <a:r>
              <a:rPr sz="2600" dirty="0">
                <a:latin typeface="Calibri"/>
                <a:cs typeface="Calibri"/>
              </a:rPr>
              <a:t>is a </a:t>
            </a:r>
            <a:r>
              <a:rPr sz="2600" spc="-5" dirty="0">
                <a:latin typeface="Calibri"/>
                <a:cs typeface="Calibri"/>
              </a:rPr>
              <a:t>nonblocking </a:t>
            </a:r>
            <a:r>
              <a:rPr sz="2600" spc="-15" dirty="0">
                <a:latin typeface="Calibri"/>
                <a:cs typeface="Calibri"/>
              </a:rPr>
              <a:t>version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flockfile()</a:t>
            </a:r>
            <a:r>
              <a:rPr sz="2600" spc="-5" dirty="0">
                <a:latin typeface="Calibri"/>
                <a:cs typeface="Calibri"/>
              </a:rPr>
              <a:t>, so </a:t>
            </a:r>
            <a:r>
              <a:rPr sz="2600" dirty="0">
                <a:latin typeface="Calibri"/>
                <a:cs typeface="Calibri"/>
              </a:rPr>
              <a:t>it will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 </a:t>
            </a:r>
            <a:r>
              <a:rPr sz="2600" spc="-15" dirty="0">
                <a:latin typeface="Calibri"/>
                <a:cs typeface="Calibri"/>
              </a:rPr>
              <a:t>nonzero </a:t>
            </a:r>
            <a:r>
              <a:rPr sz="2600" spc="-5" dirty="0">
                <a:latin typeface="Calibri"/>
                <a:cs typeface="Calibri"/>
              </a:rPr>
              <a:t>immediately </a:t>
            </a:r>
            <a:r>
              <a:rPr sz="2600" dirty="0">
                <a:latin typeface="Calibri"/>
                <a:cs typeface="Calibri"/>
              </a:rPr>
              <a:t>if </a:t>
            </a:r>
            <a:r>
              <a:rPr lang="en-US" sz="2600" dirty="0">
                <a:latin typeface="Calibri"/>
                <a:cs typeface="Calibri"/>
              </a:rPr>
              <a:t>the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stream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currently </a:t>
            </a:r>
            <a:r>
              <a:rPr sz="2600" spc="-10" dirty="0">
                <a:latin typeface="Calibri"/>
                <a:cs typeface="Calibri"/>
              </a:rPr>
              <a:t>locked. </a:t>
            </a:r>
            <a:r>
              <a:rPr lang="en-US" sz="2600" dirty="0">
                <a:latin typeface="Calibri"/>
                <a:cs typeface="Calibri"/>
              </a:rPr>
              <a:t>Otherwise,</a:t>
            </a:r>
            <a:r>
              <a:rPr sz="2600" dirty="0">
                <a:latin typeface="Calibri"/>
                <a:cs typeface="Calibri"/>
              </a:rPr>
              <a:t> it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0 and </a:t>
            </a:r>
            <a:r>
              <a:rPr sz="2600" spc="-10" dirty="0">
                <a:latin typeface="Calibri"/>
                <a:cs typeface="Calibri"/>
              </a:rPr>
              <a:t>works </a:t>
            </a:r>
            <a:r>
              <a:rPr sz="2600" spc="-5" dirty="0">
                <a:latin typeface="Calibri"/>
                <a:cs typeface="Calibri"/>
              </a:rPr>
              <a:t>similarly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flockfile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3404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Unlocked </a:t>
            </a:r>
            <a:r>
              <a:rPr spc="-35" dirty="0"/>
              <a:t>Stream</a:t>
            </a:r>
            <a:r>
              <a:rPr spc="-245" dirty="0"/>
              <a:t> </a:t>
            </a:r>
            <a:r>
              <a:rPr spc="-4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741661" cy="436722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Individual </a:t>
            </a:r>
            <a:r>
              <a:rPr sz="28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functions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internally </a:t>
            </a:r>
            <a:r>
              <a:rPr sz="2800" spc="-15" dirty="0">
                <a:latin typeface="Calibri"/>
                <a:cs typeface="Calibri"/>
              </a:rPr>
              <a:t>locked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15" dirty="0">
                <a:latin typeface="Calibri"/>
                <a:cs typeface="Calibri"/>
              </a:rPr>
              <a:t>incurs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overhead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9118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family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unlocked </a:t>
            </a:r>
            <a:r>
              <a:rPr lang="en-US" sz="2800" spc="-15" dirty="0">
                <a:latin typeface="Calibri"/>
                <a:cs typeface="Calibri"/>
              </a:rPr>
              <a:t>counterparts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lang="en-US" sz="2800" spc="-2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boosting </a:t>
            </a:r>
            <a:r>
              <a:rPr sz="2800" spc="-15" dirty="0">
                <a:latin typeface="Calibri"/>
                <a:cs typeface="Calibri"/>
              </a:rPr>
              <a:t>performance </a:t>
            </a:r>
            <a:r>
              <a:rPr sz="2800" spc="-5" dirty="0">
                <a:latin typeface="Calibri"/>
                <a:cs typeface="Calibri"/>
              </a:rPr>
              <a:t>(this is </a:t>
            </a:r>
            <a:r>
              <a:rPr sz="2800" spc="-10" dirty="0">
                <a:latin typeface="Calibri"/>
                <a:cs typeface="Calibri"/>
              </a:rPr>
              <a:t>Linux-specific, not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POSIX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Clr>
                <a:schemeClr val="tx1"/>
              </a:buClr>
              <a:buFont typeface="Arial"/>
              <a:buChar char="•"/>
              <a:tabLst>
                <a:tab pos="699135" algn="l"/>
              </a:tabLst>
            </a:pPr>
            <a:r>
              <a:rPr sz="2200" dirty="0">
                <a:solidFill>
                  <a:srgbClr val="0070C0"/>
                </a:solidFill>
                <a:latin typeface="Consolas"/>
              </a:rPr>
              <a:t>fgets_unlocked()</a:t>
            </a:r>
            <a:r>
              <a:rPr sz="2400" spc="-15" dirty="0">
                <a:latin typeface="Calibri"/>
                <a:cs typeface="Calibri"/>
              </a:rPr>
              <a:t>,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fread_unlocked()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etc</a:t>
            </a:r>
            <a:r>
              <a:rPr lang="en-US" sz="2400" spc="-15" dirty="0">
                <a:latin typeface="Calibri"/>
                <a:cs typeface="Calibri"/>
              </a:rPr>
              <a:t>. See page 88 in textbook for the list.</a:t>
            </a:r>
            <a:endParaRPr sz="2400" dirty="0">
              <a:latin typeface="Calibri"/>
              <a:cs typeface="Calibri"/>
            </a:endParaRPr>
          </a:p>
          <a:p>
            <a:pPr marL="241300" marR="150495" indent="-228600">
              <a:lnSpc>
                <a:spcPts val="302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It’s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programmer’s </a:t>
            </a:r>
            <a:r>
              <a:rPr sz="2800" spc="-10" dirty="0">
                <a:latin typeface="Calibri"/>
                <a:cs typeface="Calibri"/>
              </a:rPr>
              <a:t>responsibility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manually </a:t>
            </a:r>
            <a:r>
              <a:rPr sz="2800" spc="-10" dirty="0">
                <a:latin typeface="Calibri"/>
                <a:cs typeface="Calibri"/>
              </a:rPr>
              <a:t>acquire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release  locks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them if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desired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How </a:t>
            </a:r>
            <a:r>
              <a:rPr sz="2800" spc="-15" dirty="0">
                <a:latin typeface="Calibri"/>
                <a:cs typeface="Calibri"/>
              </a:rPr>
              <a:t>to gain </a:t>
            </a:r>
            <a:r>
              <a:rPr sz="2800" spc="-10" dirty="0">
                <a:latin typeface="Calibri"/>
                <a:cs typeface="Calibri"/>
              </a:rPr>
              <a:t>in </a:t>
            </a:r>
            <a:r>
              <a:rPr sz="2800" spc="-15" dirty="0">
                <a:latin typeface="Calibri"/>
                <a:cs typeface="Calibri"/>
              </a:rPr>
              <a:t>performance </a:t>
            </a:r>
            <a:r>
              <a:rPr sz="2800" spc="-5" dirty="0">
                <a:latin typeface="Calibri"/>
                <a:cs typeface="Calibri"/>
              </a:rPr>
              <a:t>without </a:t>
            </a:r>
            <a:r>
              <a:rPr sz="2800" spc="-10" dirty="0">
                <a:latin typeface="Calibri"/>
                <a:cs typeface="Calibri"/>
              </a:rPr>
              <a:t>using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locks: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Relegating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I/O </a:t>
            </a:r>
            <a:r>
              <a:rPr sz="2400" spc="-2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single thread,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endParaRPr sz="2400" dirty="0">
              <a:latin typeface="Calibri"/>
              <a:cs typeface="Calibri"/>
            </a:endParaRPr>
          </a:p>
          <a:p>
            <a:pPr marL="698500" marR="598170" lvl="1" indent="-228600">
              <a:lnSpc>
                <a:spcPts val="2590"/>
              </a:lnSpc>
              <a:spcBef>
                <a:spcPts val="53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Relegating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I/Os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pool </a:t>
            </a:r>
            <a:r>
              <a:rPr sz="2400" spc="-5" dirty="0">
                <a:latin typeface="Calibri"/>
                <a:cs typeface="Calibri"/>
              </a:rPr>
              <a:t>of threads, </a:t>
            </a:r>
            <a:r>
              <a:rPr sz="2400" spc="-10" dirty="0">
                <a:latin typeface="Calibri"/>
                <a:cs typeface="Calibri"/>
              </a:rPr>
              <a:t>where </a:t>
            </a:r>
            <a:r>
              <a:rPr sz="240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stream </a:t>
            </a:r>
            <a:r>
              <a:rPr sz="2400" dirty="0">
                <a:latin typeface="Calibri"/>
                <a:cs typeface="Calibri"/>
              </a:rPr>
              <a:t>is mapped </a:t>
            </a:r>
            <a:r>
              <a:rPr sz="2400" spc="-15" dirty="0">
                <a:latin typeface="Calibri"/>
                <a:cs typeface="Calibri"/>
              </a:rPr>
              <a:t>to  exactly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spc="-10" dirty="0">
                <a:latin typeface="Calibri"/>
                <a:cs typeface="Calibri"/>
              </a:rPr>
              <a:t>thread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pool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48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Issues </a:t>
            </a:r>
            <a:r>
              <a:rPr spc="-15" dirty="0"/>
              <a:t>of </a:t>
            </a:r>
            <a:r>
              <a:rPr spc="-45" dirty="0"/>
              <a:t>Standard</a:t>
            </a:r>
            <a:r>
              <a:rPr spc="-285" dirty="0"/>
              <a:t> </a:t>
            </a:r>
            <a:r>
              <a:rPr spc="-15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593278"/>
            <a:ext cx="11046462" cy="40997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Double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copy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marR="73025" lvl="1" indent="-228600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When reading,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functions </a:t>
            </a:r>
            <a:r>
              <a:rPr sz="2400" spc="-10" dirty="0">
                <a:latin typeface="Calibri"/>
                <a:cs typeface="Calibri"/>
              </a:rPr>
              <a:t>call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read()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 get data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disk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kernel, </a:t>
            </a:r>
            <a:r>
              <a:rPr sz="2400" spc="-5" dirty="0">
                <a:latin typeface="Calibri"/>
                <a:cs typeface="Calibri"/>
              </a:rPr>
              <a:t>then </a:t>
            </a:r>
            <a:r>
              <a:rPr sz="2400" spc="-15" dirty="0">
                <a:latin typeface="Calibri"/>
                <a:cs typeface="Calibri"/>
              </a:rPr>
              <a:t>copy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2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buffer, </a:t>
            </a:r>
            <a:r>
              <a:rPr sz="2400" spc="-5" dirty="0">
                <a:latin typeface="Calibri"/>
                <a:cs typeface="Calibri"/>
              </a:rPr>
              <a:t>then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buffer to </a:t>
            </a:r>
            <a:r>
              <a:rPr sz="2400" spc="-10" dirty="0">
                <a:latin typeface="Calibri"/>
                <a:cs typeface="Calibri"/>
              </a:rPr>
              <a:t>supplied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sz="2400" spc="-5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the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parameter</a:t>
            </a:r>
            <a:r>
              <a:rPr lang="en-US" sz="2400" spc="-1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927100">
              <a:lnSpc>
                <a:spcPts val="2595"/>
              </a:lnSpc>
            </a:pPr>
            <a:r>
              <a:rPr sz="2400" spc="-5" dirty="0">
                <a:latin typeface="Calibri"/>
                <a:cs typeface="Calibri"/>
              </a:rPr>
              <a:t>disk </a:t>
            </a:r>
            <a:r>
              <a:rPr lang="en-US" sz="2400" spc="-10" dirty="0">
                <a:latin typeface="Calibri"/>
                <a:cs typeface="Calibri"/>
                <a:sym typeface="Symbol" panose="05050102010706020507" pitchFamily="18" charset="2"/>
              </a:rPr>
              <a:t>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read</a:t>
            </a:r>
            <a:r>
              <a:rPr sz="2400" spc="-10" dirty="0">
                <a:latin typeface="Calibri"/>
                <a:cs typeface="Calibri"/>
              </a:rPr>
              <a:t>) </a:t>
            </a:r>
            <a:r>
              <a:rPr sz="2400" spc="-20" dirty="0">
                <a:latin typeface="Calibri"/>
                <a:cs typeface="Calibri"/>
              </a:rPr>
              <a:t>kernel buffer </a:t>
            </a:r>
            <a:r>
              <a:rPr lang="en-US" sz="2400" spc="-10" dirty="0">
                <a:latin typeface="Calibri"/>
                <a:cs typeface="Calibri"/>
                <a:sym typeface="Symbol" panose="05050102010706020507" pitchFamily="18" charset="2"/>
              </a:rPr>
              <a:t>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(copy)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lang="en-US" sz="2400" spc="-10" dirty="0">
                <a:latin typeface="Calibri"/>
                <a:cs typeface="Calibri"/>
                <a:sym typeface="Symbol" panose="05050102010706020507" pitchFamily="18" charset="2"/>
              </a:rPr>
              <a:t>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(copy) </a:t>
            </a:r>
            <a:r>
              <a:rPr sz="2200" b="1" dirty="0">
                <a:solidFill>
                  <a:srgbClr val="0070C0"/>
                </a:solidFill>
                <a:latin typeface="Consolas"/>
              </a:rPr>
              <a:t>char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* buf</a:t>
            </a:r>
          </a:p>
          <a:p>
            <a:pPr marL="698500" lvl="1" indent="-229235">
              <a:lnSpc>
                <a:spcPts val="261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dirty="0">
                <a:solidFill>
                  <a:srgbClr val="0070C0"/>
                </a:solidFill>
                <a:latin typeface="Consolas"/>
              </a:rPr>
              <a:t>w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rite</a:t>
            </a:r>
            <a:r>
              <a:rPr lang="en-US" sz="2200" dirty="0">
                <a:solidFill>
                  <a:srgbClr val="0070C0"/>
                </a:solidFill>
                <a:latin typeface="Consolas"/>
              </a:rPr>
              <a:t>()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requests work </a:t>
            </a:r>
            <a:r>
              <a:rPr sz="2400" spc="-5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opposite direction but </a:t>
            </a:r>
            <a:r>
              <a:rPr sz="2400" spc="-5" dirty="0">
                <a:latin typeface="Calibri"/>
                <a:cs typeface="Calibri"/>
              </a:rPr>
              <a:t>in </a:t>
            </a:r>
            <a:r>
              <a:rPr lang="en-US" sz="2400" spc="-5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similar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fashion</a:t>
            </a:r>
            <a:r>
              <a:rPr lang="en-US" sz="2400" spc="-1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927100">
              <a:lnSpc>
                <a:spcPts val="2630"/>
              </a:lnSpc>
            </a:pPr>
            <a:r>
              <a:rPr sz="2200" b="1" dirty="0">
                <a:solidFill>
                  <a:srgbClr val="0070C0"/>
                </a:solidFill>
                <a:latin typeface="Consolas"/>
              </a:rPr>
              <a:t>const char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* </a:t>
            </a:r>
            <a:r>
              <a:rPr sz="2200" dirty="0" err="1">
                <a:solidFill>
                  <a:srgbClr val="0070C0"/>
                </a:solidFill>
                <a:latin typeface="Consolas"/>
              </a:rPr>
              <a:t>buf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  <a:sym typeface="Symbol" panose="05050102010706020507" pitchFamily="18" charset="2"/>
              </a:rPr>
              <a:t> </a:t>
            </a:r>
            <a:r>
              <a:rPr sz="2400" spc="-10" dirty="0">
                <a:latin typeface="Calibri"/>
                <a:cs typeface="Calibri"/>
              </a:rPr>
              <a:t>(copy)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lang="en-US" sz="2400" spc="-10" dirty="0">
                <a:latin typeface="Calibri"/>
                <a:cs typeface="Calibri"/>
                <a:sym typeface="Symbol" panose="05050102010706020507" pitchFamily="18" charset="2"/>
              </a:rPr>
              <a:t> </a:t>
            </a:r>
            <a:r>
              <a:rPr sz="2400" spc="-10" dirty="0">
                <a:latin typeface="Calibri"/>
                <a:cs typeface="Calibri"/>
              </a:rPr>
              <a:t>(copy)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lang="en-US" sz="2400" spc="-10" dirty="0">
                <a:latin typeface="Calibri"/>
                <a:cs typeface="Calibri"/>
                <a:sym typeface="Symbol" panose="05050102010706020507" pitchFamily="18" charset="2"/>
              </a:rPr>
              <a:t>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write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Alternative</a:t>
            </a:r>
            <a:r>
              <a:rPr lang="en-US" sz="2800" spc="-5" dirty="0">
                <a:latin typeface="Calibri"/>
                <a:cs typeface="Calibri"/>
              </a:rPr>
              <a:t> proposed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implementations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37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read</a:t>
            </a:r>
            <a:r>
              <a:rPr lang="en-US" sz="2200" dirty="0">
                <a:solidFill>
                  <a:srgbClr val="0070C0"/>
                </a:solidFill>
                <a:latin typeface="Consolas"/>
              </a:rPr>
              <a:t>()</a:t>
            </a:r>
            <a:r>
              <a:rPr sz="2400" spc="-10" dirty="0">
                <a:latin typeface="Calibri"/>
                <a:cs typeface="Calibri"/>
              </a:rPr>
              <a:t>, return </a:t>
            </a:r>
            <a:r>
              <a:rPr sz="2400" spc="-5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pointer </a:t>
            </a:r>
            <a:r>
              <a:rPr sz="2400" spc="-10" dirty="0">
                <a:latin typeface="Calibri"/>
                <a:cs typeface="Calibri"/>
              </a:rPr>
              <a:t>directly </a:t>
            </a:r>
            <a:r>
              <a:rPr sz="2400" spc="-20" dirty="0">
                <a:latin typeface="Calibri"/>
                <a:cs typeface="Calibri"/>
              </a:rPr>
              <a:t>into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buffer. </a:t>
            </a:r>
            <a:r>
              <a:rPr sz="2400" spc="-10" dirty="0">
                <a:latin typeface="Calibri"/>
                <a:cs typeface="Calibri"/>
              </a:rPr>
              <a:t>Local </a:t>
            </a:r>
            <a:r>
              <a:rPr sz="2400" spc="-15" dirty="0">
                <a:latin typeface="Calibri"/>
                <a:cs typeface="Calibri"/>
              </a:rPr>
              <a:t>copy </a:t>
            </a:r>
            <a:r>
              <a:rPr sz="2400" spc="-5" dirty="0">
                <a:latin typeface="Calibri"/>
                <a:cs typeface="Calibri"/>
              </a:rPr>
              <a:t>is only </a:t>
            </a:r>
            <a:r>
              <a:rPr sz="2400" spc="-10" dirty="0">
                <a:latin typeface="Calibri"/>
                <a:cs typeface="Calibri"/>
              </a:rPr>
              <a:t>needed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if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need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5" dirty="0">
                <a:latin typeface="Calibri"/>
                <a:cs typeface="Calibri"/>
              </a:rPr>
              <a:t>written </a:t>
            </a:r>
            <a:r>
              <a:rPr sz="2400" spc="-10" dirty="0">
                <a:latin typeface="Calibri"/>
                <a:cs typeface="Calibri"/>
              </a:rPr>
              <a:t>(i.e.</a:t>
            </a:r>
            <a:r>
              <a:rPr lang="en-US" sz="2400" spc="-1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 using the </a:t>
            </a:r>
            <a:r>
              <a:rPr sz="2400" spc="-10" dirty="0">
                <a:latin typeface="Calibri"/>
                <a:cs typeface="Calibri"/>
              </a:rPr>
              <a:t>user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sz="2400" spc="-5" dirty="0">
                <a:latin typeface="Calibri"/>
                <a:cs typeface="Calibri"/>
              </a:rPr>
              <a:t>– </a:t>
            </a:r>
            <a:r>
              <a:rPr lang="en-US" sz="2200" b="1" dirty="0">
                <a:solidFill>
                  <a:srgbClr val="0070C0"/>
                </a:solidFill>
                <a:latin typeface="Consolas"/>
              </a:rPr>
              <a:t>char</a:t>
            </a:r>
            <a:r>
              <a:rPr lang="en-US" sz="2200" dirty="0">
                <a:solidFill>
                  <a:srgbClr val="0070C0"/>
                </a:solidFill>
                <a:latin typeface="Consolas"/>
              </a:rPr>
              <a:t>* </a:t>
            </a:r>
            <a:r>
              <a:rPr lang="en-US" sz="2200" dirty="0" err="1">
                <a:solidFill>
                  <a:srgbClr val="0070C0"/>
                </a:solidFill>
                <a:latin typeface="Consolas"/>
              </a:rPr>
              <a:t>buf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698500" marR="5080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write</a:t>
            </a:r>
            <a:r>
              <a:rPr lang="en-US" sz="2200" dirty="0">
                <a:solidFill>
                  <a:srgbClr val="0070C0"/>
                </a:solidFill>
                <a:latin typeface="Consolas"/>
              </a:rPr>
              <a:t>()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spc="-20" dirty="0">
                <a:latin typeface="Calibri"/>
                <a:cs typeface="Calibri"/>
              </a:rPr>
              <a:t>record </a:t>
            </a:r>
            <a:r>
              <a:rPr sz="2400" spc="-1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pointers (to data) </a:t>
            </a:r>
            <a:r>
              <a:rPr sz="2400" spc="-5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flush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by walking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stored pointers, </a:t>
            </a:r>
            <a:r>
              <a:rPr sz="2400" spc="-5" dirty="0">
                <a:latin typeface="Calibri"/>
                <a:cs typeface="Calibri"/>
              </a:rPr>
              <a:t>writing out the </a:t>
            </a:r>
            <a:r>
              <a:rPr sz="2400" spc="-20" dirty="0">
                <a:latin typeface="Calibri"/>
                <a:cs typeface="Calibri"/>
              </a:rPr>
              <a:t>data to </a:t>
            </a:r>
            <a:r>
              <a:rPr lang="en-US" sz="2400" spc="-2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5" dirty="0">
                <a:latin typeface="Calibri"/>
                <a:cs typeface="Calibri"/>
              </a:rPr>
              <a:t>without the </a:t>
            </a:r>
            <a:r>
              <a:rPr sz="2400" spc="-1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buffer</a:t>
            </a:r>
            <a:r>
              <a:rPr lang="en-US" sz="2400" spc="-2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444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93189"/>
            <a:ext cx="10817861" cy="380552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36195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Standard </a:t>
            </a:r>
            <a:r>
              <a:rPr sz="2800" spc="-5" dirty="0">
                <a:latin typeface="Calibri"/>
                <a:cs typeface="Calibri"/>
              </a:rPr>
              <a:t>I/O is a </a:t>
            </a:r>
            <a:r>
              <a:rPr sz="2800" spc="-10" dirty="0">
                <a:latin typeface="Calibri"/>
                <a:cs typeface="Calibri"/>
              </a:rPr>
              <a:t>powerful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popular </a:t>
            </a:r>
            <a:r>
              <a:rPr sz="2800" spc="-20" dirty="0">
                <a:latin typeface="Calibri"/>
                <a:cs typeface="Calibri"/>
              </a:rPr>
              <a:t>user-buffering </a:t>
            </a:r>
            <a:r>
              <a:rPr sz="2800" spc="-15" dirty="0">
                <a:latin typeface="Calibri"/>
                <a:cs typeface="Calibri"/>
              </a:rPr>
              <a:t>library </a:t>
            </a:r>
            <a:r>
              <a:rPr lang="en-US" sz="2800" spc="-5" dirty="0">
                <a:latin typeface="Calibri"/>
                <a:cs typeface="Calibri"/>
              </a:rPr>
              <a:t>that is a</a:t>
            </a:r>
            <a:r>
              <a:rPr sz="2800" spc="-5" dirty="0">
                <a:latin typeface="Calibri"/>
                <a:cs typeface="Calibri"/>
              </a:rPr>
              <a:t> part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standard </a:t>
            </a:r>
            <a:r>
              <a:rPr sz="2800" spc="-5" dirty="0">
                <a:latin typeface="Calibri"/>
                <a:cs typeface="Calibri"/>
              </a:rPr>
              <a:t>C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library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Best used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Minimizing </a:t>
            </a:r>
            <a:r>
              <a:rPr sz="2400" spc="-5" dirty="0">
                <a:latin typeface="Calibri"/>
                <a:cs typeface="Calibri"/>
              </a:rPr>
              <a:t>overhead </a:t>
            </a:r>
            <a:r>
              <a:rPr lang="en-US" sz="2400" spc="-5" dirty="0">
                <a:latin typeface="Calibri"/>
                <a:cs typeface="Calibri"/>
              </a:rPr>
              <a:t>(incurred penalty) </a:t>
            </a:r>
            <a:r>
              <a:rPr sz="2400" spc="-10" dirty="0">
                <a:latin typeface="Calibri"/>
                <a:cs typeface="Calibri"/>
              </a:rPr>
              <a:t>by combining </a:t>
            </a:r>
            <a:r>
              <a:rPr sz="2400" spc="-15" dirty="0">
                <a:latin typeface="Calibri"/>
                <a:cs typeface="Calibri"/>
              </a:rPr>
              <a:t>many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calls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Performance gain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" dirty="0">
                <a:latin typeface="Calibri"/>
                <a:cs typeface="Calibri"/>
              </a:rPr>
              <a:t>ensuring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I/O </a:t>
            </a:r>
            <a:r>
              <a:rPr sz="2400" spc="-10" dirty="0">
                <a:latin typeface="Calibri"/>
                <a:cs typeface="Calibri"/>
              </a:rPr>
              <a:t>occurs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block-sized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chunks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10" dirty="0">
                <a:latin typeface="Calibri"/>
                <a:cs typeface="Calibri"/>
              </a:rPr>
              <a:t>your </a:t>
            </a:r>
            <a:r>
              <a:rPr sz="2400" dirty="0">
                <a:latin typeface="Calibri"/>
                <a:cs typeface="Calibri"/>
              </a:rPr>
              <a:t>access </a:t>
            </a:r>
            <a:r>
              <a:rPr sz="2400" spc="-15" dirty="0">
                <a:latin typeface="Calibri"/>
                <a:cs typeface="Calibri"/>
              </a:rPr>
              <a:t>patterns are </a:t>
            </a:r>
            <a:r>
              <a:rPr sz="2400" spc="-5" dirty="0">
                <a:latin typeface="Calibri"/>
                <a:cs typeface="Calibri"/>
              </a:rPr>
              <a:t>character or line-based </a:t>
            </a:r>
            <a:r>
              <a:rPr sz="2400" spc="-15" dirty="0"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fgets()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easier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10" dirty="0">
                <a:latin typeface="Calibri"/>
                <a:cs typeface="Calibri"/>
              </a:rPr>
              <a:t>you </a:t>
            </a:r>
            <a:r>
              <a:rPr sz="2400" spc="-25" dirty="0">
                <a:latin typeface="Calibri"/>
                <a:cs typeface="Calibri"/>
              </a:rPr>
              <a:t>prefer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higher-level </a:t>
            </a:r>
            <a:r>
              <a:rPr sz="2400" spc="-15" dirty="0">
                <a:latin typeface="Calibri"/>
                <a:cs typeface="Calibri"/>
              </a:rPr>
              <a:t>interface 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low-level </a:t>
            </a:r>
            <a:r>
              <a:rPr sz="2400" spc="-5" dirty="0">
                <a:latin typeface="Calibri"/>
                <a:cs typeface="Calibri"/>
              </a:rPr>
              <a:t>Linux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15" dirty="0" err="1">
                <a:latin typeface="Calibri"/>
                <a:cs typeface="Calibri"/>
              </a:rPr>
              <a:t>syscalls</a:t>
            </a:r>
            <a:r>
              <a:rPr lang="en-US" sz="2400" spc="-15" dirty="0">
                <a:latin typeface="Calibri"/>
                <a:cs typeface="Calibri"/>
              </a:rPr>
              <a:t>.</a:t>
            </a:r>
          </a:p>
          <a:p>
            <a:pPr marL="241300" indent="-229235"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800" spc="-15" dirty="0">
                <a:latin typeface="Calibri"/>
                <a:cs typeface="Calibri"/>
              </a:rPr>
              <a:t>A great website for reading about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&lt;</a:t>
            </a:r>
            <a:r>
              <a:rPr lang="en-US" sz="2400" dirty="0" err="1">
                <a:solidFill>
                  <a:srgbClr val="0070C0"/>
                </a:solidFill>
                <a:latin typeface="Consolas"/>
              </a:rPr>
              <a:t>stdio.h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&gt;</a:t>
            </a:r>
            <a:r>
              <a:rPr lang="en-US" sz="2800" spc="-15" dirty="0">
                <a:latin typeface="Calibri"/>
                <a:cs typeface="Calibri"/>
              </a:rPr>
              <a:t>’s functions: </a:t>
            </a:r>
            <a:r>
              <a:rPr lang="en-US" sz="2800" spc="-15" dirty="0">
                <a:latin typeface="Calibri"/>
                <a:cs typeface="Calibri"/>
                <a:hlinkClick r:id="rId2"/>
              </a:rPr>
              <a:t>https://cplusplus.com/reference/cstdio/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798</TotalTime>
  <Words>3953</Words>
  <Application>Microsoft Office PowerPoint</Application>
  <PresentationFormat>Widescreen</PresentationFormat>
  <Paragraphs>296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Courier New</vt:lpstr>
      <vt:lpstr>Times New Roman</vt:lpstr>
      <vt:lpstr>Office Theme</vt:lpstr>
      <vt:lpstr>Linux System Programming Talking directly to the kernel and C library</vt:lpstr>
      <vt:lpstr>Ch3 – Buffered I/O</vt:lpstr>
      <vt:lpstr>Block Size</vt:lpstr>
      <vt:lpstr>Standard I/O (stdio)</vt:lpstr>
      <vt:lpstr>Opening Files</vt:lpstr>
      <vt:lpstr>Opening a Stream via File Descriptor</vt:lpstr>
      <vt:lpstr>Closing Streams</vt:lpstr>
      <vt:lpstr>Reading from a Stream</vt:lpstr>
      <vt:lpstr>More on Reading from a Stream</vt:lpstr>
      <vt:lpstr>Reading an Entire Line</vt:lpstr>
      <vt:lpstr>Replacement for fgets()?</vt:lpstr>
      <vt:lpstr>Reading Binary Data</vt:lpstr>
      <vt:lpstr>Writing to a Stream</vt:lpstr>
      <vt:lpstr>More on Writing to a Stream</vt:lpstr>
      <vt:lpstr>Sample Program</vt:lpstr>
      <vt:lpstr>Seeking a Stream</vt:lpstr>
      <vt:lpstr>Seeking a Stream – Cont’</vt:lpstr>
      <vt:lpstr>Flushing a Stream</vt:lpstr>
      <vt:lpstr>Errors and End-of-File</vt:lpstr>
      <vt:lpstr>Getting File Descriptor and Buffering</vt:lpstr>
      <vt:lpstr>More on Buffering</vt:lpstr>
      <vt:lpstr>Thread Safety</vt:lpstr>
      <vt:lpstr>Manual File Locking</vt:lpstr>
      <vt:lpstr>Unlocked Stream Operations</vt:lpstr>
      <vt:lpstr>Issues of Standard I/O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275</cp:revision>
  <dcterms:created xsi:type="dcterms:W3CDTF">2021-02-04T00:47:31Z</dcterms:created>
  <dcterms:modified xsi:type="dcterms:W3CDTF">2023-03-01T09:18:55Z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2020-02-10T00:00:00Z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