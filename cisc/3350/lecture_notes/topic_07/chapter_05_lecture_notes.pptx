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3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B0"/>
    <a:srgbClr val="0000FF"/>
    <a:srgbClr val="229A86"/>
    <a:srgbClr val="FF00FF"/>
    <a:srgbClr val="27B37A"/>
    <a:srgbClr val="4FD9A1"/>
    <a:srgbClr val="19C16D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8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5175" y="2132428"/>
            <a:ext cx="8121649" cy="176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59661"/>
            <a:ext cx="10221595" cy="4272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6438" y="6464985"/>
            <a:ext cx="3660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an7.org/linux/man-pages/man2/fcntl.2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s.uic.edu/~jbell/CourseNotes/OperatingSystems/9_VirtualMemory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n7.org/linux/man-pages/man3/tmpfile.3.html" TargetMode="Externa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89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2905"/>
              </a:spcBef>
            </a:pPr>
            <a:r>
              <a:rPr spc="-35" dirty="0"/>
              <a:t>Linux </a:t>
            </a:r>
            <a:r>
              <a:rPr spc="-80" dirty="0"/>
              <a:t>System</a:t>
            </a:r>
            <a:r>
              <a:rPr spc="-265" dirty="0"/>
              <a:t> </a:t>
            </a:r>
            <a:r>
              <a:rPr spc="-80" dirty="0"/>
              <a:t>Programming</a:t>
            </a:r>
          </a:p>
          <a:p>
            <a:pPr marL="8255" marR="3175" algn="ctr">
              <a:lnSpc>
                <a:spcPct val="100000"/>
              </a:lnSpc>
              <a:spcBef>
                <a:spcPts val="1025"/>
              </a:spcBef>
            </a:pPr>
            <a:r>
              <a:rPr sz="2200" b="0" spc="-30" dirty="0">
                <a:solidFill>
                  <a:srgbClr val="000000"/>
                </a:solidFill>
                <a:latin typeface="Calibri"/>
                <a:cs typeface="Calibri"/>
              </a:rPr>
              <a:t>Talking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directly </a:t>
            </a:r>
            <a:r>
              <a:rPr sz="2200" b="0" spc="-20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200" b="0" spc="-15" dirty="0">
                <a:solidFill>
                  <a:srgbClr val="000000"/>
                </a:solidFill>
                <a:latin typeface="Calibri"/>
                <a:cs typeface="Calibri"/>
              </a:rPr>
              <a:t>kernel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and C</a:t>
            </a:r>
            <a:r>
              <a:rPr sz="2200" b="0" spc="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library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61053" y="4534027"/>
            <a:ext cx="4468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>
                <a:latin typeface="Calibri"/>
                <a:cs typeface="Calibri"/>
              </a:rPr>
              <a:t>Process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Management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572D8D-64D7-4CD5-2DB2-6544D13A7C0D}"/>
              </a:ext>
            </a:extLst>
          </p:cNvPr>
          <p:cNvSpPr txBox="1"/>
          <p:nvPr/>
        </p:nvSpPr>
        <p:spPr>
          <a:xfrm>
            <a:off x="2776854" y="6019800"/>
            <a:ext cx="663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slides of </a:t>
            </a:r>
            <a:r>
              <a:rPr lang="en-US" b="1" dirty="0"/>
              <a:t>Professor Yongqing Xiang </a:t>
            </a:r>
            <a:r>
              <a:rPr lang="en-US" dirty="0"/>
              <a:t>of Brooklyn College.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154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Ch5 </a:t>
            </a:r>
            <a:r>
              <a:rPr dirty="0"/>
              <a:t>– </a:t>
            </a:r>
            <a:r>
              <a:rPr spc="-50" dirty="0"/>
              <a:t>Process</a:t>
            </a:r>
            <a:r>
              <a:rPr spc="-275" dirty="0"/>
              <a:t> </a:t>
            </a:r>
            <a:r>
              <a:rPr spc="-5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6801"/>
            <a:ext cx="10218420" cy="31818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7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Programs</a:t>
            </a:r>
            <a:r>
              <a:rPr lang="en-US" sz="2600" spc="-10" dirty="0">
                <a:latin typeface="Calibri"/>
                <a:cs typeface="Calibri"/>
              </a:rPr>
              <a:t> are b</a:t>
            </a:r>
            <a:r>
              <a:rPr sz="2600" spc="-10" dirty="0">
                <a:latin typeface="Calibri"/>
                <a:cs typeface="Calibri"/>
              </a:rPr>
              <a:t>inary code </a:t>
            </a:r>
            <a:r>
              <a:rPr lang="en-US" sz="2600" spc="-10" dirty="0">
                <a:latin typeface="Calibri"/>
                <a:cs typeface="Calibri"/>
              </a:rPr>
              <a:t>files that 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lang="en-US" sz="2600" spc="-10" dirty="0">
                <a:latin typeface="Calibri"/>
                <a:cs typeface="Calibri"/>
              </a:rPr>
              <a:t>ie</a:t>
            </a:r>
            <a:r>
              <a:rPr sz="2600" spc="-10" dirty="0">
                <a:latin typeface="Calibri"/>
                <a:cs typeface="Calibri"/>
              </a:rPr>
              <a:t> dormant on disk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spc="-10" dirty="0">
              <a:latin typeface="Calibri"/>
              <a:cs typeface="Calibri"/>
            </a:endParaRPr>
          </a:p>
          <a:p>
            <a:pPr marL="698500" lvl="1" indent="-229235">
              <a:lnSpc>
                <a:spcPts val="24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Large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significant </a:t>
            </a:r>
            <a:r>
              <a:rPr sz="2200" spc="-5" dirty="0">
                <a:latin typeface="Calibri"/>
                <a:cs typeface="Calibri"/>
              </a:rPr>
              <a:t>ones </a:t>
            </a:r>
            <a:r>
              <a:rPr sz="2200" spc="-10" dirty="0">
                <a:latin typeface="Calibri"/>
                <a:cs typeface="Calibri"/>
              </a:rPr>
              <a:t>are called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applications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Processes</a:t>
            </a:r>
            <a:r>
              <a:rPr lang="en-US" sz="2600" spc="-10" dirty="0">
                <a:latin typeface="Calibri"/>
                <a:cs typeface="Calibri"/>
              </a:rPr>
              <a:t> are r</a:t>
            </a:r>
            <a:r>
              <a:rPr sz="2600" spc="-10" dirty="0">
                <a:latin typeface="Calibri"/>
                <a:cs typeface="Calibri"/>
              </a:rPr>
              <a:t>unning programs loaded into memory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spc="-10" dirty="0">
              <a:latin typeface="Calibri"/>
              <a:cs typeface="Calibri"/>
            </a:endParaRPr>
          </a:p>
          <a:p>
            <a:pPr marL="698500" marR="475615" lvl="1" indent="-228600">
              <a:lnSpc>
                <a:spcPct val="70000"/>
              </a:lnSpc>
              <a:spcBef>
                <a:spcPts val="65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5" dirty="0">
                <a:latin typeface="Calibri"/>
                <a:cs typeface="Calibri"/>
              </a:rPr>
              <a:t>These i</a:t>
            </a:r>
            <a:r>
              <a:rPr sz="2200" spc="-5" dirty="0">
                <a:latin typeface="Calibri"/>
                <a:cs typeface="Calibri"/>
              </a:rPr>
              <a:t>nclude an</a:t>
            </a:r>
            <a:r>
              <a:rPr lang="en-US" sz="2200" spc="-5" dirty="0">
                <a:latin typeface="Calibri"/>
                <a:cs typeface="Calibri"/>
              </a:rPr>
              <a:t>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instance</a:t>
            </a:r>
            <a:r>
              <a:rPr lang="en-US" sz="2200" spc="-10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virtualized </a:t>
            </a:r>
            <a:r>
              <a:rPr sz="2200" spc="-25" dirty="0">
                <a:latin typeface="Calibri"/>
                <a:cs typeface="Calibri"/>
              </a:rPr>
              <a:t>memory, </a:t>
            </a:r>
            <a:r>
              <a:rPr sz="2200" spc="-15" dirty="0">
                <a:latin typeface="Calibri"/>
                <a:cs typeface="Calibri"/>
              </a:rPr>
              <a:t>kernel </a:t>
            </a:r>
            <a:r>
              <a:rPr sz="2200" spc="-10" dirty="0">
                <a:latin typeface="Calibri"/>
                <a:cs typeface="Calibri"/>
              </a:rPr>
              <a:t>resources (such </a:t>
            </a:r>
            <a:r>
              <a:rPr sz="2200" dirty="0">
                <a:latin typeface="Calibri"/>
                <a:cs typeface="Calibri"/>
              </a:rPr>
              <a:t>as </a:t>
            </a:r>
            <a:r>
              <a:rPr sz="2200" spc="-5" dirty="0">
                <a:latin typeface="Calibri"/>
                <a:cs typeface="Calibri"/>
              </a:rPr>
              <a:t>open files, threads,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etc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r>
              <a:rPr sz="2200" spc="-1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5" dirty="0">
                <a:latin typeface="Calibri"/>
                <a:cs typeface="Calibri"/>
              </a:rPr>
              <a:t>Threads</a:t>
            </a:r>
            <a:r>
              <a:rPr lang="en-US" sz="2600" spc="-5" dirty="0">
                <a:latin typeface="Calibri"/>
                <a:cs typeface="Calibri"/>
              </a:rPr>
              <a:t> are u</a:t>
            </a:r>
            <a:r>
              <a:rPr sz="2600" spc="-5" dirty="0">
                <a:latin typeface="Calibri"/>
                <a:cs typeface="Calibri"/>
              </a:rPr>
              <a:t>nits of activity inside processes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spc="-5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64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Each </a:t>
            </a:r>
            <a:r>
              <a:rPr sz="2200" spc="-10" dirty="0">
                <a:latin typeface="Calibri"/>
                <a:cs typeface="Calibri"/>
              </a:rPr>
              <a:t>thread has </a:t>
            </a:r>
            <a:r>
              <a:rPr sz="2200" spc="-5" dirty="0">
                <a:latin typeface="Calibri"/>
                <a:cs typeface="Calibri"/>
              </a:rPr>
              <a:t>its </a:t>
            </a:r>
            <a:r>
              <a:rPr sz="2200" spc="-10" dirty="0">
                <a:latin typeface="Calibri"/>
                <a:cs typeface="Calibri"/>
              </a:rPr>
              <a:t>own virtualized </a:t>
            </a:r>
            <a:r>
              <a:rPr sz="2200" spc="-30" dirty="0">
                <a:latin typeface="Calibri"/>
                <a:cs typeface="Calibri"/>
              </a:rPr>
              <a:t>processor, </a:t>
            </a:r>
            <a:r>
              <a:rPr sz="2200" spc="-5" dirty="0">
                <a:latin typeface="Calibri"/>
                <a:cs typeface="Calibri"/>
              </a:rPr>
              <a:t>including a </a:t>
            </a:r>
            <a:r>
              <a:rPr sz="2200" spc="-10" dirty="0">
                <a:latin typeface="Calibri"/>
                <a:cs typeface="Calibri"/>
              </a:rPr>
              <a:t>stack, processor </a:t>
            </a:r>
            <a:r>
              <a:rPr sz="2200" spc="-25" dirty="0">
                <a:latin typeface="Calibri"/>
                <a:cs typeface="Calibri"/>
              </a:rPr>
              <a:t>state </a:t>
            </a:r>
            <a:r>
              <a:rPr sz="2200" spc="-5" dirty="0">
                <a:latin typeface="Calibri"/>
                <a:cs typeface="Calibri"/>
              </a:rPr>
              <a:t>such  as </a:t>
            </a:r>
            <a:r>
              <a:rPr sz="2200" spc="-15" dirty="0">
                <a:latin typeface="Calibri"/>
                <a:cs typeface="Calibri"/>
              </a:rPr>
              <a:t>registers, </a:t>
            </a:r>
            <a:r>
              <a:rPr sz="2200" spc="-5" dirty="0">
                <a:latin typeface="Calibri"/>
                <a:cs typeface="Calibri"/>
              </a:rPr>
              <a:t>and an instruction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pointer</a:t>
            </a:r>
            <a:r>
              <a:rPr lang="en-US" sz="2200" spc="-15" dirty="0">
                <a:latin typeface="Calibri"/>
                <a:cs typeface="Calibri"/>
              </a:rPr>
              <a:t> (= program counter).</a:t>
            </a:r>
            <a:endParaRPr sz="2200" dirty="0">
              <a:latin typeface="Calibri"/>
              <a:cs typeface="Calibri"/>
            </a:endParaRPr>
          </a:p>
          <a:p>
            <a:pPr marL="698500" marR="130810" lvl="1" indent="-228600">
              <a:lnSpc>
                <a:spcPct val="7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In a multi</a:t>
            </a:r>
            <a:r>
              <a:rPr lang="en-US" sz="2200" spc="-5" dirty="0">
                <a:latin typeface="Calibri"/>
                <a:cs typeface="Calibri"/>
              </a:rPr>
              <a:t>-</a:t>
            </a:r>
            <a:r>
              <a:rPr sz="2200" spc="-5" dirty="0">
                <a:latin typeface="Calibri"/>
                <a:cs typeface="Calibri"/>
              </a:rPr>
              <a:t>threaded </a:t>
            </a:r>
            <a:r>
              <a:rPr sz="2200" spc="-10" dirty="0">
                <a:latin typeface="Calibri"/>
                <a:cs typeface="Calibri"/>
              </a:rPr>
              <a:t>process, </a:t>
            </a:r>
            <a:r>
              <a:rPr sz="2200" spc="-15" dirty="0">
                <a:latin typeface="Calibri"/>
                <a:cs typeface="Calibri"/>
              </a:rPr>
              <a:t>there </a:t>
            </a:r>
            <a:r>
              <a:rPr sz="2200" spc="-10" dirty="0">
                <a:latin typeface="Calibri"/>
                <a:cs typeface="Calibri"/>
              </a:rPr>
              <a:t>are multiple </a:t>
            </a:r>
            <a:r>
              <a:rPr sz="2200" spc="-5" dirty="0">
                <a:latin typeface="Calibri"/>
                <a:cs typeface="Calibri"/>
              </a:rPr>
              <a:t>threads, and </a:t>
            </a:r>
            <a:r>
              <a:rPr sz="2200" spc="-10" dirty="0">
                <a:latin typeface="Calibri"/>
                <a:cs typeface="Calibri"/>
              </a:rPr>
              <a:t>they </a:t>
            </a:r>
            <a:r>
              <a:rPr sz="2200" spc="-5" dirty="0">
                <a:latin typeface="Calibri"/>
                <a:cs typeface="Calibri"/>
              </a:rPr>
              <a:t>all </a:t>
            </a:r>
            <a:r>
              <a:rPr sz="2200" spc="-10" dirty="0">
                <a:latin typeface="Calibri"/>
                <a:cs typeface="Calibri"/>
              </a:rPr>
              <a:t>share </a:t>
            </a:r>
            <a:r>
              <a:rPr sz="2200" spc="-5" dirty="0">
                <a:latin typeface="Calibri"/>
                <a:cs typeface="Calibri"/>
              </a:rPr>
              <a:t>the same  memory address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space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237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pc="-50" dirty="0"/>
              <a:t>Process</a:t>
            </a:r>
            <a:r>
              <a:rPr spc="-215" dirty="0"/>
              <a:t> </a:t>
            </a:r>
            <a:r>
              <a:rPr spc="-5" dirty="0"/>
              <a:t>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45945"/>
            <a:ext cx="11122662" cy="46142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Each process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unique identifier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i="1" spc="-5" dirty="0">
                <a:latin typeface="Calibri"/>
                <a:cs typeface="Calibri"/>
              </a:rPr>
              <a:t>process </a:t>
            </a:r>
            <a:r>
              <a:rPr sz="2400" i="1" dirty="0">
                <a:latin typeface="Calibri"/>
                <a:cs typeface="Calibri"/>
              </a:rPr>
              <a:t>ID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spc="-10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type: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0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pid_t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i="1" dirty="0">
                <a:latin typeface="Calibri"/>
                <a:cs typeface="Calibri"/>
              </a:rPr>
              <a:t>idle </a:t>
            </a:r>
            <a:r>
              <a:rPr sz="2400" i="1" spc="-5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(runs </a:t>
            </a:r>
            <a:r>
              <a:rPr sz="2400" dirty="0">
                <a:latin typeface="Calibri"/>
                <a:cs typeface="Calibri"/>
              </a:rPr>
              <a:t>when </a:t>
            </a:r>
            <a:r>
              <a:rPr sz="2400" spc="-5" dirty="0">
                <a:latin typeface="Calibri"/>
                <a:cs typeface="Calibri"/>
              </a:rPr>
              <a:t>no other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running</a:t>
            </a:r>
            <a:r>
              <a:rPr lang="en-US" sz="2400" dirty="0">
                <a:latin typeface="Calibri"/>
                <a:cs typeface="Calibri"/>
              </a:rPr>
              <a:t>.</a:t>
            </a:r>
            <a:r>
              <a:rPr sz="2400" dirty="0">
                <a:latin typeface="Calibri"/>
                <a:cs typeface="Calibri"/>
              </a:rPr>
              <a:t>)</a:t>
            </a:r>
          </a:p>
          <a:p>
            <a:pPr marL="241300" marR="15430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 </a:t>
            </a:r>
            <a:r>
              <a:rPr sz="2400" spc="-15" dirty="0">
                <a:latin typeface="Calibri"/>
                <a:cs typeface="Calibri"/>
              </a:rPr>
              <a:t>(first </a:t>
            </a:r>
            <a:r>
              <a:rPr sz="2400" dirty="0">
                <a:latin typeface="Calibri"/>
                <a:cs typeface="Calibri"/>
              </a:rPr>
              <a:t>running </a:t>
            </a:r>
            <a:r>
              <a:rPr sz="2400" spc="-10" dirty="0">
                <a:latin typeface="Calibri"/>
                <a:cs typeface="Calibri"/>
              </a:rPr>
              <a:t>process after </a:t>
            </a:r>
            <a:r>
              <a:rPr sz="2400" spc="-5" dirty="0">
                <a:latin typeface="Calibri"/>
                <a:cs typeface="Calibri"/>
              </a:rPr>
              <a:t>booting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system), </a:t>
            </a:r>
            <a:r>
              <a:rPr lang="en-US" sz="2400" spc="-15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could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5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following </a:t>
            </a:r>
            <a:r>
              <a:rPr sz="2400" dirty="0">
                <a:latin typeface="Calibri"/>
                <a:cs typeface="Calibri"/>
              </a:rPr>
              <a:t>(in the </a:t>
            </a:r>
            <a:r>
              <a:rPr sz="2400" spc="-10" dirty="0">
                <a:latin typeface="Calibri"/>
                <a:cs typeface="Calibri"/>
              </a:rPr>
              <a:t>given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order</a:t>
            </a:r>
            <a:r>
              <a:rPr lang="en-US" sz="2400" spc="-10" dirty="0">
                <a:latin typeface="Calibri"/>
                <a:cs typeface="Calibri"/>
              </a:rPr>
              <a:t> below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07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/sbin/init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preferred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5" dirty="0">
                <a:latin typeface="Calibri"/>
                <a:cs typeface="Calibri"/>
              </a:rPr>
              <a:t>most likely </a:t>
            </a:r>
            <a:r>
              <a:rPr sz="2000" spc="-5" dirty="0">
                <a:latin typeface="Calibri"/>
                <a:cs typeface="Calibri"/>
              </a:rPr>
              <a:t>location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sz="20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sz="20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sz="2000" spc="-10" dirty="0">
                <a:latin typeface="Calibri"/>
                <a:cs typeface="Calibri"/>
              </a:rPr>
              <a:t>: </a:t>
            </a:r>
            <a:r>
              <a:rPr lang="en-US" sz="2000" spc="-10" dirty="0">
                <a:latin typeface="Calibri"/>
                <a:cs typeface="Calibri"/>
              </a:rPr>
              <a:t>    </a:t>
            </a:r>
            <a:r>
              <a:rPr sz="2000" dirty="0">
                <a:latin typeface="Calibri"/>
                <a:cs typeface="Calibri"/>
              </a:rPr>
              <a:t>another </a:t>
            </a:r>
            <a:r>
              <a:rPr sz="2000" spc="-15" dirty="0">
                <a:latin typeface="Calibri"/>
                <a:cs typeface="Calibri"/>
              </a:rPr>
              <a:t>likely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choice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/bin/init</a:t>
            </a:r>
            <a:r>
              <a:rPr sz="2000" dirty="0">
                <a:latin typeface="Calibri"/>
                <a:cs typeface="Calibri"/>
              </a:rPr>
              <a:t>: </a:t>
            </a:r>
            <a:r>
              <a:rPr lang="en-US" sz="2000" dirty="0">
                <a:latin typeface="Calibri"/>
                <a:cs typeface="Calibri"/>
              </a:rPr>
              <a:t>   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fallback</a:t>
            </a:r>
            <a:r>
              <a:rPr sz="2000" spc="-5" dirty="0">
                <a:latin typeface="Calibri"/>
                <a:cs typeface="Calibri"/>
              </a:rPr>
              <a:t> choice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/bin/sh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lang="en-US" sz="2000" spc="-5" dirty="0">
                <a:latin typeface="Calibri"/>
                <a:cs typeface="Calibri"/>
              </a:rPr>
              <a:t>         </a:t>
            </a:r>
            <a:r>
              <a:rPr sz="2000" spc="-10" dirty="0">
                <a:latin typeface="Calibri"/>
                <a:cs typeface="Calibri"/>
              </a:rPr>
              <a:t>last </a:t>
            </a:r>
            <a:r>
              <a:rPr sz="2000" dirty="0">
                <a:latin typeface="Calibri"/>
                <a:cs typeface="Calibri"/>
              </a:rPr>
              <a:t>choice if the </a:t>
            </a:r>
            <a:r>
              <a:rPr sz="2000" spc="-10" dirty="0">
                <a:latin typeface="Calibri"/>
                <a:cs typeface="Calibri"/>
              </a:rPr>
              <a:t>kernel fails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find </a:t>
            </a:r>
            <a:r>
              <a:rPr sz="2000" dirty="0">
                <a:latin typeface="Calibri"/>
                <a:cs typeface="Calibri"/>
              </a:rPr>
              <a:t>an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If all </a:t>
            </a:r>
            <a:r>
              <a:rPr sz="2400" spc="-20" dirty="0">
                <a:latin typeface="Calibri"/>
                <a:cs typeface="Calibri"/>
              </a:rPr>
              <a:t>four </a:t>
            </a:r>
            <a:r>
              <a:rPr sz="2400" spc="-15" dirty="0">
                <a:latin typeface="Calibri"/>
                <a:cs typeface="Calibri"/>
              </a:rPr>
              <a:t>fail to execute,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Linux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lang="en-US" sz="2400" spc="-5" dirty="0">
                <a:latin typeface="Calibri"/>
                <a:cs typeface="Calibri"/>
              </a:rPr>
              <a:t>shuts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system</a:t>
            </a:r>
            <a:r>
              <a:rPr lang="en-US" sz="2400" spc="-20" dirty="0">
                <a:latin typeface="Calibri"/>
                <a:cs typeface="Calibri"/>
              </a:rPr>
              <a:t> down.</a:t>
            </a:r>
            <a:endParaRPr sz="2400" dirty="0">
              <a:latin typeface="Calibri"/>
              <a:cs typeface="Calibri"/>
            </a:endParaRPr>
          </a:p>
          <a:p>
            <a:pPr marL="241300" marR="889635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Otherwise, the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initializes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system, </a:t>
            </a:r>
            <a:r>
              <a:rPr sz="2400" spc="-10" dirty="0">
                <a:latin typeface="Calibri"/>
                <a:cs typeface="Calibri"/>
              </a:rPr>
              <a:t>starts various </a:t>
            </a:r>
            <a:r>
              <a:rPr sz="2400" dirty="0">
                <a:latin typeface="Calibri"/>
                <a:cs typeface="Calibri"/>
              </a:rPr>
              <a:t>services</a:t>
            </a:r>
            <a:r>
              <a:rPr lang="en-US" sz="2400" dirty="0">
                <a:latin typeface="Calibri"/>
                <a:cs typeface="Calibri"/>
              </a:rPr>
              <a:t>               </a:t>
            </a:r>
            <a:r>
              <a:rPr sz="2400" dirty="0">
                <a:latin typeface="Calibri"/>
                <a:cs typeface="Calibri"/>
              </a:rPr>
              <a:t> (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sz="2400" dirty="0">
                <a:latin typeface="Calibri"/>
                <a:cs typeface="Calibri"/>
              </a:rPr>
              <a:t>daemons), and launches a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process.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By default, </a:t>
            </a:r>
            <a:r>
              <a:rPr lang="en-US" sz="2400" spc="-1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kernel </a:t>
            </a:r>
            <a:r>
              <a:rPr sz="2400" dirty="0">
                <a:latin typeface="Calibri"/>
                <a:cs typeface="Calibri"/>
              </a:rPr>
              <a:t>imposes a </a:t>
            </a:r>
            <a:r>
              <a:rPr sz="2400" spc="-5" dirty="0">
                <a:latin typeface="Calibri"/>
                <a:cs typeface="Calibri"/>
              </a:rPr>
              <a:t>max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 </a:t>
            </a:r>
            <a:r>
              <a:rPr sz="2400" spc="-5" dirty="0">
                <a:latin typeface="Calibri"/>
                <a:cs typeface="Calibri"/>
              </a:rPr>
              <a:t>of 32768 (signed 16-bit),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lang="en-US" sz="2400" spc="-20" dirty="0">
                <a:latin typeface="Calibri"/>
                <a:cs typeface="Calibri"/>
              </a:rPr>
              <a:t>increments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 </a:t>
            </a:r>
            <a:r>
              <a:rPr sz="2400" spc="-20" dirty="0">
                <a:latin typeface="Calibri"/>
                <a:cs typeface="Calibri"/>
              </a:rPr>
              <a:t>linearly, </a:t>
            </a:r>
            <a:r>
              <a:rPr sz="2400" spc="-5" dirty="0">
                <a:latin typeface="Calibri"/>
                <a:cs typeface="Calibri"/>
              </a:rPr>
              <a:t>reusing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 after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wraps </a:t>
            </a:r>
            <a:r>
              <a:rPr sz="2400" spc="-10" dirty="0">
                <a:latin typeface="Calibri"/>
                <a:cs typeface="Calibri"/>
              </a:rPr>
              <a:t>around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top</a:t>
            </a:r>
            <a:r>
              <a:rPr lang="en-US" sz="2400" spc="-15" dirty="0">
                <a:latin typeface="Calibri"/>
                <a:cs typeface="Calibri"/>
              </a:rPr>
              <a:t>.</a:t>
            </a:r>
          </a:p>
          <a:p>
            <a:pPr marL="12700" marR="5080">
              <a:lnSpc>
                <a:spcPct val="70000"/>
              </a:lnSpc>
              <a:spcBef>
                <a:spcPts val="994"/>
              </a:spcBef>
              <a:tabLst>
                <a:tab pos="241300" algn="l"/>
              </a:tabLst>
            </a:pPr>
            <a:r>
              <a:rPr lang="en-US" sz="2400" spc="-15" dirty="0">
                <a:latin typeface="Calibri"/>
                <a:cs typeface="Calibri"/>
              </a:rPr>
              <a:t>Examples: 2, 3, 4, …, 32766, 32767, 32768, 2, 3, 4, etc. [0 = </a:t>
            </a:r>
            <a:r>
              <a:rPr lang="en-US"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idle</a:t>
            </a:r>
            <a:r>
              <a:rPr lang="en-US" sz="2400" spc="-15" dirty="0">
                <a:latin typeface="Calibri"/>
                <a:cs typeface="Calibri"/>
              </a:rPr>
              <a:t> and 1 = </a:t>
            </a:r>
            <a:r>
              <a:rPr lang="en-US"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2400" spc="-15" dirty="0">
                <a:latin typeface="Calibri"/>
                <a:cs typeface="Calibri"/>
              </a:rPr>
              <a:t> are running.]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Picture 6" descr="Image result for daemons">
            <a:extLst>
              <a:ext uri="{FF2B5EF4-FFF2-40B4-BE49-F238E27FC236}">
                <a16:creationId xmlns:a16="http://schemas.microsoft.com/office/drawing/2014/main" id="{798E929D-E5E1-425B-BFF9-2C3E5C4D0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3200400"/>
            <a:ext cx="2699557" cy="159543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71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pc="-50" dirty="0"/>
              <a:t>Process</a:t>
            </a:r>
            <a:r>
              <a:rPr spc="-204" dirty="0"/>
              <a:t> </a:t>
            </a:r>
            <a:r>
              <a:rPr spc="-55" dirty="0"/>
              <a:t>Hierarchy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11275061" cy="37351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224154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A p</a:t>
            </a:r>
            <a:r>
              <a:rPr sz="2800" spc="-10" dirty="0">
                <a:latin typeface="Calibri"/>
                <a:cs typeface="Calibri"/>
              </a:rPr>
              <a:t>rocess that spawns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new process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called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i="1" spc="-5" dirty="0">
                <a:latin typeface="Calibri"/>
                <a:cs typeface="Calibri"/>
              </a:rPr>
              <a:t>paren</a:t>
            </a:r>
            <a:r>
              <a:rPr sz="2800" spc="-5" dirty="0">
                <a:latin typeface="Calibri"/>
                <a:cs typeface="Calibri"/>
              </a:rPr>
              <a:t>t; </a:t>
            </a: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new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5" dirty="0">
                <a:latin typeface="Calibri"/>
                <a:cs typeface="Calibri"/>
              </a:rPr>
              <a:t>is called the </a:t>
            </a:r>
            <a:r>
              <a:rPr sz="2800" i="1" spc="-5" dirty="0">
                <a:latin typeface="Calibri"/>
                <a:cs typeface="Calibri"/>
              </a:rPr>
              <a:t>child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and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keeps a record 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i="1" spc="-10" dirty="0">
                <a:latin typeface="Calibri"/>
                <a:cs typeface="Calibri"/>
              </a:rPr>
              <a:t>parent </a:t>
            </a:r>
            <a:r>
              <a:rPr sz="2800" i="1" spc="-5" dirty="0">
                <a:latin typeface="Calibri"/>
                <a:cs typeface="Calibri"/>
              </a:rPr>
              <a:t>process ID</a:t>
            </a:r>
            <a:r>
              <a:rPr sz="2800" i="1" spc="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ppid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Every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spawned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another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sz="2800" spc="-25" dirty="0">
                <a:latin typeface="Calibri"/>
                <a:cs typeface="Calibri"/>
              </a:rPr>
              <a:t>except for </a:t>
            </a:r>
            <a:r>
              <a:rPr sz="28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2800" spc="-5" dirty="0" err="1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42595" indent="-228600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Each process </a:t>
            </a:r>
            <a:r>
              <a:rPr sz="2800" spc="-5" dirty="0">
                <a:latin typeface="Calibri"/>
                <a:cs typeface="Calibri"/>
              </a:rPr>
              <a:t>is owned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i="1" spc="-5" dirty="0">
                <a:latin typeface="Calibri"/>
                <a:cs typeface="Calibri"/>
              </a:rPr>
              <a:t>user </a:t>
            </a:r>
            <a:r>
              <a:rPr sz="2800" spc="-5" dirty="0">
                <a:latin typeface="Calibri"/>
                <a:cs typeface="Calibri"/>
              </a:rPr>
              <a:t>and a </a:t>
            </a:r>
            <a:r>
              <a:rPr sz="2800" i="1" spc="-5" dirty="0">
                <a:latin typeface="Calibri"/>
                <a:cs typeface="Calibri"/>
              </a:rPr>
              <a:t>group</a:t>
            </a:r>
            <a:r>
              <a:rPr sz="2800" spc="-5" dirty="0">
                <a:latin typeface="Calibri"/>
                <a:cs typeface="Calibri"/>
              </a:rPr>
              <a:t>, and this </a:t>
            </a:r>
            <a:r>
              <a:rPr sz="2800" spc="-15" dirty="0">
                <a:latin typeface="Calibri"/>
                <a:cs typeface="Calibri"/>
              </a:rPr>
              <a:t>ownership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used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20" dirty="0">
                <a:latin typeface="Calibri"/>
                <a:cs typeface="Calibri"/>
              </a:rPr>
              <a:t>control </a:t>
            </a:r>
            <a:r>
              <a:rPr sz="2800" spc="-5" dirty="0">
                <a:latin typeface="Calibri"/>
                <a:cs typeface="Calibri"/>
              </a:rPr>
              <a:t>access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lang="en-US" sz="2800" spc="80" dirty="0">
                <a:latin typeface="Calibri"/>
                <a:cs typeface="Calibri"/>
              </a:rPr>
              <a:t>(= permission to use) </a:t>
            </a:r>
            <a:r>
              <a:rPr sz="2800" spc="-10" dirty="0">
                <a:latin typeface="Calibri"/>
                <a:cs typeface="Calibri"/>
              </a:rPr>
              <a:t>resources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Each </a:t>
            </a:r>
            <a:r>
              <a:rPr sz="2800" spc="-5" dirty="0">
                <a:latin typeface="Calibri"/>
                <a:cs typeface="Calibri"/>
              </a:rPr>
              <a:t>child </a:t>
            </a:r>
            <a:r>
              <a:rPr sz="2800" spc="-10" dirty="0">
                <a:latin typeface="Calibri"/>
                <a:cs typeface="Calibri"/>
              </a:rPr>
              <a:t>process inherits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20" dirty="0">
                <a:latin typeface="Calibri"/>
                <a:cs typeface="Calibri"/>
              </a:rPr>
              <a:t>parent’s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group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ownership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35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Each process </a:t>
            </a:r>
            <a:r>
              <a:rPr sz="2800" spc="-5" dirty="0">
                <a:latin typeface="Calibri"/>
                <a:cs typeface="Calibri"/>
              </a:rPr>
              <a:t>is also a part of a </a:t>
            </a:r>
            <a:r>
              <a:rPr sz="2800" i="1" spc="-10" dirty="0">
                <a:latin typeface="Calibri"/>
                <a:cs typeface="Calibri"/>
              </a:rPr>
              <a:t>process </a:t>
            </a:r>
            <a:r>
              <a:rPr sz="2800" i="1" spc="-5" dirty="0">
                <a:latin typeface="Calibri"/>
                <a:cs typeface="Calibri"/>
              </a:rPr>
              <a:t>group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20"/>
              </a:lnSpc>
              <a:buFont typeface="Arial"/>
              <a:buChar char="•"/>
              <a:tabLst>
                <a:tab pos="699135" algn="l"/>
              </a:tabLst>
            </a:pPr>
            <a:r>
              <a:rPr lang="en-US" sz="2400" spc="5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.g.</a:t>
            </a:r>
            <a:r>
              <a:rPr lang="en-US" sz="2400" spc="5" dirty="0">
                <a:latin typeface="Calibri"/>
                <a:cs typeface="Calibri"/>
              </a:rPr>
              <a:t>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ls | </a:t>
            </a:r>
            <a:r>
              <a:rPr sz="2400" spc="-5" dirty="0">
                <a:solidFill>
                  <a:srgbClr val="0070C0"/>
                </a:solidFill>
                <a:latin typeface="Calibri"/>
                <a:cs typeface="Calibri"/>
              </a:rPr>
              <a:t>less</a:t>
            </a:r>
            <a:r>
              <a:rPr sz="2400" spc="-5" dirty="0">
                <a:latin typeface="Calibri"/>
                <a:cs typeface="Calibri"/>
              </a:rPr>
              <a:t>”: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10" dirty="0">
                <a:latin typeface="Calibri"/>
                <a:cs typeface="Calibri"/>
              </a:rPr>
              <a:t>commands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5" dirty="0">
                <a:latin typeface="Calibri"/>
                <a:cs typeface="Calibri"/>
              </a:rPr>
              <a:t>pipeline </a:t>
            </a:r>
            <a:r>
              <a:rPr lang="en-US" sz="2400" spc="-10" dirty="0">
                <a:latin typeface="Calibri"/>
                <a:cs typeface="Calibri"/>
              </a:rPr>
              <a:t>belong 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same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group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615315" lvl="1" indent="-228600">
              <a:lnSpc>
                <a:spcPct val="80000"/>
              </a:lnSpc>
              <a:spcBef>
                <a:spcPts val="54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spc="-15" dirty="0">
                <a:latin typeface="Calibri"/>
                <a:cs typeface="Calibri"/>
              </a:rPr>
              <a:t>makes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easy to </a:t>
            </a:r>
            <a:r>
              <a:rPr sz="2400" spc="-5" dirty="0">
                <a:latin typeface="Calibri"/>
                <a:cs typeface="Calibri"/>
              </a:rPr>
              <a:t>send signals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entire </a:t>
            </a:r>
            <a:r>
              <a:rPr sz="2400" spc="-5" dirty="0">
                <a:latin typeface="Calibri"/>
                <a:cs typeface="Calibri"/>
              </a:rPr>
              <a:t>pipeline,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well </a:t>
            </a:r>
            <a:r>
              <a:rPr sz="2400" dirty="0">
                <a:latin typeface="Calibri"/>
                <a:cs typeface="Calibri"/>
              </a:rPr>
              <a:t>as child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63982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Obtaining </a:t>
            </a:r>
            <a:r>
              <a:rPr spc="-20" dirty="0"/>
              <a:t>the </a:t>
            </a:r>
            <a:r>
              <a:rPr sz="40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pc="-15" dirty="0"/>
              <a:t> </a:t>
            </a:r>
            <a:r>
              <a:rPr spc="-25" dirty="0"/>
              <a:t>and</a:t>
            </a:r>
            <a:r>
              <a:rPr spc="-15" dirty="0"/>
              <a:t> </a:t>
            </a:r>
            <a:r>
              <a:rPr sz="4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ppid</a:t>
            </a:r>
            <a:endParaRPr spc="-2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8" y="1765757"/>
            <a:ext cx="10817861" cy="46122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10" dirty="0">
                <a:latin typeface="Calibri"/>
                <a:cs typeface="Calibri"/>
              </a:rPr>
              <a:t>To </a:t>
            </a:r>
            <a:r>
              <a:rPr sz="2600" spc="-15" dirty="0">
                <a:latin typeface="Calibri"/>
                <a:cs typeface="Calibri"/>
              </a:rPr>
              <a:t>get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 the </a:t>
            </a:r>
            <a:r>
              <a:rPr sz="2600" spc="-10" dirty="0">
                <a:latin typeface="Calibri"/>
                <a:cs typeface="Calibri"/>
              </a:rPr>
              <a:t>process:</a:t>
            </a:r>
            <a:endParaRPr sz="2600" dirty="0">
              <a:latin typeface="Calibri"/>
              <a:cs typeface="Calibri"/>
            </a:endParaRPr>
          </a:p>
          <a:p>
            <a:pPr marL="469900" marR="6896734">
              <a:lnSpc>
                <a:spcPct val="101800"/>
              </a:lnSpc>
              <a:spcBef>
                <a:spcPts val="40"/>
              </a:spcBef>
              <a:spcAft>
                <a:spcPts val="600"/>
              </a:spcAft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 &lt;sys/types.h&gt;  #include &lt;</a:t>
            </a:r>
            <a:r>
              <a:rPr sz="1900" dirty="0" err="1">
                <a:solidFill>
                  <a:srgbClr val="0070C0"/>
                </a:solidFill>
                <a:latin typeface="Consolas"/>
                <a:cs typeface="Consolas"/>
              </a:rPr>
              <a:t>unistd.h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  <a:endParaRPr lang="en-US"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6896734">
              <a:lnSpc>
                <a:spcPct val="101800"/>
              </a:lnSpc>
              <a:spcBef>
                <a:spcPts val="40"/>
              </a:spcBef>
            </a:pPr>
            <a:r>
              <a:rPr sz="1900" spc="-5" dirty="0" err="1">
                <a:solidFill>
                  <a:srgbClr val="0070C0"/>
                </a:solidFill>
                <a:latin typeface="Consolas"/>
                <a:cs typeface="Consolas"/>
              </a:rPr>
              <a:t>pid_t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getpid</a:t>
            </a:r>
            <a:r>
              <a:rPr sz="19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10" dirty="0">
                <a:latin typeface="Calibri"/>
                <a:cs typeface="Calibri"/>
              </a:rPr>
              <a:t>To </a:t>
            </a:r>
            <a:r>
              <a:rPr sz="2600" spc="-15" dirty="0">
                <a:latin typeface="Calibri"/>
                <a:cs typeface="Calibri"/>
              </a:rPr>
              <a:t>get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ppid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 the </a:t>
            </a:r>
            <a:r>
              <a:rPr sz="2600" spc="-10" dirty="0">
                <a:latin typeface="Calibri"/>
                <a:cs typeface="Calibri"/>
              </a:rPr>
              <a:t>process’</a:t>
            </a:r>
            <a:r>
              <a:rPr lang="en-US" sz="2600" spc="-1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 parent</a:t>
            </a:r>
            <a:r>
              <a:rPr lang="en-US"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 marR="6896734">
              <a:lnSpc>
                <a:spcPct val="101800"/>
              </a:lnSpc>
              <a:spcBef>
                <a:spcPts val="40"/>
              </a:spcBef>
              <a:spcAft>
                <a:spcPts val="600"/>
              </a:spcAft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 &lt;sys/types.h&gt;  #include &lt;unistd.h&gt;  </a:t>
            </a:r>
            <a:endParaRPr lang="en-US"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6896734">
              <a:lnSpc>
                <a:spcPct val="101800"/>
              </a:lnSpc>
              <a:spcBef>
                <a:spcPts val="40"/>
              </a:spcBef>
            </a:pPr>
            <a:r>
              <a:rPr sz="1900" spc="-5" dirty="0" err="1">
                <a:solidFill>
                  <a:srgbClr val="0070C0"/>
                </a:solidFill>
                <a:latin typeface="Consolas"/>
                <a:cs typeface="Consolas"/>
              </a:rPr>
              <a:t>pid_t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getppid</a:t>
            </a:r>
            <a:r>
              <a:rPr sz="1900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</a:p>
          <a:p>
            <a:pPr marL="241300" indent="-228600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Neither </a:t>
            </a:r>
            <a:r>
              <a:rPr sz="2600" spc="-5" dirty="0">
                <a:latin typeface="Calibri"/>
                <a:cs typeface="Calibri"/>
              </a:rPr>
              <a:t>call </a:t>
            </a:r>
            <a:r>
              <a:rPr sz="2600" dirty="0">
                <a:latin typeface="Calibri"/>
                <a:cs typeface="Calibri"/>
              </a:rPr>
              <a:t>will </a:t>
            </a:r>
            <a:r>
              <a:rPr sz="2600" spc="-5" dirty="0">
                <a:latin typeface="Calibri"/>
                <a:cs typeface="Calibri"/>
              </a:rPr>
              <a:t>return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error</a:t>
            </a:r>
            <a:r>
              <a:rPr lang="en-US" sz="2600" spc="-10" dirty="0">
                <a:latin typeface="Calibri"/>
                <a:cs typeface="Calibri"/>
              </a:rPr>
              <a:t>. Examples:</a:t>
            </a:r>
            <a:endParaRPr sz="2600" dirty="0">
              <a:latin typeface="Calibri"/>
              <a:cs typeface="Calibri"/>
            </a:endParaRPr>
          </a:p>
          <a:p>
            <a:pPr marL="469900" marR="2423795">
              <a:lnSpc>
                <a:spcPct val="101000"/>
              </a:lnSpc>
              <a:spcBef>
                <a:spcPts val="1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printf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("My 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pid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=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%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jd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.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\n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",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intmax_t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) 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getpid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());</a:t>
            </a:r>
            <a:endParaRPr lang="en-US" sz="2000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2423795">
              <a:lnSpc>
                <a:spcPct val="101000"/>
              </a:lnSpc>
              <a:spcBef>
                <a:spcPts val="15"/>
              </a:spcBef>
            </a:pP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printf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("Parent's 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pid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=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%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jd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.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\n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",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intmax_t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getppid</a:t>
            </a:r>
            <a:r>
              <a:rPr sz="20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());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698500" lvl="1" indent="-229235">
              <a:lnSpc>
                <a:spcPts val="25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Here</a:t>
            </a:r>
            <a:r>
              <a:rPr lang="en-US" sz="2200" spc="-15" dirty="0">
                <a:latin typeface="Calibri"/>
                <a:cs typeface="Calibri"/>
              </a:rPr>
              <a:t>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onsolas"/>
              </a:rPr>
              <a:t>intmax_t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 a C/C++ type </a:t>
            </a:r>
            <a:r>
              <a:rPr sz="2200" spc="-15" dirty="0">
                <a:latin typeface="Calibri"/>
                <a:cs typeface="Calibri"/>
              </a:rPr>
              <a:t>guaranteed to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capable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storing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any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signed</a:t>
            </a:r>
            <a:r>
              <a:rPr lang="en-US"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integer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2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0" dirty="0">
                <a:latin typeface="Calibri"/>
                <a:cs typeface="Calibri"/>
              </a:rPr>
              <a:t>must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paired </a:t>
            </a:r>
            <a:r>
              <a:rPr sz="2200" spc="-5" dirty="0">
                <a:latin typeface="Calibri"/>
                <a:cs typeface="Calibri"/>
              </a:rPr>
              <a:t>with</a:t>
            </a:r>
            <a:r>
              <a:rPr lang="en-US" sz="2200" spc="-5" dirty="0">
                <a:latin typeface="Calibri"/>
                <a:cs typeface="Calibri"/>
              </a:rPr>
              <a:t> the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rgbClr val="0070C0"/>
                </a:solidFill>
                <a:latin typeface="Consolas"/>
              </a:rPr>
              <a:t>printf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()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lang="en-US" sz="2200" spc="-25" dirty="0">
                <a:latin typeface="Calibri"/>
                <a:cs typeface="Calibri"/>
              </a:rPr>
              <a:t>variable </a:t>
            </a:r>
            <a:r>
              <a:rPr lang="en-US" sz="2200" spc="-5" dirty="0">
                <a:latin typeface="Calibri"/>
                <a:cs typeface="Calibri"/>
              </a:rPr>
              <a:t>specifier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%j</a:t>
            </a:r>
            <a:r>
              <a:rPr lang="en-US" sz="2200" spc="-25" dirty="0">
                <a:latin typeface="Calibri"/>
                <a:cs typeface="Calibri"/>
              </a:rPr>
              <a:t>, which prints an </a:t>
            </a:r>
            <a:r>
              <a:rPr lang="en-US" sz="2000" b="1" dirty="0" err="1">
                <a:solidFill>
                  <a:srgbClr val="0070C0"/>
                </a:solidFill>
                <a:latin typeface="Consolas"/>
              </a:rPr>
              <a:t>intmax_t</a:t>
            </a:r>
            <a:r>
              <a:rPr lang="en-US" sz="2000" spc="-15" dirty="0">
                <a:latin typeface="Calibri"/>
                <a:cs typeface="Calibri"/>
              </a:rPr>
              <a:t>.</a:t>
            </a:r>
            <a:endParaRPr sz="2000" dirty="0">
              <a:solidFill>
                <a:srgbClr val="0070C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142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Running </a:t>
            </a:r>
            <a:r>
              <a:rPr dirty="0"/>
              <a:t>a </a:t>
            </a:r>
            <a:r>
              <a:rPr spc="-35" dirty="0"/>
              <a:t>New</a:t>
            </a:r>
            <a:r>
              <a:rPr spc="-245" dirty="0"/>
              <a:t> </a:t>
            </a:r>
            <a:r>
              <a:rPr spc="-5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01275" cy="41789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 Unix</a:t>
            </a:r>
            <a:r>
              <a:rPr lang="en-US" sz="2800" spc="-5" dirty="0">
                <a:latin typeface="Calibri"/>
                <a:cs typeface="Calibri"/>
              </a:rPr>
              <a:t>/Linux</a:t>
            </a:r>
            <a:r>
              <a:rPr sz="2800" spc="-5" dirty="0">
                <a:latin typeface="Calibri"/>
                <a:cs typeface="Calibri"/>
              </a:rPr>
              <a:t>, </a:t>
            </a:r>
            <a:r>
              <a:rPr sz="2800" spc="-10" dirty="0">
                <a:latin typeface="Calibri"/>
                <a:cs typeface="Calibri"/>
              </a:rPr>
              <a:t>loading</a:t>
            </a:r>
            <a:r>
              <a:rPr lang="en-US" sz="2800" spc="-10" dirty="0">
                <a:latin typeface="Calibri"/>
                <a:cs typeface="Calibri"/>
              </a:rPr>
              <a:t> and </a:t>
            </a:r>
            <a:r>
              <a:rPr sz="2800" spc="-10" dirty="0">
                <a:latin typeface="Calibri"/>
                <a:cs typeface="Calibri"/>
              </a:rPr>
              <a:t>executing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program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20" dirty="0">
                <a:latin typeface="Calibri"/>
                <a:cs typeface="Calibri"/>
              </a:rPr>
              <a:t>separate from </a:t>
            </a:r>
            <a:r>
              <a:rPr sz="2800" spc="-10" dirty="0">
                <a:latin typeface="Calibri"/>
                <a:cs typeface="Calibri"/>
              </a:rPr>
              <a:t>creating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new process!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cs typeface="Calibri"/>
              </a:rPr>
              <a:t>The </a:t>
            </a:r>
            <a:r>
              <a:rPr lang="en-US" sz="2800" spc="-20" dirty="0">
                <a:cs typeface="Calibri"/>
              </a:rPr>
              <a:t>creation </a:t>
            </a:r>
            <a:r>
              <a:rPr lang="en-US" sz="2800" spc="-5" dirty="0">
                <a:cs typeface="Calibri"/>
              </a:rPr>
              <a:t>is </a:t>
            </a:r>
            <a:r>
              <a:rPr lang="en-US" sz="2800" spc="-10" dirty="0">
                <a:cs typeface="Calibri"/>
              </a:rPr>
              <a:t>called </a:t>
            </a:r>
            <a:r>
              <a:rPr lang="en-US" sz="2800" i="1" spc="-5" dirty="0">
                <a:cs typeface="Calibri"/>
              </a:rPr>
              <a:t>forkin</a:t>
            </a:r>
            <a:r>
              <a:rPr lang="en-US" sz="2800" spc="-5" dirty="0">
                <a:cs typeface="Calibri"/>
              </a:rPr>
              <a:t>g and is </a:t>
            </a:r>
            <a:r>
              <a:rPr lang="en-US" sz="2800" spc="-15" dirty="0">
                <a:cs typeface="Calibri"/>
              </a:rPr>
              <a:t>provided by </a:t>
            </a:r>
            <a:r>
              <a:rPr lang="en-US" sz="2800" spc="-5" dirty="0">
                <a:cs typeface="Calibri"/>
              </a:rPr>
              <a:t>the </a:t>
            </a:r>
            <a:r>
              <a:rPr lang="en-US"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sz="2000" spc="140" dirty="0">
                <a:cs typeface="Courier New" panose="02070309020205020404" pitchFamily="49" charset="0"/>
              </a:rPr>
              <a:t> </a:t>
            </a:r>
            <a:r>
              <a:rPr lang="en-US" sz="2800" spc="-20" dirty="0">
                <a:cs typeface="Calibri"/>
              </a:rPr>
              <a:t>syscall.</a:t>
            </a:r>
            <a:endParaRPr lang="en-US" sz="2800" dirty="0"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lang="en-US" sz="2800" spc="-15" dirty="0">
                <a:latin typeface="Calibri"/>
                <a:cs typeface="Calibri"/>
              </a:rPr>
              <a:t>execution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functionality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provided by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family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302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sz="2000" spc="-15" dirty="0">
                <a:latin typeface="+mj-lt"/>
                <a:cs typeface="Courier New" panose="02070309020205020404" pitchFamily="49" charset="0"/>
              </a:rPr>
              <a:t> </a:t>
            </a:r>
            <a:r>
              <a:rPr sz="2800" spc="-15" dirty="0">
                <a:latin typeface="Calibri"/>
                <a:cs typeface="Calibri"/>
              </a:rPr>
              <a:t>creates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new process, </a:t>
            </a:r>
            <a:r>
              <a:rPr sz="2800" spc="-5" dirty="0">
                <a:latin typeface="Calibri"/>
                <a:cs typeface="Calibri"/>
              </a:rPr>
              <a:t>which initially is a </a:t>
            </a:r>
            <a:r>
              <a:rPr sz="2800" spc="-20" dirty="0">
                <a:latin typeface="Calibri"/>
                <a:cs typeface="Calibri"/>
              </a:rPr>
              <a:t>near-duplicate </a:t>
            </a:r>
            <a:r>
              <a:rPr sz="2800" spc="-10" dirty="0">
                <a:latin typeface="Calibri"/>
                <a:cs typeface="Calibri"/>
              </a:rPr>
              <a:t>of 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15" dirty="0">
                <a:latin typeface="Calibri"/>
                <a:cs typeface="Calibri"/>
              </a:rPr>
              <a:t>parent </a:t>
            </a:r>
            <a:r>
              <a:rPr sz="2800" spc="-10" dirty="0">
                <a:latin typeface="Calibri"/>
                <a:cs typeface="Calibri"/>
              </a:rPr>
              <a:t>process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hen</a:t>
            </a:r>
            <a:r>
              <a:rPr lang="en-US" sz="2800" spc="-5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load</a:t>
            </a:r>
            <a:r>
              <a:rPr lang="en-US" sz="2800" spc="-5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 a </a:t>
            </a:r>
            <a:r>
              <a:rPr sz="2800" spc="-10" dirty="0">
                <a:latin typeface="Calibri"/>
                <a:cs typeface="Calibri"/>
              </a:rPr>
              <a:t>new </a:t>
            </a:r>
            <a:r>
              <a:rPr sz="2800" spc="-20" dirty="0">
                <a:latin typeface="Calibri"/>
                <a:cs typeface="Calibri"/>
              </a:rPr>
              <a:t>program </a:t>
            </a:r>
            <a:r>
              <a:rPr sz="2800" spc="-10" dirty="0">
                <a:latin typeface="Calibri"/>
                <a:cs typeface="Calibri"/>
              </a:rPr>
              <a:t>image </a:t>
            </a:r>
            <a:r>
              <a:rPr lang="en-US" sz="2800" spc="-10" dirty="0">
                <a:latin typeface="Calibri"/>
                <a:cs typeface="Calibri"/>
              </a:rPr>
              <a:t>(code, variables, etc.) into the child process’s memory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In short, a new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executed</a:t>
            </a:r>
            <a:r>
              <a:rPr lang="en-US" sz="2800" spc="-20" dirty="0">
                <a:latin typeface="Calibri"/>
                <a:cs typeface="Calibri"/>
              </a:rPr>
              <a:t> by calling </a:t>
            </a:r>
            <a:r>
              <a:rPr lang="en-US" sz="24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r>
              <a:rPr lang="en-US" sz="2800" spc="-20" dirty="0">
                <a:latin typeface="Calibri"/>
                <a:cs typeface="Calibri"/>
              </a:rPr>
              <a:t> after </a:t>
            </a:r>
            <a:r>
              <a:rPr lang="en-US" sz="24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spc="-2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latin typeface="Calibri"/>
                <a:cs typeface="Calibri"/>
              </a:rPr>
              <a:t>We </a:t>
            </a:r>
            <a:r>
              <a:rPr sz="2800" spc="-10" dirty="0">
                <a:latin typeface="Calibri"/>
                <a:cs typeface="Calibri"/>
              </a:rPr>
              <a:t>describe</a:t>
            </a:r>
            <a:r>
              <a:rPr lang="en-US" sz="2800" spc="-10" dirty="0">
                <a:latin typeface="Calibri"/>
                <a:cs typeface="Calibri"/>
              </a:rPr>
              <a:t> 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lang="en-US" sz="2800" spc="-35" dirty="0">
                <a:latin typeface="Calibri"/>
                <a:cs typeface="Calibri"/>
              </a:rPr>
              <a:t>family of </a:t>
            </a:r>
            <a:r>
              <a:rPr sz="2800" spc="-10" dirty="0">
                <a:latin typeface="Calibri"/>
                <a:cs typeface="Calibri"/>
              </a:rPr>
              <a:t>calls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first</a:t>
            </a:r>
            <a:r>
              <a:rPr lang="en-US"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4838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lang="en-US" sz="4000" spc="-5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sz="4000" spc="-50" dirty="0">
                <a:latin typeface="Courier New" panose="02070309020205020404" pitchFamily="49" charset="0"/>
                <a:cs typeface="Courier New" panose="02070309020205020404" pitchFamily="49" charset="0"/>
              </a:rPr>
              <a:t>xec</a:t>
            </a:r>
            <a:r>
              <a:rPr spc="-50" dirty="0"/>
              <a:t> Family </a:t>
            </a:r>
            <a:r>
              <a:rPr spc="-15" dirty="0"/>
              <a:t>of</a:t>
            </a:r>
            <a:r>
              <a:rPr spc="-260" dirty="0"/>
              <a:t> </a:t>
            </a:r>
            <a:r>
              <a:rPr spc="-20" dirty="0"/>
              <a:t>Calls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4538"/>
            <a:ext cx="11198861" cy="440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family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functions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dirty="0">
                <a:latin typeface="Calibri"/>
                <a:cs typeface="Calibri"/>
              </a:rPr>
              <a:t>built </a:t>
            </a:r>
            <a:r>
              <a:rPr sz="2000" spc="-5" dirty="0">
                <a:latin typeface="Calibri"/>
                <a:cs typeface="Calibri"/>
              </a:rPr>
              <a:t>on </a:t>
            </a:r>
            <a:r>
              <a:rPr lang="en-US" sz="2000" spc="-5" dirty="0">
                <a:latin typeface="Calibri"/>
                <a:cs typeface="Calibri"/>
              </a:rPr>
              <a:t>and internally invoke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single </a:t>
            </a:r>
            <a:r>
              <a:rPr sz="2000" spc="-10" dirty="0">
                <a:latin typeface="Calibri"/>
                <a:cs typeface="Calibri"/>
              </a:rPr>
              <a:t>syscall,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simplest</a:t>
            </a:r>
            <a:r>
              <a:rPr lang="en-US" sz="2000" spc="-10" dirty="0">
                <a:latin typeface="Calibri"/>
                <a:cs typeface="Calibri"/>
              </a:rPr>
              <a:t> one of them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Aft>
                <a:spcPts val="600"/>
              </a:spcAft>
            </a:pP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4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</a:p>
          <a:p>
            <a:pPr marL="469900">
              <a:lnSpc>
                <a:spcPct val="100000"/>
              </a:lnSpc>
            </a:pPr>
            <a:r>
              <a:rPr sz="14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execl 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400" b="1" spc="5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14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14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*arg,</a:t>
            </a:r>
            <a:r>
              <a:rPr sz="1400" spc="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...);</a:t>
            </a: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It </a:t>
            </a:r>
            <a:r>
              <a:rPr lang="en-US" sz="2000" spc="-5" dirty="0">
                <a:latin typeface="Calibri"/>
                <a:cs typeface="Calibri"/>
              </a:rPr>
              <a:t>loads the code of </a:t>
            </a:r>
            <a:r>
              <a:rPr lang="en-US" sz="2000" spc="-5" dirty="0">
                <a:cs typeface="Calibri"/>
              </a:rPr>
              <a:t>the program </a:t>
            </a:r>
            <a:r>
              <a:rPr lang="en-US" sz="2000" spc="-5" dirty="0">
                <a:latin typeface="Calibri"/>
                <a:cs typeface="Calibri"/>
              </a:rPr>
              <a:t>whose name is given by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path</a:t>
            </a:r>
            <a:r>
              <a:rPr lang="en-US" sz="2000" spc="-5" dirty="0">
                <a:latin typeface="Calibri"/>
                <a:cs typeface="Calibri"/>
              </a:rPr>
              <a:t> into main memory.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The argument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arg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should contain what you want to be the 1</a:t>
            </a:r>
            <a:r>
              <a:rPr lang="en-US" sz="2000" baseline="30000" dirty="0">
                <a:latin typeface="Calibri"/>
                <a:cs typeface="Calibri"/>
              </a:rPr>
              <a:t>st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argument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this </a:t>
            </a:r>
            <a:r>
              <a:rPr lang="en-US" sz="2000" dirty="0">
                <a:latin typeface="Calibri"/>
                <a:cs typeface="Calibri"/>
              </a:rPr>
              <a:t>new </a:t>
            </a:r>
            <a:r>
              <a:rPr sz="2000" spc="-10" dirty="0">
                <a:latin typeface="Calibri"/>
                <a:cs typeface="Calibri"/>
              </a:rPr>
              <a:t>program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lang="en-US" sz="2000" spc="-10" dirty="0">
                <a:latin typeface="Calibri"/>
                <a:cs typeface="Calibri"/>
              </a:rPr>
              <a:t>that is, its </a:t>
            </a:r>
            <a:r>
              <a:rPr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spc="-10" dirty="0"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  <a:r>
              <a:rPr sz="2000" spc="-10" dirty="0">
                <a:latin typeface="Calibri"/>
                <a:cs typeface="Calibri"/>
              </a:rPr>
              <a:t>)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spcBef>
                <a:spcPts val="2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 ellipsis </a:t>
            </a:r>
            <a:r>
              <a:rPr lang="en-US" sz="2000" spc="-5" dirty="0">
                <a:latin typeface="Calibri"/>
                <a:cs typeface="Calibri"/>
              </a:rPr>
              <a:t>(</a:t>
            </a:r>
            <a:r>
              <a:rPr lang="en-US" sz="1400" dirty="0">
                <a:solidFill>
                  <a:srgbClr val="0070C0"/>
                </a:solidFill>
                <a:latin typeface="Consolas"/>
                <a:cs typeface="Calibri"/>
              </a:rPr>
              <a:t>...</a:t>
            </a:r>
            <a:r>
              <a:rPr lang="en-US" sz="2000" spc="-5" dirty="0">
                <a:latin typeface="Calibri"/>
                <a:cs typeface="Calibri"/>
              </a:rPr>
              <a:t>) </a:t>
            </a:r>
            <a:r>
              <a:rPr sz="2000" spc="-10" dirty="0">
                <a:latin typeface="Calibri"/>
                <a:cs typeface="Calibri"/>
              </a:rPr>
              <a:t>represents </a:t>
            </a:r>
            <a:r>
              <a:rPr sz="2000" i="1" spc="-5" dirty="0">
                <a:latin typeface="Calibri"/>
                <a:cs typeface="Calibri"/>
              </a:rPr>
              <a:t>variadic </a:t>
            </a:r>
            <a:r>
              <a:rPr sz="2000" spc="-15" dirty="0">
                <a:latin typeface="Calibri"/>
                <a:cs typeface="Calibri"/>
              </a:rPr>
              <a:t>parameters,</a:t>
            </a:r>
            <a:r>
              <a:rPr lang="en-US" sz="2000" spc="-15" dirty="0">
                <a:latin typeface="Calibri"/>
                <a:cs typeface="Calibri"/>
              </a:rPr>
              <a:t> which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must </a:t>
            </a:r>
            <a:r>
              <a:rPr sz="2000" dirty="0">
                <a:latin typeface="Calibri"/>
                <a:cs typeface="Calibri"/>
              </a:rPr>
              <a:t>end with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000" spc="-10" dirty="0">
                <a:latin typeface="Calibri"/>
                <a:cs typeface="Calibri"/>
              </a:rPr>
              <a:t>. Example: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</a:p>
          <a:p>
            <a:pPr marL="469900">
              <a:lnSpc>
                <a:spcPct val="100000"/>
              </a:lnSpc>
            </a:pP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ret = execl ("/bin/vi", "vi", </a:t>
            </a:r>
            <a:r>
              <a:rPr lang="en-US" sz="1400" dirty="0">
                <a:solidFill>
                  <a:srgbClr val="0070C0"/>
                </a:solidFill>
                <a:latin typeface="Consolas"/>
                <a:cs typeface="Consolas"/>
              </a:rPr>
              <a:t>"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/home/</a:t>
            </a:r>
            <a:r>
              <a:rPr lang="en-US" sz="1400" dirty="0">
                <a:solidFill>
                  <a:srgbClr val="0070C0"/>
                </a:solidFill>
                <a:latin typeface="Consolas"/>
                <a:cs typeface="Consolas"/>
              </a:rPr>
              <a:t>text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.txt",</a:t>
            </a:r>
            <a:r>
              <a:rPr sz="1400" spc="5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NULL);</a:t>
            </a:r>
            <a:r>
              <a:rPr lang="en-US"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400" i="1" spc="5" dirty="0">
                <a:latin typeface="Consolas"/>
                <a:cs typeface="Consolas"/>
              </a:rPr>
              <a:t>// Same as typing: </a:t>
            </a:r>
            <a:r>
              <a:rPr lang="en-US" sz="1400" i="1" spc="5" dirty="0">
                <a:solidFill>
                  <a:srgbClr val="0070C0"/>
                </a:solidFill>
                <a:latin typeface="Consolas"/>
                <a:cs typeface="Consolas"/>
              </a:rPr>
              <a:t>vi </a:t>
            </a:r>
            <a:r>
              <a:rPr lang="en-US" sz="1400" i="1" spc="5" dirty="0">
                <a:solidFill>
                  <a:srgbClr val="0070C0"/>
                </a:solidFill>
                <a:latin typeface="Consolas"/>
              </a:rPr>
              <a:t>/home/text.txt</a:t>
            </a:r>
            <a:r>
              <a:rPr lang="en-US" sz="1400" i="1" spc="5" dirty="0">
                <a:latin typeface="Consolas"/>
              </a:rPr>
              <a:t> in the terminal.</a:t>
            </a:r>
            <a:endParaRPr sz="1400" i="1" spc="5" dirty="0">
              <a:latin typeface="Consolas"/>
            </a:endParaRPr>
          </a:p>
          <a:p>
            <a:pPr marL="469900">
              <a:lnSpc>
                <a:spcPct val="100000"/>
              </a:lnSpc>
            </a:pPr>
            <a:r>
              <a:rPr sz="14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(ret == 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−1) </a:t>
            </a:r>
            <a:r>
              <a:rPr lang="en-US" sz="1400" spc="5" dirty="0">
                <a:solidFill>
                  <a:srgbClr val="0070C0"/>
                </a:solidFill>
                <a:latin typeface="Consolas"/>
                <a:cs typeface="Consolas"/>
              </a:rPr>
              <a:t>{ </a:t>
            </a:r>
            <a:r>
              <a:rPr sz="1400" dirty="0" err="1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1400" spc="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("</a:t>
            </a:r>
            <a:r>
              <a:rPr sz="1400" dirty="0" err="1">
                <a:solidFill>
                  <a:srgbClr val="0070C0"/>
                </a:solidFill>
                <a:latin typeface="Consolas"/>
                <a:cs typeface="Consolas"/>
              </a:rPr>
              <a:t>execl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");</a:t>
            </a:r>
            <a:r>
              <a:rPr lang="en-US" sz="1400" dirty="0">
                <a:solidFill>
                  <a:srgbClr val="0070C0"/>
                </a:solidFill>
                <a:latin typeface="Consolas"/>
                <a:cs typeface="Consolas"/>
              </a:rPr>
              <a:t>  exit(</a:t>
            </a:r>
            <a:r>
              <a:rPr lang="en-US" sz="1400" dirty="0" err="1">
                <a:solidFill>
                  <a:srgbClr val="0070C0"/>
                </a:solidFill>
                <a:latin typeface="Consolas"/>
                <a:cs typeface="Consolas"/>
              </a:rPr>
              <a:t>EXIT_FAILURE</a:t>
            </a:r>
            <a:r>
              <a:rPr lang="en-US" sz="1400" dirty="0">
                <a:solidFill>
                  <a:srgbClr val="0070C0"/>
                </a:solidFill>
                <a:latin typeface="Consolas"/>
                <a:cs typeface="Consolas"/>
              </a:rPr>
              <a:t>); } </a:t>
            </a:r>
            <a:r>
              <a:rPr lang="en-US" sz="1400" i="1" spc="5" dirty="0">
                <a:latin typeface="Consolas"/>
              </a:rPr>
              <a:t>// Error checks.</a:t>
            </a:r>
            <a:endParaRPr sz="1400" i="1" spc="5" dirty="0">
              <a:latin typeface="Consolas"/>
            </a:endParaRPr>
          </a:p>
          <a:p>
            <a:pPr marL="241300" marR="189230" indent="-228600">
              <a:lnSpc>
                <a:spcPct val="70000"/>
              </a:lnSpc>
              <a:spcBef>
                <a:spcPts val="9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Normally</a:t>
            </a:r>
            <a:r>
              <a:rPr lang="en-US" sz="2000" dirty="0">
                <a:latin typeface="Calibri"/>
                <a:cs typeface="Calibri"/>
              </a:rPr>
              <a:t>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execl()</a:t>
            </a:r>
            <a:r>
              <a:rPr sz="2000" spc="-15" dirty="0">
                <a:latin typeface="+mj-lt"/>
                <a:cs typeface="Courier New" panose="02070309020205020404" pitchFamily="49" charset="0"/>
              </a:rPr>
              <a:t> </a:t>
            </a:r>
            <a:r>
              <a:rPr sz="2000" spc="-5" dirty="0">
                <a:latin typeface="Calibri"/>
                <a:cs typeface="Calibri"/>
              </a:rPr>
              <a:t>doesn’t </a:t>
            </a:r>
            <a:r>
              <a:rPr sz="2000" spc="-10" dirty="0">
                <a:latin typeface="Calibri"/>
                <a:cs typeface="Calibri"/>
              </a:rPr>
              <a:t>return </a:t>
            </a:r>
            <a:r>
              <a:rPr sz="2000" dirty="0">
                <a:latin typeface="Calibri"/>
                <a:cs typeface="Calibri"/>
              </a:rPr>
              <a:t>– a </a:t>
            </a:r>
            <a:r>
              <a:rPr sz="2000" spc="-5" dirty="0">
                <a:latin typeface="Calibri"/>
                <a:cs typeface="Calibri"/>
              </a:rPr>
              <a:t>successful </a:t>
            </a:r>
            <a:r>
              <a:rPr sz="2000" spc="-10" dirty="0">
                <a:latin typeface="Calibri"/>
                <a:cs typeface="Calibri"/>
              </a:rPr>
              <a:t>invocation </a:t>
            </a:r>
            <a:r>
              <a:rPr sz="2000" dirty="0">
                <a:latin typeface="Calibri"/>
                <a:cs typeface="Calibri"/>
              </a:rPr>
              <a:t>ends </a:t>
            </a:r>
            <a:r>
              <a:rPr sz="2000" spc="-5" dirty="0">
                <a:latin typeface="Calibri"/>
                <a:cs typeface="Calibri"/>
              </a:rPr>
              <a:t>by jumping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lang="en-US" sz="2000" spc="-5" dirty="0">
                <a:latin typeface="Calibri"/>
                <a:cs typeface="Calibri"/>
              </a:rPr>
              <a:t>1</a:t>
            </a:r>
            <a:r>
              <a:rPr lang="en-US" sz="2000" spc="-5" baseline="30000" dirty="0">
                <a:latin typeface="Calibri"/>
                <a:cs typeface="Calibri"/>
              </a:rPr>
              <a:t>st</a:t>
            </a:r>
            <a:r>
              <a:rPr lang="en-US" sz="2000" spc="-5" dirty="0">
                <a:latin typeface="Calibri"/>
                <a:cs typeface="Calibri"/>
              </a:rPr>
              <a:t> code line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new </a:t>
            </a:r>
            <a:r>
              <a:rPr sz="2000" spc="-10" dirty="0">
                <a:latin typeface="Calibri"/>
                <a:cs typeface="Calibri"/>
              </a:rPr>
              <a:t>program </a:t>
            </a:r>
            <a:r>
              <a:rPr sz="2000" spc="-5" dirty="0">
                <a:latin typeface="Calibri"/>
                <a:cs typeface="Calibri"/>
              </a:rPr>
              <a:t>(</a:t>
            </a:r>
            <a:r>
              <a:rPr lang="en-US" sz="2000" spc="-5" dirty="0">
                <a:latin typeface="Calibri"/>
                <a:cs typeface="Calibri"/>
              </a:rPr>
              <a:t>since this entire, parent-resembling code is replaced by the new program’s instructions.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On </a:t>
            </a:r>
            <a:r>
              <a:rPr sz="2000" spc="-35" dirty="0">
                <a:latin typeface="Calibri"/>
                <a:cs typeface="Calibri"/>
              </a:rPr>
              <a:t>error, </a:t>
            </a:r>
            <a:r>
              <a:rPr sz="2000" dirty="0">
                <a:latin typeface="Calibri"/>
                <a:cs typeface="Calibri"/>
              </a:rPr>
              <a:t>it </a:t>
            </a:r>
            <a:r>
              <a:rPr sz="2000" spc="-5" dirty="0">
                <a:latin typeface="Calibri"/>
                <a:cs typeface="Calibri"/>
              </a:rPr>
              <a:t>returns -1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sets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41300" marR="13652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While certain attributes of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process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5" dirty="0">
                <a:latin typeface="Calibri"/>
                <a:cs typeface="Calibri"/>
              </a:rPr>
              <a:t>lost </a:t>
            </a:r>
            <a:r>
              <a:rPr sz="2000" spc="-15" dirty="0">
                <a:latin typeface="Calibri"/>
                <a:cs typeface="Calibri"/>
              </a:rPr>
              <a:t>(like </a:t>
            </a:r>
            <a:r>
              <a:rPr sz="2000" dirty="0">
                <a:latin typeface="Calibri"/>
                <a:cs typeface="Calibri"/>
              </a:rPr>
              <a:t>pending </a:t>
            </a:r>
            <a:r>
              <a:rPr sz="2000" spc="-5" dirty="0">
                <a:latin typeface="Calibri"/>
                <a:cs typeface="Calibri"/>
              </a:rPr>
              <a:t>signals),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000" dirty="0">
                <a:latin typeface="Calibri"/>
                <a:cs typeface="Calibri"/>
              </a:rPr>
              <a:t>,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ppid</a:t>
            </a:r>
            <a:r>
              <a:rPr sz="2000" dirty="0">
                <a:latin typeface="Calibri"/>
                <a:cs typeface="Calibri"/>
              </a:rPr>
              <a:t>, </a:t>
            </a:r>
            <a:r>
              <a:rPr sz="2000" spc="-20" dirty="0">
                <a:latin typeface="Calibri"/>
                <a:cs typeface="Calibri"/>
              </a:rPr>
              <a:t>priority,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owning </a:t>
            </a:r>
            <a:r>
              <a:rPr sz="2000" spc="-10" dirty="0">
                <a:latin typeface="Calibri"/>
                <a:cs typeface="Calibri"/>
              </a:rPr>
              <a:t>user/group </a:t>
            </a:r>
            <a:r>
              <a:rPr lang="en-US" sz="2000" spc="-10" dirty="0">
                <a:latin typeface="Calibri"/>
                <a:cs typeface="Calibri"/>
              </a:rPr>
              <a:t>are </a:t>
            </a:r>
            <a:r>
              <a:rPr sz="2000" dirty="0">
                <a:latin typeface="Calibri"/>
                <a:cs typeface="Calibri"/>
              </a:rPr>
              <a:t>all </a:t>
            </a:r>
            <a:r>
              <a:rPr lang="en-US" sz="2000" dirty="0">
                <a:latin typeface="Calibri"/>
                <a:cs typeface="Calibri"/>
              </a:rPr>
              <a:t>preserved and </a:t>
            </a:r>
            <a:r>
              <a:rPr lang="en-US" sz="2000" spc="-5" dirty="0">
                <a:latin typeface="Calibri"/>
                <a:cs typeface="Calibri"/>
              </a:rPr>
              <a:t>are accessible by the child</a:t>
            </a:r>
            <a:r>
              <a:rPr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ts val="2039"/>
              </a:lnSpc>
              <a:spcBef>
                <a:spcPts val="2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Open </a:t>
            </a:r>
            <a:r>
              <a:rPr sz="2000" spc="-5" dirty="0">
                <a:latin typeface="Calibri"/>
                <a:cs typeface="Calibri"/>
              </a:rPr>
              <a:t>files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5" dirty="0">
                <a:latin typeface="Calibri"/>
                <a:cs typeface="Calibri"/>
              </a:rPr>
              <a:t>inherited </a:t>
            </a:r>
            <a:r>
              <a:rPr sz="2000" dirty="0">
                <a:latin typeface="Calibri"/>
                <a:cs typeface="Calibri"/>
              </a:rPr>
              <a:t>as </a:t>
            </a:r>
            <a:r>
              <a:rPr sz="2000" spc="-5" dirty="0">
                <a:latin typeface="Calibri"/>
                <a:cs typeface="Calibri"/>
              </a:rPr>
              <a:t>well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en-US" sz="2000" dirty="0">
                <a:latin typeface="Calibri"/>
                <a:cs typeface="Calibri"/>
              </a:rPr>
              <a:t>with the </a:t>
            </a:r>
            <a:r>
              <a:rPr sz="2000" dirty="0">
                <a:latin typeface="Calibri"/>
                <a:cs typeface="Calibri"/>
              </a:rPr>
              <a:t>same </a:t>
            </a:r>
            <a:r>
              <a:rPr spc="-1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000" dirty="0" err="1">
                <a:latin typeface="Calibri"/>
                <a:cs typeface="Calibri"/>
              </a:rPr>
              <a:t>s</a:t>
            </a:r>
            <a:r>
              <a:rPr sz="2000" spc="-15" dirty="0">
                <a:latin typeface="Calibri"/>
                <a:cs typeface="Calibri"/>
              </a:rPr>
              <a:t>), </a:t>
            </a:r>
            <a:r>
              <a:rPr sz="2000" dirty="0">
                <a:latin typeface="Calibri"/>
                <a:cs typeface="Calibri"/>
              </a:rPr>
              <a:t>but this </a:t>
            </a:r>
            <a:r>
              <a:rPr sz="2000" spc="-15" dirty="0">
                <a:latin typeface="Calibri"/>
                <a:cs typeface="Calibri"/>
              </a:rPr>
              <a:t>may </a:t>
            </a:r>
            <a:r>
              <a:rPr sz="2000" spc="-5" dirty="0">
                <a:latin typeface="Calibri"/>
                <a:cs typeface="Calibri"/>
              </a:rPr>
              <a:t>not be desired. </a:t>
            </a:r>
            <a:r>
              <a:rPr lang="en-US" sz="2000" spc="-5" dirty="0">
                <a:latin typeface="Calibri"/>
                <a:cs typeface="Calibri"/>
              </a:rPr>
              <a:t>One usually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lang="en-US" sz="2000" dirty="0">
                <a:latin typeface="Calibri"/>
                <a:cs typeface="Calibri"/>
              </a:rPr>
              <a:t>s </a:t>
            </a:r>
            <a:r>
              <a:rPr sz="2000" spc="-5" dirty="0">
                <a:latin typeface="Calibri"/>
                <a:cs typeface="Calibri"/>
              </a:rPr>
              <a:t>files </a:t>
            </a:r>
            <a:r>
              <a:rPr sz="2000" spc="-15" dirty="0">
                <a:latin typeface="Calibri"/>
                <a:cs typeface="Calibri"/>
              </a:rPr>
              <a:t>before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 </a:t>
            </a:r>
            <a:r>
              <a:rPr sz="2000" dirty="0">
                <a:latin typeface="Calibri"/>
                <a:cs typeface="Calibri"/>
              </a:rPr>
              <a:t>us</a:t>
            </a:r>
            <a:r>
              <a:rPr lang="en-US" sz="2000" dirty="0">
                <a:latin typeface="Calibri"/>
                <a:cs typeface="Calibri"/>
              </a:rPr>
              <a:t>ing 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O_CLOEXEC</a:t>
            </a:r>
            <a:r>
              <a:rPr sz="2000" spc="-5" dirty="0">
                <a:latin typeface="Calibri"/>
                <a:cs typeface="Calibri"/>
              </a:rPr>
              <a:t> flag </a:t>
            </a:r>
            <a:r>
              <a:rPr sz="2000" dirty="0">
                <a:latin typeface="Calibri"/>
                <a:cs typeface="Calibri"/>
              </a:rPr>
              <a:t>on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sz="2000" dirty="0">
                <a:latin typeface="Calibri"/>
                <a:cs typeface="Calibri"/>
              </a:rPr>
              <a:t>or </a:t>
            </a:r>
            <a:r>
              <a:rPr lang="en-US" sz="2000" dirty="0">
                <a:latin typeface="Calibri"/>
                <a:cs typeface="Calibri"/>
              </a:rPr>
              <a:t>by </a:t>
            </a:r>
            <a:r>
              <a:rPr sz="2000" spc="-5" dirty="0">
                <a:latin typeface="Calibri"/>
                <a:cs typeface="Calibri"/>
              </a:rPr>
              <a:t>calling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  <a:hlinkClick r:id="rId2" tooltip="The Linux manual page for the fcntl() syscall: https://man7.org/linux/man-pages/man2/fcntl.2.html"/>
              </a:rPr>
              <a:t>fcntl()</a:t>
            </a:r>
            <a:r>
              <a:rPr lang="en-US" sz="2000" spc="-5" dirty="0">
                <a:latin typeface="Calibri"/>
                <a:cs typeface="Calibri"/>
              </a:rPr>
              <a:t> with </a:t>
            </a:r>
            <a:r>
              <a:rPr lang="en-US" sz="20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FD_CLOEXEC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2458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21610" algn="l"/>
              </a:tabLst>
            </a:pPr>
            <a:r>
              <a:rPr spc="-20" dirty="0"/>
              <a:t>The</a:t>
            </a:r>
            <a:r>
              <a:rPr spc="-85" dirty="0"/>
              <a:t> </a:t>
            </a:r>
            <a:r>
              <a:rPr spc="-55" dirty="0"/>
              <a:t>Rest</a:t>
            </a:r>
            <a:r>
              <a:rPr spc="-80" dirty="0"/>
              <a:t> </a:t>
            </a:r>
            <a:r>
              <a:rPr spc="-15" dirty="0"/>
              <a:t>of</a:t>
            </a:r>
            <a:r>
              <a:rPr lang="en-US" spc="-80" dirty="0"/>
              <a:t> </a:t>
            </a:r>
            <a:r>
              <a:rPr spc="-20" dirty="0"/>
              <a:t>the </a:t>
            </a:r>
            <a:r>
              <a:rPr sz="4000" spc="-6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pc="-229" dirty="0"/>
              <a:t> </a:t>
            </a:r>
            <a:r>
              <a:rPr spc="-50" dirty="0"/>
              <a:t>Family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2600"/>
            <a:ext cx="11275061" cy="4729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03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The f</a:t>
            </a:r>
            <a:r>
              <a:rPr sz="2600" spc="-5" dirty="0">
                <a:latin typeface="Calibri"/>
                <a:cs typeface="Calibri"/>
              </a:rPr>
              <a:t>ive other </a:t>
            </a:r>
            <a:r>
              <a:rPr lang="en-US" sz="2600" spc="-5" dirty="0">
                <a:cs typeface="Calibri"/>
              </a:rPr>
              <a:t>(function, not syscall) </a:t>
            </a:r>
            <a:r>
              <a:rPr sz="2600" spc="-5" dirty="0">
                <a:latin typeface="Calibri"/>
                <a:cs typeface="Calibri"/>
              </a:rPr>
              <a:t>members </a:t>
            </a:r>
            <a:r>
              <a:rPr sz="2600" dirty="0">
                <a:latin typeface="Calibri"/>
                <a:cs typeface="Calibri"/>
              </a:rPr>
              <a:t>of the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family</a:t>
            </a:r>
            <a:r>
              <a:rPr lang="en-US" sz="2600" spc="-10" dirty="0">
                <a:latin typeface="Calibri"/>
                <a:cs typeface="Calibri"/>
              </a:rPr>
              <a:t> are: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ts val="2100"/>
              </a:lnSpc>
              <a:spcAft>
                <a:spcPts val="600"/>
              </a:spcAft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9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</a:p>
          <a:p>
            <a:pPr marL="469900">
              <a:lnSpc>
                <a:spcPts val="2100"/>
              </a:lnSpc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latin typeface="Consolas"/>
                <a:cs typeface="Consolas"/>
              </a:rPr>
              <a:t>exec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lp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*file,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*arg,</a:t>
            </a:r>
            <a:r>
              <a:rPr sz="1900" spc="9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...);</a:t>
            </a:r>
          </a:p>
          <a:p>
            <a:pPr marL="469900">
              <a:lnSpc>
                <a:spcPts val="2095"/>
              </a:lnSpc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latin typeface="Consolas"/>
                <a:cs typeface="Consolas"/>
              </a:rPr>
              <a:t>exec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le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*arg, ...,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</a:t>
            </a:r>
            <a:r>
              <a:rPr sz="1900" b="1" spc="16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envp[]);</a:t>
            </a:r>
          </a:p>
          <a:p>
            <a:pPr marL="469900">
              <a:lnSpc>
                <a:spcPts val="2095"/>
              </a:lnSpc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latin typeface="Consolas"/>
                <a:cs typeface="Consolas"/>
              </a:rPr>
              <a:t>exec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v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</a:t>
            </a:r>
            <a:r>
              <a:rPr sz="1900" b="1" spc="9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argv[]);</a:t>
            </a:r>
          </a:p>
          <a:p>
            <a:pPr marL="469900">
              <a:lnSpc>
                <a:spcPts val="2100"/>
              </a:lnSpc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latin typeface="Consolas"/>
                <a:cs typeface="Consolas"/>
              </a:rPr>
              <a:t>exec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vp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*file,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</a:t>
            </a:r>
            <a:r>
              <a:rPr sz="1900" b="1" spc="7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argv[]);</a:t>
            </a:r>
          </a:p>
          <a:p>
            <a:pPr marL="469900">
              <a:lnSpc>
                <a:spcPts val="2190"/>
              </a:lnSpc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latin typeface="Consolas"/>
                <a:cs typeface="Consolas"/>
              </a:rPr>
              <a:t>exec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ve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argv[],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</a:t>
            </a:r>
            <a:r>
              <a:rPr sz="1900" b="1" spc="1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envp[]);</a:t>
            </a: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70C0"/>
                </a:solidFill>
                <a:latin typeface="Consolas"/>
                <a:cs typeface="Consolas"/>
              </a:rPr>
              <a:t>l</a:t>
            </a:r>
            <a:r>
              <a:rPr sz="2600" spc="-85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70C0"/>
                </a:solidFill>
                <a:latin typeface="Consolas"/>
                <a:cs typeface="Consolas"/>
              </a:rPr>
              <a:t>v</a:t>
            </a:r>
            <a:r>
              <a:rPr lang="en-US" sz="2600" spc="-5" dirty="0">
                <a:latin typeface="Calibri"/>
                <a:cs typeface="Calibri"/>
              </a:rPr>
              <a:t> endings </a:t>
            </a:r>
            <a:r>
              <a:rPr sz="2600" spc="-5" dirty="0">
                <a:latin typeface="Calibri"/>
                <a:cs typeface="Calibri"/>
              </a:rPr>
              <a:t>signif</a:t>
            </a:r>
            <a:r>
              <a:rPr lang="en-US" sz="2600" spc="-5" dirty="0">
                <a:latin typeface="Calibri"/>
                <a:cs typeface="Calibri"/>
              </a:rPr>
              <a:t>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list</a:t>
            </a:r>
            <a:r>
              <a:rPr sz="2600" i="1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or</a:t>
            </a:r>
            <a:r>
              <a:rPr sz="2600" dirty="0">
                <a:latin typeface="Calibri"/>
                <a:cs typeface="Calibri"/>
              </a:rPr>
              <a:t> a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i="1" spc="-5" dirty="0">
                <a:latin typeface="Calibri"/>
                <a:cs typeface="Calibri"/>
              </a:rPr>
              <a:t>vector</a:t>
            </a:r>
            <a:r>
              <a:rPr sz="2600" i="1" spc="-1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(array)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spc="-10" dirty="0">
                <a:latin typeface="Calibri"/>
                <a:cs typeface="Calibri"/>
              </a:rPr>
              <a:t>arguments</a:t>
            </a:r>
            <a:r>
              <a:rPr lang="en-US" sz="2600" spc="-10" dirty="0">
                <a:latin typeface="Calibri"/>
                <a:cs typeface="Calibri"/>
              </a:rPr>
              <a:t>, respectively.</a:t>
            </a:r>
            <a:endParaRPr sz="2600" dirty="0">
              <a:latin typeface="Calibri"/>
              <a:cs typeface="Calibri"/>
            </a:endParaRPr>
          </a:p>
          <a:p>
            <a:pPr marL="241300" marR="82296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70C0"/>
                </a:solidFill>
                <a:latin typeface="Consolas"/>
                <a:cs typeface="Consolas"/>
              </a:rPr>
              <a:t>p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ending </a:t>
            </a:r>
            <a:r>
              <a:rPr sz="2600" spc="-5" dirty="0">
                <a:latin typeface="Calibri"/>
                <a:cs typeface="Calibri"/>
              </a:rPr>
              <a:t>denotes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lang="en-US" sz="2600" spc="-35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full</a:t>
            </a:r>
            <a:r>
              <a:rPr sz="2600" spc="-10" dirty="0">
                <a:latin typeface="Calibri"/>
                <a:cs typeface="Calibri"/>
              </a:rPr>
              <a:t> path search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(</a:t>
            </a:r>
            <a:r>
              <a:rPr lang="en-US" sz="2600" spc="-5" dirty="0">
                <a:cs typeface="Calibri"/>
              </a:rPr>
              <a:t>just </a:t>
            </a:r>
            <a:r>
              <a:rPr lang="en-US" sz="2600" spc="-5" dirty="0">
                <a:latin typeface="Calibri"/>
                <a:cs typeface="Calibri"/>
              </a:rPr>
              <a:t>include the</a:t>
            </a:r>
            <a:r>
              <a:rPr sz="2600" spc="-5" dirty="0">
                <a:latin typeface="Calibri"/>
                <a:cs typeface="Calibri"/>
              </a:rPr>
              <a:t> filename</a:t>
            </a:r>
            <a:r>
              <a:rPr lang="en-US" sz="2600" spc="-5" dirty="0">
                <a:latin typeface="Calibri"/>
                <a:cs typeface="Calibri"/>
              </a:rPr>
              <a:t> in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Consolas"/>
              </a:rPr>
              <a:t>file</a:t>
            </a:r>
            <a:r>
              <a:rPr sz="2600" dirty="0">
                <a:latin typeface="Calibri"/>
                <a:cs typeface="Calibri"/>
              </a:rPr>
              <a:t>),</a:t>
            </a:r>
            <a:r>
              <a:rPr lang="en-US" sz="2600" dirty="0">
                <a:latin typeface="Calibri"/>
                <a:cs typeface="Calibri"/>
              </a:rPr>
              <a:t> and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70C0"/>
                </a:solidFill>
                <a:latin typeface="Consolas"/>
                <a:cs typeface="Consolas"/>
              </a:rPr>
              <a:t>e</a:t>
            </a:r>
            <a:r>
              <a:rPr lang="en-US" sz="2600" spc="-85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de</a:t>
            </a:r>
            <a:r>
              <a:rPr sz="2600" spc="-10" dirty="0">
                <a:latin typeface="Calibri"/>
                <a:cs typeface="Calibri"/>
              </a:rPr>
              <a:t>notes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lang="en-US" sz="2600" spc="-20" dirty="0">
                <a:latin typeface="Calibri"/>
                <a:cs typeface="Calibri"/>
              </a:rPr>
              <a:t>that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new </a:t>
            </a:r>
            <a:r>
              <a:rPr sz="2600" spc="-10" dirty="0">
                <a:latin typeface="Calibri"/>
                <a:cs typeface="Calibri"/>
              </a:rPr>
              <a:t>environment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supplied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new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lang="en-US" sz="2600" spc="-10" dirty="0">
                <a:latin typeface="Calibri"/>
                <a:cs typeface="Calibri"/>
              </a:rPr>
              <a:t>.</a:t>
            </a:r>
          </a:p>
          <a:p>
            <a:pPr marL="241300" marR="82296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10" dirty="0">
                <a:latin typeface="Calibri"/>
                <a:cs typeface="Calibri"/>
              </a:rPr>
              <a:t>Example: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ts val="2100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080"/>
              </a:lnSpc>
            </a:pPr>
            <a:r>
              <a:rPr sz="2000" spc="-5" dirty="0">
                <a:solidFill>
                  <a:srgbClr val="0070C0"/>
                </a:solidFill>
                <a:latin typeface="Consolas"/>
              </a:rPr>
              <a:t>const char *args[] = { "vi", "/home</a:t>
            </a:r>
            <a:r>
              <a:rPr lang="en-US" sz="2000" spc="-5" dirty="0">
                <a:solidFill>
                  <a:srgbClr val="0070C0"/>
                </a:solidFill>
                <a:latin typeface="Consolas"/>
              </a:rPr>
              <a:t>/text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.txt", NULL };</a:t>
            </a:r>
          </a:p>
          <a:p>
            <a:pPr marL="469900">
              <a:lnSpc>
                <a:spcPts val="2175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ret =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execvp ("vi",</a:t>
            </a:r>
            <a:r>
              <a:rPr sz="2000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args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i="1" spc="5" dirty="0">
                <a:latin typeface="Consolas"/>
                <a:cs typeface="Consolas"/>
              </a:rPr>
              <a:t>// Same as: </a:t>
            </a:r>
            <a:r>
              <a:rPr lang="en-US" sz="2000" i="1" spc="5" dirty="0">
                <a:solidFill>
                  <a:srgbClr val="0070C0"/>
                </a:solidFill>
                <a:latin typeface="Consolas"/>
                <a:cs typeface="Consolas"/>
              </a:rPr>
              <a:t>vi </a:t>
            </a:r>
            <a:r>
              <a:rPr lang="en-US" sz="2000" i="1" spc="5" dirty="0">
                <a:solidFill>
                  <a:srgbClr val="0070C0"/>
                </a:solidFill>
                <a:latin typeface="Consolas"/>
              </a:rPr>
              <a:t>/home/text.txt</a:t>
            </a:r>
            <a:r>
              <a:rPr lang="en-US" sz="2000" i="1" spc="5" dirty="0">
                <a:latin typeface="Consolas"/>
              </a:rPr>
              <a:t> in the terminal.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285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(ret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== −1) 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{ </a:t>
            </a: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2000" spc="-5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("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execvp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");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 exit(</a:t>
            </a:r>
            <a:r>
              <a:rPr lang="en-US" sz="2000" spc="-5" dirty="0" err="1">
                <a:solidFill>
                  <a:srgbClr val="0070C0"/>
                </a:solidFill>
                <a:latin typeface="Consolas"/>
                <a:cs typeface="Consolas"/>
              </a:rPr>
              <a:t>EXIT_FAILURE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); } </a:t>
            </a:r>
            <a:r>
              <a:rPr lang="en-US" sz="2000" i="1" spc="5" dirty="0">
                <a:latin typeface="Consolas"/>
              </a:rPr>
              <a:t>// Error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60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z="4000" spc="-45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spc="-45" dirty="0"/>
              <a:t> </a:t>
            </a:r>
            <a:r>
              <a:rPr spc="-60" dirty="0"/>
              <a:t>System</a:t>
            </a:r>
            <a:r>
              <a:rPr spc="-275" dirty="0"/>
              <a:t> </a:t>
            </a:r>
            <a:r>
              <a:rPr spc="-20" dirty="0"/>
              <a:t>Call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70633"/>
            <a:ext cx="10894062" cy="4341253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469900" marR="6082030">
              <a:lnSpc>
                <a:spcPct val="91900"/>
              </a:lnSpc>
              <a:spcBef>
                <a:spcPts val="280"/>
              </a:spcBef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900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&lt;sys/</a:t>
            </a:r>
            <a:r>
              <a:rPr sz="1900" dirty="0" err="1">
                <a:solidFill>
                  <a:srgbClr val="0070C0"/>
                </a:solidFill>
                <a:latin typeface="Consolas"/>
                <a:cs typeface="Consolas"/>
              </a:rPr>
              <a:t>types.h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  <a:endParaRPr lang="en-US"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6082030">
              <a:lnSpc>
                <a:spcPct val="91900"/>
              </a:lnSpc>
              <a:spcAft>
                <a:spcPts val="600"/>
              </a:spcAft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 &lt;</a:t>
            </a:r>
            <a:r>
              <a:rPr sz="1900" dirty="0" err="1">
                <a:solidFill>
                  <a:srgbClr val="0070C0"/>
                </a:solidFill>
                <a:latin typeface="Consolas"/>
                <a:cs typeface="Consolas"/>
              </a:rPr>
              <a:t>unistd.h</a:t>
            </a:r>
            <a:r>
              <a:rPr lang="en-US" sz="1900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</a:p>
          <a:p>
            <a:pPr marL="469900" marR="6082030">
              <a:lnSpc>
                <a:spcPct val="91900"/>
              </a:lnSpc>
              <a:spcBef>
                <a:spcPts val="280"/>
              </a:spcBef>
            </a:pPr>
            <a:r>
              <a:rPr sz="1900" spc="-5" dirty="0" err="1">
                <a:solidFill>
                  <a:srgbClr val="0070C0"/>
                </a:solidFill>
                <a:latin typeface="Consolas"/>
                <a:cs typeface="Consolas"/>
              </a:rPr>
              <a:t>pid_t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fork</a:t>
            </a:r>
            <a:r>
              <a:rPr sz="1900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Creates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new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lang="en-US" sz="2600" dirty="0">
                <a:latin typeface="Calibri"/>
                <a:cs typeface="Calibri"/>
              </a:rPr>
              <a:t>that runs</a:t>
            </a:r>
            <a:r>
              <a:rPr sz="2600" dirty="0">
                <a:latin typeface="Calibri"/>
                <a:cs typeface="Calibri"/>
              </a:rPr>
              <a:t> the </a:t>
            </a:r>
            <a:r>
              <a:rPr sz="2600" spc="-5" dirty="0">
                <a:latin typeface="Calibri"/>
                <a:cs typeface="Calibri"/>
              </a:rPr>
              <a:t>same </a:t>
            </a:r>
            <a:r>
              <a:rPr lang="en-US" sz="2600" spc="-5" dirty="0">
                <a:latin typeface="Calibri"/>
                <a:cs typeface="Calibri"/>
              </a:rPr>
              <a:t>code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 the </a:t>
            </a:r>
            <a:r>
              <a:rPr sz="2600" spc="-10" dirty="0">
                <a:latin typeface="Calibri"/>
                <a:cs typeface="Calibri"/>
              </a:rPr>
              <a:t>invoking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one</a:t>
            </a:r>
            <a:r>
              <a:rPr lang="en-US" sz="2600" spc="-5" dirty="0">
                <a:latin typeface="Calibri"/>
                <a:cs typeface="Calibri"/>
              </a:rPr>
              <a:t> (= parent.)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 new process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called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“child” </a:t>
            </a:r>
            <a:r>
              <a:rPr sz="2600" dirty="0">
                <a:latin typeface="Calibri"/>
                <a:cs typeface="Calibri"/>
              </a:rPr>
              <a:t>of the </a:t>
            </a:r>
            <a:r>
              <a:rPr lang="en-US" sz="2600" spc="-10" dirty="0">
                <a:cs typeface="Calibri"/>
              </a:rPr>
              <a:t>parent </a:t>
            </a:r>
            <a:r>
              <a:rPr sz="2600" spc="-5" dirty="0">
                <a:latin typeface="Calibri"/>
                <a:cs typeface="Calibri"/>
              </a:rPr>
              <a:t>process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lang="en-US"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On </a:t>
            </a:r>
            <a:r>
              <a:rPr lang="en-US" sz="2600" dirty="0">
                <a:latin typeface="Calibri"/>
                <a:cs typeface="Calibri"/>
              </a:rPr>
              <a:t>success, </a:t>
            </a:r>
            <a:r>
              <a:rPr lang="en-US" sz="2600" spc="-5" dirty="0">
                <a:latin typeface="Calibri"/>
                <a:cs typeface="Calibri"/>
              </a:rPr>
              <a:t>it returns </a:t>
            </a:r>
            <a:r>
              <a:rPr lang="en-US" sz="2600" dirty="0">
                <a:latin typeface="Calibri"/>
                <a:cs typeface="Calibri"/>
              </a:rPr>
              <a:t>0 inside the child </a:t>
            </a:r>
            <a:r>
              <a:rPr lang="en-US" sz="2600" dirty="0">
                <a:cs typeface="Calibri"/>
              </a:rPr>
              <a:t>and the child’s </a:t>
            </a:r>
            <a:r>
              <a:rPr lang="en-US"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2600" i="1" spc="-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inside </a:t>
            </a:r>
            <a:r>
              <a:rPr lang="en-US" sz="2600" dirty="0">
                <a:latin typeface="Calibri"/>
                <a:cs typeface="Calibri"/>
              </a:rPr>
              <a:t>the</a:t>
            </a:r>
            <a:r>
              <a:rPr lang="en-US" sz="2600" spc="-150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parent.</a:t>
            </a:r>
            <a:endParaRPr lang="en-US" sz="26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parent/child</a:t>
            </a:r>
            <a:r>
              <a:rPr lang="en-US" sz="2600" spc="-10" dirty="0">
                <a:latin typeface="Calibri"/>
                <a:cs typeface="Calibri"/>
              </a:rPr>
              <a:t> processes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u="sng" spc="-10" dirty="0">
                <a:latin typeface="Calibri"/>
                <a:cs typeface="Calibri"/>
              </a:rPr>
              <a:t>are </a:t>
            </a:r>
            <a:r>
              <a:rPr sz="2600" u="sng" spc="-5" dirty="0">
                <a:latin typeface="Calibri"/>
                <a:cs typeface="Calibri"/>
              </a:rPr>
              <a:t>identical </a:t>
            </a:r>
            <a:r>
              <a:rPr sz="2600" u="sng" dirty="0">
                <a:latin typeface="Calibri"/>
                <a:cs typeface="Calibri"/>
              </a:rPr>
              <a:t>in </a:t>
            </a:r>
            <a:r>
              <a:rPr sz="2600" u="sng" spc="-5" dirty="0">
                <a:latin typeface="Calibri"/>
                <a:cs typeface="Calibri"/>
              </a:rPr>
              <a:t>every </a:t>
            </a:r>
            <a:r>
              <a:rPr sz="2600" u="sng" spc="-65" dirty="0">
                <a:latin typeface="Calibri"/>
                <a:cs typeface="Calibri"/>
              </a:rPr>
              <a:t>way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except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for: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200" spc="-5" dirty="0">
                <a:latin typeface="Calibri"/>
                <a:cs typeface="Calibri"/>
              </a:rPr>
              <a:t> of the child </a:t>
            </a:r>
            <a:r>
              <a:rPr sz="2200" spc="-10" dirty="0">
                <a:latin typeface="Calibri"/>
                <a:cs typeface="Calibri"/>
              </a:rPr>
              <a:t>vs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ppid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 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parent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Resource statistics </a:t>
            </a:r>
            <a:r>
              <a:rPr sz="2200" spc="-10" dirty="0">
                <a:latin typeface="Calibri"/>
                <a:cs typeface="Calibri"/>
              </a:rPr>
              <a:t>are reset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25" dirty="0">
                <a:latin typeface="Calibri"/>
                <a:cs typeface="Calibri"/>
              </a:rPr>
              <a:t>zero </a:t>
            </a:r>
            <a:r>
              <a:rPr sz="2200" spc="-5" dirty="0">
                <a:latin typeface="Calibri"/>
                <a:cs typeface="Calibri"/>
              </a:rPr>
              <a:t>in the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child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Any </a:t>
            </a:r>
            <a:r>
              <a:rPr sz="2200" spc="-10" dirty="0">
                <a:latin typeface="Calibri"/>
                <a:cs typeface="Calibri"/>
              </a:rPr>
              <a:t>pending signals are cleared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not </a:t>
            </a:r>
            <a:r>
              <a:rPr sz="2200" spc="-5" dirty="0">
                <a:latin typeface="Calibri"/>
                <a:cs typeface="Calibri"/>
              </a:rPr>
              <a:t>inherited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child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Any </a:t>
            </a:r>
            <a:r>
              <a:rPr sz="2200" spc="-10" dirty="0">
                <a:latin typeface="Calibri"/>
                <a:cs typeface="Calibri"/>
              </a:rPr>
              <a:t>acquired </a:t>
            </a:r>
            <a:r>
              <a:rPr sz="2200" spc="-5" dirty="0">
                <a:latin typeface="Calibri"/>
                <a:cs typeface="Calibri"/>
              </a:rPr>
              <a:t>file </a:t>
            </a:r>
            <a:r>
              <a:rPr sz="2200" spc="-10" dirty="0">
                <a:latin typeface="Calibri"/>
                <a:cs typeface="Calibri"/>
              </a:rPr>
              <a:t>locks are not </a:t>
            </a:r>
            <a:r>
              <a:rPr sz="2200" spc="-5" dirty="0">
                <a:latin typeface="Calibri"/>
                <a:cs typeface="Calibri"/>
              </a:rPr>
              <a:t>inherited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child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On </a:t>
            </a:r>
            <a:r>
              <a:rPr sz="2600" spc="-45" dirty="0">
                <a:latin typeface="Calibri"/>
                <a:cs typeface="Calibri"/>
              </a:rPr>
              <a:t>error, </a:t>
            </a:r>
            <a:r>
              <a:rPr lang="en-US" sz="2600" spc="-10" dirty="0">
                <a:cs typeface="Calibri"/>
              </a:rPr>
              <a:t>it </a:t>
            </a:r>
            <a:r>
              <a:rPr lang="en-US" sz="2600" spc="-5" dirty="0">
                <a:cs typeface="Calibri"/>
              </a:rPr>
              <a:t>returns</a:t>
            </a:r>
            <a:r>
              <a:rPr lang="en-US" sz="2600" spc="-105" dirty="0">
                <a:cs typeface="Calibri"/>
              </a:rPr>
              <a:t> </a:t>
            </a:r>
            <a:r>
              <a:rPr lang="en-US" sz="2600" spc="-5" dirty="0">
                <a:cs typeface="Calibri"/>
              </a:rPr>
              <a:t>-1 inside </a:t>
            </a:r>
            <a:r>
              <a:rPr lang="en-US" sz="2600" dirty="0">
                <a:cs typeface="Calibri"/>
              </a:rPr>
              <a:t>the</a:t>
            </a:r>
            <a:r>
              <a:rPr lang="en-US" sz="2600" spc="-150" dirty="0">
                <a:cs typeface="Calibri"/>
              </a:rPr>
              <a:t> </a:t>
            </a:r>
            <a:r>
              <a:rPr lang="en-US" sz="2600" spc="-10" dirty="0">
                <a:cs typeface="Calibri"/>
              </a:rPr>
              <a:t>parent, and </a:t>
            </a:r>
            <a:r>
              <a:rPr sz="2600" dirty="0">
                <a:latin typeface="Calibri"/>
                <a:cs typeface="Calibri"/>
              </a:rPr>
              <a:t>the child </a:t>
            </a:r>
            <a:r>
              <a:rPr sz="2600" spc="-5" dirty="0">
                <a:latin typeface="Calibri"/>
                <a:cs typeface="Calibri"/>
              </a:rPr>
              <a:t>process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not </a:t>
            </a:r>
            <a:r>
              <a:rPr sz="2600" spc="-10" dirty="0">
                <a:latin typeface="Calibri"/>
                <a:cs typeface="Calibri"/>
              </a:rPr>
              <a:t>created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941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Examples </a:t>
            </a:r>
            <a:r>
              <a:rPr spc="-15" dirty="0"/>
              <a:t>of</a:t>
            </a:r>
            <a:r>
              <a:rPr spc="-150" dirty="0"/>
              <a:t> </a:t>
            </a:r>
            <a:r>
              <a:rPr spc="-45" dirty="0"/>
              <a:t>fork()</a:t>
            </a:r>
          </a:p>
        </p:txBody>
      </p:sp>
      <p:sp>
        <p:nvSpPr>
          <p:cNvPr id="3" name="object 3"/>
          <p:cNvSpPr/>
          <p:nvPr/>
        </p:nvSpPr>
        <p:spPr>
          <a:xfrm>
            <a:off x="1172333" y="2286758"/>
            <a:ext cx="4543053" cy="17998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21649" y="2270385"/>
            <a:ext cx="4285874" cy="3448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9444" y="1708480"/>
            <a:ext cx="114655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ork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only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80250" y="1731645"/>
            <a:ext cx="17589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ork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plus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97583" y="5066476"/>
            <a:ext cx="3660775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45720" tIns="45720" rIns="45720" bIns="4572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parent process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continues</a:t>
            </a:r>
            <a:r>
              <a:rPr lang="en-US"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running </a:t>
            </a:r>
            <a:r>
              <a:rPr lang="en-US" sz="1800" dirty="0">
                <a:latin typeface="Calibri"/>
                <a:cs typeface="Calibri"/>
              </a:rPr>
              <a:t>normally </a:t>
            </a:r>
            <a:r>
              <a:rPr lang="en-US" spc="-5" dirty="0">
                <a:latin typeface="Calibri"/>
                <a:cs typeface="Calibri"/>
              </a:rPr>
              <a:t>after the child is spawned.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266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Co</a:t>
            </a:r>
            <a:r>
              <a:rPr spc="-70" dirty="0"/>
              <a:t>p</a:t>
            </a:r>
            <a:r>
              <a:rPr spc="-50" dirty="0"/>
              <a:t>y</a:t>
            </a:r>
            <a:r>
              <a:rPr spc="-30" dirty="0"/>
              <a:t>-</a:t>
            </a:r>
            <a:r>
              <a:rPr spc="-45" dirty="0"/>
              <a:t>o</a:t>
            </a:r>
            <a:r>
              <a:rPr spc="-50" dirty="0"/>
              <a:t>n</a:t>
            </a:r>
            <a:r>
              <a:rPr spc="-30" dirty="0"/>
              <a:t>-</a:t>
            </a:r>
            <a:r>
              <a:rPr spc="-210" dirty="0"/>
              <a:t>W</a:t>
            </a:r>
            <a:r>
              <a:rPr spc="-30" dirty="0"/>
              <a:t>ri</a:t>
            </a:r>
            <a:r>
              <a:rPr spc="-70" dirty="0"/>
              <a:t>t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757"/>
            <a:ext cx="11275061" cy="400481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508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In early Unix </a:t>
            </a:r>
            <a:r>
              <a:rPr sz="2600" spc="-15" dirty="0">
                <a:latin typeface="Calibri"/>
                <a:cs typeface="Calibri"/>
              </a:rPr>
              <a:t>systems, </a:t>
            </a:r>
            <a:r>
              <a:rPr lang="en-US" sz="2600" spc="-15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page-by-page copy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20" dirty="0">
                <a:latin typeface="Calibri"/>
                <a:cs typeface="Calibri"/>
              </a:rPr>
              <a:t>parent’s </a:t>
            </a:r>
            <a:r>
              <a:rPr sz="2600" spc="-5" dirty="0">
                <a:latin typeface="Calibri"/>
                <a:cs typeface="Calibri"/>
              </a:rPr>
              <a:t>address space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20" dirty="0">
                <a:latin typeface="Calibri"/>
                <a:cs typeface="Calibri"/>
              </a:rPr>
              <a:t>child’s </a:t>
            </a:r>
            <a:r>
              <a:rPr lang="en-US" sz="2600" spc="-20" dirty="0">
                <a:latin typeface="Calibri"/>
                <a:cs typeface="Calibri"/>
              </a:rPr>
              <a:t>memory </a:t>
            </a:r>
            <a:r>
              <a:rPr lang="en-US" sz="2600" dirty="0">
                <a:latin typeface="Calibri"/>
                <a:cs typeface="Calibri"/>
              </a:rPr>
              <a:t>wa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time-consuming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Modern </a:t>
            </a:r>
            <a:r>
              <a:rPr lang="en-US" sz="2600" dirty="0">
                <a:latin typeface="Calibri"/>
                <a:cs typeface="Calibri"/>
              </a:rPr>
              <a:t>UNIX/Linux </a:t>
            </a:r>
            <a:r>
              <a:rPr sz="2600" spc="-20" dirty="0">
                <a:latin typeface="Calibri"/>
                <a:cs typeface="Calibri"/>
              </a:rPr>
              <a:t>systems </a:t>
            </a:r>
            <a:r>
              <a:rPr sz="2600" dirty="0">
                <a:latin typeface="Calibri"/>
                <a:cs typeface="Calibri"/>
              </a:rPr>
              <a:t>employ </a:t>
            </a:r>
            <a:r>
              <a:rPr sz="2600" i="1" spc="-10" dirty="0">
                <a:latin typeface="Calibri"/>
                <a:cs typeface="Calibri"/>
              </a:rPr>
              <a:t>copy-on-write </a:t>
            </a:r>
            <a:r>
              <a:rPr sz="2600" spc="-10" dirty="0">
                <a:latin typeface="Calibri"/>
                <a:cs typeface="Calibri"/>
              </a:rPr>
              <a:t>(COW)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pages: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7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lazy optimization </a:t>
            </a:r>
            <a:r>
              <a:rPr sz="2200" spc="-20" dirty="0">
                <a:latin typeface="Calibri"/>
                <a:cs typeface="Calibri"/>
              </a:rPr>
              <a:t>strategy: </a:t>
            </a:r>
            <a:r>
              <a:rPr sz="2200" spc="-15" dirty="0">
                <a:latin typeface="Calibri"/>
                <a:cs typeface="Calibri"/>
              </a:rPr>
              <a:t>copy</a:t>
            </a:r>
            <a:r>
              <a:rPr lang="en-US" sz="2200" spc="-15" dirty="0">
                <a:latin typeface="Calibri"/>
                <a:cs typeface="Calibri"/>
              </a:rPr>
              <a:t>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only </a:t>
            </a:r>
            <a:r>
              <a:rPr sz="2200" spc="-10" dirty="0">
                <a:latin typeface="Calibri"/>
                <a:cs typeface="Calibri"/>
              </a:rPr>
              <a:t>happens </a:t>
            </a:r>
            <a:r>
              <a:rPr sz="2200" spc="-5" dirty="0">
                <a:latin typeface="Calibri"/>
                <a:cs typeface="Calibri"/>
              </a:rPr>
              <a:t>when the </a:t>
            </a:r>
            <a:r>
              <a:rPr lang="en-US" sz="2200" spc="-20" dirty="0">
                <a:latin typeface="Calibri"/>
                <a:cs typeface="Calibri"/>
              </a:rPr>
              <a:t>page is changed (written to.)</a:t>
            </a:r>
          </a:p>
          <a:p>
            <a:pPr marL="698500" lvl="1" indent="-229235">
              <a:lnSpc>
                <a:spcPts val="237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If no </a:t>
            </a:r>
            <a:r>
              <a:rPr sz="2200" spc="-20" dirty="0">
                <a:latin typeface="Calibri"/>
                <a:cs typeface="Calibri"/>
              </a:rPr>
              <a:t>attempt </a:t>
            </a:r>
            <a:r>
              <a:rPr sz="2200" spc="-5" dirty="0">
                <a:latin typeface="Calibri"/>
                <a:cs typeface="Calibri"/>
              </a:rPr>
              <a:t>is made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modify the </a:t>
            </a:r>
            <a:r>
              <a:rPr lang="en-US" sz="2200" spc="-45" dirty="0">
                <a:latin typeface="Calibri"/>
                <a:cs typeface="Calibri"/>
              </a:rPr>
              <a:t>page</a:t>
            </a:r>
            <a:r>
              <a:rPr sz="2200" spc="-45" dirty="0">
                <a:latin typeface="Calibri"/>
                <a:cs typeface="Calibri"/>
              </a:rPr>
              <a:t>, </a:t>
            </a:r>
            <a:r>
              <a:rPr sz="2200" spc="-5" dirty="0">
                <a:latin typeface="Calibri"/>
                <a:cs typeface="Calibri"/>
              </a:rPr>
              <a:t>no </a:t>
            </a:r>
            <a:r>
              <a:rPr sz="2200" spc="-15" dirty="0">
                <a:latin typeface="Calibri"/>
                <a:cs typeface="Calibri"/>
              </a:rPr>
              <a:t>duplicate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5" dirty="0">
                <a:latin typeface="Calibri"/>
                <a:cs typeface="Calibri"/>
              </a:rPr>
              <a:t>ever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made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In virtual </a:t>
            </a:r>
            <a:r>
              <a:rPr sz="2200" spc="-25" dirty="0">
                <a:latin typeface="Calibri"/>
                <a:cs typeface="Calibri"/>
              </a:rPr>
              <a:t>memory, </a:t>
            </a:r>
            <a:r>
              <a:rPr sz="2200" spc="-10" dirty="0">
                <a:latin typeface="Calibri"/>
                <a:cs typeface="Calibri"/>
              </a:rPr>
              <a:t>copy-on-write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implemented </a:t>
            </a:r>
            <a:r>
              <a:rPr sz="2200" spc="-5" dirty="0">
                <a:latin typeface="Calibri"/>
                <a:cs typeface="Calibri"/>
              </a:rPr>
              <a:t>on a </a:t>
            </a:r>
            <a:r>
              <a:rPr sz="2200" spc="-10" dirty="0">
                <a:latin typeface="Calibri"/>
                <a:cs typeface="Calibri"/>
              </a:rPr>
              <a:t>per-page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basis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The pages are </a:t>
            </a:r>
            <a:r>
              <a:rPr sz="2200" spc="-20" dirty="0">
                <a:latin typeface="Calibri"/>
                <a:cs typeface="Calibri"/>
              </a:rPr>
              <a:t>marked </a:t>
            </a:r>
            <a:r>
              <a:rPr sz="2200" spc="-5" dirty="0">
                <a:latin typeface="Calibri"/>
                <a:cs typeface="Calibri"/>
              </a:rPr>
              <a:t>as </a:t>
            </a:r>
            <a:r>
              <a:rPr lang="en-US" sz="2200" spc="-5" dirty="0">
                <a:latin typeface="Calibri"/>
                <a:cs typeface="Calibri"/>
              </a:rPr>
              <a:t>'</a:t>
            </a:r>
            <a:r>
              <a:rPr sz="2200" spc="-10" dirty="0">
                <a:latin typeface="Calibri"/>
                <a:cs typeface="Calibri"/>
              </a:rPr>
              <a:t>read-only</a:t>
            </a:r>
            <a:r>
              <a:rPr lang="en-US" sz="2200" spc="-10" dirty="0">
                <a:latin typeface="Calibri"/>
                <a:cs typeface="Calibri"/>
              </a:rPr>
              <a:t>'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or </a:t>
            </a:r>
            <a:r>
              <a:rPr lang="en-US" sz="2200" spc="-5" dirty="0">
                <a:latin typeface="Calibri"/>
                <a:cs typeface="Calibri"/>
              </a:rPr>
              <a:t>'</a:t>
            </a:r>
            <a:r>
              <a:rPr sz="2200" spc="-10" dirty="0">
                <a:latin typeface="Calibri"/>
                <a:cs typeface="Calibri"/>
              </a:rPr>
              <a:t>copy-on-write</a:t>
            </a:r>
            <a:r>
              <a:rPr lang="en-US" sz="2200" spc="-10" dirty="0">
                <a:latin typeface="Calibri"/>
                <a:cs typeface="Calibri"/>
              </a:rPr>
              <a:t>'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kernel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6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If either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20" dirty="0">
                <a:latin typeface="Calibri"/>
                <a:cs typeface="Calibri"/>
              </a:rPr>
              <a:t>attempts to </a:t>
            </a:r>
            <a:r>
              <a:rPr sz="2200" dirty="0">
                <a:latin typeface="Calibri"/>
                <a:cs typeface="Calibri"/>
              </a:rPr>
              <a:t>modify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page,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5" dirty="0">
                <a:latin typeface="Calibri"/>
                <a:cs typeface="Calibri"/>
              </a:rPr>
              <a:t>page </a:t>
            </a:r>
            <a:r>
              <a:rPr sz="2200" spc="-10" dirty="0">
                <a:latin typeface="Calibri"/>
                <a:cs typeface="Calibri"/>
              </a:rPr>
              <a:t>fault </a:t>
            </a:r>
            <a:r>
              <a:rPr lang="en-US" sz="2200" spc="-10" dirty="0">
                <a:latin typeface="Calibri"/>
                <a:cs typeface="Calibri"/>
              </a:rPr>
              <a:t>interrupt </a:t>
            </a:r>
            <a:r>
              <a:rPr sz="2200" spc="-15" dirty="0">
                <a:latin typeface="Calibri"/>
                <a:cs typeface="Calibri"/>
              </a:rPr>
              <a:t>occurs</a:t>
            </a:r>
            <a:r>
              <a:rPr lang="en-US" sz="2200" spc="-15" dirty="0">
                <a:latin typeface="Calibri"/>
                <a:cs typeface="Calibri"/>
              </a:rPr>
              <a:t>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which </a:t>
            </a:r>
            <a:r>
              <a:rPr sz="2200" spc="-10" dirty="0">
                <a:latin typeface="Calibri"/>
                <a:cs typeface="Calibri"/>
              </a:rPr>
              <a:t>triggers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lang="en-US"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kernel to </a:t>
            </a:r>
            <a:r>
              <a:rPr sz="2200" spc="-25" dirty="0">
                <a:latin typeface="Calibri"/>
                <a:cs typeface="Calibri"/>
              </a:rPr>
              <a:t>make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5" dirty="0">
                <a:latin typeface="Calibri"/>
                <a:cs typeface="Calibri"/>
              </a:rPr>
              <a:t>copy </a:t>
            </a:r>
            <a:r>
              <a:rPr sz="2200" spc="-5" dirty="0">
                <a:latin typeface="Calibri"/>
                <a:cs typeface="Calibri"/>
              </a:rPr>
              <a:t>of the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777240" lvl="1" indent="-228600">
              <a:lnSpc>
                <a:spcPct val="8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Copy-on-write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lang="en-US" sz="2200" spc="-10" dirty="0">
                <a:latin typeface="Calibri"/>
                <a:cs typeface="Calibri"/>
              </a:rPr>
              <a:t>especially</a:t>
            </a:r>
            <a:r>
              <a:rPr sz="2200" spc="-10" dirty="0">
                <a:latin typeface="Calibri"/>
                <a:cs typeface="Calibri"/>
              </a:rPr>
              <a:t> beneficial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forking</a:t>
            </a:r>
            <a:r>
              <a:rPr lang="en-US" sz="2200" spc="-10" dirty="0">
                <a:latin typeface="Calibri"/>
                <a:cs typeface="Calibri"/>
              </a:rPr>
              <a:t> since in most times, </a:t>
            </a:r>
            <a:r>
              <a:rPr lang="en-US"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sz="2200" spc="-10" dirty="0">
                <a:latin typeface="Calibri"/>
                <a:cs typeface="Calibri"/>
              </a:rPr>
              <a:t> is </a:t>
            </a:r>
            <a:r>
              <a:rPr sz="2200" spc="-15" dirty="0">
                <a:latin typeface="Calibri"/>
                <a:cs typeface="Calibri"/>
              </a:rPr>
              <a:t>followed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lang="en-US" sz="2200" spc="-5" dirty="0">
                <a:latin typeface="Calibri"/>
                <a:cs typeface="Calibri"/>
              </a:rPr>
              <a:t>some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0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lang="en-US" sz="2200" spc="-30" dirty="0">
                <a:latin typeface="Calibri"/>
                <a:cs typeface="Calibri"/>
              </a:rPr>
              <a:t>call, </a:t>
            </a:r>
            <a:r>
              <a:rPr lang="en-US" sz="2200" spc="-5" dirty="0">
                <a:latin typeface="Calibri"/>
                <a:cs typeface="Calibri"/>
              </a:rPr>
              <a:t>meaning that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 previous </a:t>
            </a:r>
            <a:r>
              <a:rPr sz="2200" spc="-15" dirty="0">
                <a:latin typeface="Calibri"/>
                <a:cs typeface="Calibri"/>
              </a:rPr>
              <a:t>copy</a:t>
            </a:r>
            <a:r>
              <a:rPr lang="en-US" sz="2200" spc="-15" dirty="0">
                <a:latin typeface="Calibri"/>
                <a:cs typeface="Calibri"/>
              </a:rPr>
              <a:t>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waste</a:t>
            </a:r>
            <a:r>
              <a:rPr lang="en-US" sz="2200" spc="-20" dirty="0">
                <a:latin typeface="Calibri"/>
                <a:cs typeface="Calibri"/>
              </a:rPr>
              <a:t> of time and space.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20" dirty="0">
                <a:latin typeface="Calibri"/>
                <a:cs typeface="Calibri"/>
              </a:rPr>
              <a:t>Before </a:t>
            </a:r>
            <a:r>
              <a:rPr sz="1900" spc="-65" dirty="0">
                <a:latin typeface="Calibri"/>
                <a:cs typeface="Calibri"/>
              </a:rPr>
              <a:t>COW, </a:t>
            </a:r>
            <a:r>
              <a:rPr sz="1900" spc="-10" dirty="0">
                <a:latin typeface="Calibri"/>
                <a:cs typeface="Calibri"/>
              </a:rPr>
              <a:t>there was</a:t>
            </a:r>
            <a:r>
              <a:rPr lang="en-US" sz="1900" spc="-10" dirty="0">
                <a:latin typeface="Calibri"/>
                <a:cs typeface="Calibri"/>
              </a:rPr>
              <a:t> a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vfork()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system </a:t>
            </a:r>
            <a:r>
              <a:rPr sz="1900" spc="-5" dirty="0">
                <a:latin typeface="Calibri"/>
                <a:cs typeface="Calibri"/>
              </a:rPr>
              <a:t>call in 3.0BSD </a:t>
            </a:r>
            <a:r>
              <a:rPr lang="en-US" sz="1900" spc="-5" dirty="0">
                <a:latin typeface="Calibri"/>
                <a:cs typeface="Calibri"/>
              </a:rPr>
              <a:t>that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require</a:t>
            </a:r>
            <a:r>
              <a:rPr lang="en-US" sz="1900" spc="-10" dirty="0">
                <a:latin typeface="Calibri"/>
                <a:cs typeface="Calibri"/>
              </a:rPr>
              <a:t>d an</a:t>
            </a:r>
            <a:r>
              <a:rPr sz="1900" spc="-10" dirty="0">
                <a:latin typeface="Calibri"/>
                <a:cs typeface="Calibri"/>
              </a:rPr>
              <a:t> immediate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1900" spc="24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call</a:t>
            </a:r>
            <a:r>
              <a:rPr lang="en-US" sz="1900" spc="-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60172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Co</a:t>
            </a:r>
            <a:r>
              <a:rPr spc="-70" dirty="0"/>
              <a:t>p</a:t>
            </a:r>
            <a:r>
              <a:rPr spc="-50" dirty="0"/>
              <a:t>y</a:t>
            </a:r>
            <a:r>
              <a:rPr spc="-30" dirty="0"/>
              <a:t>-</a:t>
            </a:r>
            <a:r>
              <a:rPr spc="-45" dirty="0"/>
              <a:t>o</a:t>
            </a:r>
            <a:r>
              <a:rPr spc="-50" dirty="0"/>
              <a:t>n</a:t>
            </a:r>
            <a:r>
              <a:rPr spc="-30" dirty="0"/>
              <a:t>-</a:t>
            </a:r>
            <a:r>
              <a:rPr spc="-210" dirty="0"/>
              <a:t>W</a:t>
            </a:r>
            <a:r>
              <a:rPr spc="-30" dirty="0"/>
              <a:t>ri</a:t>
            </a:r>
            <a:r>
              <a:rPr spc="-70" dirty="0"/>
              <a:t>t</a:t>
            </a:r>
            <a:r>
              <a:rPr dirty="0"/>
              <a:t>e</a:t>
            </a:r>
            <a:r>
              <a:rPr lang="en-US" dirty="0"/>
              <a:t>: Illustration</a:t>
            </a:r>
            <a:endParaRPr dirty="0"/>
          </a:p>
        </p:txBody>
      </p:sp>
      <p:pic>
        <p:nvPicPr>
          <p:cNvPr id="2050" name="Picture 2" descr="Before process 1 modifies page C.">
            <a:extLst>
              <a:ext uri="{FF2B5EF4-FFF2-40B4-BE49-F238E27FC236}">
                <a16:creationId xmlns:a16="http://schemas.microsoft.com/office/drawing/2014/main" id="{F1A1D85C-CCE3-F888-7718-B81875736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0" y="2002465"/>
            <a:ext cx="5674676" cy="23774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fter process 1 modifies page C.">
            <a:extLst>
              <a:ext uri="{FF2B5EF4-FFF2-40B4-BE49-F238E27FC236}">
                <a16:creationId xmlns:a16="http://schemas.microsoft.com/office/drawing/2014/main" id="{D4B5B7BE-94B8-90D1-76CC-CC088ADA9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002465"/>
            <a:ext cx="5667825" cy="269748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757C073F-1408-287B-75E0-E89904252166}"/>
              </a:ext>
            </a:extLst>
          </p:cNvPr>
          <p:cNvSpPr/>
          <p:nvPr/>
        </p:nvSpPr>
        <p:spPr>
          <a:xfrm>
            <a:off x="5851926" y="3124200"/>
            <a:ext cx="381000" cy="3048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9E3F6-E950-C0A7-2DC4-1E3C0A2DF508}"/>
              </a:ext>
            </a:extLst>
          </p:cNvPr>
          <p:cNvSpPr txBox="1"/>
          <p:nvPr/>
        </p:nvSpPr>
        <p:spPr>
          <a:xfrm>
            <a:off x="107901" y="4843801"/>
            <a:ext cx="5667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Processes 1 and 2 have a parent-child relationship. So far, the memory of both processes is identical, and no page was changed, so no page copying was made.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Taken from </a:t>
            </a:r>
            <a:r>
              <a:rPr lang="en-US" b="0" i="0" dirty="0">
                <a:effectLst/>
                <a:hlinkClick r:id="rId4"/>
              </a:rPr>
              <a:t>Bell, John T. "Virtual Memory." University of Illinois, Chicago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CD4490-1403-446A-2AFC-15D0B3F4AA41}"/>
              </a:ext>
            </a:extLst>
          </p:cNvPr>
          <p:cNvSpPr txBox="1"/>
          <p:nvPr/>
        </p:nvSpPr>
        <p:spPr>
          <a:xfrm>
            <a:off x="6324599" y="4843801"/>
            <a:ext cx="5667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when Process 1 decides to change the content of page C, a copy of page C is created.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Taken from </a:t>
            </a:r>
            <a:r>
              <a:rPr lang="en-US" b="0" i="0" dirty="0">
                <a:effectLst/>
                <a:hlinkClick r:id="rId4"/>
              </a:rPr>
              <a:t>Bell, John T. "Virtual Memory." University of Illinois, Chicago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96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202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Terminating </a:t>
            </a:r>
            <a:r>
              <a:rPr dirty="0"/>
              <a:t>a</a:t>
            </a:r>
            <a:r>
              <a:rPr spc="-95" dirty="0"/>
              <a:t> </a:t>
            </a:r>
            <a:r>
              <a:rPr spc="-5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39900"/>
            <a:ext cx="10589261" cy="47028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ts val="2085"/>
              </a:lnSpc>
              <a:spcBef>
                <a:spcPts val="100"/>
              </a:spcBef>
              <a:spcAft>
                <a:spcPts val="600"/>
              </a:spcAft>
            </a:pP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 &lt;stdlib.h&gt;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085"/>
              </a:lnSpc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exit (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800" b="1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status);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508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Th</a:t>
            </a:r>
            <a:r>
              <a:rPr lang="en-US" sz="2200" spc="-10" dirty="0">
                <a:latin typeface="Calibri"/>
                <a:cs typeface="Calibri"/>
              </a:rPr>
              <a:t>is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function </a:t>
            </a:r>
            <a:r>
              <a:rPr sz="2200" spc="-10" dirty="0">
                <a:latin typeface="Calibri"/>
                <a:cs typeface="Calibri"/>
              </a:rPr>
              <a:t>performs </a:t>
            </a:r>
            <a:r>
              <a:rPr sz="2200" dirty="0">
                <a:latin typeface="Calibri"/>
                <a:cs typeface="Calibri"/>
              </a:rPr>
              <a:t>some </a:t>
            </a:r>
            <a:r>
              <a:rPr sz="2200" spc="-5" dirty="0">
                <a:latin typeface="Calibri"/>
                <a:cs typeface="Calibri"/>
              </a:rPr>
              <a:t>basic </a:t>
            </a:r>
            <a:r>
              <a:rPr sz="2200" spc="-10" dirty="0">
                <a:latin typeface="Calibri"/>
                <a:cs typeface="Calibri"/>
              </a:rPr>
              <a:t>shutdown </a:t>
            </a:r>
            <a:r>
              <a:rPr sz="2200" spc="-15" dirty="0">
                <a:latin typeface="Calibri"/>
                <a:cs typeface="Calibri"/>
              </a:rPr>
              <a:t>steps</a:t>
            </a:r>
            <a:r>
              <a:rPr lang="en-US" sz="2200" spc="-15" dirty="0">
                <a:latin typeface="Calibri"/>
                <a:cs typeface="Calibri"/>
              </a:rPr>
              <a:t> and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then </a:t>
            </a:r>
            <a:r>
              <a:rPr sz="2200" spc="-10" dirty="0">
                <a:latin typeface="Calibri"/>
                <a:cs typeface="Calibri"/>
              </a:rPr>
              <a:t>asks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kernel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5" dirty="0">
                <a:latin typeface="Calibri"/>
                <a:cs typeface="Calibri"/>
              </a:rPr>
              <a:t>terminate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process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dirty="0">
                <a:latin typeface="Calibri"/>
                <a:cs typeface="Calibri"/>
              </a:rPr>
              <a:t>doesn’t </a:t>
            </a:r>
            <a:r>
              <a:rPr sz="2200" spc="-10" dirty="0">
                <a:latin typeface="Calibri"/>
                <a:cs typeface="Calibri"/>
              </a:rPr>
              <a:t>return </a:t>
            </a:r>
            <a:r>
              <a:rPr sz="2200" spc="-5" dirty="0">
                <a:latin typeface="Calibri"/>
                <a:cs typeface="Calibri"/>
              </a:rPr>
              <a:t>and no instructions should </a:t>
            </a:r>
            <a:r>
              <a:rPr sz="2200" spc="-15" dirty="0">
                <a:latin typeface="Calibri"/>
                <a:cs typeface="Calibri"/>
              </a:rPr>
              <a:t>follow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it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17907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The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status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denotes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process’</a:t>
            </a:r>
            <a:r>
              <a:rPr lang="en-US" sz="2200" spc="-10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exit </a:t>
            </a:r>
            <a:r>
              <a:rPr sz="2200" spc="-15" dirty="0">
                <a:latin typeface="Calibri"/>
                <a:cs typeface="Calibri"/>
              </a:rPr>
              <a:t>status </a:t>
            </a:r>
            <a:r>
              <a:rPr sz="2200" spc="-10" dirty="0">
                <a:latin typeface="Calibri"/>
                <a:cs typeface="Calibri"/>
              </a:rPr>
              <a:t>(use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EXIT_SUCCESS</a:t>
            </a:r>
            <a:r>
              <a:rPr sz="2200" spc="-10" dirty="0">
                <a:latin typeface="Calibri"/>
                <a:cs typeface="Calibri"/>
              </a:rPr>
              <a:t>/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EXIT_FAILURE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instead </a:t>
            </a:r>
            <a:r>
              <a:rPr sz="2200" spc="-5" dirty="0">
                <a:latin typeface="Calibri"/>
                <a:cs typeface="Calibri"/>
              </a:rPr>
              <a:t>of 0</a:t>
            </a:r>
            <a:r>
              <a:rPr lang="en-US" sz="2200" spc="-5" dirty="0">
                <a:latin typeface="Calibri"/>
                <a:cs typeface="Calibri"/>
              </a:rPr>
              <a:t> and</a:t>
            </a:r>
            <a:r>
              <a:rPr sz="2200" spc="-5" dirty="0">
                <a:latin typeface="Calibri"/>
                <a:cs typeface="Calibri"/>
              </a:rPr>
              <a:t> 1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portability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r>
              <a:rPr sz="2200" spc="-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The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status</a:t>
            </a:r>
            <a:r>
              <a:rPr sz="2200" spc="-15" dirty="0">
                <a:latin typeface="Calibri"/>
                <a:cs typeface="Calibri"/>
              </a:rPr>
              <a:t> can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5" dirty="0">
                <a:latin typeface="Calibri"/>
                <a:cs typeface="Calibri"/>
              </a:rPr>
              <a:t>checked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other </a:t>
            </a:r>
            <a:r>
              <a:rPr sz="2200" spc="-15" dirty="0">
                <a:latin typeface="Calibri"/>
                <a:cs typeface="Calibri"/>
              </a:rPr>
              <a:t>programs </a:t>
            </a:r>
            <a:r>
              <a:rPr sz="2200" spc="-10" dirty="0">
                <a:latin typeface="Calibri"/>
                <a:cs typeface="Calibri"/>
              </a:rPr>
              <a:t>(including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parent)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shell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550"/>
              </a:lnSpc>
              <a:spcBef>
                <a:spcPts val="2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200" spc="-5" dirty="0">
                <a:cs typeface="Calibri"/>
              </a:rPr>
              <a:t>The C</a:t>
            </a:r>
            <a:r>
              <a:rPr lang="en-US" sz="2200" spc="85" dirty="0">
                <a:cs typeface="Calibri"/>
              </a:rPr>
              <a:t> </a:t>
            </a:r>
            <a:r>
              <a:rPr lang="en-US" sz="2200" spc="-5" dirty="0">
                <a:cs typeface="Calibri"/>
              </a:rPr>
              <a:t>library performs the s</a:t>
            </a:r>
            <a:r>
              <a:rPr sz="2200" spc="-10" dirty="0">
                <a:latin typeface="Calibri"/>
                <a:cs typeface="Calibri"/>
              </a:rPr>
              <a:t>hutdown </a:t>
            </a:r>
            <a:r>
              <a:rPr sz="2200" spc="-15" dirty="0">
                <a:latin typeface="Calibri"/>
                <a:cs typeface="Calibri"/>
              </a:rPr>
              <a:t>steps </a:t>
            </a:r>
            <a:r>
              <a:rPr lang="en-US" sz="2200" spc="-15" dirty="0">
                <a:latin typeface="Calibri"/>
                <a:cs typeface="Calibri"/>
              </a:rPr>
              <a:t>below </a:t>
            </a:r>
            <a:r>
              <a:rPr lang="en-US" sz="2200" spc="-5" dirty="0">
                <a:latin typeface="Calibri"/>
                <a:cs typeface="Calibri"/>
              </a:rPr>
              <a:t>as part of </a:t>
            </a:r>
            <a:r>
              <a:rPr lang="en-US"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  <a:r>
              <a:rPr lang="en-US" sz="2200" spc="-5" dirty="0">
                <a:latin typeface="Calibri"/>
                <a:cs typeface="Calibri"/>
              </a:rPr>
              <a:t> in the following order</a:t>
            </a:r>
            <a:r>
              <a:rPr sz="2200" spc="-5" dirty="0">
                <a:latin typeface="Calibri"/>
                <a:cs typeface="Calibri"/>
              </a:rPr>
              <a:t>: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0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10" dirty="0">
                <a:latin typeface="Calibri"/>
                <a:cs typeface="Calibri"/>
              </a:rPr>
              <a:t>Call</a:t>
            </a:r>
            <a:r>
              <a:rPr lang="en-US" sz="1900" spc="-10" dirty="0">
                <a:latin typeface="Calibri"/>
                <a:cs typeface="Calibri"/>
              </a:rPr>
              <a:t>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any </a:t>
            </a:r>
            <a:r>
              <a:rPr sz="1900" spc="-10" dirty="0">
                <a:latin typeface="Calibri"/>
                <a:cs typeface="Calibri"/>
              </a:rPr>
              <a:t>functions </a:t>
            </a:r>
            <a:r>
              <a:rPr sz="1900" spc="-15" dirty="0">
                <a:latin typeface="Calibri"/>
                <a:cs typeface="Calibri"/>
              </a:rPr>
              <a:t>registered </a:t>
            </a:r>
            <a:r>
              <a:rPr sz="1900" spc="-5" dirty="0">
                <a:latin typeface="Calibri"/>
                <a:cs typeface="Calibri"/>
              </a:rPr>
              <a:t>with </a:t>
            </a:r>
            <a:r>
              <a:rPr spc="-5" dirty="0">
                <a:latin typeface="Courier New" panose="02070309020205020404" pitchFamily="49" charset="0"/>
                <a:cs typeface="Courier New" panose="02070309020205020404" pitchFamily="49" charset="0"/>
              </a:rPr>
              <a:t>atexit()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lang="en-US" sz="1900" spc="-15" dirty="0">
                <a:latin typeface="Calibri"/>
                <a:cs typeface="Calibri"/>
              </a:rPr>
              <a:t>(see </a:t>
            </a:r>
            <a:r>
              <a:rPr lang="en-US" sz="1900" spc="-15" dirty="0">
                <a:latin typeface="Calibri"/>
                <a:cs typeface="Calibri"/>
                <a:hlinkClick r:id="rId2" action="ppaction://hlinksldjump"/>
              </a:rPr>
              <a:t>slide 15 </a:t>
            </a:r>
            <a:r>
              <a:rPr lang="en-US" sz="1900" spc="-15" dirty="0">
                <a:latin typeface="Calibri"/>
                <a:cs typeface="Calibri"/>
              </a:rPr>
              <a:t>here) </a:t>
            </a:r>
            <a:r>
              <a:rPr sz="1900" spc="-5" dirty="0">
                <a:latin typeface="Calibri"/>
                <a:cs typeface="Calibri"/>
              </a:rPr>
              <a:t>in the </a:t>
            </a:r>
            <a:r>
              <a:rPr sz="1900" spc="-20" dirty="0">
                <a:latin typeface="Calibri"/>
                <a:cs typeface="Calibri"/>
              </a:rPr>
              <a:t>reverse </a:t>
            </a:r>
            <a:r>
              <a:rPr sz="1900" spc="-15" dirty="0">
                <a:latin typeface="Calibri"/>
                <a:cs typeface="Calibri"/>
              </a:rPr>
              <a:t>order </a:t>
            </a:r>
            <a:r>
              <a:rPr sz="1900" spc="-5" dirty="0">
                <a:latin typeface="Calibri"/>
                <a:cs typeface="Calibri"/>
              </a:rPr>
              <a:t>of</a:t>
            </a:r>
            <a:r>
              <a:rPr sz="1900" spc="-15" dirty="0">
                <a:latin typeface="Calibri"/>
                <a:cs typeface="Calibri"/>
              </a:rPr>
              <a:t> registration</a:t>
            </a:r>
            <a:r>
              <a:rPr lang="en-US" sz="1900" spc="-1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20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Calibri"/>
                <a:cs typeface="Calibri"/>
              </a:rPr>
              <a:t>Flush</a:t>
            </a:r>
            <a:r>
              <a:rPr lang="en-US" sz="1900" spc="-5" dirty="0">
                <a:latin typeface="Calibri"/>
                <a:cs typeface="Calibri"/>
              </a:rPr>
              <a:t>es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lang="en-US" sz="1900" spc="-5" dirty="0">
                <a:latin typeface="Calibri"/>
                <a:cs typeface="Calibri"/>
              </a:rPr>
              <a:t>(saves)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lang="en-US" sz="1900" dirty="0">
                <a:latin typeface="Calibri"/>
                <a:cs typeface="Calibri"/>
              </a:rPr>
              <a:t> 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open </a:t>
            </a:r>
            <a:r>
              <a:rPr sz="1900" spc="-15" dirty="0">
                <a:latin typeface="Calibri"/>
                <a:cs typeface="Calibri"/>
              </a:rPr>
              <a:t>standard </a:t>
            </a:r>
            <a:r>
              <a:rPr sz="1900" spc="-5" dirty="0">
                <a:latin typeface="Calibri"/>
                <a:cs typeface="Calibri"/>
              </a:rPr>
              <a:t>I/O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streams</a:t>
            </a:r>
            <a:r>
              <a:rPr lang="en-US" sz="1900" spc="-10" dirty="0">
                <a:latin typeface="Calibri"/>
                <a:cs typeface="Calibri"/>
              </a:rPr>
              <a:t> to the kernel, which will later save them to disk.</a:t>
            </a:r>
            <a:endParaRPr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21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20" dirty="0">
                <a:latin typeface="Calibri"/>
                <a:cs typeface="Calibri"/>
              </a:rPr>
              <a:t>Remove</a:t>
            </a:r>
            <a:r>
              <a:rPr lang="en-US" sz="1900" spc="-20" dirty="0">
                <a:latin typeface="Calibri"/>
                <a:cs typeface="Calibri"/>
              </a:rPr>
              <a:t>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any </a:t>
            </a:r>
            <a:r>
              <a:rPr sz="1900" spc="-10" dirty="0">
                <a:latin typeface="Calibri"/>
                <a:cs typeface="Calibri"/>
              </a:rPr>
              <a:t>temporary </a:t>
            </a:r>
            <a:r>
              <a:rPr sz="1900" spc="-5" dirty="0">
                <a:latin typeface="Calibri"/>
                <a:cs typeface="Calibri"/>
              </a:rPr>
              <a:t>files </a:t>
            </a:r>
            <a:r>
              <a:rPr sz="1900" spc="-10" dirty="0">
                <a:latin typeface="Calibri"/>
                <a:cs typeface="Calibri"/>
              </a:rPr>
              <a:t>created </a:t>
            </a:r>
            <a:r>
              <a:rPr sz="1900" spc="-5" dirty="0">
                <a:latin typeface="Calibri"/>
                <a:cs typeface="Calibri"/>
              </a:rPr>
              <a:t>with the </a:t>
            </a:r>
            <a:r>
              <a:rPr spc="-5" dirty="0">
                <a:latin typeface="Courier New" panose="02070309020205020404" pitchFamily="49" charset="0"/>
                <a:cs typeface="Courier New" panose="02070309020205020404" pitchFamily="49" charset="0"/>
                <a:hlinkClick r:id="rId3" tooltip="The Linux manual page for the tmpfile() function: https://man7.org/linux/man-pages/man3/tmpfile.3.html"/>
              </a:rPr>
              <a:t>tmpfile()</a:t>
            </a:r>
            <a:r>
              <a:rPr sz="1900" spc="1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function</a:t>
            </a:r>
            <a:r>
              <a:rPr lang="en-US" sz="1900" spc="-10" dirty="0">
                <a:latin typeface="Calibri"/>
                <a:cs typeface="Calibri"/>
              </a:rPr>
              <a:t>.</a:t>
            </a:r>
            <a:endParaRPr lang="en-US"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21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-5" dirty="0">
                <a:latin typeface="Calibri"/>
                <a:cs typeface="Calibri"/>
              </a:rPr>
              <a:t>Lets the </a:t>
            </a:r>
            <a:r>
              <a:rPr sz="2000" spc="-15" dirty="0">
                <a:latin typeface="Calibri"/>
                <a:cs typeface="Calibri"/>
              </a:rPr>
              <a:t>kernel </a:t>
            </a:r>
            <a:r>
              <a:rPr sz="2000" spc="-5" dirty="0">
                <a:latin typeface="Calibri"/>
                <a:cs typeface="Calibri"/>
              </a:rPr>
              <a:t>terminat</a:t>
            </a:r>
            <a:r>
              <a:rPr lang="en-US" sz="2000" spc="-5" dirty="0">
                <a:latin typeface="Calibri"/>
                <a:cs typeface="Calibri"/>
              </a:rPr>
              <a:t>e the process by issuing the following syscall inside </a:t>
            </a:r>
            <a:r>
              <a:rPr lang="en-US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  <a:r>
              <a:rPr lang="en-US" sz="2000" spc="-5" dirty="0">
                <a:latin typeface="Calibri"/>
                <a:cs typeface="Calibri"/>
              </a:rPr>
              <a:t>’s definition:</a:t>
            </a:r>
            <a:endParaRPr sz="2000" dirty="0">
              <a:latin typeface="Calibri"/>
              <a:cs typeface="Calibri"/>
            </a:endParaRPr>
          </a:p>
          <a:p>
            <a:pPr marL="469900">
              <a:lnSpc>
                <a:spcPts val="2020"/>
              </a:lnSpc>
              <a:spcAft>
                <a:spcPts val="600"/>
              </a:spcAft>
            </a:pP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090"/>
              </a:lnSpc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_exit (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8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status);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989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Other </a:t>
            </a:r>
            <a:r>
              <a:rPr spc="-105" dirty="0"/>
              <a:t>Ways </a:t>
            </a:r>
            <a:r>
              <a:rPr lang="en-US" spc="-105" dirty="0"/>
              <a:t>for </a:t>
            </a:r>
            <a:r>
              <a:rPr lang="en-US" spc="-35" dirty="0"/>
              <a:t>a Process to</a:t>
            </a:r>
            <a:r>
              <a:rPr spc="-195" dirty="0"/>
              <a:t> </a:t>
            </a:r>
            <a:r>
              <a:rPr spc="-85" dirty="0"/>
              <a:t>Terminate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10589261" cy="2737288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When r</a:t>
            </a:r>
            <a:r>
              <a:rPr sz="2800" spc="-10" dirty="0">
                <a:latin typeface="Calibri"/>
                <a:cs typeface="Calibri"/>
              </a:rPr>
              <a:t>eturning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spc="-1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Behind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lang="en-US" sz="2400" spc="-5" dirty="0">
                <a:latin typeface="Calibri"/>
                <a:cs typeface="Calibri"/>
              </a:rPr>
              <a:t>scenes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compiler </a:t>
            </a:r>
            <a:r>
              <a:rPr sz="2400" dirty="0">
                <a:latin typeface="Calibri"/>
                <a:cs typeface="Calibri"/>
              </a:rPr>
              <a:t>inserts a </a:t>
            </a:r>
            <a:r>
              <a:rPr sz="2400" spc="-5" dirty="0">
                <a:latin typeface="Calibri"/>
                <a:cs typeface="Calibri"/>
              </a:rPr>
              <a:t>call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  <a:r>
              <a:rPr lang="en-US" sz="2400" spc="-5" dirty="0">
                <a:latin typeface="Calibri"/>
                <a:cs typeface="Calibri"/>
              </a:rPr>
              <a:t> where </a:t>
            </a:r>
            <a:r>
              <a:rPr lang="en-US"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appears.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When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signal </a:t>
            </a:r>
            <a:r>
              <a:rPr sz="2800" spc="-5" dirty="0">
                <a:latin typeface="Calibri"/>
                <a:cs typeface="Calibri"/>
              </a:rPr>
              <a:t>whose </a:t>
            </a:r>
            <a:r>
              <a:rPr sz="2800" spc="-15" dirty="0">
                <a:latin typeface="Calibri"/>
                <a:cs typeface="Calibri"/>
              </a:rPr>
              <a:t>default </a:t>
            </a:r>
            <a:r>
              <a:rPr sz="2800" dirty="0">
                <a:latin typeface="Calibri"/>
                <a:cs typeface="Calibri"/>
              </a:rPr>
              <a:t>action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to terminate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</a:t>
            </a:r>
            <a:r>
              <a:rPr lang="en-US" sz="2800" spc="-10" dirty="0">
                <a:latin typeface="Calibri"/>
                <a:cs typeface="Calibri"/>
              </a:rPr>
              <a:t> is sent: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4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800" spc="-15" dirty="0">
                <a:latin typeface="Calibri"/>
                <a:cs typeface="Calibri"/>
              </a:rPr>
              <a:t>Either of the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SIGTERM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SIGKILL</a:t>
            </a:r>
            <a:r>
              <a:rPr lang="en-US" sz="2800" spc="-15" dirty="0">
                <a:latin typeface="Calibri"/>
                <a:cs typeface="Calibri"/>
              </a:rPr>
              <a:t> signals.</a:t>
            </a:r>
            <a:endParaRPr sz="2800" spc="-15" dirty="0">
              <a:latin typeface="Calibri"/>
              <a:cs typeface="Calibri"/>
            </a:endParaRPr>
          </a:p>
          <a:p>
            <a:pPr marL="241300" marR="343535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5" dirty="0">
                <a:latin typeface="Calibri"/>
                <a:cs typeface="Calibri"/>
              </a:rPr>
              <a:t>When e</a:t>
            </a:r>
            <a:r>
              <a:rPr sz="2800" spc="-15" dirty="0">
                <a:latin typeface="Calibri"/>
                <a:cs typeface="Calibri"/>
              </a:rPr>
              <a:t>xecuting </a:t>
            </a:r>
            <a:r>
              <a:rPr lang="en-US" sz="2800" spc="-5" dirty="0">
                <a:latin typeface="Calibri"/>
                <a:cs typeface="Calibri"/>
              </a:rPr>
              <a:t>some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illegal</a:t>
            </a:r>
            <a:r>
              <a:rPr lang="en-US" sz="2800" spc="-15" dirty="0">
                <a:latin typeface="Calibri"/>
                <a:cs typeface="Calibri"/>
              </a:rPr>
              <a:t>/erroneous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</a:t>
            </a:r>
            <a:r>
              <a:rPr lang="en-US" sz="2800" spc="-10" dirty="0">
                <a:latin typeface="Calibri"/>
                <a:cs typeface="Calibri"/>
              </a:rPr>
              <a:t> that </a:t>
            </a:r>
            <a:r>
              <a:rPr sz="2800" spc="-5" dirty="0">
                <a:latin typeface="Calibri"/>
                <a:cs typeface="Calibri"/>
              </a:rPr>
              <a:t>caus</a:t>
            </a:r>
            <a:r>
              <a:rPr lang="en-US" sz="2800" spc="-5" dirty="0">
                <a:latin typeface="Calibri"/>
                <a:cs typeface="Calibri"/>
              </a:rPr>
              <a:t>es</a:t>
            </a:r>
            <a:r>
              <a:rPr sz="2800" spc="-5" dirty="0">
                <a:latin typeface="Calibri"/>
                <a:cs typeface="Calibri"/>
              </a:rPr>
              <a:t> a </a:t>
            </a:r>
            <a:r>
              <a:rPr sz="2800" spc="-10" dirty="0">
                <a:latin typeface="Calibri"/>
                <a:cs typeface="Calibri"/>
              </a:rPr>
              <a:t>segmentation </a:t>
            </a:r>
            <a:r>
              <a:rPr lang="en-US" sz="2800" spc="-10" dirty="0">
                <a:latin typeface="Calibri"/>
                <a:cs typeface="Calibri"/>
              </a:rPr>
              <a:t>fault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lang="en-US" sz="2800" spc="-5" dirty="0">
                <a:latin typeface="Calibri"/>
                <a:cs typeface="Calibri"/>
              </a:rPr>
              <a:t>stack fault</a:t>
            </a:r>
            <a:r>
              <a:rPr sz="2800" spc="-30" dirty="0">
                <a:latin typeface="Calibri"/>
                <a:cs typeface="Calibri"/>
              </a:rPr>
              <a:t>,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lang="en-US" sz="2800" spc="70" dirty="0">
                <a:latin typeface="Calibri"/>
                <a:cs typeface="Calibri"/>
              </a:rPr>
              <a:t>division-by-0 error, </a:t>
            </a:r>
            <a:r>
              <a:rPr sz="2800" spc="-20" dirty="0">
                <a:latin typeface="Calibri"/>
                <a:cs typeface="Calibri"/>
              </a:rPr>
              <a:t>etc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680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Functions </a:t>
            </a:r>
            <a:r>
              <a:rPr spc="-20" dirty="0"/>
              <a:t>Called </a:t>
            </a:r>
            <a:r>
              <a:rPr spc="-30" dirty="0"/>
              <a:t>upon</a:t>
            </a:r>
            <a:r>
              <a:rPr spc="-330" dirty="0"/>
              <a:t> </a:t>
            </a:r>
            <a:r>
              <a:rPr spc="-70" dirty="0"/>
              <a:t>Termination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36801"/>
            <a:ext cx="11122662" cy="418383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03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Registering </a:t>
            </a:r>
            <a:r>
              <a:rPr sz="2600" spc="-5" dirty="0">
                <a:latin typeface="Calibri"/>
                <a:cs typeface="Calibri"/>
              </a:rPr>
              <a:t>termination </a:t>
            </a:r>
            <a:r>
              <a:rPr sz="2600" dirty="0">
                <a:latin typeface="Calibri"/>
                <a:cs typeface="Calibri"/>
              </a:rPr>
              <a:t>functions with</a:t>
            </a:r>
            <a:r>
              <a:rPr sz="2600" spc="-140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atexit()</a:t>
            </a:r>
            <a:endParaRPr sz="2000" spc="-5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69900">
              <a:lnSpc>
                <a:spcPts val="2100"/>
              </a:lnSpc>
              <a:spcAft>
                <a:spcPts val="600"/>
              </a:spcAft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9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&lt;stdlib.h&gt;</a:t>
            </a:r>
          </a:p>
          <a:p>
            <a:pPr marL="469900">
              <a:lnSpc>
                <a:spcPts val="2190"/>
              </a:lnSpc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atexit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1900" b="1" spc="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(*function)(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));</a:t>
            </a:r>
          </a:p>
          <a:p>
            <a:pPr marL="241300" indent="-228600">
              <a:lnSpc>
                <a:spcPts val="303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registered 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function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takes </a:t>
            </a:r>
            <a:r>
              <a:rPr sz="2600" spc="-5" dirty="0">
                <a:latin typeface="Calibri"/>
                <a:cs typeface="Calibri"/>
              </a:rPr>
              <a:t>no </a:t>
            </a:r>
            <a:r>
              <a:rPr sz="2600" spc="-15" dirty="0">
                <a:latin typeface="Calibri"/>
                <a:cs typeface="Calibri"/>
              </a:rPr>
              <a:t>parameters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returns no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value</a:t>
            </a:r>
            <a:r>
              <a:rPr lang="en-US"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ts val="2190"/>
              </a:lnSpc>
            </a:pP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my_function</a:t>
            </a:r>
            <a:r>
              <a:rPr sz="1900" spc="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  <a:r>
              <a:rPr lang="en-US" sz="19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900" i="1" dirty="0">
                <a:latin typeface="Consolas"/>
                <a:cs typeface="Consolas"/>
              </a:rPr>
              <a:t>// You must create such a function in the C file.</a:t>
            </a:r>
            <a:endParaRPr sz="1900" i="1" dirty="0"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function</a:t>
            </a:r>
            <a:r>
              <a:rPr sz="2600" dirty="0">
                <a:latin typeface="Calibri"/>
                <a:cs typeface="Calibri"/>
              </a:rPr>
              <a:t> will </a:t>
            </a:r>
            <a:r>
              <a:rPr sz="2600" spc="-5" dirty="0">
                <a:latin typeface="Calibri"/>
                <a:cs typeface="Calibri"/>
              </a:rPr>
              <a:t>be called </a:t>
            </a:r>
            <a:r>
              <a:rPr sz="2600" dirty="0">
                <a:latin typeface="Calibri"/>
                <a:cs typeface="Calibri"/>
              </a:rPr>
              <a:t>via either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or </a:t>
            </a:r>
            <a:r>
              <a:rPr lang="en-US" sz="2600" spc="-5" dirty="0">
                <a:latin typeface="Calibri"/>
                <a:cs typeface="Calibri"/>
              </a:rPr>
              <a:t>the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inside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If a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25" dirty="0">
                <a:latin typeface="Calibri"/>
                <a:cs typeface="Calibri"/>
              </a:rPr>
              <a:t>invokes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600" spc="-25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list of </a:t>
            </a:r>
            <a:r>
              <a:rPr sz="2600" spc="-10" dirty="0">
                <a:latin typeface="Calibri"/>
                <a:cs typeface="Calibri"/>
              </a:rPr>
              <a:t>registered </a:t>
            </a:r>
            <a:r>
              <a:rPr sz="2600" dirty="0">
                <a:latin typeface="Calibri"/>
                <a:cs typeface="Calibri"/>
              </a:rPr>
              <a:t>functions </a:t>
            </a:r>
            <a:r>
              <a:rPr lang="en-US" sz="2600" dirty="0">
                <a:latin typeface="Calibri"/>
                <a:cs typeface="Calibri"/>
              </a:rPr>
              <a:t>by </a:t>
            </a:r>
            <a:r>
              <a:rPr lang="en-US"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atexit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erased.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If a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terminates </a:t>
            </a:r>
            <a:r>
              <a:rPr sz="2600" dirty="0">
                <a:latin typeface="Calibri"/>
                <a:cs typeface="Calibri"/>
              </a:rPr>
              <a:t>via a </a:t>
            </a:r>
            <a:r>
              <a:rPr sz="2600" spc="-5" dirty="0">
                <a:latin typeface="Calibri"/>
                <a:cs typeface="Calibri"/>
              </a:rPr>
              <a:t>signal,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registered </a:t>
            </a:r>
            <a:r>
              <a:rPr sz="2600" dirty="0">
                <a:latin typeface="Calibri"/>
                <a:cs typeface="Calibri"/>
              </a:rPr>
              <a:t>functions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5" dirty="0">
                <a:latin typeface="Calibri"/>
                <a:cs typeface="Calibri"/>
              </a:rPr>
              <a:t>not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called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Functions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5" dirty="0">
                <a:latin typeface="Calibri"/>
                <a:cs typeface="Calibri"/>
              </a:rPr>
              <a:t>called </a:t>
            </a:r>
            <a:r>
              <a:rPr sz="2600" dirty="0">
                <a:latin typeface="Calibri"/>
                <a:cs typeface="Calibri"/>
              </a:rPr>
              <a:t>in the </a:t>
            </a:r>
            <a:r>
              <a:rPr sz="2600" u="sng" spc="-20" dirty="0">
                <a:latin typeface="Calibri"/>
                <a:cs typeface="Calibri"/>
              </a:rPr>
              <a:t>reverse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order </a:t>
            </a:r>
            <a:r>
              <a:rPr sz="2600" spc="-5" dirty="0">
                <a:latin typeface="Calibri"/>
                <a:cs typeface="Calibri"/>
              </a:rPr>
              <a:t>that </a:t>
            </a:r>
            <a:r>
              <a:rPr sz="2600" dirty="0">
                <a:latin typeface="Calibri"/>
                <a:cs typeface="Calibri"/>
              </a:rPr>
              <a:t>they </a:t>
            </a:r>
            <a:r>
              <a:rPr sz="2600" spc="-10" dirty="0">
                <a:latin typeface="Calibri"/>
                <a:cs typeface="Calibri"/>
              </a:rPr>
              <a:t>are registered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(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LIFO</a:t>
            </a:r>
            <a:r>
              <a:rPr sz="2600" spc="-5" dirty="0">
                <a:latin typeface="Calibri"/>
                <a:cs typeface="Calibri"/>
              </a:rPr>
              <a:t>)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They must not call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themselves</a:t>
            </a:r>
            <a:r>
              <a:rPr lang="en-US" sz="2600" spc="-5" dirty="0">
                <a:latin typeface="Calibri"/>
                <a:cs typeface="Calibri"/>
              </a:rPr>
              <a:t> (this avoids infinite loops!)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dirty="0">
                <a:latin typeface="Calibri"/>
                <a:cs typeface="Calibri"/>
              </a:rPr>
              <a:t>success,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atexit()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returns </a:t>
            </a:r>
            <a:r>
              <a:rPr sz="2600" dirty="0">
                <a:latin typeface="Calibri"/>
                <a:cs typeface="Calibri"/>
              </a:rPr>
              <a:t>0, </a:t>
            </a:r>
            <a:r>
              <a:rPr lang="en-US"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spc="-45" dirty="0">
                <a:latin typeface="Calibri"/>
                <a:cs typeface="Calibri"/>
              </a:rPr>
              <a:t>error,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returns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-1</a:t>
            </a:r>
            <a:r>
              <a:rPr lang="en-US" sz="2600" spc="-5" dirty="0">
                <a:latin typeface="Calibri"/>
                <a:cs typeface="Calibri"/>
              </a:rPr>
              <a:t> (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spc="-5" dirty="0">
                <a:latin typeface="Calibri"/>
                <a:cs typeface="Calibri"/>
              </a:rPr>
              <a:t> isn’t set.)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17906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</a:t>
            </a:r>
            <a:r>
              <a:rPr lang="en-US" spc="-45" dirty="0"/>
              <a:t>s</a:t>
            </a:r>
            <a:r>
              <a:rPr spc="-45" dirty="0"/>
              <a:t> </a:t>
            </a:r>
            <a:r>
              <a:rPr spc="-15" dirty="0"/>
              <a:t>of</a:t>
            </a:r>
            <a:r>
              <a:rPr spc="-180" dirty="0"/>
              <a:t> </a:t>
            </a:r>
            <a:r>
              <a:rPr sz="4000" spc="-45" dirty="0">
                <a:latin typeface="Courier New" panose="02070309020205020404" pitchFamily="49" charset="0"/>
                <a:cs typeface="Courier New" panose="02070309020205020404" pitchFamily="49" charset="0"/>
              </a:rPr>
              <a:t>atexit()</a:t>
            </a:r>
            <a:endParaRPr spc="-4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3925" y="1676400"/>
            <a:ext cx="4629150" cy="30381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F2AF4-FBAE-6BFB-2802-D0B94477C909}"/>
              </a:ext>
            </a:extLst>
          </p:cNvPr>
          <p:cNvSpPr txBox="1"/>
          <p:nvPr/>
        </p:nvSpPr>
        <p:spPr>
          <a:xfrm>
            <a:off x="6096000" y="1447800"/>
            <a:ext cx="6096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29A86"/>
                </a:solidFill>
                <a:latin typeface="Consolas"/>
              </a:rPr>
              <a:t>#include &lt;</a:t>
            </a:r>
            <a:r>
              <a:rPr lang="en-US" sz="1400" dirty="0" err="1">
                <a:solidFill>
                  <a:srgbClr val="229A86"/>
                </a:solidFill>
                <a:latin typeface="Consolas"/>
              </a:rPr>
              <a:t>stdio.h</a:t>
            </a:r>
            <a:r>
              <a:rPr lang="en-US" sz="1400" dirty="0">
                <a:solidFill>
                  <a:srgbClr val="229A86"/>
                </a:solidFill>
                <a:latin typeface="Consolas"/>
              </a:rPr>
              <a:t>&gt;</a:t>
            </a:r>
          </a:p>
          <a:p>
            <a:r>
              <a:rPr lang="en-US" sz="1400" dirty="0">
                <a:solidFill>
                  <a:srgbClr val="229A86"/>
                </a:solidFill>
                <a:latin typeface="Consolas"/>
              </a:rPr>
              <a:t>#include &lt;</a:t>
            </a:r>
            <a:r>
              <a:rPr lang="en-US" sz="1400" dirty="0" err="1">
                <a:solidFill>
                  <a:srgbClr val="229A86"/>
                </a:solidFill>
                <a:latin typeface="Consolas"/>
              </a:rPr>
              <a:t>stdlib.h</a:t>
            </a:r>
            <a:r>
              <a:rPr lang="en-US" sz="1400" dirty="0">
                <a:solidFill>
                  <a:srgbClr val="229A86"/>
                </a:solidFill>
                <a:latin typeface="Consolas"/>
              </a:rPr>
              <a:t>&gt;</a:t>
            </a:r>
          </a:p>
          <a:p>
            <a:endParaRPr lang="en-US" sz="1400" dirty="0">
              <a:solidFill>
                <a:srgbClr val="0070C0"/>
              </a:solidFill>
              <a:latin typeface="Consolas"/>
            </a:endParaRPr>
          </a:p>
          <a:p>
            <a:r>
              <a:rPr lang="en-US" sz="1400" b="1" dirty="0">
                <a:solidFill>
                  <a:srgbClr val="229A86"/>
                </a:solidFill>
                <a:latin typeface="Consolas"/>
              </a:rPr>
              <a:t>void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/>
              </a:rPr>
              <a:t>bye </a:t>
            </a:r>
            <a:r>
              <a:rPr lang="en-US" sz="1400" dirty="0">
                <a:latin typeface="Consolas"/>
              </a:rPr>
              <a:t>(</a:t>
            </a:r>
            <a:r>
              <a:rPr lang="en-US" sz="1400" b="1" dirty="0">
                <a:solidFill>
                  <a:srgbClr val="229A86"/>
                </a:solidFill>
                <a:latin typeface="Consolas"/>
              </a:rPr>
              <a:t>void</a:t>
            </a:r>
            <a:r>
              <a:rPr lang="en-US" sz="1400" dirty="0">
                <a:latin typeface="Consolas"/>
              </a:rPr>
              <a:t>)</a:t>
            </a:r>
          </a:p>
          <a:p>
            <a:r>
              <a:rPr lang="en-US" sz="1400" dirty="0">
                <a:latin typeface="Consolas"/>
              </a:rPr>
              <a:t>{</a:t>
            </a:r>
          </a:p>
          <a:p>
            <a:r>
              <a:rPr lang="en-US" sz="1400" dirty="0">
                <a:solidFill>
                  <a:srgbClr val="0070C0"/>
                </a:solidFill>
                <a:latin typeface="Consolas"/>
              </a:rPr>
              <a:t>       </a:t>
            </a:r>
            <a:r>
              <a:rPr lang="en-US" sz="1400" dirty="0" err="1">
                <a:solidFill>
                  <a:srgbClr val="003BB0"/>
                </a:solidFill>
                <a:latin typeface="Consolas"/>
              </a:rPr>
              <a:t>printf</a:t>
            </a:r>
            <a:r>
              <a:rPr lang="en-US" sz="1400" dirty="0">
                <a:solidFill>
                  <a:srgbClr val="002060"/>
                </a:solidFill>
                <a:latin typeface="Consolas"/>
              </a:rPr>
              <a:t> </a:t>
            </a:r>
            <a:r>
              <a:rPr lang="en-US" sz="1400" dirty="0">
                <a:latin typeface="Consolas"/>
              </a:rPr>
              <a:t>(</a:t>
            </a:r>
            <a:r>
              <a:rPr lang="en-US" sz="1400" dirty="0">
                <a:solidFill>
                  <a:srgbClr val="C00000"/>
                </a:solidFill>
                <a:latin typeface="Consolas"/>
              </a:rPr>
              <a:t>"Signing off!\n"</a:t>
            </a:r>
            <a:r>
              <a:rPr lang="en-US" sz="1400" dirty="0">
                <a:latin typeface="Consolas"/>
              </a:rPr>
              <a:t>);</a:t>
            </a:r>
          </a:p>
          <a:p>
            <a:r>
              <a:rPr lang="en-US" sz="1400" dirty="0">
                <a:latin typeface="Consolas"/>
              </a:rPr>
              <a:t>}</a:t>
            </a:r>
          </a:p>
          <a:p>
            <a:endParaRPr lang="en-US" sz="1400" dirty="0">
              <a:solidFill>
                <a:srgbClr val="0070C0"/>
              </a:solidFill>
              <a:latin typeface="Consolas"/>
            </a:endParaRPr>
          </a:p>
          <a:p>
            <a:r>
              <a:rPr lang="en-US" sz="1400" b="1" dirty="0">
                <a:solidFill>
                  <a:srgbClr val="229A86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/>
              </a:rPr>
              <a:t>main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dirty="0">
                <a:latin typeface="Consolas"/>
              </a:rPr>
              <a:t>(</a:t>
            </a:r>
            <a:r>
              <a:rPr lang="en-US" sz="1400" b="1" dirty="0">
                <a:solidFill>
                  <a:srgbClr val="229A86"/>
                </a:solidFill>
                <a:latin typeface="Consolas"/>
              </a:rPr>
              <a:t>void</a:t>
            </a:r>
            <a:r>
              <a:rPr lang="en-US" sz="1400" dirty="0">
                <a:latin typeface="Consolas"/>
              </a:rPr>
              <a:t>)</a:t>
            </a:r>
          </a:p>
          <a:p>
            <a:r>
              <a:rPr lang="en-US" sz="1400" dirty="0">
                <a:latin typeface="Consolas"/>
              </a:rPr>
              <a:t>{</a:t>
            </a:r>
          </a:p>
          <a:p>
            <a:r>
              <a:rPr lang="en-US" sz="1400" dirty="0">
                <a:solidFill>
                  <a:srgbClr val="0070C0"/>
                </a:solidFill>
                <a:latin typeface="Consolas"/>
              </a:rPr>
              <a:t>       </a:t>
            </a:r>
            <a:r>
              <a:rPr lang="en-US" sz="1400" b="1" dirty="0">
                <a:solidFill>
                  <a:srgbClr val="229A86"/>
                </a:solidFill>
                <a:latin typeface="Consolas"/>
              </a:rPr>
              <a:t>short unsigned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3BB0"/>
                </a:solidFill>
                <a:latin typeface="Consolas"/>
              </a:rPr>
              <a:t>boroughs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dirty="0">
                <a:latin typeface="Consolas"/>
              </a:rPr>
              <a:t>=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5</a:t>
            </a:r>
            <a:r>
              <a:rPr lang="en-US" sz="1400" dirty="0">
                <a:latin typeface="Consolas"/>
              </a:rPr>
              <a:t>;</a:t>
            </a:r>
          </a:p>
          <a:p>
            <a:endParaRPr lang="en-US" sz="1400" dirty="0">
              <a:solidFill>
                <a:srgbClr val="0070C0"/>
              </a:solidFill>
              <a:latin typeface="Consolas"/>
            </a:endParaRPr>
          </a:p>
          <a:p>
            <a:r>
              <a:rPr lang="en-US" sz="1400" dirty="0">
                <a:solidFill>
                  <a:srgbClr val="0070C0"/>
                </a:solidFill>
                <a:latin typeface="Consolas"/>
              </a:rPr>
              <a:t>       </a:t>
            </a:r>
            <a:r>
              <a:rPr lang="en-US" sz="1400" dirty="0" err="1">
                <a:solidFill>
                  <a:srgbClr val="003BB0"/>
                </a:solidFill>
                <a:latin typeface="Consolas"/>
              </a:rPr>
              <a:t>printf</a:t>
            </a:r>
            <a:r>
              <a:rPr lang="en-US" sz="1400" dirty="0">
                <a:solidFill>
                  <a:srgbClr val="002060"/>
                </a:solidFill>
                <a:latin typeface="Consolas"/>
              </a:rPr>
              <a:t> </a:t>
            </a:r>
            <a:r>
              <a:rPr lang="en-US" sz="1400" dirty="0">
                <a:latin typeface="Consolas"/>
              </a:rPr>
              <a:t>(</a:t>
            </a:r>
            <a:r>
              <a:rPr lang="en-US" sz="1400" dirty="0">
                <a:solidFill>
                  <a:srgbClr val="C00000"/>
                </a:solidFill>
                <a:latin typeface="Consolas"/>
              </a:rPr>
              <a:t>"NYC has %hu boroughs.\n"</a:t>
            </a:r>
            <a:r>
              <a:rPr lang="en-US" sz="1400" dirty="0">
                <a:latin typeface="Consolas"/>
              </a:rPr>
              <a:t>,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3BB0"/>
                </a:solidFill>
                <a:latin typeface="Consolas"/>
              </a:rPr>
              <a:t>boroughs</a:t>
            </a:r>
            <a:r>
              <a:rPr lang="en-US" sz="1400" dirty="0">
                <a:latin typeface="Consolas"/>
              </a:rPr>
              <a:t>);</a:t>
            </a:r>
          </a:p>
          <a:p>
            <a:endParaRPr lang="en-US" sz="1400" dirty="0">
              <a:solidFill>
                <a:srgbClr val="0070C0"/>
              </a:solidFill>
              <a:latin typeface="Consolas"/>
            </a:endParaRPr>
          </a:p>
          <a:p>
            <a:r>
              <a:rPr lang="en-US" sz="1400" dirty="0">
                <a:solidFill>
                  <a:srgbClr val="0070C0"/>
                </a:solidFill>
                <a:latin typeface="Consolas"/>
              </a:rPr>
              <a:t>       </a:t>
            </a:r>
            <a:r>
              <a:rPr lang="en-US" sz="1400" b="1" dirty="0">
                <a:solidFill>
                  <a:srgbClr val="229A86"/>
                </a:solidFill>
                <a:latin typeface="Consolas"/>
              </a:rPr>
              <a:t>if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dirty="0">
                <a:latin typeface="Consolas"/>
              </a:rPr>
              <a:t>(</a:t>
            </a:r>
            <a:r>
              <a:rPr lang="en-US" sz="1400" dirty="0" err="1">
                <a:solidFill>
                  <a:srgbClr val="003BB0"/>
                </a:solidFill>
                <a:latin typeface="Consolas"/>
              </a:rPr>
              <a:t>atexit</a:t>
            </a:r>
            <a:r>
              <a:rPr lang="en-US" sz="1400" dirty="0">
                <a:solidFill>
                  <a:srgbClr val="002060"/>
                </a:solidFill>
                <a:latin typeface="Consolas"/>
              </a:rPr>
              <a:t> </a:t>
            </a:r>
            <a:r>
              <a:rPr lang="en-US" sz="1400" dirty="0">
                <a:latin typeface="Consolas"/>
              </a:rPr>
              <a:t>(</a:t>
            </a:r>
            <a:r>
              <a:rPr lang="en-US" sz="1400" dirty="0">
                <a:solidFill>
                  <a:srgbClr val="003BB0"/>
                </a:solidFill>
                <a:latin typeface="Consolas"/>
              </a:rPr>
              <a:t>bye</a:t>
            </a:r>
            <a:r>
              <a:rPr lang="en-US" sz="1400" dirty="0">
                <a:latin typeface="Consolas"/>
              </a:rPr>
              <a:t>)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dirty="0">
                <a:latin typeface="Consolas"/>
              </a:rPr>
              <a:t>!=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0</a:t>
            </a:r>
            <a:r>
              <a:rPr lang="en-US" sz="1400" dirty="0">
                <a:latin typeface="Consolas"/>
              </a:rPr>
              <a:t>)</a:t>
            </a:r>
          </a:p>
          <a:p>
            <a:r>
              <a:rPr lang="en-US" sz="1400" dirty="0">
                <a:solidFill>
                  <a:srgbClr val="0070C0"/>
                </a:solidFill>
                <a:latin typeface="Consolas"/>
              </a:rPr>
              <a:t>       </a:t>
            </a:r>
            <a:r>
              <a:rPr lang="en-US" sz="1400" dirty="0">
                <a:latin typeface="Consolas"/>
              </a:rPr>
              <a:t>{</a:t>
            </a:r>
          </a:p>
          <a:p>
            <a:r>
              <a:rPr lang="en-US" sz="1400" dirty="0">
                <a:solidFill>
                  <a:srgbClr val="0070C0"/>
                </a:solidFill>
                <a:latin typeface="Consolas"/>
              </a:rPr>
              <a:t>            </a:t>
            </a:r>
            <a:r>
              <a:rPr lang="en-US" sz="1400" dirty="0" err="1">
                <a:solidFill>
                  <a:srgbClr val="003BB0"/>
                </a:solidFill>
                <a:latin typeface="Consolas"/>
              </a:rPr>
              <a:t>fprintf</a:t>
            </a:r>
            <a:r>
              <a:rPr lang="en-US" sz="1400" dirty="0">
                <a:solidFill>
                  <a:srgbClr val="002060"/>
                </a:solidFill>
                <a:latin typeface="Consolas"/>
              </a:rPr>
              <a:t> </a:t>
            </a:r>
            <a:r>
              <a:rPr lang="en-US" sz="1400" dirty="0">
                <a:latin typeface="Consolas"/>
              </a:rPr>
              <a:t>(</a:t>
            </a:r>
            <a:r>
              <a:rPr lang="en-US" sz="1400" dirty="0">
                <a:solidFill>
                  <a:srgbClr val="003BB0"/>
                </a:solidFill>
                <a:latin typeface="Consolas"/>
              </a:rPr>
              <a:t>stderr</a:t>
            </a:r>
            <a:r>
              <a:rPr lang="en-US" sz="1400" dirty="0">
                <a:latin typeface="Consolas"/>
              </a:rPr>
              <a:t>,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C00000"/>
                </a:solidFill>
                <a:latin typeface="Consolas"/>
              </a:rPr>
              <a:t>"Cannot register function!\n"</a:t>
            </a:r>
            <a:r>
              <a:rPr lang="en-US" sz="1400" dirty="0">
                <a:latin typeface="Consolas"/>
              </a:rPr>
              <a:t>);</a:t>
            </a:r>
          </a:p>
          <a:p>
            <a:r>
              <a:rPr lang="en-US" sz="1400" dirty="0">
                <a:solidFill>
                  <a:srgbClr val="0070C0"/>
                </a:solidFill>
                <a:latin typeface="Consolas"/>
              </a:rPr>
              <a:t>            </a:t>
            </a:r>
            <a:r>
              <a:rPr lang="en-US" sz="1400" dirty="0">
                <a:solidFill>
                  <a:srgbClr val="003BB0"/>
                </a:solidFill>
                <a:latin typeface="Consolas"/>
              </a:rPr>
              <a:t>exit</a:t>
            </a:r>
            <a:r>
              <a:rPr lang="en-US" sz="1400" dirty="0">
                <a:solidFill>
                  <a:srgbClr val="002060"/>
                </a:solidFill>
                <a:latin typeface="Consolas"/>
              </a:rPr>
              <a:t> </a:t>
            </a:r>
            <a:r>
              <a:rPr lang="en-US" sz="1400" dirty="0">
                <a:latin typeface="Consolas"/>
              </a:rPr>
              <a:t>(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EXIT_FAILURE</a:t>
            </a:r>
            <a:r>
              <a:rPr lang="en-US" sz="1400" dirty="0">
                <a:latin typeface="Consolas"/>
              </a:rPr>
              <a:t>);</a:t>
            </a:r>
          </a:p>
          <a:p>
            <a:r>
              <a:rPr lang="en-US" sz="1400" dirty="0">
                <a:solidFill>
                  <a:srgbClr val="0070C0"/>
                </a:solidFill>
                <a:latin typeface="Consolas"/>
              </a:rPr>
              <a:t>       </a:t>
            </a:r>
            <a:r>
              <a:rPr lang="en-US" sz="1400" dirty="0">
                <a:latin typeface="Consolas"/>
              </a:rPr>
              <a:t>}</a:t>
            </a:r>
          </a:p>
          <a:p>
            <a:endParaRPr lang="en-US" sz="1400" dirty="0">
              <a:solidFill>
                <a:srgbClr val="0070C0"/>
              </a:solidFill>
              <a:latin typeface="Consolas"/>
            </a:endParaRPr>
          </a:p>
          <a:p>
            <a:r>
              <a:rPr lang="en-US" sz="1400" dirty="0">
                <a:solidFill>
                  <a:srgbClr val="0070C0"/>
                </a:solidFill>
                <a:latin typeface="Consolas"/>
              </a:rPr>
              <a:t>       </a:t>
            </a:r>
            <a:r>
              <a:rPr lang="en-US" sz="1400" dirty="0">
                <a:solidFill>
                  <a:srgbClr val="003BB0"/>
                </a:solidFill>
                <a:latin typeface="Consolas"/>
              </a:rPr>
              <a:t>exit</a:t>
            </a:r>
            <a:r>
              <a:rPr lang="en-US" sz="1400" dirty="0">
                <a:solidFill>
                  <a:srgbClr val="002060"/>
                </a:solidFill>
                <a:latin typeface="Consolas"/>
              </a:rPr>
              <a:t> </a:t>
            </a:r>
            <a:r>
              <a:rPr lang="en-US" sz="1400" dirty="0">
                <a:latin typeface="Consolas"/>
              </a:rPr>
              <a:t>(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EXIT_SUCCESS</a:t>
            </a:r>
            <a:r>
              <a:rPr lang="en-US" sz="1400" dirty="0">
                <a:latin typeface="Consolas"/>
              </a:rPr>
              <a:t>);</a:t>
            </a:r>
            <a:r>
              <a:rPr lang="en-US" sz="1400" dirty="0">
                <a:solidFill>
                  <a:srgbClr val="0070C0"/>
                </a:solidFill>
                <a:latin typeface="Consolas"/>
              </a:rPr>
              <a:t> </a:t>
            </a:r>
            <a:r>
              <a:rPr lang="en-US" sz="1400" i="1" dirty="0">
                <a:latin typeface="Consolas"/>
              </a:rPr>
              <a:t>// </a:t>
            </a:r>
            <a:r>
              <a:rPr lang="en-US" sz="1400" i="1" dirty="0">
                <a:solidFill>
                  <a:srgbClr val="FF00FF"/>
                </a:solidFill>
                <a:latin typeface="Consolas"/>
              </a:rPr>
              <a:t>bye()</a:t>
            </a:r>
            <a:r>
              <a:rPr lang="en-US" sz="1400" i="1" dirty="0">
                <a:latin typeface="Consolas"/>
              </a:rPr>
              <a:t> will be called here!</a:t>
            </a:r>
          </a:p>
          <a:p>
            <a:r>
              <a:rPr lang="en-US"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8366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Waiting for </a:t>
            </a:r>
            <a:r>
              <a:rPr spc="-85" dirty="0"/>
              <a:t>Terminated </a:t>
            </a:r>
            <a:r>
              <a:rPr spc="-25" dirty="0"/>
              <a:t>Child</a:t>
            </a:r>
            <a:r>
              <a:rPr spc="-180" dirty="0"/>
              <a:t> </a:t>
            </a:r>
            <a:r>
              <a:rPr spc="-50" dirty="0"/>
              <a:t>Process</a:t>
            </a:r>
            <a:r>
              <a:rPr lang="en-US" spc="-50" dirty="0"/>
              <a:t>es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65757"/>
            <a:ext cx="11427461" cy="3940181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1382395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Generally</a:t>
            </a:r>
            <a:r>
              <a:rPr lang="en-US" sz="2600" spc="-5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parent </a:t>
            </a:r>
            <a:r>
              <a:rPr sz="2600" spc="-5" dirty="0">
                <a:latin typeface="Calibri"/>
                <a:cs typeface="Calibri"/>
              </a:rPr>
              <a:t>receives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SIGCHLD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lang="en-US" sz="2600" spc="-5" dirty="0">
                <a:latin typeface="Calibri"/>
                <a:cs typeface="Calibri"/>
              </a:rPr>
              <a:t>when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child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terminat</a:t>
            </a:r>
            <a:r>
              <a:rPr lang="en-US" sz="2600" spc="-5" dirty="0">
                <a:latin typeface="Calibri"/>
                <a:cs typeface="Calibri"/>
              </a:rPr>
              <a:t>es.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But </a:t>
            </a:r>
            <a:r>
              <a:rPr lang="en-US"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parent </a:t>
            </a:r>
            <a:r>
              <a:rPr sz="2600" spc="-15" dirty="0">
                <a:latin typeface="Calibri"/>
                <a:cs typeface="Calibri"/>
              </a:rPr>
              <a:t>may want to </a:t>
            </a:r>
            <a:r>
              <a:rPr sz="2600" spc="-10" dirty="0">
                <a:latin typeface="Calibri"/>
                <a:cs typeface="Calibri"/>
              </a:rPr>
              <a:t>obtain more </a:t>
            </a:r>
            <a:r>
              <a:rPr sz="2600" spc="-25" dirty="0">
                <a:latin typeface="Calibri"/>
                <a:cs typeface="Calibri"/>
              </a:rPr>
              <a:t>info, </a:t>
            </a:r>
            <a:r>
              <a:rPr sz="2600" dirty="0">
                <a:latin typeface="Calibri"/>
                <a:cs typeface="Calibri"/>
              </a:rPr>
              <a:t>such as the </a:t>
            </a:r>
            <a:r>
              <a:rPr sz="2600" spc="-20" dirty="0">
                <a:latin typeface="Calibri"/>
                <a:cs typeface="Calibri"/>
              </a:rPr>
              <a:t>child’s </a:t>
            </a:r>
            <a:r>
              <a:rPr sz="2600" spc="-5" dirty="0">
                <a:latin typeface="Calibri"/>
                <a:cs typeface="Calibri"/>
              </a:rPr>
              <a:t>return</a:t>
            </a:r>
            <a:r>
              <a:rPr sz="2600" spc="55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status.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By </a:t>
            </a:r>
            <a:r>
              <a:rPr sz="2600" spc="-5" dirty="0">
                <a:latin typeface="Calibri"/>
                <a:cs typeface="Calibri"/>
              </a:rPr>
              <a:t>design, </a:t>
            </a:r>
            <a:r>
              <a:rPr sz="2600" dirty="0">
                <a:latin typeface="Calibri"/>
                <a:cs typeface="Calibri"/>
              </a:rPr>
              <a:t>when a child </a:t>
            </a:r>
            <a:r>
              <a:rPr sz="2600" spc="-5" dirty="0">
                <a:latin typeface="Calibri"/>
                <a:cs typeface="Calibri"/>
              </a:rPr>
              <a:t>dies </a:t>
            </a:r>
            <a:r>
              <a:rPr sz="2600" spc="-20" dirty="0">
                <a:latin typeface="Calibri"/>
                <a:cs typeface="Calibri"/>
              </a:rPr>
              <a:t>before </a:t>
            </a:r>
            <a:r>
              <a:rPr sz="2600" dirty="0">
                <a:latin typeface="Calibri"/>
                <a:cs typeface="Calibri"/>
              </a:rPr>
              <a:t>its </a:t>
            </a:r>
            <a:r>
              <a:rPr sz="2600" spc="-10" dirty="0">
                <a:latin typeface="Calibri"/>
                <a:cs typeface="Calibri"/>
              </a:rPr>
              <a:t>parent,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dirty="0">
                <a:latin typeface="Calibri"/>
                <a:cs typeface="Calibri"/>
              </a:rPr>
              <a:t>puts the child </a:t>
            </a:r>
            <a:r>
              <a:rPr sz="2600" spc="-10" dirty="0">
                <a:latin typeface="Calibri"/>
                <a:cs typeface="Calibri"/>
              </a:rPr>
              <a:t>into </a:t>
            </a:r>
            <a:r>
              <a:rPr sz="2600" dirty="0">
                <a:latin typeface="Calibri"/>
                <a:cs typeface="Calibri"/>
              </a:rPr>
              <a:t>a  special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20" dirty="0">
                <a:latin typeface="Calibri"/>
                <a:cs typeface="Calibri"/>
              </a:rPr>
              <a:t>state </a:t>
            </a:r>
            <a:r>
              <a:rPr sz="2600" spc="-5" dirty="0">
                <a:latin typeface="Calibri"/>
                <a:cs typeface="Calibri"/>
              </a:rPr>
              <a:t>(known </a:t>
            </a:r>
            <a:r>
              <a:rPr sz="2600" dirty="0">
                <a:latin typeface="Calibri"/>
                <a:cs typeface="Calibri"/>
              </a:rPr>
              <a:t>as a </a:t>
            </a:r>
            <a:r>
              <a:rPr sz="2600" i="1" spc="-5" dirty="0">
                <a:latin typeface="Calibri"/>
                <a:cs typeface="Calibri"/>
              </a:rPr>
              <a:t>zombie</a:t>
            </a:r>
            <a:r>
              <a:rPr sz="2600" spc="-5" dirty="0">
                <a:latin typeface="Calibri"/>
                <a:cs typeface="Calibri"/>
              </a:rPr>
              <a:t>)</a:t>
            </a:r>
            <a:r>
              <a:rPr lang="en-US" sz="2600" spc="-5" dirty="0">
                <a:latin typeface="Calibri"/>
                <a:cs typeface="Calibri"/>
              </a:rPr>
              <a:t> since the child is supposed at this moment to be terminated but is still alive (and hence the name zombie!)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 </a:t>
            </a:r>
            <a:r>
              <a:rPr sz="2600" spc="-15" dirty="0">
                <a:latin typeface="Calibri"/>
                <a:cs typeface="Calibri"/>
              </a:rPr>
              <a:t>zombie </a:t>
            </a:r>
            <a:r>
              <a:rPr sz="2600" spc="-5" dirty="0">
                <a:latin typeface="Calibri"/>
                <a:cs typeface="Calibri"/>
              </a:rPr>
              <a:t>waits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its </a:t>
            </a:r>
            <a:r>
              <a:rPr sz="2600" spc="-10" dirty="0">
                <a:latin typeface="Calibri"/>
                <a:cs typeface="Calibri"/>
              </a:rPr>
              <a:t>parent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20" dirty="0">
                <a:latin typeface="Calibri"/>
                <a:cs typeface="Calibri"/>
              </a:rPr>
              <a:t>make </a:t>
            </a:r>
            <a:r>
              <a:rPr sz="2600" dirty="0">
                <a:latin typeface="Calibri"/>
                <a:cs typeface="Calibri"/>
              </a:rPr>
              <a:t>an inquiry about its </a:t>
            </a:r>
            <a:r>
              <a:rPr sz="2600" spc="-15" dirty="0">
                <a:latin typeface="Calibri"/>
                <a:cs typeface="Calibri"/>
              </a:rPr>
              <a:t>status </a:t>
            </a:r>
            <a:r>
              <a:rPr sz="2600" spc="-5" dirty="0">
                <a:latin typeface="Calibri"/>
                <a:cs typeface="Calibri"/>
              </a:rPr>
              <a:t>(known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</a:p>
          <a:p>
            <a:pPr marL="241300">
              <a:lnSpc>
                <a:spcPts val="2810"/>
              </a:lnSpc>
            </a:pPr>
            <a:r>
              <a:rPr sz="2600" i="1" dirty="0">
                <a:latin typeface="Calibri"/>
                <a:cs typeface="Calibri"/>
              </a:rPr>
              <a:t>waiting on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lang="en-US" sz="2600" spc="-15" dirty="0">
                <a:latin typeface="Calibri"/>
                <a:cs typeface="Calibri"/>
              </a:rPr>
              <a:t>child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r>
              <a:rPr sz="2600" spc="-10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  <a:p>
            <a:pPr marL="241300" marR="68072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Only </a:t>
            </a:r>
            <a:r>
              <a:rPr sz="2600" spc="-10" dirty="0">
                <a:latin typeface="Calibri"/>
                <a:cs typeface="Calibri"/>
              </a:rPr>
              <a:t>after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parent obtains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20" dirty="0">
                <a:latin typeface="Calibri"/>
                <a:cs typeface="Calibri"/>
              </a:rPr>
              <a:t>info</a:t>
            </a:r>
            <a:r>
              <a:rPr lang="en-US" sz="2600" spc="-20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zombie formally </a:t>
            </a:r>
            <a:r>
              <a:rPr sz="2600" spc="-10" dirty="0">
                <a:latin typeface="Calibri"/>
                <a:cs typeface="Calibri"/>
              </a:rPr>
              <a:t>exit</a:t>
            </a:r>
            <a:r>
              <a:rPr lang="en-US" sz="2600" spc="-1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 cease</a:t>
            </a:r>
            <a:r>
              <a:rPr lang="en-US" sz="2600" dirty="0">
                <a:latin typeface="Calibri"/>
                <a:cs typeface="Calibri"/>
              </a:rPr>
              <a:t>s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exist</a:t>
            </a:r>
            <a:r>
              <a:rPr lang="en-US" sz="2600" spc="-1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Linux provides </a:t>
            </a:r>
            <a:r>
              <a:rPr sz="2600" spc="-10" dirty="0">
                <a:latin typeface="Calibri"/>
                <a:cs typeface="Calibri"/>
              </a:rPr>
              <a:t>several </a:t>
            </a:r>
            <a:r>
              <a:rPr sz="2600" spc="-25" dirty="0">
                <a:latin typeface="Calibri"/>
                <a:cs typeface="Calibri"/>
              </a:rPr>
              <a:t>ways for </a:t>
            </a:r>
            <a:r>
              <a:rPr sz="2600" dirty="0">
                <a:latin typeface="Calibri"/>
                <a:cs typeface="Calibri"/>
              </a:rPr>
              <a:t>waiting, </a:t>
            </a:r>
            <a:r>
              <a:rPr lang="en-US" sz="2600" dirty="0">
                <a:latin typeface="Calibri"/>
                <a:cs typeface="Calibri"/>
              </a:rPr>
              <a:t>with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simplest being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wait(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2" descr="Image result for zombie cartoon">
            <a:extLst>
              <a:ext uri="{FF2B5EF4-FFF2-40B4-BE49-F238E27FC236}">
                <a16:creationId xmlns:a16="http://schemas.microsoft.com/office/drawing/2014/main" id="{75FE6512-3016-4EF4-B92B-D6C79182E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3" y="2712244"/>
            <a:ext cx="890286" cy="143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297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wait()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70633"/>
            <a:ext cx="10360661" cy="310706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469900" marR="5991860">
              <a:lnSpc>
                <a:spcPct val="91900"/>
              </a:lnSpc>
              <a:spcBef>
                <a:spcPts val="280"/>
              </a:spcBef>
              <a:spcAft>
                <a:spcPts val="600"/>
              </a:spcAft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 &lt;sys/types.h&gt;  #include &lt;sys/wait.h&gt; </a:t>
            </a:r>
            <a:endParaRPr lang="en-US"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5991860">
              <a:lnSpc>
                <a:spcPct val="91900"/>
              </a:lnSpc>
              <a:spcBef>
                <a:spcPts val="280"/>
              </a:spcBef>
            </a:pPr>
            <a:r>
              <a:rPr sz="1900" spc="-5" dirty="0" err="1">
                <a:solidFill>
                  <a:srgbClr val="0070C0"/>
                </a:solidFill>
                <a:latin typeface="Consolas"/>
                <a:cs typeface="Consolas"/>
              </a:rPr>
              <a:t>pid_t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wait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900" b="1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*status);</a:t>
            </a: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returns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600" spc="-5" dirty="0">
                <a:latin typeface="Calibri"/>
                <a:cs typeface="Calibri"/>
              </a:rPr>
              <a:t> of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terminated </a:t>
            </a:r>
            <a:r>
              <a:rPr sz="2600" dirty="0">
                <a:latin typeface="Calibri"/>
                <a:cs typeface="Calibri"/>
              </a:rPr>
              <a:t>child, </a:t>
            </a:r>
            <a:r>
              <a:rPr sz="2600" spc="-5" dirty="0">
                <a:latin typeface="Calibri"/>
                <a:cs typeface="Calibri"/>
              </a:rPr>
              <a:t>or -1 on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error</a:t>
            </a:r>
            <a:r>
              <a:rPr lang="en-US" sz="2600" spc="-10" dirty="0">
                <a:latin typeface="Calibri"/>
                <a:cs typeface="Calibri"/>
              </a:rPr>
              <a:t> and sets 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1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blocks </a:t>
            </a:r>
            <a:r>
              <a:rPr sz="2600" dirty="0">
                <a:latin typeface="Calibri"/>
                <a:cs typeface="Calibri"/>
              </a:rPr>
              <a:t>if no child </a:t>
            </a:r>
            <a:r>
              <a:rPr sz="2600" spc="-5" dirty="0">
                <a:latin typeface="Calibri"/>
                <a:cs typeface="Calibri"/>
              </a:rPr>
              <a:t>has terminated</a:t>
            </a:r>
            <a:r>
              <a:rPr lang="en-US" sz="2600" spc="-5" dirty="0">
                <a:latin typeface="Calibri"/>
                <a:cs typeface="Calibri"/>
              </a:rPr>
              <a:t> yet or </a:t>
            </a:r>
            <a:r>
              <a:rPr sz="2600" spc="-5" dirty="0">
                <a:latin typeface="Calibri"/>
                <a:cs typeface="Calibri"/>
              </a:rPr>
              <a:t>returns immediately </a:t>
            </a:r>
            <a:r>
              <a:rPr lang="en-US" sz="2600" dirty="0">
                <a:latin typeface="Calibri"/>
                <a:cs typeface="Calibri"/>
              </a:rPr>
              <a:t>if some child did terminate and the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SIGCHILD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signal wa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received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0604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If </a:t>
            </a:r>
            <a:r>
              <a:rPr lang="en-US" sz="2600" dirty="0">
                <a:latin typeface="Calibri"/>
                <a:cs typeface="Calibri"/>
              </a:rPr>
              <a:t>it is </a:t>
            </a:r>
            <a:r>
              <a:rPr sz="2600" spc="-5" dirty="0">
                <a:latin typeface="Calibri"/>
                <a:cs typeface="Calibri"/>
              </a:rPr>
              <a:t>not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600" spc="5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status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pointer contains </a:t>
            </a:r>
            <a:r>
              <a:rPr sz="2600" dirty="0">
                <a:latin typeface="Calibri"/>
                <a:cs typeface="Calibri"/>
              </a:rPr>
              <a:t>additional </a:t>
            </a:r>
            <a:r>
              <a:rPr sz="2600" spc="-20" dirty="0">
                <a:latin typeface="Calibri"/>
                <a:cs typeface="Calibri"/>
              </a:rPr>
              <a:t>info </a:t>
            </a:r>
            <a:r>
              <a:rPr sz="2600" dirty="0">
                <a:latin typeface="Calibri"/>
                <a:cs typeface="Calibri"/>
              </a:rPr>
              <a:t>about the child,  which </a:t>
            </a:r>
            <a:r>
              <a:rPr sz="2600" spc="-5" dirty="0">
                <a:latin typeface="Calibri"/>
                <a:cs typeface="Calibri"/>
              </a:rPr>
              <a:t>can be obtained </a:t>
            </a:r>
            <a:r>
              <a:rPr sz="2600" dirty="0">
                <a:latin typeface="Calibri"/>
                <a:cs typeface="Calibri"/>
              </a:rPr>
              <a:t>via a </a:t>
            </a:r>
            <a:r>
              <a:rPr sz="2600" spc="-10" dirty="0">
                <a:latin typeface="Calibri"/>
                <a:cs typeface="Calibri"/>
              </a:rPr>
              <a:t>family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macros</a:t>
            </a:r>
            <a:r>
              <a:rPr lang="en-US" sz="2600" spc="-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ts val="2185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&lt;sys/wait.h&gt;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394" y="4800600"/>
            <a:ext cx="3519170" cy="8845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ct val="90800"/>
              </a:lnSpc>
              <a:spcBef>
                <a:spcPts val="3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WIFEXITED (status);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WIFSIGNALED (status);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WIFSTOPPED</a:t>
            </a:r>
            <a:r>
              <a:rPr sz="20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(status);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3975" y="4754245"/>
            <a:ext cx="3518535" cy="8845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ct val="90800"/>
              </a:lnSpc>
              <a:spcBef>
                <a:spcPts val="3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WEXITSTATUS (status);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WTERMSIG (status);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WSTOPSIG</a:t>
            </a:r>
            <a:r>
              <a:rPr sz="20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(status);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4394" y="5619674"/>
            <a:ext cx="8268334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50"/>
              </a:lnSpc>
              <a:spcBef>
                <a:spcPts val="100"/>
              </a:spcBef>
              <a:tabLst>
                <a:tab pos="5041900" algn="l"/>
              </a:tabLst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WIFCONTINUED</a:t>
            </a:r>
            <a:r>
              <a:rPr sz="2000" spc="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(status);</a:t>
            </a:r>
            <a:r>
              <a:rPr sz="2000" spc="-5" dirty="0">
                <a:solidFill>
                  <a:srgbClr val="00AFEF"/>
                </a:solidFill>
                <a:latin typeface="Consolas"/>
                <a:cs typeface="Consolas"/>
              </a:rPr>
              <a:t>	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WCOREDUMP</a:t>
            </a:r>
            <a:r>
              <a:rPr sz="2000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(status);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ts val="249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30" dirty="0">
                <a:latin typeface="Calibri"/>
                <a:cs typeface="Calibri"/>
              </a:rPr>
              <a:t>Refer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book </a:t>
            </a:r>
            <a:r>
              <a:rPr lang="en-US" sz="2200" spc="-5" dirty="0">
                <a:latin typeface="Calibri"/>
                <a:cs typeface="Calibri"/>
              </a:rPr>
              <a:t>at pages 152-153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details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lang="en-US" sz="2200" spc="-5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 these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macros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5694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 </a:t>
            </a:r>
            <a:r>
              <a:rPr spc="-15" dirty="0"/>
              <a:t>of</a:t>
            </a:r>
            <a:r>
              <a:rPr spc="-190" dirty="0"/>
              <a:t> </a:t>
            </a:r>
            <a:r>
              <a:rPr sz="40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endParaRPr spc="-3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802333"/>
            <a:ext cx="543941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4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program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fork</a:t>
            </a:r>
            <a:r>
              <a:rPr sz="2400" spc="-20" dirty="0">
                <a:latin typeface="Calibri"/>
                <a:cs typeface="Calibri"/>
              </a:rPr>
              <a:t>s </a:t>
            </a:r>
            <a:r>
              <a:rPr sz="2400" dirty="0">
                <a:latin typeface="Calibri"/>
                <a:cs typeface="Calibri"/>
              </a:rPr>
              <a:t>a child which</a:t>
            </a:r>
          </a:p>
          <a:p>
            <a:pPr marL="241300">
              <a:lnSpc>
                <a:spcPts val="2740"/>
              </a:lnSpc>
            </a:pPr>
            <a:r>
              <a:rPr sz="2400" spc="-5" dirty="0">
                <a:latin typeface="Calibri"/>
                <a:cs typeface="Calibri"/>
              </a:rPr>
              <a:t>immediately </a:t>
            </a:r>
            <a:r>
              <a:rPr sz="2400" spc="-10" dirty="0">
                <a:latin typeface="Calibri"/>
                <a:cs typeface="Calibri"/>
              </a:rPr>
              <a:t>exits</a:t>
            </a:r>
            <a:r>
              <a:rPr lang="en-US" sz="2400" spc="-10" dirty="0">
                <a:latin typeface="Calibri"/>
                <a:cs typeface="Calibri"/>
              </a:rPr>
              <a:t> via </a:t>
            </a:r>
            <a:r>
              <a:rPr lang="en-US"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return 1;</a:t>
            </a:r>
            <a:r>
              <a:rPr lang="en-US" sz="2400" spc="-10" dirty="0">
                <a:latin typeface="Calibri"/>
                <a:cs typeface="Calibri"/>
              </a:rPr>
              <a:t> since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lang="en-US" sz="2400" dirty="0">
                <a:latin typeface="Calibri"/>
                <a:cs typeface="Calibri"/>
              </a:rPr>
              <a:t> inside the child.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59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syscall </a:t>
            </a:r>
            <a:r>
              <a:rPr sz="2400" spc="-5" dirty="0">
                <a:latin typeface="Calibri"/>
                <a:cs typeface="Calibri"/>
              </a:rPr>
              <a:t>determines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status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its child and </a:t>
            </a:r>
            <a:r>
              <a:rPr sz="2400" spc="-5" dirty="0">
                <a:latin typeface="Calibri"/>
                <a:cs typeface="Calibri"/>
              </a:rPr>
              <a:t>prints </a:t>
            </a:r>
            <a:r>
              <a:rPr sz="2400" spc="-10" dirty="0">
                <a:latin typeface="Calibri"/>
                <a:cs typeface="Calibri"/>
              </a:rPr>
              <a:t>how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die</a:t>
            </a:r>
            <a:r>
              <a:rPr lang="en-US" sz="2400" spc="-5" dirty="0">
                <a:latin typeface="Calibri"/>
                <a:cs typeface="Calibri"/>
              </a:rPr>
              <a:t>d.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851508"/>
            <a:ext cx="5636261" cy="711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If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child calls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abort()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send</a:t>
            </a:r>
            <a:r>
              <a:rPr lang="en-US" sz="2400" spc="-5" dirty="0">
                <a:latin typeface="Calibri"/>
                <a:cs typeface="Calibri"/>
              </a:rPr>
              <a:t>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 parent a </a:t>
            </a:r>
            <a:r>
              <a:rPr sz="22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SIGABRT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signal, we’ll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see:</a:t>
            </a:r>
          </a:p>
        </p:txBody>
      </p:sp>
      <p:sp>
        <p:nvSpPr>
          <p:cNvPr id="5" name="object 5"/>
          <p:cNvSpPr/>
          <p:nvPr/>
        </p:nvSpPr>
        <p:spPr>
          <a:xfrm>
            <a:off x="6633971" y="0"/>
            <a:ext cx="5269991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19616" y="3876089"/>
            <a:ext cx="3181712" cy="5435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96165" y="5761983"/>
            <a:ext cx="1542730" cy="5626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695574" y="6553200"/>
            <a:ext cx="3660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9751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Waiting for </a:t>
            </a:r>
            <a:r>
              <a:rPr dirty="0"/>
              <a:t>a </a:t>
            </a:r>
            <a:r>
              <a:rPr spc="-30" dirty="0"/>
              <a:t>Specific </a:t>
            </a:r>
            <a:r>
              <a:rPr spc="-50" dirty="0"/>
              <a:t>Process </a:t>
            </a:r>
            <a:r>
              <a:rPr dirty="0"/>
              <a:t>–</a:t>
            </a:r>
            <a:r>
              <a:rPr spc="-330" dirty="0"/>
              <a:t> </a:t>
            </a:r>
            <a:r>
              <a:rPr sz="4000" spc="-40" dirty="0">
                <a:latin typeface="Courier New" panose="02070309020205020404" pitchFamily="49" charset="0"/>
                <a:cs typeface="Courier New" panose="02070309020205020404" pitchFamily="49" charset="0"/>
              </a:rPr>
              <a:t>waitpid()</a:t>
            </a:r>
            <a:endParaRPr spc="-4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10665461" cy="44505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a </a:t>
            </a:r>
            <a:r>
              <a:rPr sz="2800" spc="-15" dirty="0">
                <a:latin typeface="Calibri"/>
                <a:cs typeface="Calibri"/>
              </a:rPr>
              <a:t>parent </a:t>
            </a:r>
            <a:r>
              <a:rPr sz="2800" spc="-5" dirty="0">
                <a:latin typeface="Calibri"/>
                <a:cs typeface="Calibri"/>
              </a:rPr>
              <a:t>has multiple </a:t>
            </a:r>
            <a:r>
              <a:rPr sz="2800" spc="-10" dirty="0">
                <a:latin typeface="Calibri"/>
                <a:cs typeface="Calibri"/>
              </a:rPr>
              <a:t>children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wants to </a:t>
            </a:r>
            <a:r>
              <a:rPr sz="2800" spc="-10" dirty="0">
                <a:latin typeface="Calibri"/>
                <a:cs typeface="Calibri"/>
              </a:rPr>
              <a:t>wait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a specific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2800" spc="-5" dirty="0">
                <a:latin typeface="Calibri"/>
                <a:cs typeface="Calibri"/>
              </a:rPr>
              <a:t>:</a:t>
            </a:r>
            <a:endParaRPr sz="2800" spc="-5" dirty="0">
              <a:latin typeface="Calibri"/>
              <a:cs typeface="Calibri"/>
            </a:endParaRPr>
          </a:p>
          <a:p>
            <a:pPr marL="469900" marR="6851650">
              <a:lnSpc>
                <a:spcPct val="100499"/>
              </a:lnSpc>
              <a:spcBef>
                <a:spcPts val="5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&lt;sys/types.h&gt; 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&lt;sys/wait.h&gt;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pid_t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waitpid (pid_t pid,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*status,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options);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ts val="3335"/>
              </a:lnSpc>
              <a:spcBef>
                <a:spcPts val="2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It’s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more powerful </a:t>
            </a:r>
            <a:r>
              <a:rPr sz="2800" spc="-15" dirty="0">
                <a:latin typeface="Calibri"/>
                <a:cs typeface="Calibri"/>
              </a:rPr>
              <a:t>version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sz="2800" spc="-5" dirty="0">
                <a:latin typeface="Calibri"/>
                <a:cs typeface="Calibri"/>
              </a:rPr>
              <a:t>; its </a:t>
            </a:r>
            <a:r>
              <a:rPr sz="2800" spc="-20" dirty="0">
                <a:latin typeface="Calibri"/>
                <a:cs typeface="Calibri"/>
              </a:rPr>
              <a:t>parameters </a:t>
            </a:r>
            <a:r>
              <a:rPr sz="2800" spc="-5" dirty="0">
                <a:latin typeface="Calibri"/>
                <a:cs typeface="Calibri"/>
              </a:rPr>
              <a:t>allow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fine-tuning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55"/>
              </a:lnSpc>
              <a:buClr>
                <a:schemeClr val="tx1"/>
              </a:buClr>
              <a:buFont typeface="Arial"/>
              <a:buChar char="•"/>
              <a:tabLst>
                <a:tab pos="699135" algn="l"/>
              </a:tabLst>
            </a:pPr>
            <a:r>
              <a:rPr sz="2000" spc="-5" dirty="0">
                <a:solidFill>
                  <a:srgbClr val="0070C0"/>
                </a:solidFill>
                <a:latin typeface="Consolas"/>
              </a:rPr>
              <a:t>pid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specifies </a:t>
            </a: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-5" dirty="0">
                <a:latin typeface="Calibri"/>
                <a:cs typeface="Calibri"/>
              </a:rPr>
              <a:t>process</a:t>
            </a:r>
            <a:r>
              <a:rPr lang="en-US" sz="2400" spc="-5" dirty="0">
                <a:latin typeface="Calibri"/>
                <a:cs typeface="Calibri"/>
              </a:rPr>
              <a:t>/processes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wait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lang="en-US" sz="2400" spc="-2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&lt;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-1: </a:t>
            </a:r>
            <a:r>
              <a:rPr sz="2000" spc="-10" dirty="0">
                <a:latin typeface="Calibri"/>
                <a:cs typeface="Calibri"/>
              </a:rPr>
              <a:t>wait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any </a:t>
            </a:r>
            <a:r>
              <a:rPr sz="2000" dirty="0">
                <a:latin typeface="Calibri"/>
                <a:cs typeface="Calibri"/>
              </a:rPr>
              <a:t>child </a:t>
            </a:r>
            <a:r>
              <a:rPr sz="2000" spc="-10" dirty="0">
                <a:latin typeface="Calibri"/>
                <a:cs typeface="Calibri"/>
              </a:rPr>
              <a:t>process </a:t>
            </a:r>
            <a:r>
              <a:rPr sz="2000" spc="-5" dirty="0">
                <a:latin typeface="Calibri"/>
                <a:cs typeface="Calibri"/>
              </a:rPr>
              <a:t>whose </a:t>
            </a:r>
            <a:r>
              <a:rPr sz="2000" i="1" spc="-5" dirty="0">
                <a:latin typeface="Calibri"/>
                <a:cs typeface="Calibri"/>
              </a:rPr>
              <a:t>process group </a:t>
            </a:r>
            <a:r>
              <a:rPr sz="2000" i="1" dirty="0">
                <a:latin typeface="Calibri"/>
                <a:cs typeface="Calibri"/>
              </a:rPr>
              <a:t>ID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|</a:t>
            </a:r>
            <a:r>
              <a:rPr spc="-5" dirty="0">
                <a:solidFill>
                  <a:srgbClr val="0070C0"/>
                </a:solidFill>
                <a:latin typeface="Consolas"/>
              </a:rPr>
              <a:t>pid</a:t>
            </a:r>
            <a:r>
              <a:rPr sz="2000" spc="-5" dirty="0">
                <a:latin typeface="Calibri"/>
                <a:cs typeface="Calibri"/>
              </a:rPr>
              <a:t>|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en-US" sz="2000" dirty="0">
                <a:latin typeface="Calibri"/>
                <a:cs typeface="Calibri"/>
              </a:rPr>
              <a:t>e.g., </a:t>
            </a:r>
            <a:r>
              <a:rPr sz="2000" dirty="0">
                <a:latin typeface="Calibri"/>
                <a:cs typeface="Calibri"/>
              </a:rPr>
              <a:t>-500 means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500</a:t>
            </a:r>
            <a:r>
              <a:rPr lang="en-US" sz="2000" dirty="0">
                <a:latin typeface="Calibri"/>
                <a:cs typeface="Calibri"/>
              </a:rPr>
              <a:t>.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-1: </a:t>
            </a:r>
            <a:r>
              <a:rPr sz="2000" spc="-10" dirty="0">
                <a:latin typeface="Calibri"/>
                <a:cs typeface="Calibri"/>
              </a:rPr>
              <a:t>wait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any </a:t>
            </a:r>
            <a:r>
              <a:rPr sz="2000" dirty="0">
                <a:latin typeface="Calibri"/>
                <a:cs typeface="Calibri"/>
              </a:rPr>
              <a:t>child </a:t>
            </a:r>
            <a:r>
              <a:rPr sz="2000" spc="-10" dirty="0">
                <a:latin typeface="Calibri"/>
                <a:cs typeface="Calibri"/>
              </a:rPr>
              <a:t>process </a:t>
            </a:r>
            <a:r>
              <a:rPr sz="2000" dirty="0">
                <a:latin typeface="Calibri"/>
                <a:cs typeface="Calibri"/>
              </a:rPr>
              <a:t>(the </a:t>
            </a:r>
            <a:r>
              <a:rPr sz="2000" spc="-5" dirty="0">
                <a:latin typeface="Calibri"/>
                <a:cs typeface="Calibri"/>
              </a:rPr>
              <a:t>same </a:t>
            </a:r>
            <a:r>
              <a:rPr lang="en-US" sz="2000" spc="-5" dirty="0">
                <a:latin typeface="Calibri"/>
                <a:cs typeface="Calibri"/>
              </a:rPr>
              <a:t>exact </a:t>
            </a:r>
            <a:r>
              <a:rPr sz="2000" spc="-10" dirty="0">
                <a:latin typeface="Calibri"/>
                <a:cs typeface="Calibri"/>
              </a:rPr>
              <a:t>behavior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sz="2000" dirty="0">
                <a:latin typeface="Calibri"/>
                <a:cs typeface="Calibri"/>
              </a:rPr>
              <a:t>.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0: </a:t>
            </a:r>
            <a:r>
              <a:rPr sz="2000" spc="-10" dirty="0">
                <a:latin typeface="Calibri"/>
                <a:cs typeface="Calibri"/>
              </a:rPr>
              <a:t>wait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any </a:t>
            </a:r>
            <a:r>
              <a:rPr sz="2000" dirty="0">
                <a:latin typeface="Calibri"/>
                <a:cs typeface="Calibri"/>
              </a:rPr>
              <a:t>child </a:t>
            </a:r>
            <a:r>
              <a:rPr sz="2000" spc="-10" dirty="0">
                <a:latin typeface="Calibri"/>
                <a:cs typeface="Calibri"/>
              </a:rPr>
              <a:t>process </a:t>
            </a:r>
            <a:r>
              <a:rPr sz="2000" spc="-5" dirty="0">
                <a:latin typeface="Calibri"/>
                <a:cs typeface="Calibri"/>
              </a:rPr>
              <a:t>that </a:t>
            </a:r>
            <a:r>
              <a:rPr sz="2000" dirty="0">
                <a:latin typeface="Calibri"/>
                <a:cs typeface="Calibri"/>
              </a:rPr>
              <a:t>belongs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same </a:t>
            </a:r>
            <a:r>
              <a:rPr sz="2000" spc="-10" dirty="0">
                <a:latin typeface="Calibri"/>
                <a:cs typeface="Calibri"/>
              </a:rPr>
              <a:t>process group </a:t>
            </a:r>
            <a:r>
              <a:rPr sz="2000" dirty="0">
                <a:latin typeface="Calibri"/>
                <a:cs typeface="Calibri"/>
              </a:rPr>
              <a:t>as the </a:t>
            </a:r>
            <a:r>
              <a:rPr lang="en-US" sz="2000" spc="-5" dirty="0">
                <a:latin typeface="Calibri"/>
                <a:cs typeface="Calibri"/>
              </a:rPr>
              <a:t>parent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2350"/>
              </a:lnSpc>
              <a:spcBef>
                <a:spcPts val="2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&gt;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0: </a:t>
            </a:r>
            <a:r>
              <a:rPr sz="2000" spc="-10" dirty="0">
                <a:latin typeface="Calibri"/>
                <a:cs typeface="Calibri"/>
              </a:rPr>
              <a:t>wait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any </a:t>
            </a:r>
            <a:r>
              <a:rPr sz="2000" dirty="0">
                <a:latin typeface="Calibri"/>
                <a:cs typeface="Calibri"/>
              </a:rPr>
              <a:t>child </a:t>
            </a:r>
            <a:r>
              <a:rPr sz="2000" spc="-10" dirty="0">
                <a:latin typeface="Calibri"/>
                <a:cs typeface="Calibri"/>
              </a:rPr>
              <a:t>process </a:t>
            </a:r>
            <a:r>
              <a:rPr sz="2000" spc="-5" dirty="0">
                <a:latin typeface="Calibri"/>
                <a:cs typeface="Calibri"/>
              </a:rPr>
              <a:t>with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20" dirty="0">
                <a:latin typeface="Calibri"/>
                <a:cs typeface="Calibri"/>
              </a:rPr>
              <a:t>exact </a:t>
            </a:r>
            <a:r>
              <a:rPr lang="en-US" sz="2000" spc="-20" dirty="0">
                <a:latin typeface="Calibri"/>
                <a:cs typeface="Calibri"/>
              </a:rPr>
              <a:t>process id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given</a:t>
            </a:r>
            <a:r>
              <a:rPr lang="en-US" sz="2000" spc="-5" dirty="0">
                <a:latin typeface="Calibri"/>
                <a:cs typeface="Calibri"/>
              </a:rPr>
              <a:t> in </a:t>
            </a:r>
            <a:r>
              <a:rPr lang="en-US" spc="-5" dirty="0" err="1">
                <a:solidFill>
                  <a:srgbClr val="0070C0"/>
                </a:solidFill>
                <a:latin typeface="Consolas"/>
              </a:rPr>
              <a:t>pid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spc="-5" dirty="0">
              <a:latin typeface="Calibri"/>
              <a:cs typeface="Calibri"/>
            </a:endParaRPr>
          </a:p>
          <a:p>
            <a:pPr marL="698500" lvl="1" indent="-229235">
              <a:lnSpc>
                <a:spcPts val="283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option</a:t>
            </a:r>
            <a:r>
              <a:rPr lang="en-US" sz="2000" spc="-5" dirty="0">
                <a:solidFill>
                  <a:srgbClr val="0070C0"/>
                </a:solidFill>
                <a:latin typeface="Consolas"/>
              </a:rPr>
              <a:t>s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parameter </a:t>
            </a:r>
            <a:r>
              <a:rPr sz="2400" dirty="0">
                <a:latin typeface="Calibri"/>
                <a:cs typeface="Calibri"/>
              </a:rPr>
              <a:t>is a </a:t>
            </a:r>
            <a:r>
              <a:rPr sz="2400" spc="-5" dirty="0">
                <a:latin typeface="Calibri"/>
                <a:cs typeface="Calibri"/>
              </a:rPr>
              <a:t>binary OR of </a:t>
            </a:r>
            <a:r>
              <a:rPr sz="2400" spc="-25" dirty="0">
                <a:latin typeface="Calibri"/>
                <a:cs typeface="Calibri"/>
              </a:rPr>
              <a:t>zero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0" dirty="0">
                <a:latin typeface="Calibri"/>
                <a:cs typeface="Calibri"/>
              </a:rPr>
              <a:t>more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following: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ts val="2160"/>
              </a:lnSpc>
              <a:spcBef>
                <a:spcPts val="3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WNOHANG</a:t>
            </a:r>
            <a:r>
              <a:rPr sz="2000" dirty="0">
                <a:latin typeface="Calibri"/>
                <a:cs typeface="Calibri"/>
              </a:rPr>
              <a:t> (do</a:t>
            </a:r>
            <a:r>
              <a:rPr lang="en-US" sz="2000" dirty="0">
                <a:latin typeface="Calibri"/>
                <a:cs typeface="Calibri"/>
              </a:rPr>
              <a:t>esn’t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block),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WUNTRACED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(sets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WIFSTOPPED</a:t>
            </a:r>
            <a:r>
              <a:rPr sz="2000" spc="-10" dirty="0">
                <a:latin typeface="Calibri"/>
                <a:cs typeface="Calibri"/>
              </a:rPr>
              <a:t>),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WCONTINUED</a:t>
            </a:r>
            <a:r>
              <a:rPr sz="2000" spc="-1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(sets</a:t>
            </a:r>
            <a:endParaRPr sz="2000" dirty="0">
              <a:latin typeface="Calibri"/>
              <a:cs typeface="Calibri"/>
            </a:endParaRPr>
          </a:p>
          <a:p>
            <a:pPr marL="1155700">
              <a:lnSpc>
                <a:spcPts val="2160"/>
              </a:lnSpc>
            </a:pP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WIFCONTINUED</a:t>
            </a:r>
            <a:r>
              <a:rPr sz="2000" spc="-5" dirty="0">
                <a:latin typeface="Calibri"/>
                <a:cs typeface="Calibri"/>
              </a:rPr>
              <a:t>)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Refer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book </a:t>
            </a:r>
            <a:r>
              <a:rPr lang="en-US" sz="2000" spc="-5" dirty="0">
                <a:latin typeface="Calibri"/>
                <a:cs typeface="Calibri"/>
              </a:rPr>
              <a:t>on page 155 </a:t>
            </a: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lang="en-US" sz="2000" spc="-55" dirty="0">
                <a:latin typeface="Calibri"/>
                <a:cs typeface="Calibri"/>
              </a:rPr>
              <a:t>more </a:t>
            </a:r>
            <a:r>
              <a:rPr sz="2000" spc="-10" dirty="0">
                <a:latin typeface="Calibri"/>
                <a:cs typeface="Calibri"/>
              </a:rPr>
              <a:t>detail</a:t>
            </a:r>
            <a:r>
              <a:rPr lang="en-US" sz="2000" spc="-10" dirty="0">
                <a:latin typeface="Calibri"/>
                <a:cs typeface="Calibri"/>
              </a:rPr>
              <a:t>s on these.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7218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spc="-15" dirty="0"/>
              <a:t>on</a:t>
            </a:r>
            <a:r>
              <a:rPr spc="-215" dirty="0"/>
              <a:t> </a:t>
            </a:r>
            <a:r>
              <a:rPr sz="4000" spc="-40" dirty="0">
                <a:latin typeface="Courier New" panose="02070309020205020404" pitchFamily="49" charset="0"/>
                <a:cs typeface="Courier New" panose="02070309020205020404" pitchFamily="49" charset="0"/>
              </a:rPr>
              <a:t>waitpid()</a:t>
            </a:r>
            <a:endParaRPr spc="-4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8" y="1759661"/>
            <a:ext cx="6008297" cy="479733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450215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success, 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the 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sz="2800" spc="-5" dirty="0">
                <a:latin typeface="Calibri"/>
                <a:cs typeface="Calibri"/>
              </a:rPr>
              <a:t>whose </a:t>
            </a:r>
            <a:r>
              <a:rPr sz="2800" spc="-25" dirty="0">
                <a:latin typeface="Calibri"/>
                <a:cs typeface="Calibri"/>
              </a:rPr>
              <a:t>state </a:t>
            </a:r>
            <a:r>
              <a:rPr sz="2800" spc="-5" dirty="0">
                <a:latin typeface="Calibri"/>
                <a:cs typeface="Calibri"/>
              </a:rPr>
              <a:t>has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changed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631190" lvl="1" indent="-228600">
              <a:lnSpc>
                <a:spcPts val="2300"/>
              </a:lnSpc>
              <a:spcBef>
                <a:spcPts val="52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WNOHANG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specified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no  child(ren) changed </a:t>
            </a:r>
            <a:r>
              <a:rPr sz="2400" spc="-20" dirty="0">
                <a:latin typeface="Calibri"/>
                <a:cs typeface="Calibri"/>
              </a:rPr>
              <a:t>state,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0" dirty="0">
                <a:latin typeface="Calibri"/>
                <a:cs typeface="Calibri"/>
              </a:rPr>
              <a:t>returns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5" dirty="0">
                <a:latin typeface="Calibri"/>
                <a:cs typeface="Calibri"/>
              </a:rPr>
              <a:t>error</a:t>
            </a:r>
            <a:r>
              <a:rPr lang="en-US" sz="2800" spc="-15" dirty="0">
                <a:latin typeface="Calibri"/>
                <a:cs typeface="Calibri"/>
              </a:rPr>
              <a:t>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-1</a:t>
            </a:r>
            <a:r>
              <a:rPr lang="en-US" sz="2800" spc="-5" dirty="0">
                <a:latin typeface="Calibri"/>
                <a:cs typeface="Calibri"/>
              </a:rPr>
              <a:t> and sets 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example </a:t>
            </a:r>
            <a:r>
              <a:rPr sz="2800" spc="-5" dirty="0">
                <a:latin typeface="Calibri"/>
                <a:cs typeface="Calibri"/>
              </a:rPr>
              <a:t>on the </a:t>
            </a:r>
            <a:r>
              <a:rPr sz="2800" spc="-10" dirty="0">
                <a:latin typeface="Calibri"/>
                <a:cs typeface="Calibri"/>
              </a:rPr>
              <a:t>right </a:t>
            </a:r>
            <a:r>
              <a:rPr sz="2800" spc="-5" dirty="0">
                <a:latin typeface="Calibri"/>
                <a:cs typeface="Calibri"/>
              </a:rPr>
              <a:t>assumes </a:t>
            </a:r>
            <a:r>
              <a:rPr sz="2800" spc="-15" dirty="0">
                <a:latin typeface="Calibri"/>
                <a:cs typeface="Calibri"/>
              </a:rPr>
              <a:t>your </a:t>
            </a:r>
            <a:r>
              <a:rPr sz="2800" spc="-20" dirty="0">
                <a:latin typeface="Calibri"/>
                <a:cs typeface="Calibri"/>
              </a:rPr>
              <a:t>program </a:t>
            </a:r>
            <a:r>
              <a:rPr sz="2800" spc="-15" dirty="0">
                <a:latin typeface="Calibri"/>
                <a:cs typeface="Calibri"/>
              </a:rPr>
              <a:t>wants to </a:t>
            </a:r>
            <a:r>
              <a:rPr lang="en-US" sz="2800" spc="-20" dirty="0">
                <a:latin typeface="Calibri"/>
                <a:cs typeface="Calibri"/>
              </a:rPr>
              <a:t>find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sz="2800" spc="-10" dirty="0">
                <a:latin typeface="Calibri"/>
                <a:cs typeface="Calibri"/>
              </a:rPr>
              <a:t>value </a:t>
            </a:r>
            <a:r>
              <a:rPr sz="2800" spc="-5" dirty="0">
                <a:latin typeface="Calibri"/>
                <a:cs typeface="Calibri"/>
              </a:rPr>
              <a:t>of a child with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800" spc="-10" dirty="0">
                <a:latin typeface="Calibri"/>
                <a:cs typeface="Calibri"/>
              </a:rPr>
              <a:t>=1742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88265" indent="-241300">
              <a:spcBef>
                <a:spcPts val="20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waitpid(-1,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&amp;status,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0)</a:t>
            </a:r>
            <a:r>
              <a:rPr sz="2400" spc="-5" dirty="0">
                <a:solidFill>
                  <a:srgbClr val="0070C0"/>
                </a:solidFill>
                <a:latin typeface="+mj-lt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equivalent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wait(&amp;status)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lang="en-US" sz="2400" spc="-15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241300" marR="88265" indent="-241300">
              <a:buFont typeface="Arial"/>
              <a:buChar char="•"/>
              <a:tabLst>
                <a:tab pos="241300" algn="l"/>
              </a:tabLst>
            </a:pPr>
            <a:r>
              <a:rPr lang="en-US" sz="2800" spc="-15" dirty="0">
                <a:latin typeface="Calibri"/>
                <a:cs typeface="Calibri"/>
              </a:rPr>
              <a:t>Above, </a:t>
            </a:r>
            <a:r>
              <a:rPr lang="en-US"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-1</a:t>
            </a:r>
            <a:r>
              <a:rPr lang="en-US" sz="2800" spc="-15" dirty="0">
                <a:latin typeface="Calibri"/>
                <a:cs typeface="Calibri"/>
              </a:rPr>
              <a:t> means any child, and </a:t>
            </a:r>
            <a:r>
              <a:rPr lang="en-US"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0</a:t>
            </a:r>
            <a:r>
              <a:rPr lang="en-US" sz="2800" spc="-15" dirty="0">
                <a:latin typeface="Calibri"/>
                <a:cs typeface="Calibri"/>
              </a:rPr>
              <a:t> means no special options requested.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42956" y="1968964"/>
            <a:ext cx="3159848" cy="7503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42956" y="2878197"/>
            <a:ext cx="5215373" cy="2638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0855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Launching </a:t>
            </a:r>
            <a:r>
              <a:rPr spc="-20" dirty="0"/>
              <a:t>and </a:t>
            </a:r>
            <a:r>
              <a:rPr spc="-50" dirty="0"/>
              <a:t>Waiting for </a:t>
            </a:r>
            <a:r>
              <a:rPr dirty="0"/>
              <a:t>a </a:t>
            </a:r>
            <a:r>
              <a:rPr spc="-30" dirty="0"/>
              <a:t>New</a:t>
            </a:r>
            <a:r>
              <a:rPr spc="-409" dirty="0"/>
              <a:t> </a:t>
            </a:r>
            <a:r>
              <a:rPr spc="-45" dirty="0"/>
              <a:t>Process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xfrm>
            <a:off x="916939" y="1759661"/>
            <a:ext cx="11046461" cy="4380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pc="-15" dirty="0"/>
              <a:t>Synchronous </a:t>
            </a:r>
            <a:r>
              <a:rPr spc="-10" dirty="0"/>
              <a:t>process creation (spawns </a:t>
            </a:r>
            <a:r>
              <a:rPr spc="-5" dirty="0"/>
              <a:t>then </a:t>
            </a:r>
            <a:r>
              <a:rPr spc="-10" dirty="0"/>
              <a:t>waits </a:t>
            </a:r>
            <a:r>
              <a:rPr spc="-25" dirty="0"/>
              <a:t>for </a:t>
            </a:r>
            <a:r>
              <a:rPr spc="-5" dirty="0"/>
              <a:t>a </a:t>
            </a:r>
            <a:r>
              <a:rPr spc="-10" dirty="0"/>
              <a:t>new</a:t>
            </a:r>
            <a:r>
              <a:rPr spc="305" dirty="0"/>
              <a:t> </a:t>
            </a:r>
            <a:r>
              <a:rPr spc="-10" dirty="0"/>
              <a:t>process</a:t>
            </a:r>
            <a:r>
              <a:rPr lang="en-US" spc="-10" dirty="0"/>
              <a:t>:</a:t>
            </a:r>
            <a:r>
              <a:rPr spc="-10" dirty="0"/>
              <a:t>)</a:t>
            </a:r>
          </a:p>
          <a:p>
            <a:pPr marL="469900">
              <a:lnSpc>
                <a:spcPct val="100000"/>
              </a:lnSpc>
              <a:spcBef>
                <a:spcPts val="6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#define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_XOPEN_SOURCE </a:t>
            </a:r>
            <a:r>
              <a:rPr sz="2000" dirty="0">
                <a:latin typeface="Consolas"/>
                <a:cs typeface="Consolas"/>
              </a:rPr>
              <a:t>/*</a:t>
            </a:r>
            <a:r>
              <a:rPr sz="2000" i="1" dirty="0">
                <a:latin typeface="Consolas"/>
                <a:cs typeface="Consolas"/>
              </a:rPr>
              <a:t> if </a:t>
            </a:r>
            <a:r>
              <a:rPr sz="2000" i="1" spc="-10" dirty="0">
                <a:latin typeface="Consolas"/>
                <a:cs typeface="Consolas"/>
              </a:rPr>
              <a:t>we </a:t>
            </a:r>
            <a:r>
              <a:rPr sz="2000" i="1" spc="-5" dirty="0">
                <a:latin typeface="Consolas"/>
                <a:cs typeface="Consolas"/>
              </a:rPr>
              <a:t>want WEXITSTATUS, etc.</a:t>
            </a:r>
            <a:r>
              <a:rPr sz="2000" i="1" spc="2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&lt;stdlib.h&gt;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system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</a:t>
            </a:r>
            <a:r>
              <a:rPr sz="2000" b="1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*command);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spc="-5" dirty="0">
                <a:latin typeface="Consolas"/>
                <a:cs typeface="Consolas"/>
              </a:rPr>
              <a:t>// </a:t>
            </a:r>
            <a:r>
              <a:rPr lang="en-US" sz="2000" i="1" spc="-5" dirty="0">
                <a:solidFill>
                  <a:srgbClr val="0070C0"/>
                </a:solidFill>
                <a:latin typeface="Consolas"/>
                <a:cs typeface="Consolas"/>
              </a:rPr>
              <a:t>command</a:t>
            </a:r>
            <a:r>
              <a:rPr lang="en-US" sz="2000" i="1" spc="-5" dirty="0">
                <a:latin typeface="Consolas"/>
                <a:cs typeface="Consolas"/>
              </a:rPr>
              <a:t> is a Linux terminal command.</a:t>
            </a:r>
            <a:endParaRPr sz="2000" i="1" dirty="0">
              <a:latin typeface="Consolas"/>
              <a:cs typeface="Consolas"/>
            </a:endParaRPr>
          </a:p>
          <a:p>
            <a:pPr marL="241300" marR="5080" indent="-228600">
              <a:lnSpc>
                <a:spcPts val="269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pc="-5" dirty="0"/>
              <a:t>Also </a:t>
            </a:r>
            <a:r>
              <a:rPr spc="-10" dirty="0"/>
              <a:t>called </a:t>
            </a:r>
            <a:r>
              <a:rPr i="1" spc="-10" dirty="0">
                <a:latin typeface="Calibri"/>
                <a:cs typeface="Calibri"/>
              </a:rPr>
              <a:t>shelling </a:t>
            </a:r>
            <a:r>
              <a:rPr i="1" spc="-5" dirty="0">
                <a:latin typeface="Calibri"/>
                <a:cs typeface="Calibri"/>
              </a:rPr>
              <a:t>out </a:t>
            </a:r>
            <a:r>
              <a:rPr i="1" spc="-25" dirty="0">
                <a:latin typeface="Calibri"/>
                <a:cs typeface="Calibri"/>
              </a:rPr>
              <a:t>to </a:t>
            </a:r>
            <a:r>
              <a:rPr i="1" spc="-5" dirty="0">
                <a:latin typeface="Calibri"/>
                <a:cs typeface="Calibri"/>
              </a:rPr>
              <a:t>the </a:t>
            </a:r>
            <a:r>
              <a:rPr i="1" spc="-25" dirty="0">
                <a:latin typeface="Calibri"/>
                <a:cs typeface="Calibri"/>
              </a:rPr>
              <a:t>system </a:t>
            </a:r>
            <a:r>
              <a:rPr spc="-5" dirty="0"/>
              <a:t>– </a:t>
            </a:r>
            <a:r>
              <a:rPr spc="-10" dirty="0"/>
              <a:t>run</a:t>
            </a:r>
            <a:r>
              <a:rPr lang="en-US" spc="-10" dirty="0"/>
              <a:t>s</a:t>
            </a:r>
            <a:r>
              <a:rPr spc="-10" dirty="0"/>
              <a:t> </a:t>
            </a:r>
            <a:r>
              <a:rPr spc="-5" dirty="0"/>
              <a:t>a </a:t>
            </a:r>
            <a:r>
              <a:rPr spc="-10" dirty="0"/>
              <a:t>simple </a:t>
            </a:r>
            <a:r>
              <a:rPr lang="en-US" spc="-15" dirty="0"/>
              <a:t>command</a:t>
            </a:r>
            <a:r>
              <a:rPr spc="-15" dirty="0"/>
              <a:t> </a:t>
            </a:r>
            <a:r>
              <a:rPr spc="-5" dirty="0"/>
              <a:t>with the </a:t>
            </a:r>
            <a:r>
              <a:rPr spc="-15" dirty="0"/>
              <a:t>explicit </a:t>
            </a:r>
            <a:r>
              <a:rPr spc="-10" dirty="0"/>
              <a:t>goal </a:t>
            </a:r>
            <a:r>
              <a:rPr spc="-5" dirty="0"/>
              <a:t>of </a:t>
            </a:r>
            <a:r>
              <a:rPr spc="-10" dirty="0"/>
              <a:t>obtaining </a:t>
            </a:r>
            <a:r>
              <a:rPr lang="en-US" spc="-5" dirty="0"/>
              <a:t>the command’s</a:t>
            </a:r>
            <a:r>
              <a:rPr spc="-5" dirty="0"/>
              <a:t> </a:t>
            </a:r>
            <a:r>
              <a:rPr spc="-15" dirty="0"/>
              <a:t>return</a:t>
            </a:r>
            <a:r>
              <a:rPr spc="130" dirty="0"/>
              <a:t> </a:t>
            </a:r>
            <a:r>
              <a:rPr spc="-10" dirty="0"/>
              <a:t>value</a:t>
            </a:r>
            <a:r>
              <a:rPr lang="en-US" spc="-10" dirty="0"/>
              <a:t>.</a:t>
            </a:r>
            <a:endParaRPr spc="-10" dirty="0"/>
          </a:p>
          <a:p>
            <a:pPr marL="241300" marR="518159" indent="-228600">
              <a:lnSpc>
                <a:spcPts val="269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pc="-5" dirty="0"/>
              <a:t>It’s the equivalent of typing</a:t>
            </a:r>
            <a:r>
              <a:rPr spc="-25" dirty="0"/>
              <a:t> </a:t>
            </a:r>
            <a:r>
              <a:rPr spc="-15" dirty="0"/>
              <a:t>“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/bin/sh –c command</a:t>
            </a:r>
            <a:r>
              <a:rPr spc="-40" dirty="0"/>
              <a:t>”</a:t>
            </a:r>
            <a:r>
              <a:rPr lang="en-US" spc="-40" dirty="0"/>
              <a:t> in the terminal</a:t>
            </a:r>
            <a:r>
              <a:rPr spc="-40" dirty="0"/>
              <a:t>, </a:t>
            </a:r>
            <a:r>
              <a:rPr spc="-10" dirty="0"/>
              <a:t>where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command</a:t>
            </a:r>
            <a:r>
              <a:rPr lang="en-US" sz="2400" i="1" spc="-10" dirty="0">
                <a:solidFill>
                  <a:srgbClr val="0070C0"/>
                </a:solidFill>
              </a:rPr>
              <a:t> </a:t>
            </a:r>
            <a:r>
              <a:rPr lang="en-US" spc="-5" dirty="0"/>
              <a:t>also consists of</a:t>
            </a:r>
            <a:r>
              <a:rPr spc="-5" dirty="0"/>
              <a:t> </a:t>
            </a:r>
            <a:r>
              <a:rPr lang="en-US" spc="-5" dirty="0"/>
              <a:t>any command-line arguments</a:t>
            </a:r>
            <a:r>
              <a:rPr lang="en-US" spc="-20" dirty="0"/>
              <a:t>.</a:t>
            </a:r>
            <a:endParaRPr spc="-20" dirty="0"/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pc="-10" dirty="0"/>
              <a:t>Returns </a:t>
            </a:r>
            <a:r>
              <a:rPr spc="-5" dirty="0"/>
              <a:t>the </a:t>
            </a:r>
            <a:r>
              <a:rPr spc="-20" dirty="0"/>
              <a:t>status </a:t>
            </a:r>
            <a:r>
              <a:rPr spc="-5" dirty="0"/>
              <a:t>of the </a:t>
            </a:r>
            <a:r>
              <a:rPr spc="-10" dirty="0"/>
              <a:t>command</a:t>
            </a:r>
            <a:r>
              <a:rPr lang="en-US" spc="-10" dirty="0"/>
              <a:t> </a:t>
            </a:r>
            <a:r>
              <a:rPr lang="en-US" spc="-5" dirty="0"/>
              <a:t>as </a:t>
            </a:r>
            <a:r>
              <a:rPr lang="en-US" spc="-15" dirty="0"/>
              <a:t>done in </a:t>
            </a:r>
            <a:r>
              <a:rPr lang="en-US" sz="2400" kern="1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spc="-5" dirty="0"/>
              <a:t> and</a:t>
            </a:r>
            <a:r>
              <a:rPr spc="-5" dirty="0"/>
              <a:t> -1 on </a:t>
            </a:r>
            <a:r>
              <a:rPr spc="-15" dirty="0"/>
              <a:t>error</a:t>
            </a:r>
            <a:r>
              <a:rPr lang="en-US" spc="-15" dirty="0"/>
              <a:t>.</a:t>
            </a:r>
            <a:endParaRPr spc="-15" dirty="0"/>
          </a:p>
          <a:p>
            <a:pPr marL="241300" marR="104330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pc="-5" dirty="0"/>
              <a:t>If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command</a:t>
            </a:r>
            <a:r>
              <a:rPr spc="-10" dirty="0"/>
              <a:t> </a:t>
            </a:r>
            <a:r>
              <a:rPr spc="-5" dirty="0"/>
              <a:t>is </a:t>
            </a:r>
            <a:r>
              <a:rPr sz="2400" kern="1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dirty="0"/>
              <a:t>, </a:t>
            </a:r>
            <a:r>
              <a:rPr spc="-5" dirty="0"/>
              <a:t>it </a:t>
            </a:r>
            <a:r>
              <a:rPr spc="-10" dirty="0"/>
              <a:t>returns </a:t>
            </a:r>
            <a:r>
              <a:rPr lang="en-US" spc="-10" dirty="0"/>
              <a:t>a </a:t>
            </a:r>
            <a:r>
              <a:rPr spc="-20" dirty="0"/>
              <a:t>nonzero </a:t>
            </a:r>
            <a:r>
              <a:rPr spc="-10" dirty="0"/>
              <a:t>value </a:t>
            </a:r>
            <a:r>
              <a:rPr spc="-5" dirty="0"/>
              <a:t>if </a:t>
            </a:r>
            <a:r>
              <a:rPr lang="en-US" spc="-5" dirty="0"/>
              <a:t>the </a:t>
            </a:r>
            <a:r>
              <a:rPr spc="-10" dirty="0"/>
              <a:t>shell</a:t>
            </a:r>
            <a:r>
              <a:rPr lang="en-US" spc="-10" dirty="0"/>
              <a:t> interpreter</a:t>
            </a:r>
            <a:r>
              <a:rPr spc="-10" dirty="0"/>
              <a:t> </a:t>
            </a:r>
            <a:r>
              <a:rPr sz="2400" kern="1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/bin/sh</a:t>
            </a:r>
            <a:r>
              <a:rPr spc="-30" dirty="0"/>
              <a:t> </a:t>
            </a:r>
            <a:r>
              <a:rPr spc="-5" dirty="0"/>
              <a:t>is </a:t>
            </a:r>
            <a:r>
              <a:rPr lang="en-US" spc="-5" dirty="0"/>
              <a:t>installed on the computer</a:t>
            </a:r>
            <a:r>
              <a:rPr spc="-15" dirty="0"/>
              <a:t>, </a:t>
            </a:r>
            <a:r>
              <a:rPr spc="-5" dirty="0"/>
              <a:t>and 0</a:t>
            </a:r>
            <a:r>
              <a:rPr spc="30" dirty="0"/>
              <a:t> </a:t>
            </a:r>
            <a:r>
              <a:rPr lang="en-US" spc="-5" dirty="0"/>
              <a:t>if it isn’t installed.</a:t>
            </a:r>
            <a:endParaRPr spc="-5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61492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Implementing</a:t>
            </a:r>
            <a:r>
              <a:rPr spc="-110" dirty="0"/>
              <a:t> </a:t>
            </a:r>
            <a:r>
              <a:rPr sz="4000" spc="-60" dirty="0">
                <a:latin typeface="Courier New" panose="02070309020205020404" pitchFamily="49" charset="0"/>
                <a:cs typeface="Courier New" panose="02070309020205020404" pitchFamily="49" charset="0"/>
              </a:rPr>
              <a:t>system()</a:t>
            </a:r>
            <a:endParaRPr spc="-6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1793189"/>
            <a:ext cx="5941061" cy="30104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28956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This is just a fun </a:t>
            </a:r>
            <a:r>
              <a:rPr lang="en-US" sz="2800" spc="-25" dirty="0">
                <a:latin typeface="Calibri"/>
                <a:cs typeface="Calibri"/>
              </a:rPr>
              <a:t>exercise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using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sz="2800" spc="-15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execv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800" spc="-15" dirty="0">
                <a:latin typeface="Calibri"/>
                <a:cs typeface="Calibri"/>
              </a:rPr>
              <a:t>, 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waitpid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spc="-15" dirty="0">
              <a:latin typeface="Calibri"/>
              <a:cs typeface="Calibri"/>
            </a:endParaRPr>
          </a:p>
          <a:p>
            <a:pPr marL="698500" marR="685800" lvl="1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good </a:t>
            </a:r>
            <a:r>
              <a:rPr sz="2400" spc="-15" dirty="0">
                <a:latin typeface="Calibri"/>
                <a:cs typeface="Calibri"/>
              </a:rPr>
              <a:t>example to </a:t>
            </a:r>
            <a:r>
              <a:rPr sz="2400" spc="-5" dirty="0">
                <a:latin typeface="Calibri"/>
                <a:cs typeface="Calibri"/>
              </a:rPr>
              <a:t>tie </a:t>
            </a:r>
            <a:r>
              <a:rPr sz="2400" spc="-10" dirty="0">
                <a:latin typeface="Calibri"/>
                <a:cs typeface="Calibri"/>
              </a:rPr>
              <a:t>together </a:t>
            </a:r>
            <a:r>
              <a:rPr sz="2400" spc="-15" dirty="0">
                <a:latin typeface="Calibri"/>
                <a:cs typeface="Calibri"/>
              </a:rPr>
              <a:t>many </a:t>
            </a:r>
            <a:r>
              <a:rPr sz="2400" spc="-10" dirty="0">
                <a:latin typeface="Calibri"/>
                <a:cs typeface="Calibri"/>
              </a:rPr>
              <a:t>concepts </a:t>
            </a:r>
            <a:r>
              <a:rPr lang="en-US" sz="2400" spc="-5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this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chapter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Compared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official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system()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implementation</a:t>
            </a:r>
            <a:r>
              <a:rPr sz="2800" spc="-20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doesn’t </a:t>
            </a:r>
            <a:r>
              <a:rPr sz="2800" spc="-5" dirty="0">
                <a:latin typeface="Calibri"/>
                <a:cs typeface="Calibri"/>
              </a:rPr>
              <a:t>block/disable </a:t>
            </a:r>
            <a:r>
              <a:rPr sz="2800" spc="-20" dirty="0">
                <a:latin typeface="Calibri"/>
                <a:cs typeface="Calibri"/>
              </a:rPr>
              <a:t>any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signals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31864" y="0"/>
            <a:ext cx="5327904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1444625" y="6464985"/>
            <a:ext cx="3660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62686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Zombies</a:t>
            </a:r>
            <a:r>
              <a:rPr lang="en-US" spc="-45" dirty="0"/>
              <a:t> (Also Called: Ghosts)</a:t>
            </a:r>
            <a:endParaRPr spc="-4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16938" y="1717547"/>
            <a:ext cx="10817862" cy="4116127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terminated process </a:t>
            </a:r>
            <a:r>
              <a:rPr sz="2800" spc="-5" dirty="0">
                <a:latin typeface="Calibri"/>
                <a:cs typeface="Calibri"/>
              </a:rPr>
              <a:t>but not </a:t>
            </a:r>
            <a:r>
              <a:rPr sz="2800" spc="-20" dirty="0">
                <a:latin typeface="Calibri"/>
                <a:cs typeface="Calibri"/>
              </a:rPr>
              <a:t>yet </a:t>
            </a:r>
            <a:r>
              <a:rPr sz="2800" spc="-10" dirty="0">
                <a:latin typeface="Calibri"/>
                <a:cs typeface="Calibri"/>
              </a:rPr>
              <a:t>waited </a:t>
            </a:r>
            <a:r>
              <a:rPr sz="2800" spc="-5" dirty="0">
                <a:latin typeface="Calibri"/>
                <a:cs typeface="Calibri"/>
              </a:rPr>
              <a:t>upon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its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parent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784225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Zombie</a:t>
            </a:r>
            <a:r>
              <a:rPr lang="en-US" sz="2800" spc="-15" dirty="0">
                <a:latin typeface="Calibri"/>
                <a:cs typeface="Calibri"/>
              </a:rPr>
              <a:t>/ghost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processes continue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consume </a:t>
            </a:r>
            <a:r>
              <a:rPr sz="2800" spc="-5" dirty="0">
                <a:latin typeface="Calibri"/>
                <a:cs typeface="Calibri"/>
              </a:rPr>
              <a:t>small </a:t>
            </a:r>
            <a:r>
              <a:rPr sz="2800" spc="-10" dirty="0">
                <a:latin typeface="Calibri"/>
                <a:cs typeface="Calibri"/>
              </a:rPr>
              <a:t>portion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lang="en-US" sz="2800" spc="-5" dirty="0">
                <a:latin typeface="Calibri"/>
                <a:cs typeface="Calibri"/>
              </a:rPr>
              <a:t>the operating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lang="en-US" sz="2800" spc="-30" dirty="0">
                <a:latin typeface="Calibri"/>
                <a:cs typeface="Calibri"/>
              </a:rPr>
              <a:t>’s </a:t>
            </a:r>
            <a:r>
              <a:rPr sz="2800" spc="-10" dirty="0">
                <a:latin typeface="Calibri"/>
                <a:cs typeface="Calibri"/>
              </a:rPr>
              <a:t>resources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30810" indent="-228600">
              <a:lnSpc>
                <a:spcPts val="269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Be a </a:t>
            </a:r>
            <a:r>
              <a:rPr sz="2800" spc="-15" dirty="0">
                <a:latin typeface="Calibri"/>
                <a:cs typeface="Calibri"/>
              </a:rPr>
              <a:t>responsible parent</a:t>
            </a:r>
            <a:r>
              <a:rPr lang="en-US" sz="2800" spc="-15" dirty="0">
                <a:latin typeface="Calibri"/>
                <a:cs typeface="Calibri"/>
              </a:rPr>
              <a:t>:</a:t>
            </a:r>
            <a:r>
              <a:rPr sz="2800" spc="-5" dirty="0">
                <a:latin typeface="Calibri"/>
                <a:cs typeface="Calibri"/>
              </a:rPr>
              <a:t> if </a:t>
            </a:r>
            <a:r>
              <a:rPr sz="2800" spc="-20" dirty="0">
                <a:latin typeface="Calibri"/>
                <a:cs typeface="Calibri"/>
              </a:rPr>
              <a:t>you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fork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child </a:t>
            </a:r>
            <a:r>
              <a:rPr sz="2800" spc="-15" dirty="0">
                <a:latin typeface="Calibri"/>
                <a:cs typeface="Calibri"/>
              </a:rPr>
              <a:t>process, </a:t>
            </a:r>
            <a:r>
              <a:rPr sz="2800" spc="-20" dirty="0">
                <a:latin typeface="Calibri"/>
                <a:cs typeface="Calibri"/>
              </a:rPr>
              <a:t>you</a:t>
            </a:r>
            <a:r>
              <a:rPr lang="en-US" sz="2800" spc="-20" dirty="0">
                <a:latin typeface="Calibri"/>
                <a:cs typeface="Calibri"/>
              </a:rPr>
              <a:t> must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wait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 the child – </a:t>
            </a:r>
            <a:r>
              <a:rPr sz="2800" spc="-15" dirty="0">
                <a:latin typeface="Calibri"/>
                <a:cs typeface="Calibri"/>
              </a:rPr>
              <a:t>even </a:t>
            </a:r>
            <a:r>
              <a:rPr sz="2800" spc="-5" dirty="0">
                <a:latin typeface="Calibri"/>
                <a:cs typeface="Calibri"/>
              </a:rPr>
              <a:t>if </a:t>
            </a:r>
            <a:r>
              <a:rPr sz="2800" spc="-25" dirty="0">
                <a:latin typeface="Calibri"/>
                <a:cs typeface="Calibri"/>
              </a:rPr>
              <a:t>you </a:t>
            </a:r>
            <a:r>
              <a:rPr sz="2800" spc="-10" dirty="0">
                <a:latin typeface="Calibri"/>
                <a:cs typeface="Calibri"/>
              </a:rPr>
              <a:t>merely </a:t>
            </a:r>
            <a:r>
              <a:rPr sz="2800" spc="-15" dirty="0">
                <a:latin typeface="Calibri"/>
                <a:cs typeface="Calibri"/>
              </a:rPr>
              <a:t>discard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lang="en-US" sz="2800" spc="-5" dirty="0">
                <a:latin typeface="Calibri"/>
                <a:cs typeface="Calibri"/>
              </a:rPr>
              <a:t>child’s </a:t>
            </a:r>
            <a:r>
              <a:rPr sz="2800" spc="-10" dirty="0">
                <a:latin typeface="Calibri"/>
                <a:cs typeface="Calibri"/>
              </a:rPr>
              <a:t>obtained</a:t>
            </a:r>
            <a:r>
              <a:rPr lang="en-US" sz="2800" spc="-10" dirty="0">
                <a:latin typeface="Calibri"/>
                <a:cs typeface="Calibri"/>
              </a:rPr>
              <a:t> return status.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But what happens i</a:t>
            </a:r>
            <a:r>
              <a:rPr sz="2800" spc="-5" dirty="0">
                <a:latin typeface="Calibri"/>
                <a:cs typeface="Calibri"/>
              </a:rPr>
              <a:t>f the </a:t>
            </a:r>
            <a:r>
              <a:rPr sz="2800" spc="-15" dirty="0">
                <a:latin typeface="Calibri"/>
                <a:cs typeface="Calibri"/>
              </a:rPr>
              <a:t>parent </a:t>
            </a:r>
            <a:r>
              <a:rPr sz="2800" spc="-10" dirty="0">
                <a:latin typeface="Calibri"/>
                <a:cs typeface="Calibri"/>
              </a:rPr>
              <a:t>dies </a:t>
            </a:r>
            <a:r>
              <a:rPr sz="2800" spc="-25" dirty="0">
                <a:latin typeface="Calibri"/>
                <a:cs typeface="Calibri"/>
              </a:rPr>
              <a:t>before </a:t>
            </a:r>
            <a:r>
              <a:rPr sz="2800" spc="-5" dirty="0">
                <a:latin typeface="Calibri"/>
                <a:cs typeface="Calibri"/>
              </a:rPr>
              <a:t>the child? </a:t>
            </a:r>
            <a:r>
              <a:rPr lang="en-US" sz="2800" spc="-5" dirty="0">
                <a:latin typeface="Calibri"/>
                <a:cs typeface="Calibri"/>
              </a:rPr>
              <a:t>W</a:t>
            </a:r>
            <a:r>
              <a:rPr sz="2800" spc="-10" dirty="0">
                <a:latin typeface="Calibri"/>
                <a:cs typeface="Calibri"/>
              </a:rPr>
              <a:t>henever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process terminates,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walks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10" dirty="0">
                <a:latin typeface="Calibri"/>
                <a:cs typeface="Calibri"/>
              </a:rPr>
              <a:t>children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i="1" spc="-5" dirty="0">
                <a:latin typeface="Calibri"/>
                <a:cs typeface="Calibri"/>
              </a:rPr>
              <a:t>reparents </a:t>
            </a:r>
            <a:r>
              <a:rPr sz="2800" spc="-5" dirty="0">
                <a:latin typeface="Calibri"/>
                <a:cs typeface="Calibri"/>
              </a:rPr>
              <a:t>them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the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=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1)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76263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10" dirty="0">
                <a:latin typeface="Calibri"/>
                <a:cs typeface="Calibri"/>
              </a:rPr>
              <a:t>periodically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wait</a:t>
            </a:r>
            <a:r>
              <a:rPr sz="2800" spc="-10" dirty="0">
                <a:latin typeface="Calibri"/>
                <a:cs typeface="Calibri"/>
              </a:rPr>
              <a:t>s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lang="en-US" sz="2800" spc="-5" dirty="0">
                <a:latin typeface="Calibri"/>
                <a:cs typeface="Calibri"/>
              </a:rPr>
              <a:t>all</a:t>
            </a:r>
            <a:r>
              <a:rPr sz="2800" spc="-5" dirty="0">
                <a:latin typeface="Calibri"/>
                <a:cs typeface="Calibri"/>
              </a:rPr>
              <a:t> its </a:t>
            </a:r>
            <a:r>
              <a:rPr sz="2800" spc="-10" dirty="0">
                <a:latin typeface="Calibri"/>
                <a:cs typeface="Calibri"/>
              </a:rPr>
              <a:t>children</a:t>
            </a:r>
            <a:r>
              <a:rPr lang="en-US" sz="2800" spc="-10" dirty="0">
                <a:latin typeface="Calibri"/>
                <a:cs typeface="Calibri"/>
              </a:rPr>
              <a:t> and allows them to exit normally and fully</a:t>
            </a:r>
            <a:r>
              <a:rPr sz="2800" spc="-10" dirty="0">
                <a:latin typeface="Calibri"/>
                <a:cs typeface="Calibri"/>
              </a:rPr>
              <a:t>, ensuring  </a:t>
            </a:r>
            <a:r>
              <a:rPr sz="2800" spc="-15" dirty="0">
                <a:latin typeface="Calibri"/>
                <a:cs typeface="Calibri"/>
              </a:rPr>
              <a:t>zombies </a:t>
            </a:r>
            <a:r>
              <a:rPr sz="2800" spc="-5" dirty="0">
                <a:latin typeface="Calibri"/>
                <a:cs typeface="Calibri"/>
              </a:rPr>
              <a:t>don’t </a:t>
            </a:r>
            <a:r>
              <a:rPr sz="2800" spc="-15" dirty="0">
                <a:latin typeface="Calibri"/>
                <a:cs typeface="Calibri"/>
              </a:rPr>
              <a:t>live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long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3" name="Picture 2" descr="Image result for zombie cartoon">
            <a:extLst>
              <a:ext uri="{FF2B5EF4-FFF2-40B4-BE49-F238E27FC236}">
                <a16:creationId xmlns:a16="http://schemas.microsoft.com/office/drawing/2014/main" id="{59E3BBA0-0808-47B3-A4B7-454E1920A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4302" y="369480"/>
            <a:ext cx="890286" cy="143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223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Users </a:t>
            </a:r>
            <a:r>
              <a:rPr spc="-20" dirty="0"/>
              <a:t>and</a:t>
            </a:r>
            <a:r>
              <a:rPr spc="-204" dirty="0"/>
              <a:t> </a:t>
            </a:r>
            <a:r>
              <a:rPr spc="-50" dirty="0"/>
              <a:t>Groups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16938" y="1736801"/>
            <a:ext cx="10894062" cy="46002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Processes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5" dirty="0">
                <a:latin typeface="Calibri"/>
                <a:cs typeface="Calibri"/>
              </a:rPr>
              <a:t>associated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600" spc="-10" dirty="0">
                <a:latin typeface="Calibri"/>
                <a:cs typeface="Calibri"/>
              </a:rPr>
              <a:t>users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groups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600" spc="-25" dirty="0">
                <a:latin typeface="Calibri"/>
                <a:cs typeface="Calibri"/>
              </a:rPr>
              <a:t>process’s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gid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dictate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operations </a:t>
            </a:r>
            <a:r>
              <a:rPr lang="en-US" sz="2600" dirty="0">
                <a:latin typeface="Calibri"/>
                <a:cs typeface="Calibri"/>
              </a:rPr>
              <a:t>the process can do</a:t>
            </a:r>
            <a:r>
              <a:rPr lang="en-US" sz="2600" spc="-1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65786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The b</a:t>
            </a:r>
            <a:r>
              <a:rPr sz="2600" spc="-5" dirty="0">
                <a:latin typeface="Calibri"/>
                <a:cs typeface="Calibri"/>
              </a:rPr>
              <a:t>est practice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use </a:t>
            </a:r>
            <a:r>
              <a:rPr sz="2600" i="1" spc="-5" dirty="0">
                <a:latin typeface="Calibri"/>
                <a:cs typeface="Calibri"/>
              </a:rPr>
              <a:t>least-privileged </a:t>
            </a:r>
            <a:r>
              <a:rPr sz="2600" spc="-5" dirty="0">
                <a:latin typeface="Calibri"/>
                <a:cs typeface="Calibri"/>
              </a:rPr>
              <a:t>rights </a:t>
            </a:r>
            <a:r>
              <a:rPr sz="2600" spc="-30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lang="en-US" sz="2600" spc="-1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only</a:t>
            </a:r>
            <a:r>
              <a:rPr lang="en-US" sz="2600" spc="-5" dirty="0">
                <a:latin typeface="Calibri"/>
                <a:cs typeface="Calibri"/>
              </a:rPr>
              <a:t> to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elevate </a:t>
            </a:r>
            <a:r>
              <a:rPr sz="2600" dirty="0">
                <a:latin typeface="Calibri"/>
                <a:cs typeface="Calibri"/>
              </a:rPr>
              <a:t>them when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necessary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75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Real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ruid</a:t>
            </a:r>
            <a:r>
              <a:rPr sz="2600" dirty="0">
                <a:latin typeface="Calibri"/>
                <a:cs typeface="Calibri"/>
              </a:rPr>
              <a:t>), </a:t>
            </a:r>
            <a:r>
              <a:rPr sz="2600" spc="-25" dirty="0">
                <a:latin typeface="Calibri"/>
                <a:cs typeface="Calibri"/>
              </a:rPr>
              <a:t>Effective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euid</a:t>
            </a:r>
            <a:r>
              <a:rPr sz="2600" dirty="0">
                <a:latin typeface="Calibri"/>
                <a:cs typeface="Calibri"/>
              </a:rPr>
              <a:t>), and </a:t>
            </a:r>
            <a:r>
              <a:rPr sz="2600" spc="-15" dirty="0">
                <a:latin typeface="Calibri"/>
                <a:cs typeface="Calibri"/>
              </a:rPr>
              <a:t>Saved </a:t>
            </a:r>
            <a:r>
              <a:rPr sz="2600" dirty="0">
                <a:latin typeface="Calibri"/>
                <a:cs typeface="Calibri"/>
              </a:rPr>
              <a:t>UIDs </a:t>
            </a:r>
            <a:r>
              <a:rPr sz="2600" spc="-5" dirty="0">
                <a:latin typeface="Calibri"/>
                <a:cs typeface="Calibri"/>
              </a:rPr>
              <a:t>(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suid</a:t>
            </a:r>
            <a:r>
              <a:rPr sz="2600" spc="-5" dirty="0">
                <a:latin typeface="Calibri"/>
                <a:cs typeface="Calibri"/>
              </a:rPr>
              <a:t>) (also </a:t>
            </a:r>
            <a:r>
              <a:rPr sz="2600" dirty="0">
                <a:latin typeface="Calibri"/>
                <a:cs typeface="Calibri"/>
              </a:rPr>
              <a:t>appl</a:t>
            </a:r>
            <a:r>
              <a:rPr lang="en-US" sz="2600" dirty="0">
                <a:latin typeface="Calibri"/>
                <a:cs typeface="Calibri"/>
              </a:rPr>
              <a:t>ies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130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GIDs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lang="en-US" sz="260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698500" marR="233679" lvl="1" indent="-228600">
              <a:lnSpc>
                <a:spcPct val="70000"/>
              </a:lnSpc>
              <a:spcBef>
                <a:spcPts val="64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i="1" spc="-5" dirty="0">
                <a:latin typeface="Calibri"/>
                <a:cs typeface="Calibri"/>
              </a:rPr>
              <a:t>real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200" spc="-5" dirty="0">
                <a:latin typeface="Calibri"/>
                <a:cs typeface="Calibri"/>
              </a:rPr>
              <a:t> is </a:t>
            </a:r>
            <a:r>
              <a:rPr sz="2200" spc="-10" dirty="0">
                <a:latin typeface="Calibri"/>
                <a:cs typeface="Calibri"/>
              </a:rPr>
              <a:t>that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user </a:t>
            </a:r>
            <a:r>
              <a:rPr sz="2200" spc="-5" dirty="0">
                <a:latin typeface="Calibri"/>
                <a:cs typeface="Calibri"/>
              </a:rPr>
              <a:t>who originally </a:t>
            </a:r>
            <a:r>
              <a:rPr sz="2200" spc="-20" dirty="0">
                <a:latin typeface="Calibri"/>
                <a:cs typeface="Calibri"/>
              </a:rPr>
              <a:t>ran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process. </a:t>
            </a:r>
            <a:r>
              <a:rPr sz="2200" spc="-20" dirty="0">
                <a:latin typeface="Calibri"/>
                <a:cs typeface="Calibri"/>
              </a:rPr>
              <a:t>It</a:t>
            </a:r>
            <a:r>
              <a:rPr lang="en-US" sz="2200" spc="-20" dirty="0">
                <a:latin typeface="Calibri"/>
                <a:cs typeface="Calibri"/>
              </a:rPr>
              <a:t> 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set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real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200" spc="-10" dirty="0">
                <a:latin typeface="Calibri"/>
                <a:cs typeface="Calibri"/>
              </a:rPr>
              <a:t>  </a:t>
            </a:r>
            <a:r>
              <a:rPr sz="2200" spc="-5" dirty="0">
                <a:latin typeface="Calibri"/>
                <a:cs typeface="Calibri"/>
              </a:rPr>
              <a:t>of the </a:t>
            </a:r>
            <a:r>
              <a:rPr sz="2200" spc="-10" dirty="0">
                <a:latin typeface="Calibri"/>
                <a:cs typeface="Calibri"/>
              </a:rPr>
              <a:t>process’</a:t>
            </a:r>
            <a:r>
              <a:rPr lang="en-US" sz="2200" spc="-10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lang="en-US" sz="2200" spc="-15" dirty="0">
                <a:latin typeface="Calibri"/>
                <a:cs typeface="Calibri"/>
              </a:rPr>
              <a:t>parent and</a:t>
            </a:r>
            <a:r>
              <a:rPr sz="2200" spc="-5" dirty="0">
                <a:latin typeface="Calibri"/>
                <a:cs typeface="Calibri"/>
              </a:rPr>
              <a:t> doesn’t </a:t>
            </a:r>
            <a:r>
              <a:rPr sz="2200" spc="-10" dirty="0">
                <a:latin typeface="Calibri"/>
                <a:cs typeface="Calibri"/>
              </a:rPr>
              <a:t>change during </a:t>
            </a:r>
            <a:r>
              <a:rPr sz="2200" spc="-5" dirty="0">
                <a:latin typeface="Calibri"/>
                <a:cs typeface="Calibri"/>
              </a:rPr>
              <a:t>an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call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ts val="1955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process </a:t>
            </a:r>
            <a:r>
              <a:rPr sz="1900" spc="-5" dirty="0">
                <a:latin typeface="Calibri"/>
                <a:cs typeface="Calibri"/>
              </a:rPr>
              <a:t>sets the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1900" spc="-5" dirty="0">
                <a:latin typeface="Calibri"/>
                <a:cs typeface="Calibri"/>
              </a:rPr>
              <a:t> of the </a:t>
            </a:r>
            <a:r>
              <a:rPr sz="1900" spc="-15" dirty="0">
                <a:latin typeface="Calibri"/>
                <a:cs typeface="Calibri"/>
              </a:rPr>
              <a:t>user’s </a:t>
            </a:r>
            <a:r>
              <a:rPr sz="1900" spc="-5" dirty="0">
                <a:latin typeface="Calibri"/>
                <a:cs typeface="Calibri"/>
              </a:rPr>
              <a:t>shell </a:t>
            </a:r>
            <a:r>
              <a:rPr lang="en-US" sz="1900" spc="-5" dirty="0">
                <a:latin typeface="Calibri"/>
                <a:cs typeface="Calibri"/>
              </a:rPr>
              <a:t>process (e.g., </a:t>
            </a:r>
            <a:r>
              <a:rPr lang="en-US"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/bin/bash</a:t>
            </a:r>
            <a:r>
              <a:rPr lang="en-US" sz="1900" spc="-5" dirty="0">
                <a:latin typeface="Calibri"/>
                <a:cs typeface="Calibri"/>
              </a:rPr>
              <a:t>) </a:t>
            </a:r>
            <a:r>
              <a:rPr sz="1900" spc="-15" dirty="0">
                <a:latin typeface="Calibri"/>
                <a:cs typeface="Calibri"/>
              </a:rPr>
              <a:t>to </a:t>
            </a:r>
            <a:r>
              <a:rPr sz="1900" spc="-5" dirty="0">
                <a:latin typeface="Calibri"/>
                <a:cs typeface="Calibri"/>
              </a:rPr>
              <a:t>that of the</a:t>
            </a:r>
            <a:r>
              <a:rPr sz="1900" spc="15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user</a:t>
            </a:r>
            <a:r>
              <a:rPr lang="en-US" sz="1900" spc="-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210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i="1" spc="-10" dirty="0">
                <a:latin typeface="Calibri"/>
                <a:cs typeface="Calibri"/>
              </a:rPr>
              <a:t>effective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200" spc="-5" dirty="0">
                <a:latin typeface="Calibri"/>
                <a:cs typeface="Calibri"/>
              </a:rPr>
              <a:t> is the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currently </a:t>
            </a:r>
            <a:r>
              <a:rPr sz="2200" spc="-5" dirty="0">
                <a:latin typeface="Calibri"/>
                <a:cs typeface="Calibri"/>
              </a:rPr>
              <a:t>using. </a:t>
            </a:r>
            <a:r>
              <a:rPr sz="2200" spc="-10" dirty="0">
                <a:latin typeface="Calibri"/>
                <a:cs typeface="Calibri"/>
              </a:rPr>
              <a:t>It could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different</a:t>
            </a:r>
            <a:endParaRPr sz="2200" dirty="0">
              <a:latin typeface="Calibri"/>
              <a:cs typeface="Calibri"/>
            </a:endParaRPr>
          </a:p>
          <a:p>
            <a:pPr marL="698500" marR="304165">
              <a:lnSpc>
                <a:spcPct val="70000"/>
              </a:lnSpc>
              <a:spcBef>
                <a:spcPts val="400"/>
              </a:spcBef>
            </a:pPr>
            <a:r>
              <a:rPr sz="2200" spc="-15" dirty="0">
                <a:latin typeface="Calibri"/>
                <a:cs typeface="Calibri"/>
              </a:rPr>
              <a:t>from </a:t>
            </a:r>
            <a:r>
              <a:rPr lang="en-US" sz="2200" spc="-5" dirty="0">
                <a:latin typeface="Calibri"/>
                <a:cs typeface="Calibri"/>
              </a:rPr>
              <a:t>it’s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real </a:t>
            </a: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after </a:t>
            </a:r>
            <a:r>
              <a:rPr sz="2200" spc="-15" dirty="0">
                <a:latin typeface="Calibri"/>
                <a:cs typeface="Calibri"/>
              </a:rPr>
              <a:t>executing a </a:t>
            </a:r>
            <a:r>
              <a:rPr lang="en-US" sz="2200" spc="-15" dirty="0">
                <a:latin typeface="Calibri"/>
                <a:cs typeface="Calibri"/>
              </a:rPr>
              <a:t>command/program that internally calls </a:t>
            </a: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setuid</a:t>
            </a:r>
            <a:r>
              <a:rPr lang="en-US"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(such </a:t>
            </a:r>
            <a:r>
              <a:rPr sz="2200" spc="-5" dirty="0">
                <a:latin typeface="Calibri"/>
                <a:cs typeface="Calibri"/>
              </a:rPr>
              <a:t>as 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passwd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spc="-20" dirty="0">
                <a:latin typeface="Calibri"/>
                <a:cs typeface="Calibri"/>
              </a:rPr>
              <a:t>whose owner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0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sz="2200" spc="-10" dirty="0">
                <a:latin typeface="Calibri"/>
                <a:cs typeface="Calibri"/>
              </a:rPr>
              <a:t>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modif</a:t>
            </a:r>
            <a:r>
              <a:rPr lang="en-US" sz="2200" spc="-5" dirty="0">
                <a:latin typeface="Calibri"/>
                <a:cs typeface="Calibri"/>
              </a:rPr>
              <a:t>y the user’s password.</a:t>
            </a:r>
            <a:r>
              <a:rPr sz="2200" spc="-15" dirty="0">
                <a:latin typeface="Calibri"/>
                <a:cs typeface="Calibri"/>
              </a:rPr>
              <a:t>) </a:t>
            </a:r>
            <a:r>
              <a:rPr lang="en-US" sz="2200" spc="-5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hus</a:t>
            </a:r>
            <a:r>
              <a:rPr lang="en-US" sz="2200" spc="-5" dirty="0">
                <a:latin typeface="Calibri"/>
                <a:cs typeface="Calibri"/>
              </a:rPr>
              <a:t>,</a:t>
            </a:r>
            <a:r>
              <a:rPr sz="2200" spc="-5" dirty="0">
                <a:latin typeface="Calibri"/>
                <a:cs typeface="Calibri"/>
              </a:rPr>
              <a:t> the </a:t>
            </a:r>
            <a:r>
              <a:rPr sz="2200" spc="-20" dirty="0">
                <a:latin typeface="Calibri"/>
                <a:cs typeface="Calibri"/>
              </a:rPr>
              <a:t>effective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becomes </a:t>
            </a:r>
            <a:r>
              <a:rPr lang="en-US" sz="2200" spc="-2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sz="2200" spc="-10" dirty="0">
                <a:latin typeface="Calibri"/>
                <a:cs typeface="Calibri"/>
              </a:rPr>
              <a:t>’s </a:t>
            </a:r>
            <a:r>
              <a:rPr lang="en-US"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200" spc="-10" dirty="0">
                <a:latin typeface="Calibri"/>
                <a:cs typeface="Calibri"/>
              </a:rPr>
              <a:t>!</a:t>
            </a:r>
            <a:endParaRPr sz="22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i="1" spc="-10" dirty="0">
                <a:latin typeface="Calibri"/>
                <a:cs typeface="Calibri"/>
              </a:rPr>
              <a:t>saved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200" spc="-5" dirty="0">
                <a:latin typeface="Calibri"/>
                <a:cs typeface="Calibri"/>
              </a:rPr>
              <a:t> is the </a:t>
            </a:r>
            <a:r>
              <a:rPr sz="2200" spc="-20" dirty="0">
                <a:latin typeface="Calibri"/>
                <a:cs typeface="Calibri"/>
              </a:rPr>
              <a:t>process’s </a:t>
            </a:r>
            <a:r>
              <a:rPr sz="2200" spc="-5" dirty="0">
                <a:latin typeface="Calibri"/>
                <a:cs typeface="Calibri"/>
              </a:rPr>
              <a:t>original </a:t>
            </a:r>
            <a:r>
              <a:rPr sz="2200" spc="-20" dirty="0">
                <a:latin typeface="Calibri"/>
                <a:cs typeface="Calibri"/>
              </a:rPr>
              <a:t>effective </a:t>
            </a:r>
            <a:r>
              <a:rPr sz="2200" spc="-10" dirty="0">
                <a:latin typeface="Calibri"/>
                <a:cs typeface="Calibri"/>
              </a:rPr>
              <a:t>user </a:t>
            </a:r>
            <a:r>
              <a:rPr sz="2200" spc="-20" dirty="0">
                <a:latin typeface="Calibri"/>
                <a:cs typeface="Calibri"/>
              </a:rPr>
              <a:t>ID, </a:t>
            </a:r>
            <a:r>
              <a:rPr sz="2200" spc="-10" dirty="0">
                <a:latin typeface="Calibri"/>
                <a:cs typeface="Calibri"/>
              </a:rPr>
              <a:t>but upon </a:t>
            </a:r>
            <a:r>
              <a:rPr sz="2200" spc="-5" dirty="0">
                <a:latin typeface="Calibri"/>
                <a:cs typeface="Calibri"/>
              </a:rPr>
              <a:t>an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call,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kernel </a:t>
            </a:r>
            <a:r>
              <a:rPr sz="2200" spc="-5" dirty="0">
                <a:latin typeface="Calibri"/>
                <a:cs typeface="Calibri"/>
              </a:rPr>
              <a:t>sets the </a:t>
            </a:r>
            <a:r>
              <a:rPr sz="2200" spc="-15" dirty="0">
                <a:latin typeface="Calibri"/>
                <a:cs typeface="Calibri"/>
              </a:rPr>
              <a:t>saved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new </a:t>
            </a:r>
            <a:r>
              <a:rPr sz="2200" spc="-20" dirty="0">
                <a:latin typeface="Calibri"/>
                <a:cs typeface="Calibri"/>
              </a:rPr>
              <a:t>effective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200" spc="-5" dirty="0">
                <a:latin typeface="Calibri"/>
                <a:cs typeface="Calibri"/>
              </a:rPr>
              <a:t>, </a:t>
            </a:r>
            <a:r>
              <a:rPr sz="2200" spc="-15" dirty="0">
                <a:latin typeface="Calibri"/>
                <a:cs typeface="Calibri"/>
              </a:rPr>
              <a:t>facilitating </a:t>
            </a:r>
            <a:r>
              <a:rPr sz="2200" spc="-10" dirty="0">
                <a:latin typeface="Calibri"/>
                <a:cs typeface="Calibri"/>
              </a:rPr>
              <a:t>switches between</a:t>
            </a:r>
            <a:r>
              <a:rPr lang="en-US"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them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Ultimately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20" dirty="0">
                <a:latin typeface="Calibri"/>
                <a:cs typeface="Calibri"/>
              </a:rPr>
              <a:t>effective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sz="2200" spc="-5" dirty="0">
                <a:latin typeface="Calibri"/>
                <a:cs typeface="Calibri"/>
              </a:rPr>
              <a:t> is the </a:t>
            </a:r>
            <a:r>
              <a:rPr sz="2200" spc="-10" dirty="0">
                <a:latin typeface="Calibri"/>
                <a:cs typeface="Calibri"/>
              </a:rPr>
              <a:t>value that </a:t>
            </a:r>
            <a:r>
              <a:rPr sz="2200" spc="-25" dirty="0">
                <a:latin typeface="Calibri"/>
                <a:cs typeface="Calibri"/>
              </a:rPr>
              <a:t>matters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dealing </a:t>
            </a:r>
            <a:r>
              <a:rPr sz="2200" spc="-5" dirty="0">
                <a:latin typeface="Calibri"/>
                <a:cs typeface="Calibri"/>
              </a:rPr>
              <a:t>with</a:t>
            </a:r>
            <a:r>
              <a:rPr lang="en-US" sz="2200" spc="-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permissions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21" name="Picture 2" descr="Image result for identification card">
            <a:extLst>
              <a:ext uri="{FF2B5EF4-FFF2-40B4-BE49-F238E27FC236}">
                <a16:creationId xmlns:a16="http://schemas.microsoft.com/office/drawing/2014/main" id="{29CA959E-4850-404D-B0FF-6B898B92F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209" y="609676"/>
            <a:ext cx="1697430" cy="107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43686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Changing </a:t>
            </a:r>
            <a:r>
              <a:rPr spc="-20" dirty="0"/>
              <a:t>the </a:t>
            </a:r>
            <a:r>
              <a:rPr spc="-45" dirty="0"/>
              <a:t>Real </a:t>
            </a:r>
            <a:r>
              <a:rPr spc="-30" dirty="0"/>
              <a:t>(</a:t>
            </a:r>
            <a:r>
              <a:rPr sz="40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ruid</a:t>
            </a:r>
            <a:r>
              <a:rPr spc="-30" dirty="0"/>
              <a:t>) </a:t>
            </a:r>
            <a:r>
              <a:rPr spc="-15" dirty="0"/>
              <a:t>or </a:t>
            </a:r>
            <a:r>
              <a:rPr spc="-50" dirty="0"/>
              <a:t>Saved </a:t>
            </a:r>
            <a:r>
              <a:rPr spc="-25" dirty="0"/>
              <a:t>(</a:t>
            </a:r>
            <a:r>
              <a:rPr sz="4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suid</a:t>
            </a:r>
            <a:r>
              <a:rPr spc="-25" dirty="0"/>
              <a:t>)</a:t>
            </a:r>
            <a:r>
              <a:rPr spc="-459" dirty="0"/>
              <a:t> </a:t>
            </a:r>
            <a:r>
              <a:rPr spc="-20" dirty="0"/>
              <a:t>UID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16939" y="1787398"/>
            <a:ext cx="10436861" cy="442993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69900" marR="6620509">
              <a:lnSpc>
                <a:spcPct val="100800"/>
              </a:lnSpc>
              <a:spcBef>
                <a:spcPts val="8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&lt;sys/types.h&gt; 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&lt;unistd.h&gt;  </a:t>
            </a:r>
            <a:endParaRPr lang="en-US" sz="2000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6620509">
              <a:lnSpc>
                <a:spcPct val="100800"/>
              </a:lnSpc>
              <a:spcBef>
                <a:spcPts val="8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setuid (uid_t</a:t>
            </a:r>
            <a:r>
              <a:rPr sz="2000" spc="-1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uid);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Sets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effective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5" dirty="0">
                <a:latin typeface="Calibri"/>
                <a:cs typeface="Calibri"/>
              </a:rPr>
              <a:t>ID of the </a:t>
            </a:r>
            <a:r>
              <a:rPr sz="2800" spc="-15" dirty="0">
                <a:latin typeface="Calibri"/>
                <a:cs typeface="Calibri"/>
              </a:rPr>
              <a:t>current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</a:t>
            </a:r>
            <a:r>
              <a:rPr lang="en-US" sz="2800" spc="-10" dirty="0">
                <a:latin typeface="Calibri"/>
                <a:cs typeface="Calibri"/>
              </a:rPr>
              <a:t> to </a:t>
            </a:r>
            <a:r>
              <a:rPr lang="en-US" sz="2400" spc="-5" dirty="0" err="1">
                <a:solidFill>
                  <a:srgbClr val="0070C0"/>
                </a:solidFill>
                <a:latin typeface="Consolas"/>
              </a:rPr>
              <a:t>uid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the </a:t>
            </a:r>
            <a:r>
              <a:rPr sz="2800" spc="-15" dirty="0">
                <a:latin typeface="Calibri"/>
                <a:cs typeface="Calibri"/>
              </a:rPr>
              <a:t>current </a:t>
            </a:r>
            <a:r>
              <a:rPr sz="2800" spc="-20" dirty="0">
                <a:latin typeface="Calibri"/>
                <a:cs typeface="Calibri"/>
              </a:rPr>
              <a:t>effective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5" dirty="0">
                <a:latin typeface="Calibri"/>
                <a:cs typeface="Calibri"/>
              </a:rPr>
              <a:t>ID is 0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lang="en-US" sz="2800" spc="-1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sz="2800" spc="-10" dirty="0">
                <a:latin typeface="Calibri"/>
                <a:cs typeface="Calibri"/>
              </a:rPr>
              <a:t> ran this program!</a:t>
            </a:r>
            <a:r>
              <a:rPr sz="2800" spc="-10" dirty="0">
                <a:latin typeface="Calibri"/>
                <a:cs typeface="Calibri"/>
              </a:rPr>
              <a:t>),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lang="en-US" sz="2800" spc="-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 </a:t>
            </a:r>
            <a:r>
              <a:rPr sz="2800" spc="-5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5" dirty="0">
                <a:latin typeface="Calibri"/>
                <a:cs typeface="Calibri"/>
              </a:rPr>
              <a:t>IDs </a:t>
            </a:r>
            <a:r>
              <a:rPr lang="en-US" sz="2800" spc="-10" dirty="0">
                <a:cs typeface="Calibri"/>
              </a:rPr>
              <a:t>(real, </a:t>
            </a:r>
            <a:r>
              <a:rPr lang="en-US" sz="2800" spc="-20" dirty="0">
                <a:cs typeface="Calibri"/>
              </a:rPr>
              <a:t>effective, and saved)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set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uid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10" dirty="0">
                <a:latin typeface="Calibri"/>
                <a:cs typeface="Calibri"/>
              </a:rPr>
              <a:t>could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20" dirty="0">
                <a:latin typeface="Calibri"/>
                <a:cs typeface="Calibri"/>
              </a:rPr>
              <a:t>any </a:t>
            </a:r>
            <a:r>
              <a:rPr sz="2800" spc="-10" dirty="0">
                <a:latin typeface="Calibri"/>
                <a:cs typeface="Calibri"/>
              </a:rPr>
              <a:t>value, </a:t>
            </a:r>
            <a:r>
              <a:rPr sz="2800" spc="-5" dirty="0">
                <a:latin typeface="Calibri"/>
                <a:cs typeface="Calibri"/>
              </a:rPr>
              <a:t>and once they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changed</a:t>
            </a:r>
            <a:r>
              <a:rPr lang="en-US" sz="2800" spc="-5" dirty="0">
                <a:latin typeface="Calibri"/>
                <a:cs typeface="Calibri"/>
              </a:rPr>
              <a:t> into a nonzero ID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25" dirty="0">
                <a:latin typeface="Calibri"/>
                <a:cs typeface="Calibri"/>
              </a:rPr>
              <a:t>it’s </a:t>
            </a:r>
            <a:r>
              <a:rPr sz="2800" spc="-5" dirty="0">
                <a:latin typeface="Calibri"/>
                <a:cs typeface="Calibri"/>
              </a:rPr>
              <a:t>impossible </a:t>
            </a:r>
            <a:r>
              <a:rPr sz="2800" spc="-15" dirty="0">
                <a:latin typeface="Calibri"/>
                <a:cs typeface="Calibri"/>
              </a:rPr>
              <a:t>to re</a:t>
            </a:r>
            <a:r>
              <a:rPr lang="en-US" sz="2800" spc="-15" dirty="0">
                <a:latin typeface="Calibri"/>
                <a:cs typeface="Calibri"/>
              </a:rPr>
              <a:t>-</a:t>
            </a:r>
            <a:r>
              <a:rPr sz="2800" spc="-15" dirty="0">
                <a:latin typeface="Calibri"/>
                <a:cs typeface="Calibri"/>
              </a:rPr>
              <a:t>gain root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privileges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spcBef>
                <a:spcPts val="325"/>
              </a:spcBef>
              <a:buFont typeface="Arial"/>
              <a:buChar char="•"/>
              <a:tabLst>
                <a:tab pos="241300" algn="l"/>
                <a:tab pos="610235" algn="l"/>
              </a:tabLst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non</a:t>
            </a:r>
            <a:r>
              <a:rPr lang="en-US" sz="2800" spc="-15" dirty="0">
                <a:latin typeface="Calibri"/>
                <a:cs typeface="Calibri"/>
              </a:rPr>
              <a:t>-</a:t>
            </a:r>
            <a:r>
              <a:rPr sz="2800" spc="-15" dirty="0">
                <a:latin typeface="Calibri"/>
                <a:cs typeface="Calibri"/>
              </a:rPr>
              <a:t>root </a:t>
            </a:r>
            <a:r>
              <a:rPr sz="2800" spc="-10" dirty="0">
                <a:latin typeface="Calibri"/>
                <a:cs typeface="Calibri"/>
              </a:rPr>
              <a:t>user can only </a:t>
            </a:r>
            <a:r>
              <a:rPr sz="2800" spc="-5" dirty="0">
                <a:latin typeface="Calibri"/>
                <a:cs typeface="Calibri"/>
              </a:rPr>
              <a:t>pass its </a:t>
            </a:r>
            <a:r>
              <a:rPr sz="2800" spc="-15" dirty="0">
                <a:latin typeface="Calibri"/>
                <a:cs typeface="Calibri"/>
              </a:rPr>
              <a:t>real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20" dirty="0">
                <a:latin typeface="Calibri"/>
                <a:cs typeface="Calibri"/>
              </a:rPr>
              <a:t>saved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5" dirty="0">
                <a:latin typeface="Calibri"/>
                <a:cs typeface="Calibri"/>
              </a:rPr>
              <a:t>ID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0070C0"/>
                </a:solidFill>
                <a:latin typeface="Consolas"/>
              </a:rPr>
              <a:t>uid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5" dirty="0">
              <a:solidFill>
                <a:srgbClr val="0070C0"/>
              </a:solidFill>
              <a:latin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5" dirty="0">
                <a:latin typeface="Calibri"/>
                <a:cs typeface="Calibri"/>
              </a:rPr>
              <a:t>It r</a:t>
            </a:r>
            <a:r>
              <a:rPr sz="2800" spc="-15" dirty="0">
                <a:latin typeface="Calibri"/>
                <a:cs typeface="Calibri"/>
              </a:rPr>
              <a:t>eturn</a:t>
            </a:r>
            <a:r>
              <a:rPr lang="en-US" sz="2800" spc="-15" dirty="0">
                <a:latin typeface="Calibri"/>
                <a:cs typeface="Calibri"/>
              </a:rPr>
              <a:t>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 on success</a:t>
            </a:r>
            <a:r>
              <a:rPr lang="en-US" sz="2800" spc="-5" dirty="0">
                <a:latin typeface="Calibri"/>
                <a:cs typeface="Calibri"/>
              </a:rPr>
              <a:t>. On error, it returns</a:t>
            </a:r>
            <a:r>
              <a:rPr sz="2800" spc="-5" dirty="0">
                <a:latin typeface="Calibri"/>
                <a:cs typeface="Calibri"/>
              </a:rPr>
              <a:t> -1 </a:t>
            </a:r>
            <a:r>
              <a:rPr lang="en-US" sz="2800" spc="-15" dirty="0">
                <a:latin typeface="Calibri"/>
                <a:cs typeface="Calibri"/>
              </a:rPr>
              <a:t>and sets </a:t>
            </a:r>
            <a:r>
              <a:rPr lang="en-US"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3815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This also applies </a:t>
            </a:r>
            <a:r>
              <a:rPr sz="2800" spc="-15" dirty="0">
                <a:latin typeface="Calibri"/>
                <a:cs typeface="Calibri"/>
              </a:rPr>
              <a:t>to groups</a:t>
            </a:r>
            <a:r>
              <a:rPr lang="en-US" sz="2800" spc="-15" dirty="0">
                <a:latin typeface="Calibri"/>
                <a:cs typeface="Calibri"/>
              </a:rPr>
              <a:t>. Use: </a:t>
            </a:r>
            <a:r>
              <a:rPr lang="nl-NL" sz="24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lang="nl-NL" sz="2400" dirty="0">
                <a:solidFill>
                  <a:srgbClr val="0070C0"/>
                </a:solidFill>
                <a:latin typeface="Consolas"/>
                <a:cs typeface="Consolas"/>
              </a:rPr>
              <a:t>setgid (gid_t</a:t>
            </a:r>
            <a:r>
              <a:rPr lang="nl-NL" sz="2400" spc="-1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nl-NL" sz="2400" spc="-5" dirty="0">
                <a:solidFill>
                  <a:srgbClr val="0070C0"/>
                </a:solidFill>
                <a:latin typeface="Consolas"/>
                <a:cs typeface="Consolas"/>
              </a:rPr>
              <a:t>gid);</a:t>
            </a:r>
            <a:endParaRPr lang="nl-NL" sz="28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869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Changing </a:t>
            </a:r>
            <a:r>
              <a:rPr spc="-20" dirty="0"/>
              <a:t>the </a:t>
            </a:r>
            <a:r>
              <a:rPr spc="-70" dirty="0"/>
              <a:t>Effective</a:t>
            </a:r>
            <a:r>
              <a:rPr spc="-280" dirty="0"/>
              <a:t> </a:t>
            </a:r>
            <a:r>
              <a:rPr spc="-15" dirty="0"/>
              <a:t>UID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6939" y="1791969"/>
            <a:ext cx="9979661" cy="4380173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469900" marR="6353175">
              <a:lnSpc>
                <a:spcPct val="102200"/>
              </a:lnSpc>
              <a:spcBef>
                <a:spcPts val="4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 &lt;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sys/types.h&gt;  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seteuid (uid_t</a:t>
            </a:r>
            <a:r>
              <a:rPr sz="2000" spc="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euid);</a:t>
            </a:r>
          </a:p>
          <a:p>
            <a:pPr marL="241300" indent="-228600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Sets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effective </a:t>
            </a:r>
            <a:r>
              <a:rPr sz="2800" dirty="0">
                <a:latin typeface="Calibri"/>
                <a:cs typeface="Calibri"/>
              </a:rPr>
              <a:t>user ID </a:t>
            </a:r>
            <a:r>
              <a:rPr lang="en-US" sz="2800" spc="-5" dirty="0">
                <a:latin typeface="Calibri"/>
                <a:cs typeface="Calibri"/>
              </a:rPr>
              <a:t>of the </a:t>
            </a:r>
            <a:r>
              <a:rPr lang="en-US" sz="2800" spc="-15" dirty="0">
                <a:latin typeface="Calibri"/>
                <a:cs typeface="Calibri"/>
              </a:rPr>
              <a:t>current</a:t>
            </a:r>
            <a:r>
              <a:rPr lang="en-US" sz="2800" spc="1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process </a:t>
            </a:r>
            <a:r>
              <a:rPr sz="2800" spc="-10" dirty="0">
                <a:latin typeface="Calibri"/>
                <a:cs typeface="Calibri"/>
              </a:rPr>
              <a:t>to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0070C0"/>
                </a:solidFill>
                <a:latin typeface="Consolas"/>
              </a:rPr>
              <a:t>euid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5" dirty="0">
                <a:latin typeface="Calibri"/>
                <a:cs typeface="Calibri"/>
              </a:rPr>
              <a:t>If the </a:t>
            </a:r>
            <a:r>
              <a:rPr lang="en-US"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oot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runs this process, it </a:t>
            </a:r>
            <a:r>
              <a:rPr sz="2800" spc="-15" dirty="0">
                <a:latin typeface="Calibri"/>
                <a:cs typeface="Calibri"/>
              </a:rPr>
              <a:t>may </a:t>
            </a:r>
            <a:r>
              <a:rPr sz="2800" spc="-10" dirty="0">
                <a:latin typeface="Calibri"/>
                <a:cs typeface="Calibri"/>
              </a:rPr>
              <a:t>provide </a:t>
            </a:r>
            <a:r>
              <a:rPr sz="2800" spc="-15" dirty="0">
                <a:latin typeface="Calibri"/>
                <a:cs typeface="Calibri"/>
              </a:rPr>
              <a:t>any </a:t>
            </a:r>
            <a:r>
              <a:rPr sz="2800" spc="-10" dirty="0">
                <a:latin typeface="Calibri"/>
                <a:cs typeface="Calibri"/>
              </a:rPr>
              <a:t>value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0070C0"/>
                </a:solidFill>
                <a:latin typeface="Consolas"/>
              </a:rPr>
              <a:t>euid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5" dirty="0">
              <a:solidFill>
                <a:srgbClr val="0070C0"/>
              </a:solidFill>
              <a:latin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Nonroot </a:t>
            </a:r>
            <a:r>
              <a:rPr sz="2800" spc="-15" dirty="0">
                <a:latin typeface="Calibri"/>
                <a:cs typeface="Calibri"/>
              </a:rPr>
              <a:t>users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only use </a:t>
            </a:r>
            <a:r>
              <a:rPr lang="en-US" sz="2800" spc="-5" dirty="0">
                <a:latin typeface="Calibri"/>
                <a:cs typeface="Calibri"/>
              </a:rPr>
              <a:t>their </a:t>
            </a:r>
            <a:r>
              <a:rPr sz="2800" spc="-10" dirty="0">
                <a:latin typeface="Calibri"/>
                <a:cs typeface="Calibri"/>
              </a:rPr>
              <a:t>real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5" dirty="0">
                <a:latin typeface="Calibri"/>
                <a:cs typeface="Calibri"/>
              </a:rPr>
              <a:t>saved </a:t>
            </a:r>
            <a:r>
              <a:rPr sz="2800" spc="-5" dirty="0">
                <a:latin typeface="Calibri"/>
                <a:cs typeface="Calibri"/>
              </a:rPr>
              <a:t>user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</a:t>
            </a:r>
            <a:r>
              <a:rPr lang="en-US" sz="2800" dirty="0">
                <a:latin typeface="Calibri"/>
                <a:cs typeface="Calibri"/>
              </a:rPr>
              <a:t>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For </a:t>
            </a:r>
            <a:r>
              <a:rPr sz="2800" spc="-10" dirty="0" err="1">
                <a:latin typeface="Calibri"/>
                <a:cs typeface="Calibri"/>
              </a:rPr>
              <a:t>nonroot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users</a:t>
            </a:r>
            <a:r>
              <a:rPr lang="en-US" sz="2800" spc="-15" dirty="0">
                <a:latin typeface="Calibri"/>
                <a:cs typeface="Calibri"/>
              </a:rPr>
              <a:t>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lang="en-US"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seteuid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 </a:t>
            </a:r>
            <a:r>
              <a:rPr sz="2800" spc="-5" dirty="0">
                <a:latin typeface="Calibri"/>
                <a:cs typeface="Calibri"/>
              </a:rPr>
              <a:t>equivalent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setuid()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call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But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lang="en-US" sz="2800" spc="-25" dirty="0">
                <a:latin typeface="Calibri"/>
                <a:cs typeface="Calibri"/>
              </a:rPr>
              <a:t> 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sz="2800" spc="-10" dirty="0">
                <a:latin typeface="Calibri"/>
                <a:cs typeface="Calibri"/>
              </a:rPr>
              <a:t> user, </a:t>
            </a:r>
            <a:r>
              <a:rPr sz="2800" dirty="0">
                <a:latin typeface="Calibri"/>
                <a:cs typeface="Calibri"/>
              </a:rPr>
              <a:t>this </a:t>
            </a:r>
            <a:r>
              <a:rPr sz="2800" spc="-15" dirty="0">
                <a:latin typeface="Calibri"/>
                <a:cs typeface="Calibri"/>
              </a:rPr>
              <a:t>version </a:t>
            </a:r>
            <a:r>
              <a:rPr sz="2800" spc="-5" dirty="0">
                <a:latin typeface="Calibri"/>
                <a:cs typeface="Calibri"/>
              </a:rPr>
              <a:t>doesn’t change </a:t>
            </a:r>
            <a:r>
              <a:rPr sz="2800" spc="-15" dirty="0">
                <a:latin typeface="Calibri"/>
                <a:cs typeface="Calibri"/>
              </a:rPr>
              <a:t>real/saved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IDs</a:t>
            </a:r>
            <a:r>
              <a:rPr lang="en-US" sz="280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5" dirty="0">
                <a:latin typeface="Calibri"/>
                <a:cs typeface="Calibri"/>
              </a:rPr>
              <a:t>It returns </a:t>
            </a:r>
            <a:r>
              <a:rPr lang="en-US" sz="2800" spc="-5" dirty="0">
                <a:latin typeface="Calibri"/>
                <a:cs typeface="Calibri"/>
              </a:rPr>
              <a:t>0 on success. On error, it returns -1 </a:t>
            </a:r>
            <a:r>
              <a:rPr lang="en-US" sz="2800" spc="-15" dirty="0">
                <a:latin typeface="Calibri"/>
                <a:cs typeface="Calibri"/>
              </a:rPr>
              <a:t>and sets </a:t>
            </a:r>
            <a:r>
              <a:rPr lang="en-US"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lang="en-US"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This also applies </a:t>
            </a:r>
            <a:r>
              <a:rPr lang="en-US" sz="2800" spc="-15" dirty="0">
                <a:latin typeface="Calibri"/>
                <a:cs typeface="Calibri"/>
              </a:rPr>
              <a:t>to groups. Use: </a:t>
            </a:r>
            <a:r>
              <a:rPr lang="nl-NL" sz="24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lang="nl-NL" sz="2400" dirty="0">
                <a:solidFill>
                  <a:srgbClr val="0070C0"/>
                </a:solidFill>
                <a:latin typeface="Consolas"/>
                <a:cs typeface="Consolas"/>
              </a:rPr>
              <a:t>setegid (gid_t</a:t>
            </a:r>
            <a:r>
              <a:rPr lang="nl-NL" sz="2400" spc="-110" dirty="0">
                <a:solidFill>
                  <a:srgbClr val="0070C0"/>
                </a:solidFill>
                <a:latin typeface="Consolas"/>
                <a:cs typeface="Consolas"/>
              </a:rPr>
              <a:t> e</a:t>
            </a:r>
            <a:r>
              <a:rPr lang="nl-NL" sz="2400" spc="-5" dirty="0">
                <a:solidFill>
                  <a:srgbClr val="0070C0"/>
                </a:solidFill>
                <a:latin typeface="Consolas"/>
                <a:cs typeface="Consolas"/>
              </a:rPr>
              <a:t>gid);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6362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spc="-15" dirty="0"/>
              <a:t>on </a:t>
            </a:r>
            <a:r>
              <a:rPr spc="-45" dirty="0"/>
              <a:t>User/Group</a:t>
            </a:r>
            <a:r>
              <a:rPr spc="-280" dirty="0"/>
              <a:t> </a:t>
            </a:r>
            <a:r>
              <a:rPr spc="-5" dirty="0"/>
              <a:t>ID</a:t>
            </a:r>
            <a:r>
              <a:rPr lang="en-US" spc="-5" dirty="0"/>
              <a:t>s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765757"/>
            <a:ext cx="11046461" cy="4181658"/>
          </a:xfrm>
          <a:prstGeom prst="rect">
            <a:avLst/>
          </a:prstGeom>
        </p:spPr>
        <p:txBody>
          <a:bodyPr vert="horz" wrap="square" lIns="0" tIns="0" rIns="9144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15" dirty="0">
                <a:latin typeface="Calibri"/>
                <a:cs typeface="Calibri"/>
              </a:rPr>
              <a:t>Well, which of these system calls should I use in my program?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Nonroot processes </a:t>
            </a:r>
            <a:r>
              <a:rPr sz="2200" spc="-5" dirty="0">
                <a:latin typeface="Calibri"/>
                <a:cs typeface="Calibri"/>
              </a:rPr>
              <a:t>should </a:t>
            </a:r>
            <a:r>
              <a:rPr sz="2200" spc="-10" dirty="0">
                <a:latin typeface="Calibri"/>
                <a:cs typeface="Calibri"/>
              </a:rPr>
              <a:t>use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seteuid()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change </a:t>
            </a:r>
            <a:r>
              <a:rPr sz="2200" spc="-5" dirty="0">
                <a:latin typeface="Calibri"/>
                <a:cs typeface="Calibri"/>
              </a:rPr>
              <a:t>their </a:t>
            </a:r>
            <a:r>
              <a:rPr sz="2200" spc="-20" dirty="0">
                <a:latin typeface="Calibri"/>
                <a:cs typeface="Calibri"/>
              </a:rPr>
              <a:t>effective </a:t>
            </a:r>
            <a:r>
              <a:rPr sz="2200" spc="-10" dirty="0">
                <a:latin typeface="Calibri"/>
                <a:cs typeface="Calibri"/>
              </a:rPr>
              <a:t>user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IDs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Root </a:t>
            </a:r>
            <a:r>
              <a:rPr sz="2200" spc="-10" dirty="0">
                <a:latin typeface="Calibri"/>
                <a:cs typeface="Calibri"/>
              </a:rPr>
              <a:t>processes </a:t>
            </a:r>
            <a:r>
              <a:rPr sz="2200" spc="-5" dirty="0">
                <a:latin typeface="Calibri"/>
                <a:cs typeface="Calibri"/>
              </a:rPr>
              <a:t>should </a:t>
            </a:r>
            <a:r>
              <a:rPr sz="2200" spc="-10" dirty="0">
                <a:latin typeface="Calibri"/>
                <a:cs typeface="Calibri"/>
              </a:rPr>
              <a:t>use </a:t>
            </a:r>
            <a:r>
              <a:rPr sz="22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setuid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if all 3 IDs </a:t>
            </a:r>
            <a:r>
              <a:rPr sz="2200" spc="-10" dirty="0">
                <a:latin typeface="Calibri"/>
                <a:cs typeface="Calibri"/>
              </a:rPr>
              <a:t>need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changed,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seteuid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if only </a:t>
            </a:r>
            <a:r>
              <a:rPr lang="en-US" sz="2200" spc="-5" dirty="0">
                <a:latin typeface="Calibri"/>
                <a:cs typeface="Calibri"/>
              </a:rPr>
              <a:t>the </a:t>
            </a:r>
            <a:r>
              <a:rPr sz="2200" spc="-20" dirty="0">
                <a:latin typeface="Calibri"/>
                <a:cs typeface="Calibri"/>
              </a:rPr>
              <a:t>effective </a:t>
            </a:r>
            <a:r>
              <a:rPr sz="2200" spc="-10" dirty="0">
                <a:latin typeface="Calibri"/>
                <a:cs typeface="Calibri"/>
              </a:rPr>
              <a:t>user </a:t>
            </a:r>
            <a:r>
              <a:rPr sz="2200" spc="-5" dirty="0">
                <a:latin typeface="Calibri"/>
                <a:cs typeface="Calibri"/>
              </a:rPr>
              <a:t>ID </a:t>
            </a:r>
            <a:r>
              <a:rPr sz="2200" spc="-10" dirty="0">
                <a:latin typeface="Calibri"/>
                <a:cs typeface="Calibri"/>
              </a:rPr>
              <a:t>needs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changed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Getting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 User and </a:t>
            </a:r>
            <a:r>
              <a:rPr sz="2600" spc="-10" dirty="0">
                <a:latin typeface="Calibri"/>
                <a:cs typeface="Calibri"/>
              </a:rPr>
              <a:t>Group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IDs</a:t>
            </a:r>
            <a:r>
              <a:rPr lang="en-US" sz="2600" spc="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 marR="6525259">
              <a:lnSpc>
                <a:spcPct val="102099"/>
              </a:lnSpc>
              <a:spcBef>
                <a:spcPts val="1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 &lt;unistd.h&gt;  #include</a:t>
            </a:r>
            <a:r>
              <a:rPr sz="2000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&lt;sys/types.h&gt;</a:t>
            </a:r>
          </a:p>
          <a:p>
            <a:pPr marL="469900">
              <a:lnSpc>
                <a:spcPct val="100000"/>
              </a:lnSpc>
              <a:spcBef>
                <a:spcPts val="50"/>
              </a:spcBef>
            </a:pP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uid_t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getuid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); 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i="1" spc="5" dirty="0">
                <a:latin typeface="Consolas"/>
                <a:cs typeface="Consolas"/>
              </a:rPr>
              <a:t>// </a:t>
            </a:r>
            <a:r>
              <a:rPr lang="en-US" sz="2000" i="1" dirty="0">
                <a:latin typeface="Consolas"/>
                <a:cs typeface="Consolas"/>
              </a:rPr>
              <a:t>G</a:t>
            </a:r>
            <a:r>
              <a:rPr sz="2000" i="1" dirty="0">
                <a:latin typeface="Consolas"/>
                <a:cs typeface="Consolas"/>
              </a:rPr>
              <a:t>et </a:t>
            </a:r>
            <a:r>
              <a:rPr lang="en-US" sz="2000" i="1" dirty="0">
                <a:latin typeface="Consolas"/>
                <a:cs typeface="Consolas"/>
              </a:rPr>
              <a:t>the </a:t>
            </a:r>
            <a:r>
              <a:rPr sz="2000" i="1" spc="5" dirty="0">
                <a:latin typeface="Consolas"/>
                <a:cs typeface="Consolas"/>
              </a:rPr>
              <a:t>real </a:t>
            </a:r>
            <a:r>
              <a:rPr sz="2000" i="1" dirty="0">
                <a:latin typeface="Consolas"/>
                <a:cs typeface="Consolas"/>
              </a:rPr>
              <a:t>user</a:t>
            </a:r>
            <a:r>
              <a:rPr sz="2000" i="1" spc="70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ID</a:t>
            </a:r>
            <a:r>
              <a:rPr lang="en-US" sz="2000" i="1" dirty="0">
                <a:latin typeface="Consolas"/>
                <a:cs typeface="Consolas"/>
              </a:rPr>
              <a:t>.</a:t>
            </a:r>
            <a:endParaRPr sz="2000" i="1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gid_t getgid</a:t>
            </a:r>
            <a:r>
              <a:rPr sz="2000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  </a:t>
            </a:r>
            <a:r>
              <a:rPr lang="en-US" sz="2000" i="1" dirty="0">
                <a:latin typeface="Consolas"/>
              </a:rPr>
              <a:t>// Get the real group ID.</a:t>
            </a:r>
            <a:endParaRPr sz="2000" i="1" dirty="0">
              <a:latin typeface="Consolas"/>
            </a:endParaRPr>
          </a:p>
          <a:p>
            <a:pPr marL="469900" marR="3195955">
              <a:lnSpc>
                <a:spcPct val="102099"/>
              </a:lnSpc>
              <a:spcBef>
                <a:spcPts val="5"/>
              </a:spcBef>
            </a:pP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uid_t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geteuid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); </a:t>
            </a:r>
            <a:r>
              <a:rPr sz="2000" i="1" spc="5" dirty="0">
                <a:latin typeface="Consolas"/>
              </a:rPr>
              <a:t>// </a:t>
            </a:r>
            <a:r>
              <a:rPr lang="en-US" sz="2000" i="1" spc="5" dirty="0">
                <a:latin typeface="Consolas"/>
              </a:rPr>
              <a:t>G</a:t>
            </a:r>
            <a:r>
              <a:rPr sz="2000" i="1" spc="5" dirty="0">
                <a:latin typeface="Consolas"/>
              </a:rPr>
              <a:t>et </a:t>
            </a:r>
            <a:r>
              <a:rPr lang="en-US" sz="2000" i="1" spc="5" dirty="0">
                <a:latin typeface="Consolas"/>
              </a:rPr>
              <a:t>the </a:t>
            </a:r>
            <a:r>
              <a:rPr sz="2000" i="1" spc="5" dirty="0">
                <a:latin typeface="Consolas"/>
              </a:rPr>
              <a:t>effective user ID</a:t>
            </a:r>
            <a:r>
              <a:rPr lang="en-US" sz="2000" i="1" spc="5" dirty="0">
                <a:latin typeface="Consolas"/>
              </a:rPr>
              <a:t>.</a:t>
            </a:r>
          </a:p>
          <a:p>
            <a:pPr marL="469900" marR="3195955">
              <a:spcBef>
                <a:spcPts val="35"/>
              </a:spcBef>
            </a:pP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gid_t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getegid</a:t>
            </a:r>
            <a:r>
              <a:rPr sz="2000" spc="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i="1" dirty="0">
                <a:latin typeface="Consolas"/>
              </a:rPr>
              <a:t>// Get the effective group ID.</a:t>
            </a: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dirty="0">
                <a:latin typeface="Calibri"/>
                <a:cs typeface="Calibri"/>
              </a:rPr>
              <a:t>These </a:t>
            </a:r>
            <a:r>
              <a:rPr lang="en-US" sz="2600" spc="-15" dirty="0">
                <a:latin typeface="Calibri"/>
                <a:cs typeface="Calibri"/>
              </a:rPr>
              <a:t>system calls </a:t>
            </a:r>
            <a:r>
              <a:rPr lang="en-US" sz="2600" spc="-10" dirty="0">
                <a:latin typeface="Calibri"/>
                <a:cs typeface="Calibri"/>
              </a:rPr>
              <a:t>always succeed: they never fail</a:t>
            </a:r>
            <a:r>
              <a:rPr lang="en-US" sz="2600" spc="-15" dirty="0">
                <a:latin typeface="Calibri"/>
                <a:cs typeface="Calibri"/>
              </a:rPr>
              <a:t>.</a:t>
            </a:r>
            <a:endParaRPr lang="en-US"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3379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Sessions </a:t>
            </a:r>
            <a:r>
              <a:rPr spc="-20" dirty="0"/>
              <a:t>and </a:t>
            </a:r>
            <a:r>
              <a:rPr spc="-50" dirty="0"/>
              <a:t>Process</a:t>
            </a:r>
            <a:r>
              <a:rPr spc="-245" dirty="0"/>
              <a:t> </a:t>
            </a:r>
            <a:r>
              <a:rPr spc="-50" dirty="0"/>
              <a:t>Groups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16938" y="1773377"/>
            <a:ext cx="10436861" cy="4016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Each process </a:t>
            </a:r>
            <a:r>
              <a:rPr sz="2400" dirty="0">
                <a:latin typeface="Calibri"/>
                <a:cs typeface="Calibri"/>
              </a:rPr>
              <a:t>is a member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i="1" spc="-5" dirty="0">
                <a:latin typeface="Calibri"/>
                <a:cs typeface="Calibri"/>
              </a:rPr>
              <a:t>process</a:t>
            </a:r>
            <a:r>
              <a:rPr sz="2400" i="1" spc="-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group</a:t>
            </a:r>
            <a:r>
              <a:rPr sz="2400" dirty="0">
                <a:latin typeface="Calibri"/>
                <a:cs typeface="Calibri"/>
              </a:rPr>
              <a:t>:</a:t>
            </a:r>
          </a:p>
          <a:p>
            <a:pPr marL="698500" marR="138430" lvl="1" indent="-228600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collection </a:t>
            </a:r>
            <a:r>
              <a:rPr sz="2000" spc="-5" dirty="0">
                <a:latin typeface="Calibri"/>
                <a:cs typeface="Calibri"/>
              </a:rPr>
              <a:t>of one or </a:t>
            </a:r>
            <a:r>
              <a:rPr sz="2000" spc="-10" dirty="0">
                <a:latin typeface="Calibri"/>
                <a:cs typeface="Calibri"/>
              </a:rPr>
              <a:t>more processes associated </a:t>
            </a:r>
            <a:r>
              <a:rPr sz="2000" spc="-5" dirty="0">
                <a:latin typeface="Calibri"/>
                <a:cs typeface="Calibri"/>
              </a:rPr>
              <a:t>with each other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Signals can </a:t>
            </a:r>
            <a:r>
              <a:rPr sz="2000" spc="-5" dirty="0">
                <a:latin typeface="Calibri"/>
                <a:cs typeface="Calibri"/>
              </a:rPr>
              <a:t>be </a:t>
            </a:r>
            <a:r>
              <a:rPr sz="2000" spc="-10" dirty="0">
                <a:latin typeface="Calibri"/>
                <a:cs typeface="Calibri"/>
              </a:rPr>
              <a:t>sent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all </a:t>
            </a:r>
            <a:r>
              <a:rPr lang="en-US"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processes </a:t>
            </a:r>
            <a:r>
              <a:rPr sz="2000" dirty="0">
                <a:latin typeface="Calibri"/>
                <a:cs typeface="Calibri"/>
              </a:rPr>
              <a:t>in the </a:t>
            </a:r>
            <a:r>
              <a:rPr sz="2000" spc="-10" dirty="0">
                <a:latin typeface="Calibri"/>
                <a:cs typeface="Calibri"/>
              </a:rPr>
              <a:t>group </a:t>
            </a:r>
            <a:r>
              <a:rPr sz="2000" spc="-5" dirty="0">
                <a:latin typeface="Calibri"/>
                <a:cs typeface="Calibri"/>
              </a:rPr>
              <a:t>(</a:t>
            </a:r>
            <a:r>
              <a:rPr lang="en-US" sz="2000" spc="-5" dirty="0">
                <a:latin typeface="Calibri"/>
                <a:cs typeface="Calibri"/>
              </a:rPr>
              <a:t>e.g., </a:t>
            </a:r>
            <a:r>
              <a:rPr sz="2000" spc="-5" dirty="0">
                <a:latin typeface="Calibri"/>
                <a:cs typeface="Calibri"/>
              </a:rPr>
              <a:t>terminating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all</a:t>
            </a:r>
            <a:r>
              <a:rPr lang="en-US" sz="2000" spc="-5" dirty="0">
                <a:latin typeface="Calibri"/>
                <a:cs typeface="Calibri"/>
              </a:rPr>
              <a:t> at once.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Each process group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i="1" spc="-5" dirty="0">
                <a:latin typeface="Calibri"/>
                <a:cs typeface="Calibri"/>
              </a:rPr>
              <a:t>process group </a:t>
            </a:r>
            <a:r>
              <a:rPr sz="2400" i="1" dirty="0">
                <a:latin typeface="Calibri"/>
                <a:cs typeface="Calibri"/>
              </a:rPr>
              <a:t>ID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pgid</a:t>
            </a:r>
            <a:r>
              <a:rPr sz="2400" spc="-5" dirty="0">
                <a:latin typeface="Calibri"/>
                <a:cs typeface="Calibri"/>
              </a:rPr>
              <a:t>) </a:t>
            </a:r>
            <a:r>
              <a:rPr sz="2400" dirty="0">
                <a:latin typeface="Calibri"/>
                <a:cs typeface="Calibri"/>
              </a:rPr>
              <a:t>and a </a:t>
            </a:r>
            <a:r>
              <a:rPr sz="2400" i="1" spc="-5" dirty="0">
                <a:latin typeface="Calibri"/>
                <a:cs typeface="Calibri"/>
              </a:rPr>
              <a:t>process group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leader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dirty="0">
                <a:cs typeface="Calibri"/>
              </a:rPr>
              <a:t>The </a:t>
            </a:r>
            <a:r>
              <a:rPr lang="en-US" sz="2000" spc="-10" dirty="0">
                <a:cs typeface="Calibri"/>
              </a:rPr>
              <a:t>process group</a:t>
            </a:r>
            <a:r>
              <a:rPr lang="en-US" sz="2000" spc="15" dirty="0">
                <a:cs typeface="Calibri"/>
              </a:rPr>
              <a:t> </a:t>
            </a:r>
            <a:r>
              <a:rPr lang="en-US" sz="2000" spc="-10" dirty="0">
                <a:cs typeface="Calibri"/>
              </a:rPr>
              <a:t>will keep existing as long as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there </a:t>
            </a:r>
            <a:r>
              <a:rPr sz="2000" dirty="0">
                <a:latin typeface="Calibri"/>
                <a:cs typeface="Calibri"/>
              </a:rPr>
              <a:t>is one </a:t>
            </a:r>
            <a:r>
              <a:rPr sz="2000" spc="-5" dirty="0">
                <a:latin typeface="Calibri"/>
                <a:cs typeface="Calibri"/>
              </a:rPr>
              <a:t>remaining </a:t>
            </a:r>
            <a:r>
              <a:rPr sz="2000" spc="-30" dirty="0">
                <a:latin typeface="Calibri"/>
                <a:cs typeface="Calibri"/>
              </a:rPr>
              <a:t>member</a:t>
            </a:r>
            <a:r>
              <a:rPr lang="en-US" sz="2000" spc="-30" dirty="0">
                <a:latin typeface="Calibri"/>
                <a:cs typeface="Calibri"/>
              </a:rPr>
              <a:t> in the group.</a:t>
            </a:r>
            <a:r>
              <a:rPr sz="2000" spc="-30" dirty="0">
                <a:latin typeface="Calibri"/>
                <a:cs typeface="Calibri"/>
              </a:rPr>
              <a:t> 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It </a:t>
            </a:r>
            <a:r>
              <a:rPr sz="2000" spc="-5" dirty="0">
                <a:latin typeface="Calibri"/>
                <a:cs typeface="Calibri"/>
              </a:rPr>
              <a:t>continues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20" dirty="0">
                <a:latin typeface="Calibri"/>
                <a:cs typeface="Calibri"/>
              </a:rPr>
              <a:t>exist </a:t>
            </a:r>
            <a:r>
              <a:rPr sz="2000" spc="-10" dirty="0">
                <a:latin typeface="Calibri"/>
                <a:cs typeface="Calibri"/>
              </a:rPr>
              <a:t>even </a:t>
            </a:r>
            <a:r>
              <a:rPr sz="2000" dirty="0">
                <a:latin typeface="Calibri"/>
                <a:cs typeface="Calibri"/>
              </a:rPr>
              <a:t>if the </a:t>
            </a:r>
            <a:r>
              <a:rPr sz="2000" spc="-10" dirty="0">
                <a:latin typeface="Calibri"/>
                <a:cs typeface="Calibri"/>
              </a:rPr>
              <a:t>process group </a:t>
            </a:r>
            <a:r>
              <a:rPr sz="2000" dirty="0">
                <a:latin typeface="Calibri"/>
                <a:cs typeface="Calibri"/>
              </a:rPr>
              <a:t>leader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terminates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ts val="259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When a </a:t>
            </a:r>
            <a:r>
              <a:rPr sz="2400" spc="-5" dirty="0">
                <a:latin typeface="Calibri"/>
                <a:cs typeface="Calibri"/>
              </a:rPr>
              <a:t>new user </a:t>
            </a:r>
            <a:r>
              <a:rPr sz="2400" dirty="0">
                <a:latin typeface="Calibri"/>
                <a:cs typeface="Calibri"/>
              </a:rPr>
              <a:t>logs </a:t>
            </a:r>
            <a:r>
              <a:rPr sz="2400" spc="-15" dirty="0">
                <a:latin typeface="Calibri"/>
                <a:cs typeface="Calibri"/>
              </a:rPr>
              <a:t>into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lang="en-US" sz="2400" dirty="0">
                <a:latin typeface="Calibri"/>
                <a:cs typeface="Calibri"/>
              </a:rPr>
              <a:t>Linux </a:t>
            </a:r>
            <a:r>
              <a:rPr sz="2400" dirty="0">
                <a:latin typeface="Calibri"/>
                <a:cs typeface="Calibri"/>
              </a:rPr>
              <a:t>machine, the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 creates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spc="-17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session</a:t>
            </a:r>
            <a:r>
              <a:rPr lang="en-US" sz="2400" i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sz="2400" spc="-10" dirty="0">
                <a:latin typeface="Calibri"/>
                <a:cs typeface="Calibri"/>
              </a:rPr>
              <a:t>consists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single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– the </a:t>
            </a:r>
            <a:r>
              <a:rPr sz="2400" spc="-10" dirty="0">
                <a:latin typeface="Calibri"/>
                <a:cs typeface="Calibri"/>
              </a:rPr>
              <a:t>user’s </a:t>
            </a:r>
            <a:r>
              <a:rPr sz="2400" spc="-5" dirty="0">
                <a:latin typeface="Calibri"/>
                <a:cs typeface="Calibri"/>
              </a:rPr>
              <a:t>shell</a:t>
            </a:r>
            <a:r>
              <a:rPr lang="en-US" sz="2400" spc="-5" dirty="0">
                <a:latin typeface="Calibri"/>
                <a:cs typeface="Calibri"/>
              </a:rPr>
              <a:t> (e.g.,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lang="en-US" sz="2400" spc="-5" dirty="0">
                <a:latin typeface="Calibri"/>
                <a:cs typeface="Calibri"/>
              </a:rPr>
              <a:t> or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bash</a:t>
            </a:r>
            <a:r>
              <a:rPr lang="en-US" sz="2400" spc="-5" dirty="0">
                <a:latin typeface="Calibri"/>
                <a:cs typeface="Calibri"/>
              </a:rPr>
              <a:t>.)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The shell </a:t>
            </a:r>
            <a:r>
              <a:rPr lang="en-US" sz="2000" dirty="0">
                <a:latin typeface="Calibri"/>
                <a:cs typeface="Calibri"/>
              </a:rPr>
              <a:t>becomes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i="1" dirty="0">
                <a:latin typeface="Calibri"/>
                <a:cs typeface="Calibri"/>
              </a:rPr>
              <a:t>session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leader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000" spc="-5" dirty="0">
                <a:latin typeface="Calibri"/>
                <a:cs typeface="Calibri"/>
              </a:rPr>
              <a:t> of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session </a:t>
            </a:r>
            <a:r>
              <a:rPr sz="2000" dirty="0">
                <a:latin typeface="Calibri"/>
                <a:cs typeface="Calibri"/>
              </a:rPr>
              <a:t>leader is the </a:t>
            </a:r>
            <a:r>
              <a:rPr sz="2000" i="1" spc="-5" dirty="0">
                <a:latin typeface="Calibri"/>
                <a:cs typeface="Calibri"/>
              </a:rPr>
              <a:t>session </a:t>
            </a:r>
            <a:r>
              <a:rPr sz="2000" i="1" dirty="0">
                <a:latin typeface="Calibri"/>
                <a:cs typeface="Calibri"/>
              </a:rPr>
              <a:t>ID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session </a:t>
            </a:r>
            <a:r>
              <a:rPr sz="2000" dirty="0">
                <a:latin typeface="Calibri"/>
                <a:cs typeface="Calibri"/>
              </a:rPr>
              <a:t>is a </a:t>
            </a:r>
            <a:r>
              <a:rPr sz="2000" spc="-5" dirty="0">
                <a:latin typeface="Calibri"/>
                <a:cs typeface="Calibri"/>
              </a:rPr>
              <a:t>collection of one or </a:t>
            </a:r>
            <a:r>
              <a:rPr sz="2000" spc="-10" dirty="0">
                <a:latin typeface="Calibri"/>
                <a:cs typeface="Calibri"/>
              </a:rPr>
              <a:t>more process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groups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Sessions </a:t>
            </a:r>
            <a:r>
              <a:rPr sz="2000" spc="-10" dirty="0">
                <a:latin typeface="Calibri"/>
                <a:cs typeface="Calibri"/>
              </a:rPr>
              <a:t>arrange </a:t>
            </a:r>
            <a:r>
              <a:rPr sz="2000" dirty="0">
                <a:latin typeface="Calibri"/>
                <a:cs typeface="Calibri"/>
              </a:rPr>
              <a:t>a logged-in </a:t>
            </a:r>
            <a:r>
              <a:rPr sz="2000" spc="-10" dirty="0">
                <a:latin typeface="Calibri"/>
                <a:cs typeface="Calibri"/>
              </a:rPr>
              <a:t>user’s </a:t>
            </a:r>
            <a:r>
              <a:rPr sz="2000" spc="-5" dirty="0">
                <a:latin typeface="Calibri"/>
                <a:cs typeface="Calibri"/>
              </a:rPr>
              <a:t>activities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associate </a:t>
            </a:r>
            <a:r>
              <a:rPr sz="2000" dirty="0">
                <a:latin typeface="Calibri"/>
                <a:cs typeface="Calibri"/>
              </a:rPr>
              <a:t>it with a </a:t>
            </a:r>
            <a:r>
              <a:rPr sz="2000" i="1" spc="-5" dirty="0">
                <a:latin typeface="Calibri"/>
                <a:cs typeface="Calibri"/>
              </a:rPr>
              <a:t>controlling</a:t>
            </a:r>
            <a:r>
              <a:rPr sz="2000" i="1" spc="13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terminal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911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Sessions </a:t>
            </a:r>
            <a:r>
              <a:rPr spc="-20" dirty="0"/>
              <a:t>and </a:t>
            </a:r>
            <a:r>
              <a:rPr spc="-50" dirty="0"/>
              <a:t>Process Groups</a:t>
            </a:r>
            <a:r>
              <a:rPr spc="-250" dirty="0"/>
              <a:t> </a:t>
            </a:r>
            <a:r>
              <a:rPr spc="-25" dirty="0"/>
              <a:t>(cont’)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56613"/>
            <a:ext cx="10817862" cy="3834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54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Sessions </a:t>
            </a:r>
            <a:r>
              <a:rPr sz="2200" spc="-15" dirty="0">
                <a:latin typeface="Calibri"/>
                <a:cs typeface="Calibri"/>
              </a:rPr>
              <a:t>exist to </a:t>
            </a:r>
            <a:r>
              <a:rPr lang="en-US" sz="2200" spc="-10" dirty="0">
                <a:latin typeface="Calibri"/>
                <a:cs typeface="Calibri"/>
              </a:rPr>
              <a:t>relate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logins </a:t>
            </a:r>
            <a:r>
              <a:rPr lang="en-US" sz="2200" spc="-10" dirty="0">
                <a:latin typeface="Calibri"/>
                <a:cs typeface="Calibri"/>
              </a:rPr>
              <a:t>with 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terminals</a:t>
            </a:r>
            <a:r>
              <a:rPr lang="en-US" sz="2200" spc="-5" dirty="0">
                <a:latin typeface="Calibri"/>
                <a:cs typeface="Calibri"/>
              </a:rPr>
              <a:t> in which actions take place.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18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10" dirty="0">
                <a:latin typeface="Calibri"/>
                <a:cs typeface="Calibri"/>
              </a:rPr>
              <a:t>Process </a:t>
            </a:r>
            <a:r>
              <a:rPr sz="1900" spc="-15" dirty="0">
                <a:latin typeface="Calibri"/>
                <a:cs typeface="Calibri"/>
              </a:rPr>
              <a:t>groups </a:t>
            </a:r>
            <a:r>
              <a:rPr sz="1900" spc="-5" dirty="0">
                <a:latin typeface="Calibri"/>
                <a:cs typeface="Calibri"/>
              </a:rPr>
              <a:t>in a session </a:t>
            </a:r>
            <a:r>
              <a:rPr sz="1900" spc="-10" dirty="0">
                <a:latin typeface="Calibri"/>
                <a:cs typeface="Calibri"/>
              </a:rPr>
              <a:t>are </a:t>
            </a:r>
            <a:r>
              <a:rPr sz="1900" spc="-5" dirty="0">
                <a:latin typeface="Calibri"/>
                <a:cs typeface="Calibri"/>
              </a:rPr>
              <a:t>divided </a:t>
            </a:r>
            <a:r>
              <a:rPr sz="1900" spc="-15" dirty="0">
                <a:latin typeface="Calibri"/>
                <a:cs typeface="Calibri"/>
              </a:rPr>
              <a:t>into </a:t>
            </a:r>
            <a:r>
              <a:rPr sz="1900" spc="-5" dirty="0">
                <a:latin typeface="Calibri"/>
                <a:cs typeface="Calibri"/>
              </a:rPr>
              <a:t>a single </a:t>
            </a:r>
            <a:r>
              <a:rPr sz="1900" i="1" spc="-10" dirty="0">
                <a:latin typeface="Calibri"/>
                <a:cs typeface="Calibri"/>
              </a:rPr>
              <a:t>foreground process group </a:t>
            </a:r>
            <a:r>
              <a:rPr sz="1900" spc="-5" dirty="0">
                <a:latin typeface="Calibri"/>
                <a:cs typeface="Calibri"/>
              </a:rPr>
              <a:t>and </a:t>
            </a:r>
            <a:r>
              <a:rPr sz="1900" spc="-25" dirty="0">
                <a:latin typeface="Calibri"/>
                <a:cs typeface="Calibri"/>
              </a:rPr>
              <a:t>zero </a:t>
            </a:r>
            <a:r>
              <a:rPr sz="1900" spc="-5" dirty="0">
                <a:latin typeface="Calibri"/>
                <a:cs typeface="Calibri"/>
              </a:rPr>
              <a:t>or</a:t>
            </a:r>
            <a:r>
              <a:rPr lang="en-US" sz="1900" spc="-2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more</a:t>
            </a:r>
            <a:endParaRPr sz="1900" dirty="0">
              <a:latin typeface="Calibri"/>
              <a:cs typeface="Calibri"/>
            </a:endParaRPr>
          </a:p>
          <a:p>
            <a:pPr marL="698500">
              <a:lnSpc>
                <a:spcPts val="1850"/>
              </a:lnSpc>
            </a:pPr>
            <a:r>
              <a:rPr sz="1900" i="1" spc="-15" dirty="0">
                <a:latin typeface="Calibri"/>
                <a:cs typeface="Calibri"/>
              </a:rPr>
              <a:t>background </a:t>
            </a:r>
            <a:r>
              <a:rPr sz="1900" i="1" spc="-10" dirty="0">
                <a:latin typeface="Calibri"/>
                <a:cs typeface="Calibri"/>
              </a:rPr>
              <a:t>process</a:t>
            </a:r>
            <a:r>
              <a:rPr sz="1900" i="1" spc="15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groups</a:t>
            </a:r>
            <a:r>
              <a:rPr lang="en-US" sz="1900" spc="-10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21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Calibri"/>
                <a:cs typeface="Calibri"/>
              </a:rPr>
              <a:t>When a user </a:t>
            </a:r>
            <a:r>
              <a:rPr sz="1900" spc="-10" dirty="0">
                <a:latin typeface="Calibri"/>
                <a:cs typeface="Calibri"/>
              </a:rPr>
              <a:t>exits </a:t>
            </a:r>
            <a:r>
              <a:rPr sz="1900" spc="-5" dirty="0">
                <a:latin typeface="Calibri"/>
                <a:cs typeface="Calibri"/>
              </a:rPr>
              <a:t>a terminal, a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SIGQUIT</a:t>
            </a:r>
            <a:r>
              <a:rPr sz="1900" spc="-5" dirty="0">
                <a:latin typeface="Calibri"/>
                <a:cs typeface="Calibri"/>
              </a:rPr>
              <a:t> is </a:t>
            </a:r>
            <a:r>
              <a:rPr sz="1900" spc="-10" dirty="0">
                <a:latin typeface="Calibri"/>
                <a:cs typeface="Calibri"/>
              </a:rPr>
              <a:t>sent </a:t>
            </a:r>
            <a:r>
              <a:rPr sz="1900" spc="-15" dirty="0">
                <a:latin typeface="Calibri"/>
                <a:cs typeface="Calibri"/>
              </a:rPr>
              <a:t>to </a:t>
            </a:r>
            <a:r>
              <a:rPr sz="1900" spc="-5" dirty="0">
                <a:latin typeface="Calibri"/>
                <a:cs typeface="Calibri"/>
              </a:rPr>
              <a:t>all </a:t>
            </a:r>
            <a:r>
              <a:rPr sz="1900" spc="-10" dirty="0">
                <a:latin typeface="Calibri"/>
                <a:cs typeface="Calibri"/>
              </a:rPr>
              <a:t>processes </a:t>
            </a:r>
            <a:r>
              <a:rPr sz="1900" spc="-5" dirty="0">
                <a:latin typeface="Calibri"/>
                <a:cs typeface="Calibri"/>
              </a:rPr>
              <a:t>in the </a:t>
            </a:r>
            <a:r>
              <a:rPr sz="1900" spc="-15" dirty="0">
                <a:latin typeface="Calibri"/>
                <a:cs typeface="Calibri"/>
              </a:rPr>
              <a:t>foreground process</a:t>
            </a:r>
            <a:r>
              <a:rPr sz="1900" spc="15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group</a:t>
            </a:r>
            <a:r>
              <a:rPr lang="en-US" sz="1900" spc="-1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241300" indent="-228600">
              <a:lnSpc>
                <a:spcPts val="255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Example: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0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Calibri"/>
                <a:cs typeface="Calibri"/>
              </a:rPr>
              <a:t>A user </a:t>
            </a:r>
            <a:r>
              <a:rPr sz="1900" spc="-10" dirty="0">
                <a:latin typeface="Calibri"/>
                <a:cs typeface="Calibri"/>
              </a:rPr>
              <a:t>logs </a:t>
            </a:r>
            <a:r>
              <a:rPr sz="1900" spc="-15" dirty="0">
                <a:latin typeface="Calibri"/>
                <a:cs typeface="Calibri"/>
              </a:rPr>
              <a:t>into </a:t>
            </a: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5" dirty="0">
                <a:latin typeface="Calibri"/>
                <a:cs typeface="Calibri"/>
              </a:rPr>
              <a:t>system</a:t>
            </a:r>
            <a:r>
              <a:rPr lang="en-US" sz="1900" spc="-15" dirty="0">
                <a:latin typeface="Calibri"/>
                <a:cs typeface="Calibri"/>
              </a:rPr>
              <a:t>.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lang="en-US" sz="1900" spc="-5" dirty="0">
                <a:latin typeface="Calibri"/>
                <a:cs typeface="Calibri"/>
              </a:rPr>
              <a:t>The </a:t>
            </a:r>
            <a:r>
              <a:rPr sz="1900" spc="-5" dirty="0">
                <a:latin typeface="Calibri"/>
                <a:cs typeface="Calibri"/>
              </a:rPr>
              <a:t>shell</a:t>
            </a:r>
            <a:r>
              <a:rPr lang="en-US" sz="1900" spc="-5" dirty="0">
                <a:latin typeface="Calibri"/>
                <a:cs typeface="Calibri"/>
              </a:rPr>
              <a:t> that starts running</a:t>
            </a:r>
            <a:r>
              <a:rPr sz="1900" spc="-5" dirty="0">
                <a:latin typeface="Calibri"/>
                <a:cs typeface="Calibri"/>
              </a:rPr>
              <a:t>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bash</a:t>
            </a:r>
            <a:r>
              <a:rPr sz="1900" spc="-5" dirty="0">
                <a:latin typeface="Calibri"/>
                <a:cs typeface="Calibri"/>
              </a:rPr>
              <a:t>, has the </a:t>
            </a:r>
            <a:r>
              <a:rPr sz="19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1900" spc="95" dirty="0">
                <a:latin typeface="Calibri"/>
                <a:cs typeface="Calibri"/>
              </a:rPr>
              <a:t> </a:t>
            </a:r>
            <a:r>
              <a:rPr lang="en-US" sz="1900" spc="95" dirty="0">
                <a:latin typeface="Calibri"/>
                <a:cs typeface="Calibri"/>
              </a:rPr>
              <a:t>of </a:t>
            </a:r>
            <a:r>
              <a:rPr sz="1900" spc="-10" dirty="0">
                <a:latin typeface="Calibri"/>
                <a:cs typeface="Calibri"/>
              </a:rPr>
              <a:t>1700</a:t>
            </a:r>
            <a:r>
              <a:rPr lang="en-US" sz="1900" spc="-10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20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10" dirty="0">
                <a:latin typeface="Calibri"/>
                <a:cs typeface="Calibri"/>
              </a:rPr>
              <a:t>The </a:t>
            </a:r>
            <a:r>
              <a:rPr sz="1900" spc="-15" dirty="0">
                <a:latin typeface="Calibri"/>
                <a:cs typeface="Calibri"/>
              </a:rPr>
              <a:t>user’s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bash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instance </a:t>
            </a:r>
            <a:r>
              <a:rPr sz="1900" spc="-5" dirty="0">
                <a:latin typeface="Calibri"/>
                <a:cs typeface="Calibri"/>
              </a:rPr>
              <a:t>is </a:t>
            </a:r>
            <a:r>
              <a:rPr sz="1900" spc="-15" dirty="0">
                <a:latin typeface="Calibri"/>
                <a:cs typeface="Calibri"/>
              </a:rPr>
              <a:t>now </a:t>
            </a: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sole </a:t>
            </a:r>
            <a:r>
              <a:rPr sz="1900" spc="-5" dirty="0">
                <a:latin typeface="Calibri"/>
                <a:cs typeface="Calibri"/>
              </a:rPr>
              <a:t>member and leader of a </a:t>
            </a:r>
            <a:r>
              <a:rPr sz="1900" spc="-10" dirty="0">
                <a:latin typeface="Calibri"/>
                <a:cs typeface="Calibri"/>
              </a:rPr>
              <a:t>new </a:t>
            </a:r>
            <a:r>
              <a:rPr sz="1900" spc="-15" dirty="0">
                <a:latin typeface="Calibri"/>
                <a:cs typeface="Calibri"/>
              </a:rPr>
              <a:t>process group </a:t>
            </a:r>
            <a:r>
              <a:rPr sz="1900" dirty="0">
                <a:latin typeface="Calibri"/>
                <a:cs typeface="Calibri"/>
              </a:rPr>
              <a:t>(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pgid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=</a:t>
            </a:r>
            <a:r>
              <a:rPr sz="1900" spc="3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1700</a:t>
            </a:r>
            <a:r>
              <a:rPr lang="en-US" sz="1900" spc="-5" dirty="0">
                <a:cs typeface="Calibri"/>
              </a:rPr>
              <a:t>.</a:t>
            </a:r>
            <a:r>
              <a:rPr sz="1900" spc="-5" dirty="0">
                <a:latin typeface="Calibri"/>
                <a:cs typeface="Calibri"/>
              </a:rPr>
              <a:t>)</a:t>
            </a:r>
            <a:endParaRPr sz="19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59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10" dirty="0">
                <a:latin typeface="Calibri"/>
                <a:cs typeface="Calibri"/>
              </a:rPr>
              <a:t>This </a:t>
            </a:r>
            <a:r>
              <a:rPr sz="1900" spc="-15" dirty="0">
                <a:latin typeface="Calibri"/>
                <a:cs typeface="Calibri"/>
              </a:rPr>
              <a:t>process group </a:t>
            </a:r>
            <a:r>
              <a:rPr sz="1900" spc="-5" dirty="0">
                <a:latin typeface="Calibri"/>
                <a:cs typeface="Calibri"/>
              </a:rPr>
              <a:t>is inside a </a:t>
            </a:r>
            <a:r>
              <a:rPr sz="1900" spc="-10" dirty="0">
                <a:latin typeface="Calibri"/>
                <a:cs typeface="Calibri"/>
              </a:rPr>
              <a:t>new session </a:t>
            </a:r>
            <a:r>
              <a:rPr sz="1900" spc="-5" dirty="0">
                <a:latin typeface="Calibri"/>
                <a:cs typeface="Calibri"/>
              </a:rPr>
              <a:t>with the session ID = 1700, and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bash</a:t>
            </a:r>
            <a:r>
              <a:rPr sz="1900" spc="-5" dirty="0">
                <a:latin typeface="Calibri"/>
                <a:cs typeface="Calibri"/>
              </a:rPr>
              <a:t> is </a:t>
            </a:r>
            <a:r>
              <a:rPr lang="en-US" sz="1900" spc="-5" dirty="0">
                <a:latin typeface="Calibri"/>
                <a:cs typeface="Calibri"/>
              </a:rPr>
              <a:t>also </a:t>
            </a: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sole </a:t>
            </a:r>
            <a:r>
              <a:rPr sz="1900" spc="-5" dirty="0">
                <a:latin typeface="Calibri"/>
                <a:cs typeface="Calibri"/>
              </a:rPr>
              <a:t>member and the leader of this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session</a:t>
            </a:r>
            <a:r>
              <a:rPr lang="en-US" sz="1900" spc="-10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20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1900" spc="-10" dirty="0">
                <a:latin typeface="Calibri"/>
                <a:cs typeface="Calibri"/>
              </a:rPr>
              <a:t>C</a:t>
            </a:r>
            <a:r>
              <a:rPr sz="1900" spc="-10" dirty="0">
                <a:latin typeface="Calibri"/>
                <a:cs typeface="Calibri"/>
              </a:rPr>
              <a:t>ommands</a:t>
            </a:r>
            <a:r>
              <a:rPr lang="en-US" sz="1900" spc="-10" dirty="0">
                <a:latin typeface="Calibri"/>
                <a:cs typeface="Calibri"/>
              </a:rPr>
              <a:t> that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</a:t>
            </a:r>
            <a:r>
              <a:rPr lang="en-US" sz="1900" spc="-5" dirty="0">
                <a:latin typeface="Calibri"/>
                <a:cs typeface="Calibri"/>
              </a:rPr>
              <a:t>is</a:t>
            </a:r>
            <a:r>
              <a:rPr sz="1900" spc="-5" dirty="0">
                <a:latin typeface="Calibri"/>
                <a:cs typeface="Calibri"/>
              </a:rPr>
              <a:t> user runs in the shell run in a </a:t>
            </a:r>
            <a:r>
              <a:rPr sz="1900" spc="-10" dirty="0">
                <a:latin typeface="Calibri"/>
                <a:cs typeface="Calibri"/>
              </a:rPr>
              <a:t>new </a:t>
            </a:r>
            <a:r>
              <a:rPr sz="1900" spc="-15" dirty="0">
                <a:latin typeface="Calibri"/>
                <a:cs typeface="Calibri"/>
              </a:rPr>
              <a:t>process groups </a:t>
            </a:r>
            <a:r>
              <a:rPr sz="1900" spc="-10" dirty="0">
                <a:latin typeface="Calibri"/>
                <a:cs typeface="Calibri"/>
              </a:rPr>
              <a:t>but </a:t>
            </a:r>
            <a:r>
              <a:rPr lang="en-US" sz="1900" spc="-10" dirty="0">
                <a:latin typeface="Calibri"/>
                <a:cs typeface="Calibri"/>
              </a:rPr>
              <a:t>still </a:t>
            </a:r>
            <a:r>
              <a:rPr sz="1900" spc="-5" dirty="0">
                <a:latin typeface="Calibri"/>
                <a:cs typeface="Calibri"/>
              </a:rPr>
              <a:t>within </a:t>
            </a:r>
            <a:r>
              <a:rPr sz="1900" spc="-10" dirty="0">
                <a:latin typeface="Calibri"/>
                <a:cs typeface="Calibri"/>
              </a:rPr>
              <a:t>session</a:t>
            </a:r>
            <a:r>
              <a:rPr sz="1900" spc="24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1700</a:t>
            </a:r>
            <a:r>
              <a:rPr lang="en-US" sz="1900" spc="-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18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Calibri"/>
                <a:cs typeface="Calibri"/>
              </a:rPr>
              <a:t>One of </a:t>
            </a:r>
            <a:r>
              <a:rPr sz="1900" dirty="0">
                <a:latin typeface="Calibri"/>
                <a:cs typeface="Calibri"/>
              </a:rPr>
              <a:t>these </a:t>
            </a:r>
            <a:r>
              <a:rPr sz="1900" spc="-15" dirty="0">
                <a:latin typeface="Calibri"/>
                <a:cs typeface="Calibri"/>
              </a:rPr>
              <a:t>process groups </a:t>
            </a:r>
            <a:r>
              <a:rPr sz="1900" spc="-5" dirty="0">
                <a:latin typeface="Calibri"/>
                <a:cs typeface="Calibri"/>
              </a:rPr>
              <a:t>is the </a:t>
            </a:r>
            <a:r>
              <a:rPr sz="1900" spc="-15" dirty="0">
                <a:latin typeface="Calibri"/>
                <a:cs typeface="Calibri"/>
              </a:rPr>
              <a:t>foreground process group. </a:t>
            </a:r>
            <a:r>
              <a:rPr sz="1900" spc="-5" dirty="0">
                <a:latin typeface="Calibri"/>
                <a:cs typeface="Calibri"/>
              </a:rPr>
              <a:t>All the other </a:t>
            </a:r>
            <a:r>
              <a:rPr sz="1900" spc="-15" dirty="0">
                <a:latin typeface="Calibri"/>
                <a:cs typeface="Calibri"/>
              </a:rPr>
              <a:t>process groups </a:t>
            </a:r>
            <a:r>
              <a:rPr sz="1900" spc="-10" dirty="0">
                <a:latin typeface="Calibri"/>
                <a:cs typeface="Calibri"/>
              </a:rPr>
              <a:t>are</a:t>
            </a:r>
            <a:endParaRPr sz="1900" dirty="0">
              <a:latin typeface="Calibri"/>
              <a:cs typeface="Calibri"/>
            </a:endParaRPr>
          </a:p>
          <a:p>
            <a:pPr marL="698500">
              <a:lnSpc>
                <a:spcPts val="1939"/>
              </a:lnSpc>
            </a:pPr>
            <a:r>
              <a:rPr sz="1900" spc="-10" dirty="0">
                <a:latin typeface="Calibri"/>
                <a:cs typeface="Calibri"/>
              </a:rPr>
              <a:t>background </a:t>
            </a:r>
            <a:r>
              <a:rPr sz="1900" spc="-15" dirty="0">
                <a:latin typeface="Calibri"/>
                <a:cs typeface="Calibri"/>
              </a:rPr>
              <a:t>process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groups</a:t>
            </a:r>
            <a:r>
              <a:rPr lang="en-US" sz="1900" spc="-1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241300" marR="17589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On a </a:t>
            </a:r>
            <a:r>
              <a:rPr sz="2200" spc="-10" dirty="0">
                <a:latin typeface="Calibri"/>
                <a:cs typeface="Calibri"/>
              </a:rPr>
              <a:t>given </a:t>
            </a:r>
            <a:r>
              <a:rPr sz="2200" spc="-20" dirty="0">
                <a:latin typeface="Calibri"/>
                <a:cs typeface="Calibri"/>
              </a:rPr>
              <a:t>system, </a:t>
            </a:r>
            <a:r>
              <a:rPr sz="2200" spc="-10" dirty="0">
                <a:latin typeface="Calibri"/>
                <a:cs typeface="Calibri"/>
              </a:rPr>
              <a:t>there are </a:t>
            </a:r>
            <a:r>
              <a:rPr sz="2200" spc="-15" dirty="0">
                <a:latin typeface="Calibri"/>
                <a:cs typeface="Calibri"/>
              </a:rPr>
              <a:t>many </a:t>
            </a:r>
            <a:r>
              <a:rPr sz="2200" dirty="0">
                <a:latin typeface="Calibri"/>
                <a:cs typeface="Calibri"/>
              </a:rPr>
              <a:t>sessions: </a:t>
            </a:r>
            <a:r>
              <a:rPr sz="2200" spc="-10" dirty="0">
                <a:latin typeface="Calibri"/>
                <a:cs typeface="Calibri"/>
              </a:rPr>
              <a:t>one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5" dirty="0">
                <a:latin typeface="Calibri"/>
                <a:cs typeface="Calibri"/>
              </a:rPr>
              <a:t>each user session, and </a:t>
            </a:r>
            <a:r>
              <a:rPr sz="2200" spc="-10" dirty="0">
                <a:latin typeface="Calibri"/>
                <a:cs typeface="Calibri"/>
              </a:rPr>
              <a:t>others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5" dirty="0">
                <a:latin typeface="Calibri"/>
                <a:cs typeface="Calibri"/>
              </a:rPr>
              <a:t>processes </a:t>
            </a:r>
            <a:r>
              <a:rPr lang="en-US" sz="2200" spc="-5" dirty="0">
                <a:latin typeface="Calibri"/>
                <a:cs typeface="Calibri"/>
              </a:rPr>
              <a:t>that are </a:t>
            </a:r>
            <a:r>
              <a:rPr sz="2200" spc="-5" dirty="0">
                <a:latin typeface="Calibri"/>
                <a:cs typeface="Calibri"/>
              </a:rPr>
              <a:t>not tied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user </a:t>
            </a:r>
            <a:r>
              <a:rPr sz="2200" dirty="0">
                <a:latin typeface="Calibri"/>
                <a:cs typeface="Calibri"/>
              </a:rPr>
              <a:t>sessions, </a:t>
            </a:r>
            <a:r>
              <a:rPr sz="2200" spc="-5" dirty="0">
                <a:latin typeface="Calibri"/>
                <a:cs typeface="Calibri"/>
              </a:rPr>
              <a:t>such as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daemons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911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Sessions </a:t>
            </a:r>
            <a:r>
              <a:rPr spc="-20" dirty="0"/>
              <a:t>and </a:t>
            </a:r>
            <a:r>
              <a:rPr spc="-50" dirty="0"/>
              <a:t>Process Groups</a:t>
            </a:r>
            <a:r>
              <a:rPr spc="-250" dirty="0"/>
              <a:t> </a:t>
            </a:r>
            <a:r>
              <a:rPr spc="-25" dirty="0"/>
              <a:t>(cont’)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14474"/>
            <a:ext cx="7388861" cy="3971599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 command </a:t>
            </a:r>
            <a:r>
              <a:rPr lang="en-US" sz="2000" spc="-5" dirty="0">
                <a:latin typeface="Calibri"/>
                <a:cs typeface="Calibri"/>
              </a:rPr>
              <a:t>in the terminal </a:t>
            </a:r>
            <a:r>
              <a:rPr sz="2000" dirty="0">
                <a:latin typeface="Calibri"/>
                <a:cs typeface="Calibri"/>
              </a:rPr>
              <a:t>such as this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one:</a:t>
            </a:r>
          </a:p>
          <a:p>
            <a:pPr marL="237744">
              <a:lnSpc>
                <a:spcPct val="100000"/>
              </a:lnSpc>
              <a:spcBef>
                <a:spcPts val="770"/>
              </a:spcBef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cat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ship-inventory.txt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|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grep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booty | 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sort</a:t>
            </a:r>
            <a:endParaRPr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37744" marR="5080">
              <a:lnSpc>
                <a:spcPts val="2160"/>
              </a:lnSpc>
              <a:spcBef>
                <a:spcPts val="1030"/>
              </a:spcBef>
            </a:pPr>
            <a:r>
              <a:rPr sz="2000" spc="-5" dirty="0">
                <a:latin typeface="Calibri"/>
                <a:cs typeface="Calibri"/>
              </a:rPr>
              <a:t>results </a:t>
            </a:r>
            <a:r>
              <a:rPr sz="2000" dirty="0">
                <a:latin typeface="Calibri"/>
                <a:cs typeface="Calibri"/>
              </a:rPr>
              <a:t>in </a:t>
            </a:r>
            <a:r>
              <a:rPr sz="2000" spc="-5" dirty="0">
                <a:latin typeface="Calibri"/>
                <a:cs typeface="Calibri"/>
              </a:rPr>
              <a:t>one </a:t>
            </a:r>
            <a:r>
              <a:rPr sz="2000" spc="-10" dirty="0">
                <a:latin typeface="Calibri"/>
                <a:cs typeface="Calibri"/>
              </a:rPr>
              <a:t>process group </a:t>
            </a:r>
            <a:r>
              <a:rPr sz="2000" spc="-5" dirty="0">
                <a:latin typeface="Calibri"/>
                <a:cs typeface="Calibri"/>
              </a:rPr>
              <a:t>containing three </a:t>
            </a:r>
            <a:r>
              <a:rPr sz="2000" spc="-10" dirty="0">
                <a:latin typeface="Calibri"/>
                <a:cs typeface="Calibri"/>
              </a:rPr>
              <a:t>processes</a:t>
            </a:r>
            <a:r>
              <a:rPr lang="en-US" sz="2000" spc="-10" dirty="0">
                <a:latin typeface="Calibri"/>
                <a:cs typeface="Calibri"/>
              </a:rPr>
              <a:t>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 </a:t>
            </a:r>
            <a:r>
              <a:rPr sz="2000" spc="-5" dirty="0">
                <a:latin typeface="Calibri"/>
                <a:cs typeface="Calibri"/>
              </a:rPr>
              <a:t>can  </a:t>
            </a:r>
            <a:r>
              <a:rPr sz="2000" spc="-10" dirty="0">
                <a:latin typeface="Calibri"/>
                <a:cs typeface="Calibri"/>
              </a:rPr>
              <a:t>receive </a:t>
            </a:r>
            <a:r>
              <a:rPr sz="2000" dirty="0">
                <a:latin typeface="Calibri"/>
                <a:cs typeface="Calibri"/>
              </a:rPr>
              <a:t>signals </a:t>
            </a:r>
            <a:r>
              <a:rPr sz="2000" spc="-15" dirty="0">
                <a:latin typeface="Calibri"/>
                <a:cs typeface="Calibri"/>
              </a:rPr>
              <a:t>from </a:t>
            </a:r>
            <a:r>
              <a:rPr lang="en-US" sz="2000" spc="-15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shell </a:t>
            </a:r>
            <a:r>
              <a:rPr sz="2000" dirty="0">
                <a:latin typeface="Calibri"/>
                <a:cs typeface="Calibri"/>
              </a:rPr>
              <a:t>all </a:t>
            </a:r>
            <a:r>
              <a:rPr sz="2000" spc="-15" dirty="0">
                <a:latin typeface="Calibri"/>
                <a:cs typeface="Calibri"/>
              </a:rPr>
              <a:t>at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once</a:t>
            </a:r>
            <a:r>
              <a:rPr lang="en-US" sz="200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ts val="2160"/>
              </a:lnSpc>
              <a:spcBef>
                <a:spcPts val="72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Since no ‘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sz="2000" dirty="0">
                <a:latin typeface="Calibri"/>
                <a:cs typeface="Calibri"/>
              </a:rPr>
              <a:t>’ is used </a:t>
            </a:r>
            <a:r>
              <a:rPr sz="2000" spc="-10" dirty="0">
                <a:latin typeface="Calibri"/>
                <a:cs typeface="Calibri"/>
              </a:rPr>
              <a:t>at </a:t>
            </a:r>
            <a:r>
              <a:rPr sz="2000" dirty="0">
                <a:latin typeface="Calibri"/>
                <a:cs typeface="Calibri"/>
              </a:rPr>
              <a:t>the end, th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group </a:t>
            </a:r>
            <a:r>
              <a:rPr lang="en-US" sz="2000" dirty="0">
                <a:latin typeface="Calibri"/>
                <a:cs typeface="Calibri"/>
              </a:rPr>
              <a:t>will</a:t>
            </a:r>
            <a:r>
              <a:rPr sz="2000" dirty="0">
                <a:latin typeface="Calibri"/>
                <a:cs typeface="Calibri"/>
              </a:rPr>
              <a:t> </a:t>
            </a:r>
            <a:endParaRPr lang="en-US" sz="20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tabLst>
                <a:tab pos="240665" algn="l"/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    run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lang="en-US" sz="2000" spc="-7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foreground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 figure shows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relationship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between</a:t>
            </a:r>
            <a:r>
              <a:rPr lang="en-US" sz="2000" spc="-5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Sessions</a:t>
            </a:r>
            <a:r>
              <a:rPr lang="en-US" sz="2000" spc="-10" dirty="0">
                <a:latin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groups</a:t>
            </a:r>
            <a:r>
              <a:rPr lang="en-US" sz="2000" spc="-15" dirty="0">
                <a:latin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Processes,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Controlling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terminals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19800" y="3273491"/>
            <a:ext cx="6057899" cy="30907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487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Session </a:t>
            </a:r>
            <a:r>
              <a:rPr spc="-60" dirty="0"/>
              <a:t>System</a:t>
            </a:r>
            <a:r>
              <a:rPr spc="-229" dirty="0"/>
              <a:t> </a:t>
            </a:r>
            <a:r>
              <a:rPr spc="-20" dirty="0"/>
              <a:t>Calls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6939" y="1765757"/>
            <a:ext cx="10894061" cy="46983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Shells </a:t>
            </a:r>
            <a:r>
              <a:rPr sz="2600" spc="-10" dirty="0">
                <a:latin typeface="Calibri"/>
                <a:cs typeface="Calibri"/>
              </a:rPr>
              <a:t>create </a:t>
            </a:r>
            <a:r>
              <a:rPr sz="2600" spc="-5" dirty="0">
                <a:latin typeface="Calibri"/>
                <a:cs typeface="Calibri"/>
              </a:rPr>
              <a:t>new </a:t>
            </a:r>
            <a:r>
              <a:rPr sz="2600" dirty="0">
                <a:latin typeface="Calibri"/>
                <a:cs typeface="Calibri"/>
              </a:rPr>
              <a:t>sessions </a:t>
            </a:r>
            <a:r>
              <a:rPr lang="en-US" sz="2600" dirty="0">
                <a:latin typeface="Calibri"/>
                <a:cs typeface="Calibri"/>
              </a:rPr>
              <a:t>during</a:t>
            </a:r>
            <a:r>
              <a:rPr sz="2600" dirty="0">
                <a:latin typeface="Calibri"/>
                <a:cs typeface="Calibri"/>
              </a:rPr>
              <a:t> login via a </a:t>
            </a:r>
            <a:r>
              <a:rPr sz="2600" spc="-20" dirty="0">
                <a:latin typeface="Calibri"/>
                <a:cs typeface="Calibri"/>
              </a:rPr>
              <a:t>system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call:</a:t>
            </a:r>
            <a:endParaRPr sz="2600" dirty="0">
              <a:latin typeface="Calibri"/>
              <a:cs typeface="Calibri"/>
            </a:endParaRPr>
          </a:p>
          <a:p>
            <a:pPr marL="469900" marR="7141209">
              <a:lnSpc>
                <a:spcPct val="101600"/>
              </a:lnSpc>
              <a:spcBef>
                <a:spcPts val="40"/>
              </a:spcBef>
              <a:spcAft>
                <a:spcPts val="600"/>
              </a:spcAft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 &lt;unistd.h&gt; </a:t>
            </a:r>
            <a:endParaRPr lang="en-US" sz="19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7141209">
              <a:lnSpc>
                <a:spcPct val="101600"/>
              </a:lnSpc>
              <a:spcBef>
                <a:spcPts val="40"/>
              </a:spcBef>
            </a:pPr>
            <a:r>
              <a:rPr sz="1900" spc="-5" dirty="0" err="1">
                <a:solidFill>
                  <a:srgbClr val="0070C0"/>
                </a:solidFill>
                <a:latin typeface="Consolas"/>
                <a:cs typeface="Consolas"/>
              </a:rPr>
              <a:t>pid_t</a:t>
            </a:r>
            <a:r>
              <a:rPr sz="19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setsid</a:t>
            </a:r>
            <a:r>
              <a:rPr sz="19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</a:p>
          <a:p>
            <a:pPr marL="241300" marR="62865" indent="-228600">
              <a:lnSpc>
                <a:spcPts val="25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It </a:t>
            </a:r>
            <a:r>
              <a:rPr sz="2600" spc="-10" dirty="0">
                <a:latin typeface="Calibri"/>
                <a:cs typeface="Calibri"/>
              </a:rPr>
              <a:t>creates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new session (assuming </a:t>
            </a:r>
            <a:r>
              <a:rPr lang="en-US" sz="2600" spc="-5" dirty="0">
                <a:latin typeface="Calibri"/>
                <a:cs typeface="Calibri"/>
              </a:rPr>
              <a:t>that the </a:t>
            </a:r>
            <a:r>
              <a:rPr sz="2600" spc="-5" dirty="0">
                <a:latin typeface="Calibri"/>
                <a:cs typeface="Calibri"/>
              </a:rPr>
              <a:t>current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dirty="0">
                <a:latin typeface="Calibri"/>
                <a:cs typeface="Calibri"/>
              </a:rPr>
              <a:t>is not </a:t>
            </a:r>
            <a:r>
              <a:rPr sz="2600" spc="-5" dirty="0">
                <a:latin typeface="Calibri"/>
                <a:cs typeface="Calibri"/>
              </a:rPr>
              <a:t>already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process </a:t>
            </a:r>
            <a:r>
              <a:rPr sz="2600" spc="-10" dirty="0">
                <a:latin typeface="Calibri"/>
                <a:cs typeface="Calibri"/>
              </a:rPr>
              <a:t>group </a:t>
            </a:r>
            <a:r>
              <a:rPr sz="2600" dirty="0">
                <a:latin typeface="Calibri"/>
                <a:cs typeface="Calibri"/>
              </a:rPr>
              <a:t>leader</a:t>
            </a:r>
            <a:r>
              <a:rPr lang="en-US" sz="2600" dirty="0">
                <a:cs typeface="Calibri"/>
              </a:rPr>
              <a:t>,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in which </a:t>
            </a: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calling process becomes </a:t>
            </a:r>
            <a:r>
              <a:rPr sz="2600" spc="-5" dirty="0">
                <a:latin typeface="Calibri"/>
                <a:cs typeface="Calibri"/>
              </a:rPr>
              <a:t>the session leader and </a:t>
            </a:r>
            <a:r>
              <a:rPr lang="en-US" sz="2600" spc="-5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sole member of the </a:t>
            </a:r>
            <a:r>
              <a:rPr sz="2600" spc="-15" dirty="0">
                <a:latin typeface="Calibri"/>
                <a:cs typeface="Calibri"/>
              </a:rPr>
              <a:t>new </a:t>
            </a:r>
            <a:r>
              <a:rPr sz="2600" spc="-5" dirty="0">
                <a:latin typeface="Calibri"/>
                <a:cs typeface="Calibri"/>
              </a:rPr>
              <a:t>session, which </a:t>
            </a:r>
            <a:r>
              <a:rPr sz="2600" spc="-10" dirty="0">
                <a:latin typeface="Calibri"/>
                <a:cs typeface="Calibri"/>
              </a:rPr>
              <a:t>has </a:t>
            </a:r>
            <a:r>
              <a:rPr sz="2600" spc="-5" dirty="0">
                <a:latin typeface="Calibri"/>
                <a:cs typeface="Calibri"/>
              </a:rPr>
              <a:t>no </a:t>
            </a:r>
            <a:r>
              <a:rPr sz="2600" spc="-10" dirty="0">
                <a:latin typeface="Calibri"/>
                <a:cs typeface="Calibri"/>
              </a:rPr>
              <a:t>associated </a:t>
            </a:r>
            <a:r>
              <a:rPr sz="2600" spc="-15" dirty="0">
                <a:latin typeface="Calibri"/>
                <a:cs typeface="Calibri"/>
              </a:rPr>
              <a:t>controlling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tty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(terminal)</a:t>
            </a:r>
            <a:r>
              <a:rPr lang="en-US" sz="2600" spc="-10" dirty="0">
                <a:latin typeface="Calibri"/>
                <a:cs typeface="Calibri"/>
              </a:rPr>
              <a:t>.</a:t>
            </a:r>
          </a:p>
          <a:p>
            <a:pPr marL="241300" marR="62865" indent="-228600">
              <a:lnSpc>
                <a:spcPts val="25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</a:t>
            </a:r>
            <a:r>
              <a:rPr lang="en-US" sz="2600" spc="-5" dirty="0">
                <a:latin typeface="Calibri"/>
                <a:cs typeface="Calibri"/>
              </a:rPr>
              <a:t>is</a:t>
            </a:r>
            <a:r>
              <a:rPr sz="2600" spc="-5" dirty="0">
                <a:latin typeface="Calibri"/>
                <a:cs typeface="Calibri"/>
              </a:rPr>
              <a:t> call </a:t>
            </a:r>
            <a:r>
              <a:rPr sz="2600" dirty="0">
                <a:latin typeface="Calibri"/>
                <a:cs typeface="Calibri"/>
              </a:rPr>
              <a:t>also </a:t>
            </a:r>
            <a:r>
              <a:rPr sz="2600" spc="-10" dirty="0">
                <a:latin typeface="Calibri"/>
                <a:cs typeface="Calibri"/>
              </a:rPr>
              <a:t>creates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new process </a:t>
            </a:r>
            <a:r>
              <a:rPr sz="2600" spc="-10" dirty="0">
                <a:latin typeface="Calibri"/>
                <a:cs typeface="Calibri"/>
              </a:rPr>
              <a:t>group </a:t>
            </a:r>
            <a:r>
              <a:rPr sz="2600" dirty="0">
                <a:latin typeface="Calibri"/>
                <a:cs typeface="Calibri"/>
              </a:rPr>
              <a:t>inside the </a:t>
            </a:r>
            <a:r>
              <a:rPr sz="2600" spc="-5" dirty="0">
                <a:latin typeface="Calibri"/>
                <a:cs typeface="Calibri"/>
              </a:rPr>
              <a:t>session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makes the calling process the process group leader and </a:t>
            </a:r>
            <a:r>
              <a:rPr lang="en-US" sz="2600" dirty="0">
                <a:latin typeface="Calibri"/>
                <a:cs typeface="Calibri"/>
              </a:rPr>
              <a:t>its </a:t>
            </a:r>
            <a:r>
              <a:rPr sz="2600" dirty="0">
                <a:latin typeface="Calibri"/>
                <a:cs typeface="Calibri"/>
              </a:rPr>
              <a:t>sole member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Both </a:t>
            </a:r>
            <a:r>
              <a:rPr sz="2200" spc="-5" dirty="0">
                <a:latin typeface="Calibri"/>
                <a:cs typeface="Calibri"/>
              </a:rPr>
              <a:t>the session/process </a:t>
            </a:r>
            <a:r>
              <a:rPr sz="2200" spc="-15" dirty="0">
                <a:latin typeface="Calibri"/>
                <a:cs typeface="Calibri"/>
              </a:rPr>
              <a:t>group </a:t>
            </a:r>
            <a:r>
              <a:rPr sz="2200" dirty="0">
                <a:latin typeface="Calibri"/>
                <a:cs typeface="Calibri"/>
              </a:rPr>
              <a:t>IDs </a:t>
            </a:r>
            <a:r>
              <a:rPr sz="2200" spc="-10" dirty="0">
                <a:latin typeface="Calibri"/>
                <a:cs typeface="Calibri"/>
              </a:rPr>
              <a:t>are set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calling process’</a:t>
            </a:r>
            <a:r>
              <a:rPr lang="en-US" sz="2200" spc="-10" dirty="0">
                <a:latin typeface="Calibri"/>
                <a:cs typeface="Calibri"/>
              </a:rPr>
              <a:t>s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spc="-10" dirty="0">
              <a:latin typeface="Calibri"/>
              <a:cs typeface="Calibri"/>
            </a:endParaRPr>
          </a:p>
          <a:p>
            <a:pPr marL="241300" marR="537845" indent="-228600">
              <a:lnSpc>
                <a:spcPts val="25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It r</a:t>
            </a:r>
            <a:r>
              <a:rPr sz="2600" spc="-5" dirty="0">
                <a:latin typeface="Calibri"/>
                <a:cs typeface="Calibri"/>
              </a:rPr>
              <a:t>eturns </a:t>
            </a:r>
            <a:r>
              <a:rPr lang="en-US" sz="2600" spc="-5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session </a:t>
            </a:r>
            <a:r>
              <a:rPr sz="2600" dirty="0">
                <a:latin typeface="Calibri"/>
                <a:cs typeface="Calibri"/>
              </a:rPr>
              <a:t>ID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dirty="0">
                <a:latin typeface="Calibri"/>
                <a:cs typeface="Calibri"/>
              </a:rPr>
              <a:t>success</a:t>
            </a:r>
            <a:r>
              <a:rPr lang="en-US" sz="2600" dirty="0">
                <a:latin typeface="Calibri"/>
                <a:cs typeface="Calibri"/>
              </a:rPr>
              <a:t>. On error, it returns </a:t>
            </a:r>
            <a:r>
              <a:rPr sz="2600" spc="-5" dirty="0">
                <a:latin typeface="Calibri"/>
                <a:cs typeface="Calibri"/>
              </a:rPr>
              <a:t>-1 </a:t>
            </a:r>
            <a:r>
              <a:rPr lang="en-US" sz="2600" spc="-5" dirty="0">
                <a:latin typeface="Calibri"/>
                <a:cs typeface="Calibri"/>
              </a:rPr>
              <a:t>and sets 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(the only </a:t>
            </a:r>
            <a:r>
              <a:rPr lang="en-US" sz="2600" spc="-5" dirty="0">
                <a:latin typeface="Calibri"/>
                <a:cs typeface="Calibri"/>
              </a:rPr>
              <a:t>possible </a:t>
            </a:r>
            <a:r>
              <a:rPr sz="2600" spc="-10" dirty="0">
                <a:latin typeface="Calibri"/>
                <a:cs typeface="Calibri"/>
              </a:rPr>
              <a:t>error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EPERM</a:t>
            </a:r>
            <a:r>
              <a:rPr lang="en-US" sz="2600" dirty="0">
                <a:latin typeface="Calibri"/>
                <a:cs typeface="Calibri"/>
              </a:rPr>
              <a:t>, </a:t>
            </a:r>
            <a:r>
              <a:rPr lang="en-US" sz="2600" spc="-5" dirty="0">
                <a:latin typeface="Calibri"/>
                <a:cs typeface="Calibri"/>
              </a:rPr>
              <a:t>indicating that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process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lang="en-US" sz="2600" spc="-5" dirty="0">
                <a:latin typeface="Calibri"/>
                <a:cs typeface="Calibri"/>
              </a:rPr>
              <a:t>some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process </a:t>
            </a:r>
            <a:r>
              <a:rPr sz="2600" spc="-10" dirty="0">
                <a:latin typeface="Calibri"/>
                <a:cs typeface="Calibri"/>
              </a:rPr>
              <a:t>group</a:t>
            </a:r>
            <a:r>
              <a:rPr lang="en-US" sz="2600" spc="-10" dirty="0">
                <a:latin typeface="Calibri"/>
                <a:cs typeface="Calibri"/>
              </a:rPr>
              <a:t>’s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leader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already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r>
              <a:rPr sz="2600" spc="-5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5694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spc="-15" dirty="0"/>
              <a:t>on</a:t>
            </a:r>
            <a:r>
              <a:rPr spc="-200" dirty="0"/>
              <a:t> </a:t>
            </a:r>
            <a:r>
              <a:rPr sz="40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setsid()</a:t>
            </a:r>
            <a:endParaRPr spc="-3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706841"/>
            <a:ext cx="8930640" cy="4413388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130" dirty="0">
                <a:latin typeface="Calibri"/>
                <a:cs typeface="Calibri"/>
              </a:rPr>
              <a:t>To </a:t>
            </a:r>
            <a:r>
              <a:rPr lang="en-US" sz="2800" spc="-15" dirty="0">
                <a:latin typeface="Calibri"/>
                <a:cs typeface="Calibri"/>
              </a:rPr>
              <a:t>e</a:t>
            </a:r>
            <a:r>
              <a:rPr sz="2800" spc="-15" dirty="0">
                <a:latin typeface="Calibri"/>
                <a:cs typeface="Calibri"/>
              </a:rPr>
              <a:t>nsure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lang="en-US" sz="2800" spc="-15" dirty="0">
                <a:latin typeface="Calibri"/>
                <a:cs typeface="Calibri"/>
              </a:rPr>
              <a:t>c</a:t>
            </a:r>
            <a:r>
              <a:rPr sz="2800" spc="-15" dirty="0">
                <a:latin typeface="Calibri"/>
                <a:cs typeface="Calibri"/>
              </a:rPr>
              <a:t>urrent </a:t>
            </a:r>
            <a:r>
              <a:rPr lang="en-US" sz="2800" spc="-15" dirty="0">
                <a:latin typeface="Calibri"/>
                <a:cs typeface="Calibri"/>
              </a:rPr>
              <a:t>p</a:t>
            </a:r>
            <a:r>
              <a:rPr sz="2800" spc="-15" dirty="0">
                <a:latin typeface="Calibri"/>
                <a:cs typeface="Calibri"/>
              </a:rPr>
              <a:t>rocess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30" dirty="0">
                <a:latin typeface="Calibri"/>
                <a:cs typeface="Calibri"/>
              </a:rPr>
              <a:t>NOT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lang="en-US" sz="2800" spc="-15" dirty="0">
                <a:latin typeface="Calibri"/>
                <a:cs typeface="Calibri"/>
              </a:rPr>
              <a:t>p</a:t>
            </a:r>
            <a:r>
              <a:rPr sz="2800" spc="-15" dirty="0">
                <a:latin typeface="Calibri"/>
                <a:cs typeface="Calibri"/>
              </a:rPr>
              <a:t>rocess </a:t>
            </a:r>
            <a:r>
              <a:rPr lang="en-US" sz="2800" spc="-15" dirty="0">
                <a:latin typeface="Calibri"/>
                <a:cs typeface="Calibri"/>
              </a:rPr>
              <a:t>g</a:t>
            </a:r>
            <a:r>
              <a:rPr sz="2800" spc="-15" dirty="0">
                <a:latin typeface="Calibri"/>
                <a:cs typeface="Calibri"/>
              </a:rPr>
              <a:t>roup </a:t>
            </a:r>
            <a:r>
              <a:rPr lang="en-US" sz="2800" spc="-15" dirty="0">
                <a:latin typeface="Calibri"/>
                <a:cs typeface="Calibri"/>
              </a:rPr>
              <a:t>l</a:t>
            </a:r>
            <a:r>
              <a:rPr sz="2800" spc="-10" dirty="0">
                <a:latin typeface="Calibri"/>
                <a:cs typeface="Calibri"/>
              </a:rPr>
              <a:t>eader</a:t>
            </a:r>
            <a:r>
              <a:rPr lang="en-US" sz="2800" spc="-10" dirty="0">
                <a:latin typeface="Calibri"/>
                <a:cs typeface="Calibri"/>
              </a:rPr>
              <a:t> and to eliminate the error possibility when calling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setsid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  <a:endParaRPr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current process</a:t>
            </a:r>
            <a:r>
              <a:rPr lang="en-US" sz="2800" spc="-15" dirty="0">
                <a:latin typeface="Calibri"/>
                <a:cs typeface="Calibri"/>
              </a:rPr>
              <a:t>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call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4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fork</a:t>
            </a:r>
            <a:r>
              <a:rPr lang="en-US" sz="24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lang="en-US" sz="2800" spc="-25" dirty="0">
                <a:latin typeface="Calibri"/>
                <a:cs typeface="Calibri"/>
              </a:rPr>
              <a:t>Terminate the </a:t>
            </a:r>
            <a:r>
              <a:rPr sz="2800" spc="-20" dirty="0">
                <a:latin typeface="Calibri"/>
                <a:cs typeface="Calibri"/>
              </a:rPr>
              <a:t>parent</a:t>
            </a:r>
            <a:r>
              <a:rPr lang="en-US" sz="2800" spc="4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66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lang="en-US" sz="2800" spc="-25" dirty="0">
                <a:latin typeface="Calibri"/>
                <a:cs typeface="Calibri"/>
              </a:rPr>
              <a:t>Make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child </a:t>
            </a:r>
            <a:r>
              <a:rPr lang="en-US" sz="2800" spc="-20" dirty="0">
                <a:latin typeface="Calibri"/>
                <a:cs typeface="Calibri"/>
              </a:rPr>
              <a:t>call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setsid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800" spc="-25" dirty="0">
                <a:latin typeface="Calibri"/>
                <a:cs typeface="Calibri"/>
              </a:rPr>
              <a:t>.</a:t>
            </a:r>
            <a:endParaRPr sz="2800" spc="-25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800" dirty="0">
              <a:latin typeface="Calibri"/>
              <a:cs typeface="Calibri"/>
            </a:endParaRPr>
          </a:p>
          <a:p>
            <a:pPr marL="12700" rtl="1">
              <a:lnSpc>
                <a:spcPct val="100000"/>
              </a:lnSpc>
            </a:pPr>
            <a:r>
              <a:rPr sz="2800" spc="-15" dirty="0">
                <a:latin typeface="Calibri"/>
                <a:cs typeface="Calibri"/>
              </a:rPr>
              <a:t>Why</a:t>
            </a:r>
            <a:r>
              <a:rPr lang="en-US" sz="2800" spc="-15" dirty="0">
                <a:latin typeface="Calibri"/>
                <a:cs typeface="Calibri"/>
              </a:rPr>
              <a:t> does this help</a:t>
            </a:r>
            <a:r>
              <a:rPr sz="2800" spc="-15" dirty="0">
                <a:latin typeface="Calibri"/>
                <a:cs typeface="Calibri"/>
              </a:rPr>
              <a:t>?</a:t>
            </a:r>
            <a:endParaRPr lang="en-US" sz="2800" spc="-15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spc="-15" dirty="0">
                <a:latin typeface="Calibri"/>
                <a:cs typeface="Calibri"/>
              </a:rPr>
              <a:t>Because a child isn’t a leader of any group.</a:t>
            </a:r>
          </a:p>
          <a:p>
            <a:pPr marL="4699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spc="-15" dirty="0">
                <a:latin typeface="Calibri"/>
                <a:cs typeface="Calibri"/>
              </a:rPr>
              <a:t>As such, the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EPERM</a:t>
            </a:r>
            <a:r>
              <a:rPr lang="en-US" sz="2800" spc="-15" dirty="0">
                <a:latin typeface="Calibri"/>
                <a:cs typeface="Calibri"/>
              </a:rPr>
              <a:t> error won’t occur.</a:t>
            </a:r>
            <a:endParaRPr sz="2800" spc="-15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01000" y="2971800"/>
            <a:ext cx="2743200" cy="297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1907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Obtaining </a:t>
            </a:r>
            <a:r>
              <a:rPr spc="-20" dirty="0"/>
              <a:t>the </a:t>
            </a:r>
            <a:r>
              <a:rPr spc="-45" dirty="0"/>
              <a:t>Current </a:t>
            </a:r>
            <a:r>
              <a:rPr spc="-30" dirty="0"/>
              <a:t>Session</a:t>
            </a:r>
            <a:r>
              <a:rPr spc="-305" dirty="0"/>
              <a:t> </a:t>
            </a:r>
            <a:r>
              <a:rPr spc="-5" dirty="0"/>
              <a:t>ID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780006"/>
            <a:ext cx="10589261" cy="31184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757545">
              <a:lnSpc>
                <a:spcPct val="110800"/>
              </a:lnSpc>
              <a:spcBef>
                <a:spcPts val="10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#define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_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XOPEN_SOURCE</a:t>
            </a:r>
            <a:r>
              <a:rPr sz="2000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500 #include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&lt;unistd.h&gt; </a:t>
            </a:r>
            <a:endParaRPr lang="en-US" sz="2000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5757545">
              <a:lnSpc>
                <a:spcPct val="110800"/>
              </a:lnSpc>
              <a:spcBef>
                <a:spcPts val="105"/>
              </a:spcBef>
            </a:pP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pid_t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getsid (pid_t</a:t>
            </a:r>
            <a:r>
              <a:rPr sz="20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pid);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the session ID of the </a:t>
            </a:r>
            <a:r>
              <a:rPr sz="2800" spc="-10" dirty="0">
                <a:latin typeface="Calibri"/>
                <a:cs typeface="Calibri"/>
              </a:rPr>
              <a:t>process identified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0070C0"/>
                </a:solidFill>
                <a:latin typeface="Consolas"/>
              </a:rPr>
              <a:t>pid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spc="-15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</a:t>
            </a:r>
            <a:r>
              <a:rPr sz="2400" spc="-5" dirty="0" err="1">
                <a:solidFill>
                  <a:srgbClr val="0070C0"/>
                </a:solidFill>
                <a:latin typeface="Consolas"/>
              </a:rPr>
              <a:t>pid</a:t>
            </a:r>
            <a:r>
              <a:rPr lang="en-US" sz="2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0,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5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session </a:t>
            </a:r>
            <a:r>
              <a:rPr sz="2800" spc="-5" dirty="0">
                <a:latin typeface="Calibri"/>
                <a:cs typeface="Calibri"/>
              </a:rPr>
              <a:t>ID of the </a:t>
            </a:r>
            <a:r>
              <a:rPr sz="2800" spc="-10" dirty="0">
                <a:latin typeface="Calibri"/>
                <a:cs typeface="Calibri"/>
              </a:rPr>
              <a:t>calling </a:t>
            </a:r>
            <a:r>
              <a:rPr sz="2800" spc="-15" dirty="0">
                <a:latin typeface="Calibri"/>
                <a:cs typeface="Calibri"/>
              </a:rPr>
              <a:t>process.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5" dirty="0">
                <a:latin typeface="Calibri"/>
                <a:cs typeface="Calibri"/>
              </a:rPr>
              <a:t>error</a:t>
            </a:r>
            <a:r>
              <a:rPr lang="en-US" sz="2800" spc="-15" dirty="0">
                <a:latin typeface="Calibri"/>
                <a:cs typeface="Calibri"/>
              </a:rPr>
              <a:t>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 </a:t>
            </a:r>
            <a:r>
              <a:rPr lang="en-US" sz="2800" spc="-5" dirty="0">
                <a:latin typeface="Calibri"/>
                <a:cs typeface="Calibri"/>
              </a:rPr>
              <a:t>and sets 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lang="en-US" sz="2800" spc="-10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only </a:t>
            </a:r>
            <a:r>
              <a:rPr sz="2800" spc="-15" dirty="0">
                <a:latin typeface="Calibri"/>
                <a:cs typeface="Calibri"/>
              </a:rPr>
              <a:t>error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ESRCH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 </a:t>
            </a:r>
            <a:r>
              <a:rPr sz="2800" spc="-20" dirty="0">
                <a:latin typeface="Calibri"/>
                <a:cs typeface="Calibri"/>
              </a:rPr>
              <a:t>invalid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0070C0"/>
                </a:solidFill>
                <a:latin typeface="Consolas"/>
              </a:rPr>
              <a:t>pid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One would use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getsid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primarily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diagnostic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purposes</a:t>
            </a:r>
            <a:r>
              <a:rPr lang="en-US" sz="2800" spc="-10" dirty="0">
                <a:latin typeface="Calibri"/>
                <a:cs typeface="Calibri"/>
              </a:rPr>
              <a:t>. Example: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47800" y="4898424"/>
            <a:ext cx="4752601" cy="13913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0204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Process Group </a:t>
            </a:r>
            <a:r>
              <a:rPr spc="-60" dirty="0"/>
              <a:t>System</a:t>
            </a:r>
            <a:r>
              <a:rPr spc="-220" dirty="0"/>
              <a:t> </a:t>
            </a:r>
            <a:r>
              <a:rPr spc="-20" dirty="0"/>
              <a:t>Calls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16939" y="1764538"/>
            <a:ext cx="10741661" cy="4398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039"/>
              </a:lnSpc>
              <a:spcBef>
                <a:spcPts val="1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95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set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process </a:t>
            </a:r>
            <a:r>
              <a:rPr sz="2000" spc="-10" dirty="0">
                <a:latin typeface="Calibri"/>
                <a:cs typeface="Calibri"/>
              </a:rPr>
              <a:t>group </a:t>
            </a:r>
            <a:r>
              <a:rPr sz="2000" dirty="0">
                <a:latin typeface="Calibri"/>
                <a:cs typeface="Calibri"/>
              </a:rPr>
              <a:t>ID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process </a:t>
            </a:r>
            <a:r>
              <a:rPr sz="2000" dirty="0">
                <a:latin typeface="Calibri"/>
                <a:cs typeface="Calibri"/>
              </a:rPr>
              <a:t>identified </a:t>
            </a:r>
            <a:r>
              <a:rPr sz="2000" spc="-5" dirty="0">
                <a:latin typeface="Calibri"/>
                <a:cs typeface="Calibri"/>
              </a:rPr>
              <a:t>by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pgid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(i.e.</a:t>
            </a:r>
            <a:r>
              <a:rPr lang="en-US" sz="2000" spc="-5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 a </a:t>
            </a:r>
            <a:r>
              <a:rPr sz="2000" spc="-10" dirty="0">
                <a:latin typeface="Calibri"/>
                <a:cs typeface="Calibri"/>
              </a:rPr>
              <a:t>process </a:t>
            </a:r>
            <a:r>
              <a:rPr lang="en-US" sz="2000" spc="-5" dirty="0">
                <a:latin typeface="Calibri"/>
                <a:cs typeface="Calibri"/>
              </a:rPr>
              <a:t>with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 group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pgid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lang="en-US" sz="200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469900" marR="7396480">
              <a:lnSpc>
                <a:spcPct val="100000"/>
              </a:lnSpc>
              <a:spcAft>
                <a:spcPts val="600"/>
              </a:spcAft>
            </a:pP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#define _XOPEN_SOURCE 500  #include</a:t>
            </a:r>
            <a:r>
              <a:rPr sz="14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&lt;</a:t>
            </a:r>
            <a:r>
              <a:rPr sz="1400" dirty="0" err="1">
                <a:solidFill>
                  <a:srgbClr val="0070C0"/>
                </a:solidFill>
                <a:latin typeface="Consolas"/>
                <a:cs typeface="Consolas"/>
              </a:rPr>
              <a:t>unistd.h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</a:p>
          <a:p>
            <a:pPr marL="469900">
              <a:lnSpc>
                <a:spcPct val="100000"/>
              </a:lnSpc>
            </a:pPr>
            <a:r>
              <a:rPr sz="14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setpgid (pid_t pid, pid_t</a:t>
            </a:r>
            <a:r>
              <a:rPr sz="1400" spc="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pgid);</a:t>
            </a:r>
          </a:p>
          <a:p>
            <a:pPr marL="241300" indent="-228600">
              <a:lnSpc>
                <a:spcPts val="2345"/>
              </a:lnSpc>
              <a:spcBef>
                <a:spcPts val="2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If </a:t>
            </a:r>
            <a:r>
              <a:rPr spc="-5" dirty="0" err="1">
                <a:solidFill>
                  <a:srgbClr val="0070C0"/>
                </a:solidFill>
                <a:latin typeface="Consolas"/>
              </a:rPr>
              <a:t>pid</a:t>
            </a:r>
            <a:r>
              <a:rPr lang="en-US" sz="2000" spc="-5" dirty="0">
                <a:latin typeface="Calibri"/>
                <a:cs typeface="Calibri"/>
              </a:rPr>
              <a:t> is 0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current process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used. </a:t>
            </a:r>
            <a:r>
              <a:rPr sz="2000" dirty="0">
                <a:latin typeface="Calibri"/>
                <a:cs typeface="Calibri"/>
              </a:rPr>
              <a:t>If </a:t>
            </a:r>
            <a:r>
              <a:rPr spc="-5" dirty="0" err="1">
                <a:solidFill>
                  <a:srgbClr val="0070C0"/>
                </a:solidFill>
                <a:latin typeface="Consolas"/>
              </a:rPr>
              <a:t>gpid</a:t>
            </a:r>
            <a:r>
              <a:rPr lang="en-US" sz="2000" dirty="0">
                <a:latin typeface="Calibri"/>
                <a:cs typeface="Calibri"/>
              </a:rPr>
              <a:t> is 0</a:t>
            </a:r>
            <a:r>
              <a:rPr sz="2000" dirty="0">
                <a:latin typeface="Calibri"/>
                <a:cs typeface="Calibri"/>
              </a:rPr>
              <a:t>,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pid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used (i.e.</a:t>
            </a:r>
            <a:r>
              <a:rPr lang="en-US" sz="2000" spc="-5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 become 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 </a:t>
            </a:r>
            <a:r>
              <a:rPr sz="2000" spc="-10" dirty="0">
                <a:latin typeface="Calibri"/>
                <a:cs typeface="Calibri"/>
              </a:rPr>
              <a:t>group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leader</a:t>
            </a:r>
            <a:r>
              <a:rPr lang="en-US" sz="2000" dirty="0">
                <a:latin typeface="Calibri"/>
                <a:cs typeface="Calibri"/>
              </a:rPr>
              <a:t>!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698500" marR="136525" lvl="1" indent="-228600">
              <a:lnSpc>
                <a:spcPct val="70000"/>
              </a:lnSpc>
              <a:spcBef>
                <a:spcPts val="555"/>
              </a:spcBef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600" spc="-5" dirty="0">
                <a:solidFill>
                  <a:srgbClr val="0070C0"/>
                </a:solidFill>
                <a:latin typeface="Consolas"/>
              </a:rPr>
              <a:t>pid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must </a:t>
            </a:r>
            <a:r>
              <a:rPr sz="1700" dirty="0">
                <a:latin typeface="Calibri"/>
                <a:cs typeface="Calibri"/>
              </a:rPr>
              <a:t>be the calling </a:t>
            </a:r>
            <a:r>
              <a:rPr sz="1700" spc="-10" dirty="0">
                <a:latin typeface="Calibri"/>
                <a:cs typeface="Calibri"/>
              </a:rPr>
              <a:t>process </a:t>
            </a:r>
            <a:r>
              <a:rPr sz="1700" dirty="0">
                <a:latin typeface="Calibri"/>
                <a:cs typeface="Calibri"/>
              </a:rPr>
              <a:t>or a </a:t>
            </a:r>
            <a:r>
              <a:rPr sz="1700" spc="-5" dirty="0">
                <a:latin typeface="Calibri"/>
                <a:cs typeface="Calibri"/>
              </a:rPr>
              <a:t>child </a:t>
            </a:r>
            <a:r>
              <a:rPr sz="1700" dirty="0">
                <a:latin typeface="Calibri"/>
                <a:cs typeface="Calibri"/>
              </a:rPr>
              <a:t>of the calling </a:t>
            </a:r>
            <a:r>
              <a:rPr sz="1700" spc="-10" dirty="0">
                <a:latin typeface="Calibri"/>
                <a:cs typeface="Calibri"/>
              </a:rPr>
              <a:t>process </a:t>
            </a:r>
            <a:r>
              <a:rPr sz="1700" spc="-15" dirty="0">
                <a:latin typeface="Calibri"/>
                <a:cs typeface="Calibri"/>
              </a:rPr>
              <a:t>yet </a:t>
            </a:r>
            <a:r>
              <a:rPr sz="1700" spc="-5" dirty="0">
                <a:latin typeface="Calibri"/>
                <a:cs typeface="Calibri"/>
              </a:rPr>
              <a:t>to </a:t>
            </a:r>
            <a:r>
              <a:rPr sz="1700" dirty="0">
                <a:latin typeface="Calibri"/>
                <a:cs typeface="Calibri"/>
              </a:rPr>
              <a:t>issue </a:t>
            </a:r>
            <a:r>
              <a:rPr sz="1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 sz="1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 is in the </a:t>
            </a:r>
            <a:r>
              <a:rPr sz="1700" spc="-5" dirty="0">
                <a:latin typeface="Calibri"/>
                <a:cs typeface="Calibri"/>
              </a:rPr>
              <a:t>same session </a:t>
            </a:r>
            <a:r>
              <a:rPr sz="1700" dirty="0">
                <a:latin typeface="Calibri"/>
                <a:cs typeface="Calibri"/>
              </a:rPr>
              <a:t>as  the calling </a:t>
            </a:r>
            <a:r>
              <a:rPr sz="1700" spc="-10" dirty="0">
                <a:latin typeface="Calibri"/>
                <a:cs typeface="Calibri"/>
              </a:rPr>
              <a:t>process</a:t>
            </a:r>
            <a:r>
              <a:rPr lang="en-US" sz="1700" spc="-10" dirty="0">
                <a:latin typeface="Calibri"/>
                <a:cs typeface="Calibri"/>
              </a:rPr>
              <a:t>.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The </a:t>
            </a:r>
            <a:r>
              <a:rPr sz="1700" spc="-5" dirty="0">
                <a:latin typeface="Calibri"/>
                <a:cs typeface="Calibri"/>
              </a:rPr>
              <a:t>process </a:t>
            </a:r>
            <a:r>
              <a:rPr lang="en-US" sz="1700" spc="-5" dirty="0">
                <a:latin typeface="Calibri"/>
                <a:cs typeface="Calibri"/>
              </a:rPr>
              <a:t>with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</a:rPr>
              <a:t>pid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can’t </a:t>
            </a:r>
            <a:r>
              <a:rPr sz="1700" dirty="0">
                <a:latin typeface="Calibri"/>
                <a:cs typeface="Calibri"/>
              </a:rPr>
              <a:t>be a session </a:t>
            </a:r>
            <a:r>
              <a:rPr sz="1700" spc="-5" dirty="0">
                <a:latin typeface="Calibri"/>
                <a:cs typeface="Calibri"/>
              </a:rPr>
              <a:t>leader </a:t>
            </a:r>
            <a:r>
              <a:rPr sz="1700" dirty="0">
                <a:latin typeface="Calibri"/>
                <a:cs typeface="Calibri"/>
              </a:rPr>
              <a:t>itself </a:t>
            </a:r>
            <a:r>
              <a:rPr sz="1700" spc="-5" dirty="0">
                <a:latin typeface="Calibri"/>
                <a:cs typeface="Calibri"/>
              </a:rPr>
              <a:t>(i.e.</a:t>
            </a:r>
            <a:r>
              <a:rPr lang="en-US" sz="1700" spc="-5" dirty="0">
                <a:latin typeface="Calibri"/>
                <a:cs typeface="Calibri"/>
              </a:rPr>
              <a:t>,</a:t>
            </a:r>
            <a:r>
              <a:rPr sz="1700" spc="-5" dirty="0">
                <a:latin typeface="Calibri"/>
                <a:cs typeface="Calibri"/>
              </a:rPr>
              <a:t> can’t </a:t>
            </a:r>
            <a:r>
              <a:rPr sz="1700" dirty="0">
                <a:latin typeface="Calibri"/>
                <a:cs typeface="Calibri"/>
              </a:rPr>
              <a:t>change a session leader </a:t>
            </a:r>
            <a:r>
              <a:rPr sz="1700" spc="-5" dirty="0">
                <a:latin typeface="Calibri"/>
                <a:cs typeface="Calibri"/>
              </a:rPr>
              <a:t>to </a:t>
            </a:r>
            <a:r>
              <a:rPr lang="en-US" sz="1700" spc="-5" dirty="0">
                <a:latin typeface="Calibri"/>
                <a:cs typeface="Calibri"/>
              </a:rPr>
              <a:t>a </a:t>
            </a:r>
            <a:r>
              <a:rPr sz="1700" spc="-5" dirty="0">
                <a:latin typeface="Calibri"/>
                <a:cs typeface="Calibri"/>
              </a:rPr>
              <a:t>new group</a:t>
            </a:r>
            <a:r>
              <a:rPr lang="en-US" sz="1700" spc="-5" dirty="0">
                <a:cs typeface="Calibri"/>
              </a:rPr>
              <a:t>.</a:t>
            </a:r>
            <a:r>
              <a:rPr sz="1700" spc="-5" dirty="0">
                <a:latin typeface="Calibri"/>
                <a:cs typeface="Calibri"/>
              </a:rPr>
              <a:t>) The to</a:t>
            </a:r>
            <a:r>
              <a:rPr lang="en-US" sz="1700" spc="-5" dirty="0">
                <a:latin typeface="Calibri"/>
                <a:cs typeface="Calibri"/>
              </a:rPr>
              <a:t>-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lang="en-US" sz="1700" dirty="0">
                <a:latin typeface="Calibri"/>
                <a:cs typeface="Calibri"/>
              </a:rPr>
              <a:t>-</a:t>
            </a:r>
            <a:r>
              <a:rPr sz="1700" dirty="0">
                <a:latin typeface="Calibri"/>
                <a:cs typeface="Calibri"/>
              </a:rPr>
              <a:t>assigned </a:t>
            </a:r>
            <a:r>
              <a:rPr sz="1600" spc="-5" dirty="0">
                <a:solidFill>
                  <a:srgbClr val="0070C0"/>
                </a:solidFill>
                <a:latin typeface="Consolas"/>
              </a:rPr>
              <a:t>pgid</a:t>
            </a:r>
            <a:r>
              <a:rPr sz="1700" spc="-5" dirty="0">
                <a:latin typeface="Calibri"/>
                <a:cs typeface="Calibri"/>
              </a:rPr>
              <a:t> must </a:t>
            </a:r>
            <a:r>
              <a:rPr sz="1700" dirty="0">
                <a:latin typeface="Calibri"/>
                <a:cs typeface="Calibri"/>
              </a:rPr>
              <a:t>be in the </a:t>
            </a:r>
            <a:r>
              <a:rPr sz="1700" spc="-5" dirty="0">
                <a:latin typeface="Calibri"/>
                <a:cs typeface="Calibri"/>
              </a:rPr>
              <a:t>same </a:t>
            </a:r>
            <a:r>
              <a:rPr sz="1700" dirty="0">
                <a:latin typeface="Calibri"/>
                <a:cs typeface="Calibri"/>
              </a:rPr>
              <a:t>session as the calling</a:t>
            </a:r>
            <a:r>
              <a:rPr sz="1700" spc="-204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process</a:t>
            </a:r>
            <a:r>
              <a:rPr lang="en-US" sz="1700" spc="-5" dirty="0"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000" spc="-5" dirty="0">
                <a:latin typeface="Calibri"/>
                <a:cs typeface="Calibri"/>
              </a:rPr>
              <a:t>It r</a:t>
            </a:r>
            <a:r>
              <a:rPr sz="2000" spc="-5" dirty="0">
                <a:latin typeface="Calibri"/>
                <a:cs typeface="Calibri"/>
              </a:rPr>
              <a:t>eturns </a:t>
            </a:r>
            <a:r>
              <a:rPr sz="2000" dirty="0">
                <a:latin typeface="Calibri"/>
                <a:cs typeface="Calibri"/>
              </a:rPr>
              <a:t>0 </a:t>
            </a:r>
            <a:r>
              <a:rPr sz="2000" spc="-5" dirty="0"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success</a:t>
            </a:r>
            <a:r>
              <a:rPr lang="en-US" sz="2000" dirty="0">
                <a:latin typeface="Calibri"/>
                <a:cs typeface="Calibri"/>
              </a:rPr>
              <a:t>.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On</a:t>
            </a:r>
            <a:r>
              <a:rPr lang="en-US" sz="2000" spc="-55" dirty="0">
                <a:cs typeface="Calibri"/>
              </a:rPr>
              <a:t> </a:t>
            </a:r>
            <a:r>
              <a:rPr lang="en-US" sz="2000" spc="-10" dirty="0">
                <a:cs typeface="Calibri"/>
              </a:rPr>
              <a:t>error, it returns </a:t>
            </a:r>
            <a:r>
              <a:rPr sz="2000" spc="-5" dirty="0">
                <a:latin typeface="Calibri"/>
                <a:cs typeface="Calibri"/>
              </a:rPr>
              <a:t>-1</a:t>
            </a:r>
            <a:r>
              <a:rPr lang="en-US" sz="2000" spc="-5" dirty="0">
                <a:latin typeface="Calibri"/>
                <a:cs typeface="Calibri"/>
              </a:rPr>
              <a:t> and sets </a:t>
            </a:r>
            <a:r>
              <a:rPr lang="en-US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95" dirty="0">
                <a:latin typeface="Calibri"/>
                <a:cs typeface="Calibri"/>
              </a:rPr>
              <a:t>To </a:t>
            </a:r>
            <a:r>
              <a:rPr lang="en-US" sz="2000" spc="-5" dirty="0">
                <a:latin typeface="Calibri"/>
                <a:cs typeface="Calibri"/>
              </a:rPr>
              <a:t>find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process’</a:t>
            </a:r>
            <a:r>
              <a:rPr lang="en-US" sz="2000" spc="-5" dirty="0">
                <a:latin typeface="Calibri"/>
                <a:cs typeface="Calibri"/>
              </a:rPr>
              <a:t>s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pgid</a:t>
            </a:r>
            <a:r>
              <a:rPr sz="2000" dirty="0">
                <a:latin typeface="Calibri"/>
                <a:cs typeface="Calibri"/>
              </a:rPr>
              <a:t>:</a:t>
            </a:r>
          </a:p>
          <a:p>
            <a:pPr marL="469900">
              <a:lnSpc>
                <a:spcPct val="100000"/>
              </a:lnSpc>
            </a:pP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#define _XOPEN_SOURCE</a:t>
            </a:r>
            <a:r>
              <a:rPr sz="1400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500</a:t>
            </a:r>
          </a:p>
          <a:p>
            <a:pPr marL="469900">
              <a:lnSpc>
                <a:spcPts val="1675"/>
              </a:lnSpc>
              <a:spcBef>
                <a:spcPts val="5"/>
              </a:spcBef>
              <a:spcAft>
                <a:spcPts val="600"/>
              </a:spcAft>
            </a:pP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4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</a:p>
          <a:p>
            <a:pPr marL="469900">
              <a:lnSpc>
                <a:spcPts val="1675"/>
              </a:lnSpc>
            </a:pP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pid_t getpgid (pid_t</a:t>
            </a:r>
            <a:r>
              <a:rPr sz="1400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pid);</a:t>
            </a: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If </a:t>
            </a:r>
            <a:r>
              <a:rPr spc="-5" dirty="0" err="1">
                <a:solidFill>
                  <a:srgbClr val="0070C0"/>
                </a:solidFill>
                <a:latin typeface="Consolas"/>
              </a:rPr>
              <a:t>pid</a:t>
            </a:r>
            <a:r>
              <a:rPr lang="en-US" sz="2000" spc="-5" dirty="0">
                <a:latin typeface="Calibri"/>
                <a:cs typeface="Calibri"/>
              </a:rPr>
              <a:t> is 0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pgid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current process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returned.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Returns </a:t>
            </a:r>
            <a:r>
              <a:rPr lang="en-US" sz="2000" dirty="0">
                <a:latin typeface="Calibri"/>
                <a:cs typeface="Calibri"/>
              </a:rPr>
              <a:t>the </a:t>
            </a:r>
            <a:r>
              <a:rPr lang="en-US" spc="-5" dirty="0" err="1">
                <a:solidFill>
                  <a:srgbClr val="0070C0"/>
                </a:solidFill>
                <a:latin typeface="Consolas"/>
              </a:rPr>
              <a:t>pgid</a:t>
            </a:r>
            <a:r>
              <a:rPr sz="2000" dirty="0">
                <a:latin typeface="Calibri"/>
                <a:cs typeface="Calibri"/>
              </a:rPr>
              <a:t> on success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sz="2000" dirty="0">
                <a:latin typeface="Calibri"/>
                <a:cs typeface="Calibri"/>
              </a:rPr>
              <a:t> -1 on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error</a:t>
            </a:r>
            <a:r>
              <a:rPr lang="en-US" sz="2000" spc="-10" dirty="0">
                <a:latin typeface="Calibri"/>
                <a:cs typeface="Calibri"/>
              </a:rPr>
              <a:t>, in which case it sets </a:t>
            </a:r>
            <a:r>
              <a:rPr lang="en-US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41ACE0-6333-0EEB-7310-D9484C967ABB}"/>
              </a:ext>
            </a:extLst>
          </p:cNvPr>
          <p:cNvGrpSpPr/>
          <p:nvPr/>
        </p:nvGrpSpPr>
        <p:grpSpPr>
          <a:xfrm>
            <a:off x="7043151" y="4419600"/>
            <a:ext cx="4837958" cy="1203239"/>
            <a:chOff x="7043151" y="4419600"/>
            <a:chExt cx="4837958" cy="1203239"/>
          </a:xfrm>
        </p:grpSpPr>
        <p:sp>
          <p:nvSpPr>
            <p:cNvPr id="13" name="object 13"/>
            <p:cNvSpPr/>
            <p:nvPr/>
          </p:nvSpPr>
          <p:spPr>
            <a:xfrm>
              <a:off x="7052336" y="4419600"/>
              <a:ext cx="940134" cy="15483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43151" y="4641435"/>
              <a:ext cx="4837958" cy="9814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1164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D</a:t>
            </a:r>
            <a:r>
              <a:rPr spc="-30" dirty="0"/>
              <a:t>ae</a:t>
            </a:r>
            <a:r>
              <a:rPr spc="-60" dirty="0"/>
              <a:t>m</a:t>
            </a:r>
            <a:r>
              <a:rPr spc="-40" dirty="0"/>
              <a:t>o</a:t>
            </a:r>
            <a:r>
              <a:rPr spc="-60" dirty="0"/>
              <a:t>n</a:t>
            </a:r>
            <a:r>
              <a:rPr dirty="0"/>
              <a:t>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16939" y="1793189"/>
            <a:ext cx="10208261" cy="3559308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760095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process that </a:t>
            </a:r>
            <a:r>
              <a:rPr sz="2800" spc="-5" dirty="0">
                <a:latin typeface="Calibri"/>
                <a:cs typeface="Calibri"/>
              </a:rPr>
              <a:t>runs in the </a:t>
            </a:r>
            <a:r>
              <a:rPr sz="2800" spc="-10" dirty="0">
                <a:latin typeface="Calibri"/>
                <a:cs typeface="Calibri"/>
              </a:rPr>
              <a:t>background, </a:t>
            </a:r>
            <a:r>
              <a:rPr sz="2800" spc="-5" dirty="0">
                <a:latin typeface="Calibri"/>
                <a:cs typeface="Calibri"/>
              </a:rPr>
              <a:t>not </a:t>
            </a:r>
            <a:r>
              <a:rPr sz="2800" spc="-10" dirty="0">
                <a:latin typeface="Calibri"/>
                <a:cs typeface="Calibri"/>
              </a:rPr>
              <a:t>connect</a:t>
            </a:r>
            <a:r>
              <a:rPr lang="en-US" sz="2800" spc="-10" dirty="0">
                <a:latin typeface="Calibri"/>
                <a:cs typeface="Calibri"/>
              </a:rPr>
              <a:t>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20" dirty="0">
                <a:latin typeface="Calibri"/>
                <a:cs typeface="Calibri"/>
              </a:rPr>
              <a:t>any  </a:t>
            </a:r>
            <a:r>
              <a:rPr sz="2800" spc="-15" dirty="0">
                <a:latin typeface="Calibri"/>
                <a:cs typeface="Calibri"/>
              </a:rPr>
              <a:t>controlling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terminal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4033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Usually</a:t>
            </a:r>
            <a:r>
              <a:rPr lang="en-US" sz="2800" spc="-5" dirty="0">
                <a:latin typeface="Calibri"/>
                <a:cs typeface="Calibri"/>
              </a:rPr>
              <a:t>, it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start</a:t>
            </a:r>
            <a:r>
              <a:rPr lang="en-US" sz="2800" spc="-15" dirty="0">
                <a:latin typeface="Calibri"/>
                <a:cs typeface="Calibri"/>
              </a:rPr>
              <a:t>s</a:t>
            </a:r>
            <a:r>
              <a:rPr sz="2800" spc="-15" dirty="0">
                <a:latin typeface="Calibri"/>
                <a:cs typeface="Calibri"/>
              </a:rPr>
              <a:t> at </a:t>
            </a:r>
            <a:r>
              <a:rPr sz="2800" spc="-5" dirty="0">
                <a:latin typeface="Calibri"/>
                <a:cs typeface="Calibri"/>
              </a:rPr>
              <a:t>boot </a:t>
            </a:r>
            <a:r>
              <a:rPr lang="en-US" sz="2800" spc="-5" dirty="0">
                <a:latin typeface="Calibri"/>
                <a:cs typeface="Calibri"/>
              </a:rPr>
              <a:t>(launch) </a:t>
            </a:r>
            <a:r>
              <a:rPr sz="2800" spc="-5" dirty="0">
                <a:latin typeface="Calibri"/>
                <a:cs typeface="Calibri"/>
              </a:rPr>
              <a:t>time, run</a:t>
            </a:r>
            <a:r>
              <a:rPr lang="en-US" sz="2800" spc="-5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 as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sz="2800" spc="-15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handle</a:t>
            </a:r>
            <a:r>
              <a:rPr lang="en-US" sz="2800" spc="-10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system-level </a:t>
            </a:r>
            <a:r>
              <a:rPr sz="2800" spc="-15" dirty="0">
                <a:latin typeface="Calibri"/>
                <a:cs typeface="Calibri"/>
              </a:rPr>
              <a:t>tasks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Conventionally </a:t>
            </a:r>
            <a:r>
              <a:rPr sz="2800" spc="-10" dirty="0">
                <a:latin typeface="Calibri"/>
                <a:cs typeface="Calibri"/>
              </a:rPr>
              <a:t>named </a:t>
            </a:r>
            <a:r>
              <a:rPr sz="2800" spc="-5" dirty="0">
                <a:latin typeface="Calibri"/>
                <a:cs typeface="Calibri"/>
              </a:rPr>
              <a:t>with a </a:t>
            </a:r>
            <a:r>
              <a:rPr sz="2800" spc="-50" dirty="0">
                <a:latin typeface="Calibri"/>
                <a:cs typeface="Calibri"/>
              </a:rPr>
              <a:t>‘d’ </a:t>
            </a:r>
            <a:r>
              <a:rPr sz="2800" spc="-5" dirty="0">
                <a:latin typeface="Calibri"/>
                <a:cs typeface="Calibri"/>
              </a:rPr>
              <a:t>as the </a:t>
            </a:r>
            <a:r>
              <a:rPr sz="2800" spc="-15" dirty="0">
                <a:latin typeface="Calibri"/>
                <a:cs typeface="Calibri"/>
              </a:rPr>
              <a:t>last letter </a:t>
            </a:r>
            <a:r>
              <a:rPr sz="2800" dirty="0">
                <a:latin typeface="Calibri"/>
                <a:cs typeface="Calibri"/>
              </a:rPr>
              <a:t>(e.g.</a:t>
            </a:r>
            <a:r>
              <a:rPr lang="en-US" sz="2800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sshd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httpd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r>
              <a:rPr sz="2800" spc="-2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0" dirty="0">
                <a:latin typeface="Calibri"/>
                <a:cs typeface="Calibri"/>
              </a:rPr>
              <a:t>To be called a daemon, a process must satisfy 2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general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requirements:</a:t>
            </a:r>
            <a:endParaRPr sz="2800" dirty="0">
              <a:latin typeface="Calibri"/>
              <a:cs typeface="Calibri"/>
            </a:endParaRPr>
          </a:p>
          <a:p>
            <a:pPr marL="926465" lvl="1" indent="-457200">
              <a:lnSpc>
                <a:spcPct val="100000"/>
              </a:lnSpc>
              <a:spcBef>
                <a:spcPts val="250"/>
              </a:spcBef>
              <a:buFont typeface="+mj-lt"/>
              <a:buAutoNum type="arabicPeriod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Must </a:t>
            </a:r>
            <a:r>
              <a:rPr sz="2400" dirty="0">
                <a:latin typeface="Calibri"/>
                <a:cs typeface="Calibri"/>
              </a:rPr>
              <a:t>run as a child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2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2400" spc="-15" dirty="0" err="1">
                <a:latin typeface="Calibri"/>
                <a:cs typeface="Calibri"/>
              </a:rPr>
              <a:t>.</a:t>
            </a:r>
            <a:endParaRPr sz="2200" spc="-5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6465" lvl="1" indent="-457200">
              <a:lnSpc>
                <a:spcPct val="100000"/>
              </a:lnSpc>
              <a:spcBef>
                <a:spcPts val="215"/>
              </a:spcBef>
              <a:buFont typeface="+mj-lt"/>
              <a:buAutoNum type="arabicPeriod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Must </a:t>
            </a:r>
            <a:r>
              <a:rPr sz="2400" spc="-5" dirty="0">
                <a:latin typeface="Calibri"/>
                <a:cs typeface="Calibri"/>
              </a:rPr>
              <a:t>not be </a:t>
            </a:r>
            <a:r>
              <a:rPr sz="2400" spc="-10" dirty="0">
                <a:latin typeface="Calibri"/>
                <a:cs typeface="Calibri"/>
              </a:rPr>
              <a:t>connected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terminal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0953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Steps </a:t>
            </a:r>
            <a:r>
              <a:rPr spc="-35" dirty="0"/>
              <a:t>to </a:t>
            </a:r>
            <a:r>
              <a:rPr spc="-40" dirty="0"/>
              <a:t>Become </a:t>
            </a:r>
            <a:r>
              <a:rPr dirty="0"/>
              <a:t>a</a:t>
            </a:r>
            <a:r>
              <a:rPr spc="-235" dirty="0"/>
              <a:t> </a:t>
            </a:r>
            <a:r>
              <a:rPr spc="-35" dirty="0"/>
              <a:t>Daemon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16939" y="1717547"/>
            <a:ext cx="10589261" cy="422808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Calibri"/>
                <a:cs typeface="Calibri"/>
              </a:rPr>
              <a:t>Call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 this </a:t>
            </a:r>
            <a:r>
              <a:rPr sz="2800" spc="-15" dirty="0">
                <a:latin typeface="Calibri"/>
                <a:cs typeface="Calibri"/>
              </a:rPr>
              <a:t>creates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527685" marR="5080" indent="-515620">
              <a:lnSpc>
                <a:spcPts val="2690"/>
              </a:lnSpc>
              <a:spcBef>
                <a:spcPts val="9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Calibri"/>
                <a:cs typeface="Calibri"/>
              </a:rPr>
              <a:t>In the </a:t>
            </a:r>
            <a:r>
              <a:rPr sz="2800" spc="-15" dirty="0">
                <a:latin typeface="Calibri"/>
                <a:cs typeface="Calibri"/>
              </a:rPr>
              <a:t>parent, </a:t>
            </a:r>
            <a:r>
              <a:rPr sz="2800" spc="-10" dirty="0">
                <a:latin typeface="Calibri"/>
                <a:cs typeface="Calibri"/>
              </a:rPr>
              <a:t>call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 so</a:t>
            </a:r>
            <a:r>
              <a:rPr lang="en-US" sz="2800" spc="-5" dirty="0">
                <a:latin typeface="Calibri"/>
                <a:cs typeface="Calibri"/>
              </a:rPr>
              <a:t> that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grandparent</a:t>
            </a:r>
            <a:r>
              <a:rPr lang="en-US" sz="2800" spc="-15" dirty="0">
                <a:latin typeface="Calibri"/>
                <a:cs typeface="Calibri"/>
              </a:rPr>
              <a:t>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recognizes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parent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800" spc="-10" dirty="0">
                <a:latin typeface="Calibri"/>
                <a:cs typeface="Calibri"/>
              </a:rPr>
              <a:t>daemon </a:t>
            </a:r>
            <a:r>
              <a:rPr sz="2800" spc="-5" dirty="0">
                <a:latin typeface="Calibri"/>
                <a:cs typeface="Calibri"/>
              </a:rPr>
              <a:t>is no </a:t>
            </a:r>
            <a:r>
              <a:rPr sz="2800" spc="-10" dirty="0">
                <a:latin typeface="Calibri"/>
                <a:cs typeface="Calibri"/>
              </a:rPr>
              <a:t>longer </a:t>
            </a:r>
            <a:r>
              <a:rPr lang="en-US" sz="2800" spc="-5" dirty="0">
                <a:latin typeface="Calibri"/>
                <a:cs typeface="Calibri"/>
              </a:rPr>
              <a:t>running,</a:t>
            </a:r>
            <a:r>
              <a:rPr sz="2800" spc="-5" dirty="0">
                <a:latin typeface="Calibri"/>
                <a:cs typeface="Calibri"/>
              </a:rPr>
              <a:t> and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daemon </a:t>
            </a:r>
            <a:r>
              <a:rPr sz="2800" spc="-5" dirty="0">
                <a:latin typeface="Calibri"/>
                <a:cs typeface="Calibri"/>
              </a:rPr>
              <a:t>is not a </a:t>
            </a:r>
            <a:r>
              <a:rPr sz="2800" spc="-15" dirty="0">
                <a:latin typeface="Calibri"/>
                <a:cs typeface="Calibri"/>
              </a:rPr>
              <a:t>process group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leader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527685" marR="187325" indent="-515620">
              <a:lnSpc>
                <a:spcPts val="2690"/>
              </a:lnSpc>
              <a:spcBef>
                <a:spcPts val="100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10" dirty="0">
                <a:latin typeface="Calibri"/>
                <a:cs typeface="Calibri"/>
              </a:rPr>
              <a:t>Call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setsid()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 </a:t>
            </a:r>
            <a:r>
              <a:rPr lang="en-US" sz="2800" spc="-5" dirty="0">
                <a:latin typeface="Calibri"/>
                <a:cs typeface="Calibri"/>
              </a:rPr>
              <a:t>this </a:t>
            </a:r>
            <a:r>
              <a:rPr sz="2800" spc="-5" dirty="0">
                <a:latin typeface="Calibri"/>
                <a:cs typeface="Calibri"/>
              </a:rPr>
              <a:t>giv</a:t>
            </a:r>
            <a:r>
              <a:rPr lang="en-US" sz="2800" spc="-5" dirty="0">
                <a:latin typeface="Calibri"/>
                <a:cs typeface="Calibri"/>
              </a:rPr>
              <a:t>es</a:t>
            </a:r>
            <a:r>
              <a:rPr sz="2800" spc="-5" dirty="0">
                <a:latin typeface="Calibri"/>
                <a:cs typeface="Calibri"/>
              </a:rPr>
              <a:t> the </a:t>
            </a:r>
            <a:r>
              <a:rPr sz="2800" spc="-10" dirty="0">
                <a:latin typeface="Calibri"/>
                <a:cs typeface="Calibri"/>
              </a:rPr>
              <a:t>daemon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new process group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session, both </a:t>
            </a:r>
            <a:r>
              <a:rPr sz="2800" spc="-5" dirty="0">
                <a:latin typeface="Calibri"/>
                <a:cs typeface="Calibri"/>
              </a:rPr>
              <a:t>of which </a:t>
            </a:r>
            <a:r>
              <a:rPr lang="en-US" sz="2800" spc="-25" dirty="0">
                <a:latin typeface="Calibri"/>
                <a:cs typeface="Calibri"/>
              </a:rPr>
              <a:t>it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lead</a:t>
            </a:r>
            <a:r>
              <a:rPr lang="en-US" sz="2800" spc="-45" dirty="0">
                <a:latin typeface="Calibri"/>
                <a:cs typeface="Calibri"/>
              </a:rPr>
              <a:t>s</a:t>
            </a:r>
            <a:r>
              <a:rPr sz="2800" spc="-45" dirty="0">
                <a:latin typeface="Calibri"/>
                <a:cs typeface="Calibri"/>
              </a:rPr>
              <a:t>. </a:t>
            </a:r>
            <a:r>
              <a:rPr sz="2800" spc="-5" dirty="0">
                <a:latin typeface="Calibri"/>
                <a:cs typeface="Calibri"/>
              </a:rPr>
              <a:t>This </a:t>
            </a:r>
            <a:r>
              <a:rPr sz="2800" spc="-10" dirty="0">
                <a:latin typeface="Calibri"/>
                <a:cs typeface="Calibri"/>
              </a:rPr>
              <a:t>ensures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10" dirty="0">
                <a:latin typeface="Calibri"/>
                <a:cs typeface="Calibri"/>
              </a:rPr>
              <a:t>has no  associated </a:t>
            </a:r>
            <a:r>
              <a:rPr sz="2800" spc="-15" dirty="0">
                <a:latin typeface="Calibri"/>
                <a:cs typeface="Calibri"/>
              </a:rPr>
              <a:t>controlling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terminal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527685" indent="-515620">
              <a:spcBef>
                <a:spcPts val="345"/>
              </a:spcBef>
              <a:buFontTx/>
              <a:buAutoNum type="arabicPeriod"/>
              <a:tabLst>
                <a:tab pos="527685" algn="l"/>
                <a:tab pos="528320" algn="l"/>
              </a:tabLst>
            </a:pPr>
            <a:r>
              <a:rPr sz="2800" spc="-15" dirty="0">
                <a:latin typeface="Calibri"/>
                <a:cs typeface="Calibri"/>
              </a:rPr>
              <a:t>Change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working </a:t>
            </a:r>
            <a:r>
              <a:rPr sz="2800" spc="-15" dirty="0">
                <a:latin typeface="Calibri"/>
                <a:cs typeface="Calibri"/>
              </a:rPr>
              <a:t>directory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root </a:t>
            </a:r>
            <a:r>
              <a:rPr sz="2800" spc="-15" dirty="0">
                <a:latin typeface="Calibri"/>
                <a:cs typeface="Calibri"/>
              </a:rPr>
              <a:t>directory </a:t>
            </a:r>
            <a:r>
              <a:rPr lang="en-US" sz="2800" spc="-15" dirty="0">
                <a:latin typeface="Calibri"/>
                <a:cs typeface="Calibri"/>
              </a:rPr>
              <a:t>(</a:t>
            </a:r>
            <a:r>
              <a:rPr lang="en-US"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800" spc="-15" dirty="0">
                <a:latin typeface="Calibri"/>
                <a:cs typeface="Calibri"/>
              </a:rPr>
              <a:t>) </a:t>
            </a:r>
            <a:r>
              <a:rPr sz="2800" spc="-10" dirty="0">
                <a:latin typeface="Calibri"/>
                <a:cs typeface="Calibri"/>
              </a:rPr>
              <a:t>via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6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chdir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600" spc="-5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27685" indent="-51562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10" dirty="0">
                <a:latin typeface="Calibri"/>
                <a:cs typeface="Calibri"/>
              </a:rPr>
              <a:t>Close </a:t>
            </a:r>
            <a:r>
              <a:rPr sz="2800" dirty="0">
                <a:latin typeface="Calibri"/>
                <a:cs typeface="Calibri"/>
              </a:rPr>
              <a:t>all </a:t>
            </a:r>
            <a:r>
              <a:rPr sz="26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800" spc="-70" dirty="0" err="1">
                <a:latin typeface="Calibri"/>
                <a:cs typeface="Calibri"/>
              </a:rPr>
              <a:t>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 </a:t>
            </a:r>
            <a:r>
              <a:rPr sz="2800" spc="-20" dirty="0">
                <a:latin typeface="Calibri"/>
                <a:cs typeface="Calibri"/>
              </a:rPr>
              <a:t>you </a:t>
            </a:r>
            <a:r>
              <a:rPr sz="2800" spc="-10" dirty="0">
                <a:latin typeface="Calibri"/>
                <a:cs typeface="Calibri"/>
              </a:rPr>
              <a:t>don’t </a:t>
            </a:r>
            <a:r>
              <a:rPr sz="2800" spc="-20" dirty="0">
                <a:latin typeface="Calibri"/>
                <a:cs typeface="Calibri"/>
              </a:rPr>
              <a:t>want to </a:t>
            </a:r>
            <a:r>
              <a:rPr lang="en-US" sz="2800" spc="-10" dirty="0">
                <a:latin typeface="Calibri"/>
                <a:cs typeface="Calibri"/>
              </a:rPr>
              <a:t>keep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them</a:t>
            </a:r>
            <a:r>
              <a:rPr sz="2800" spc="-10" dirty="0">
                <a:latin typeface="Calibri"/>
                <a:cs typeface="Calibri"/>
              </a:rPr>
              <a:t> open</a:t>
            </a:r>
            <a:r>
              <a:rPr lang="en-US" sz="2800" spc="-10" dirty="0">
                <a:latin typeface="Calibri"/>
                <a:cs typeface="Calibri"/>
              </a:rPr>
              <a:t> anymore.</a:t>
            </a:r>
            <a:endParaRPr sz="28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Calibri"/>
                <a:cs typeface="Calibri"/>
              </a:rPr>
              <a:t>Open </a:t>
            </a:r>
            <a:r>
              <a:rPr sz="26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800" spc="-70" dirty="0" err="1">
                <a:latin typeface="Calibri"/>
                <a:cs typeface="Calibri"/>
              </a:rPr>
              <a:t>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0, 1, and 2 and </a:t>
            </a:r>
            <a:r>
              <a:rPr sz="2800" spc="-15" dirty="0">
                <a:latin typeface="Calibri"/>
                <a:cs typeface="Calibri"/>
              </a:rPr>
              <a:t>redirect </a:t>
            </a:r>
            <a:r>
              <a:rPr lang="en-US" sz="2800" spc="-5" dirty="0">
                <a:latin typeface="Calibri"/>
                <a:cs typeface="Calibri"/>
              </a:rPr>
              <a:t>all three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/dev/null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600" spc="-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4546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 </a:t>
            </a:r>
            <a:r>
              <a:rPr spc="-15" dirty="0"/>
              <a:t>of</a:t>
            </a:r>
            <a:r>
              <a:rPr spc="-200" dirty="0"/>
              <a:t> </a:t>
            </a:r>
            <a:r>
              <a:rPr spc="-35" dirty="0"/>
              <a:t>Daemonizing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6939" y="1745945"/>
            <a:ext cx="5944108" cy="4467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Here </a:t>
            </a:r>
            <a:r>
              <a:rPr sz="2400" dirty="0">
                <a:latin typeface="Calibri"/>
                <a:cs typeface="Calibri"/>
              </a:rPr>
              <a:t>is a </a:t>
            </a:r>
            <a:r>
              <a:rPr sz="2400" spc="-15" dirty="0">
                <a:latin typeface="Calibri"/>
                <a:cs typeface="Calibri"/>
              </a:rPr>
              <a:t>program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sz="2400" spc="-10" dirty="0">
                <a:latin typeface="Calibri"/>
                <a:cs typeface="Calibri"/>
              </a:rPr>
              <a:t>demonizes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itself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200" spc="-5" dirty="0">
                <a:solidFill>
                  <a:srgbClr val="0070C0"/>
                </a:solidFill>
                <a:latin typeface="Calibri"/>
                <a:cs typeface="Calibri"/>
              </a:rPr>
              <a:t>dup(0)</a:t>
            </a:r>
            <a:r>
              <a:rPr sz="2400" spc="-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copies </a:t>
            </a:r>
            <a:r>
              <a:rPr sz="22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using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lowest </a:t>
            </a:r>
            <a:r>
              <a:rPr sz="2400" spc="-5" dirty="0">
                <a:latin typeface="Calibri"/>
                <a:cs typeface="Calibri"/>
              </a:rPr>
              <a:t>unused </a:t>
            </a:r>
            <a:r>
              <a:rPr sz="2200" spc="-3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 the </a:t>
            </a:r>
            <a:r>
              <a:rPr sz="2400" spc="-5" dirty="0">
                <a:latin typeface="Calibri"/>
                <a:cs typeface="Calibri"/>
              </a:rPr>
              <a:t>new descriptor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lang="en-US" sz="2400" dirty="0">
                <a:latin typeface="Calibri"/>
                <a:cs typeface="Calibri"/>
              </a:rPr>
              <a:t>then </a:t>
            </a:r>
            <a:r>
              <a:rPr sz="2400" dirty="0">
                <a:latin typeface="Calibri"/>
                <a:cs typeface="Calibri"/>
              </a:rPr>
              <a:t>1,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lang="en-US" sz="2400" dirty="0">
                <a:latin typeface="Calibri"/>
                <a:cs typeface="Calibri"/>
              </a:rPr>
              <a:t>.</a:t>
            </a:r>
            <a:r>
              <a:rPr sz="2400" dirty="0">
                <a:latin typeface="Calibri"/>
                <a:cs typeface="Calibri"/>
              </a:rPr>
              <a:t>)</a:t>
            </a:r>
          </a:p>
          <a:p>
            <a:pPr marL="241300" marR="53149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Most </a:t>
            </a:r>
            <a:r>
              <a:rPr sz="2400" dirty="0">
                <a:latin typeface="Calibri"/>
                <a:cs typeface="Calibri"/>
              </a:rPr>
              <a:t>Unix </a:t>
            </a:r>
            <a:r>
              <a:rPr sz="2400" spc="-20" dirty="0">
                <a:latin typeface="Calibri"/>
                <a:cs typeface="Calibri"/>
              </a:rPr>
              <a:t>systems </a:t>
            </a:r>
            <a:r>
              <a:rPr sz="2400" spc="-10" dirty="0">
                <a:latin typeface="Calibri"/>
                <a:cs typeface="Calibri"/>
              </a:rPr>
              <a:t>provide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daemon()</a:t>
            </a:r>
            <a:r>
              <a:rPr sz="2400" spc="-5" dirty="0">
                <a:latin typeface="Calibri"/>
                <a:cs typeface="Calibri"/>
              </a:rPr>
              <a:t>  function </a:t>
            </a:r>
            <a:r>
              <a:rPr sz="2400" dirty="0">
                <a:latin typeface="Calibri"/>
                <a:cs typeface="Calibri"/>
              </a:rPr>
              <a:t>in their C </a:t>
            </a:r>
            <a:r>
              <a:rPr sz="2400" spc="-5" dirty="0">
                <a:latin typeface="Calibri"/>
                <a:cs typeface="Calibri"/>
              </a:rPr>
              <a:t>library that </a:t>
            </a:r>
            <a:r>
              <a:rPr sz="2400" spc="-10" dirty="0">
                <a:latin typeface="Calibri"/>
                <a:cs typeface="Calibri"/>
              </a:rPr>
              <a:t>automates 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10" dirty="0">
                <a:latin typeface="Calibri"/>
                <a:cs typeface="Calibri"/>
              </a:rPr>
              <a:t> steps: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ts val="1875"/>
              </a:lnSpc>
              <a:spcAft>
                <a:spcPts val="600"/>
              </a:spcAft>
            </a:pP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</a:p>
          <a:p>
            <a:pPr marL="469900">
              <a:lnSpc>
                <a:spcPts val="1980"/>
              </a:lnSpc>
            </a:pP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daemon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nochdir, </a:t>
            </a: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700" b="1" spc="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noclose);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660400" indent="-228600">
              <a:lnSpc>
                <a:spcPct val="7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nochdir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20" dirty="0">
                <a:latin typeface="Calibri"/>
                <a:cs typeface="Calibri"/>
              </a:rPr>
              <a:t>nonzero,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daemon </a:t>
            </a:r>
            <a:r>
              <a:rPr sz="2400" spc="-10" dirty="0">
                <a:latin typeface="Calibri"/>
                <a:cs typeface="Calibri"/>
              </a:rPr>
              <a:t>won’t  </a:t>
            </a:r>
            <a:r>
              <a:rPr sz="2400" spc="-5" dirty="0">
                <a:latin typeface="Calibri"/>
                <a:cs typeface="Calibri"/>
              </a:rPr>
              <a:t>change </a:t>
            </a: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directory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lang="en-US" sz="2400" spc="-15" dirty="0">
                <a:latin typeface="Calibri"/>
                <a:cs typeface="Calibri"/>
              </a:rPr>
              <a:t> the</a:t>
            </a:r>
            <a:r>
              <a:rPr sz="2400" spc="-15" dirty="0">
                <a:latin typeface="Calibri"/>
                <a:cs typeface="Calibri"/>
              </a:rPr>
              <a:t> root</a:t>
            </a:r>
            <a:r>
              <a:rPr lang="en-US" sz="2400" spc="-15" dirty="0">
                <a:latin typeface="Calibri"/>
                <a:cs typeface="Calibri"/>
              </a:rPr>
              <a:t> folder.</a:t>
            </a:r>
            <a:endParaRPr sz="2400" dirty="0">
              <a:latin typeface="Calibri"/>
              <a:cs typeface="Calibri"/>
            </a:endParaRPr>
          </a:p>
          <a:p>
            <a:pPr marL="241300" marR="50101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nonclose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20" dirty="0">
                <a:latin typeface="Calibri"/>
                <a:cs typeface="Calibri"/>
              </a:rPr>
              <a:t>nonzero,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daemon </a:t>
            </a:r>
            <a:r>
              <a:rPr sz="2400" spc="-10" dirty="0">
                <a:latin typeface="Calibri"/>
                <a:cs typeface="Calibri"/>
              </a:rPr>
              <a:t>won’t  </a:t>
            </a:r>
            <a:r>
              <a:rPr sz="2400" spc="-5" dirty="0">
                <a:latin typeface="Calibri"/>
                <a:cs typeface="Calibri"/>
              </a:rPr>
              <a:t>close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open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200" spc="-3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400" spc="-25" dirty="0" err="1">
                <a:latin typeface="Calibri"/>
                <a:cs typeface="Calibri"/>
              </a:rPr>
              <a:t>s</a:t>
            </a:r>
            <a:r>
              <a:rPr lang="en-US"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29273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It r</a:t>
            </a:r>
            <a:r>
              <a:rPr sz="2400" spc="-5" dirty="0">
                <a:latin typeface="Calibri"/>
                <a:cs typeface="Calibri"/>
              </a:rPr>
              <a:t>eturns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lang="en-US" sz="2400" dirty="0">
                <a:latin typeface="Calibri"/>
                <a:cs typeface="Calibri"/>
              </a:rPr>
              <a:t>. </a:t>
            </a:r>
            <a:r>
              <a:rPr lang="en-US" sz="2400" spc="-5" dirty="0">
                <a:latin typeface="Calibri"/>
                <a:cs typeface="Calibri"/>
              </a:rPr>
              <a:t>O</a:t>
            </a:r>
            <a:r>
              <a:rPr lang="en-US" sz="2400" spc="-5" dirty="0">
                <a:cs typeface="Calibri"/>
              </a:rPr>
              <a:t>n </a:t>
            </a:r>
            <a:r>
              <a:rPr lang="en-US" sz="2400" spc="-15" dirty="0">
                <a:cs typeface="Calibri"/>
              </a:rPr>
              <a:t>failure, it returns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sets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61047" y="0"/>
            <a:ext cx="5255260" cy="6858000"/>
            <a:chOff x="6861047" y="0"/>
            <a:chExt cx="5255260" cy="6858000"/>
          </a:xfrm>
        </p:grpSpPr>
        <p:sp>
          <p:nvSpPr>
            <p:cNvPr id="11" name="object 11"/>
            <p:cNvSpPr/>
            <p:nvPr/>
          </p:nvSpPr>
          <p:spPr>
            <a:xfrm>
              <a:off x="6861047" y="0"/>
              <a:ext cx="5254752" cy="685799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44811" y="0"/>
              <a:ext cx="1879092" cy="7772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3095624" y="6454691"/>
            <a:ext cx="3660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941</TotalTime>
  <Words>5835</Words>
  <Application>Microsoft Office PowerPoint</Application>
  <PresentationFormat>Widescreen</PresentationFormat>
  <Paragraphs>400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Consolas</vt:lpstr>
      <vt:lpstr>Courier New</vt:lpstr>
      <vt:lpstr>Office Theme</vt:lpstr>
      <vt:lpstr>Linux System Programming Talking directly to the kernel and C library</vt:lpstr>
      <vt:lpstr>Ch5 – Process Management</vt:lpstr>
      <vt:lpstr>The Process ID</vt:lpstr>
      <vt:lpstr>The Process Hierarchy</vt:lpstr>
      <vt:lpstr>Obtaining the pid and ppid</vt:lpstr>
      <vt:lpstr>Running a New Process</vt:lpstr>
      <vt:lpstr>The exec Family of Calls</vt:lpstr>
      <vt:lpstr>The Rest of the exec Family</vt:lpstr>
      <vt:lpstr>The fork() System Call</vt:lpstr>
      <vt:lpstr>Examples of fork()</vt:lpstr>
      <vt:lpstr>Copy-on-Write</vt:lpstr>
      <vt:lpstr>Copy-on-Write: Illustration</vt:lpstr>
      <vt:lpstr>Terminating a Process</vt:lpstr>
      <vt:lpstr>Other Ways for a Process to Terminate</vt:lpstr>
      <vt:lpstr>Functions Called upon Termination</vt:lpstr>
      <vt:lpstr>Examples of atexit()</vt:lpstr>
      <vt:lpstr>Waiting for Terminated Child Processes</vt:lpstr>
      <vt:lpstr>wait()</vt:lpstr>
      <vt:lpstr>Example of wait()</vt:lpstr>
      <vt:lpstr>Waiting for a Specific Process – waitpid()</vt:lpstr>
      <vt:lpstr>More on waitpid()</vt:lpstr>
      <vt:lpstr>Launching and Waiting for a New Process</vt:lpstr>
      <vt:lpstr>Implementing system()</vt:lpstr>
      <vt:lpstr>Zombies (Also Called: Ghosts)</vt:lpstr>
      <vt:lpstr>Users and Groups</vt:lpstr>
      <vt:lpstr>Changing the Real (ruid) or Saved (suid) UID</vt:lpstr>
      <vt:lpstr>Changing the Effective UID</vt:lpstr>
      <vt:lpstr>More on User/Group IDs</vt:lpstr>
      <vt:lpstr>Sessions and Process Groups</vt:lpstr>
      <vt:lpstr>Sessions and Process Groups (cont’)</vt:lpstr>
      <vt:lpstr>Sessions and Process Groups (cont’)</vt:lpstr>
      <vt:lpstr>Session System Calls</vt:lpstr>
      <vt:lpstr>More on setsid()</vt:lpstr>
      <vt:lpstr>Obtaining the Current Session ID</vt:lpstr>
      <vt:lpstr>Process Group System Calls</vt:lpstr>
      <vt:lpstr>Daemons</vt:lpstr>
      <vt:lpstr>Steps to Become a Daemon</vt:lpstr>
      <vt:lpstr>Example of Daemonizing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Programming</dc:title>
  <dc:creator>xiang</dc:creator>
  <cp:lastModifiedBy>Miriam Briskman</cp:lastModifiedBy>
  <cp:revision>447</cp:revision>
  <dcterms:created xsi:type="dcterms:W3CDTF">2021-02-04T00:54:16Z</dcterms:created>
  <dcterms:modified xsi:type="dcterms:W3CDTF">2023-03-13T11:07:02Z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2020-02-28T00:00:00Z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2021-02-04T00:00:00Z</vt:filetime>
  </property>
</Properties>
</file>