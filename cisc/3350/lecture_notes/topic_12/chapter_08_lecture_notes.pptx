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D33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924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4991" y="2521265"/>
            <a:ext cx="6360159" cy="1442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harsets/ref_html_utf8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ernel.org/doc/Documentation/admin-guide/devices.txt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25876" y="4534027"/>
            <a:ext cx="6538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"/>
                <a:cs typeface="Calibri"/>
              </a:rPr>
              <a:t>File </a:t>
            </a:r>
            <a:r>
              <a:rPr sz="4000" spc="-5" dirty="0">
                <a:latin typeface="Calibri"/>
                <a:cs typeface="Calibri"/>
              </a:rPr>
              <a:t>and </a:t>
            </a:r>
            <a:r>
              <a:rPr sz="4000" spc="-15" dirty="0">
                <a:latin typeface="Calibri"/>
                <a:cs typeface="Calibri"/>
              </a:rPr>
              <a:t>Directory</a:t>
            </a:r>
            <a:r>
              <a:rPr sz="4000" spc="-2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Management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165A9-6173-F6BD-4A42-30B861F67E58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72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Ch8 </a:t>
            </a:r>
            <a:r>
              <a:rPr spc="-15" dirty="0"/>
              <a:t>File </a:t>
            </a:r>
            <a:r>
              <a:rPr spc="-20" dirty="0"/>
              <a:t>and </a:t>
            </a:r>
            <a:r>
              <a:rPr spc="-40" dirty="0"/>
              <a:t>Directory</a:t>
            </a:r>
            <a:r>
              <a:rPr spc="-360" dirty="0"/>
              <a:t> </a:t>
            </a:r>
            <a:r>
              <a:rPr spc="-45" dirty="0"/>
              <a:t>Management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6939" y="1717547"/>
            <a:ext cx="10276205" cy="450700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Ch2, 3 and 4 </a:t>
            </a:r>
            <a:r>
              <a:rPr sz="2800" spc="-15" dirty="0">
                <a:latin typeface="Calibri"/>
                <a:cs typeface="Calibri"/>
              </a:rPr>
              <a:t>focused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reading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and writing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902969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chapter deals </a:t>
            </a:r>
            <a:r>
              <a:rPr sz="2800" spc="-5" dirty="0">
                <a:latin typeface="Calibri"/>
                <a:cs typeface="Calibri"/>
              </a:rPr>
              <a:t>with manipulating/managing </a:t>
            </a:r>
            <a:r>
              <a:rPr lang="en-US" sz="2800" spc="-5" dirty="0">
                <a:latin typeface="Calibri"/>
                <a:cs typeface="Calibri"/>
              </a:rPr>
              <a:t>files</a:t>
            </a:r>
            <a:r>
              <a:rPr sz="2800" spc="-5" dirty="0">
                <a:latin typeface="Calibri"/>
                <a:cs typeface="Calibri"/>
              </a:rPr>
              <a:t> and their  </a:t>
            </a:r>
            <a:r>
              <a:rPr sz="2800" spc="-15" dirty="0">
                <a:latin typeface="Calibri"/>
                <a:cs typeface="Calibri"/>
              </a:rPr>
              <a:t>metadata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857250" indent="-228600">
              <a:lnSpc>
                <a:spcPct val="80000"/>
              </a:lnSpc>
              <a:spcBef>
                <a:spcPts val="545"/>
              </a:spcBef>
              <a:buFont typeface="Arial"/>
              <a:buChar char="•"/>
              <a:tabLst>
                <a:tab pos="699135" algn="l"/>
              </a:tabLst>
            </a:pPr>
            <a:r>
              <a:rPr sz="2800" spc="-10" dirty="0">
                <a:latin typeface="Calibri"/>
                <a:cs typeface="Calibri"/>
              </a:rPr>
              <a:t>Each </a:t>
            </a:r>
            <a:r>
              <a:rPr sz="2800" spc="-5" dirty="0">
                <a:latin typeface="Calibri"/>
                <a:cs typeface="Calibri"/>
              </a:rPr>
              <a:t>file </a:t>
            </a:r>
            <a:r>
              <a:rPr sz="2800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referenced </a:t>
            </a:r>
            <a:r>
              <a:rPr sz="2800" spc="-10" dirty="0">
                <a:latin typeface="Calibri"/>
                <a:cs typeface="Calibri"/>
              </a:rPr>
              <a:t>by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i="1" dirty="0">
                <a:latin typeface="Calibri"/>
                <a:cs typeface="Calibri"/>
              </a:rPr>
              <a:t>inode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lang="en-US" sz="2800" dirty="0">
                <a:latin typeface="Calibri"/>
                <a:cs typeface="Calibri"/>
              </a:rPr>
              <a:t> which 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addressable </a:t>
            </a:r>
            <a:r>
              <a:rPr sz="2800" dirty="0">
                <a:latin typeface="Calibri"/>
                <a:cs typeface="Calibri"/>
              </a:rPr>
              <a:t>via a </a:t>
            </a:r>
            <a:r>
              <a:rPr sz="2800" spc="-15" dirty="0">
                <a:latin typeface="Calibri"/>
                <a:cs typeface="Calibri"/>
              </a:rPr>
              <a:t>filesystem </a:t>
            </a:r>
            <a:r>
              <a:rPr sz="2800" spc="-5" dirty="0">
                <a:latin typeface="Calibri"/>
                <a:cs typeface="Calibri"/>
              </a:rPr>
              <a:t>unique numerical </a:t>
            </a:r>
            <a:r>
              <a:rPr sz="2800" spc="-10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known </a:t>
            </a:r>
            <a:r>
              <a:rPr sz="2800" dirty="0">
                <a:latin typeface="Calibri"/>
                <a:cs typeface="Calibri"/>
              </a:rPr>
              <a:t>as </a:t>
            </a:r>
            <a:r>
              <a:rPr sz="2800" i="1" dirty="0">
                <a:latin typeface="Calibri"/>
                <a:cs typeface="Calibri"/>
              </a:rPr>
              <a:t>inode</a:t>
            </a:r>
            <a:r>
              <a:rPr sz="2800" i="1" spc="-5" dirty="0">
                <a:latin typeface="Calibri"/>
                <a:cs typeface="Calibri"/>
              </a:rPr>
              <a:t> number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spcBef>
                <a:spcPts val="4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lang="en-US" sz="2400" dirty="0">
                <a:latin typeface="Calibri"/>
                <a:cs typeface="Calibri"/>
              </a:rPr>
              <a:t>An </a:t>
            </a:r>
            <a:r>
              <a:rPr sz="2400" i="1" dirty="0">
                <a:latin typeface="Calibri"/>
                <a:cs typeface="Calibri"/>
              </a:rPr>
              <a:t>inode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both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physical </a:t>
            </a:r>
            <a:r>
              <a:rPr sz="2400" spc="-5" dirty="0">
                <a:latin typeface="Calibri"/>
                <a:cs typeface="Calibri"/>
              </a:rPr>
              <a:t>object </a:t>
            </a:r>
            <a:r>
              <a:rPr sz="2400" spc="-10" dirty="0">
                <a:latin typeface="Calibri"/>
                <a:cs typeface="Calibri"/>
              </a:rPr>
              <a:t>located </a:t>
            </a:r>
            <a:r>
              <a:rPr sz="2400" spc="-5" dirty="0">
                <a:latin typeface="Calibri"/>
                <a:cs typeface="Calibri"/>
              </a:rPr>
              <a:t>on disk,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</a:p>
          <a:p>
            <a:pPr marL="698500" lvl="1" indent="-229235">
              <a:lnSpc>
                <a:spcPts val="2350"/>
              </a:lnSpc>
              <a:spcBef>
                <a:spcPts val="2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conceptual entity </a:t>
            </a:r>
            <a:r>
              <a:rPr sz="2400" spc="-10" dirty="0">
                <a:latin typeface="Calibri"/>
                <a:cs typeface="Calibri"/>
              </a:rPr>
              <a:t>represented </a:t>
            </a:r>
            <a:r>
              <a:rPr sz="2400" spc="-5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structure in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Linux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kernel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ts val="2830"/>
              </a:lnSpc>
              <a:buFont typeface="Arial"/>
              <a:buChar char="•"/>
              <a:tabLst>
                <a:tab pos="699135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inode </a:t>
            </a:r>
            <a:r>
              <a:rPr sz="2800" spc="-20" dirty="0">
                <a:latin typeface="Calibri"/>
                <a:cs typeface="Calibri"/>
              </a:rPr>
              <a:t>stores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metadata associated </a:t>
            </a:r>
            <a:r>
              <a:rPr sz="2800" dirty="0">
                <a:latin typeface="Calibri"/>
                <a:cs typeface="Calibri"/>
              </a:rPr>
              <a:t>with 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file: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spcBef>
                <a:spcPts val="4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lang="en-US" sz="2400" spc="-25" dirty="0">
                <a:latin typeface="Calibri"/>
                <a:cs typeface="Calibri"/>
              </a:rPr>
              <a:t>A </a:t>
            </a:r>
            <a:r>
              <a:rPr sz="2400" spc="-25" dirty="0">
                <a:latin typeface="Calibri"/>
                <a:cs typeface="Calibri"/>
              </a:rPr>
              <a:t>file’s </a:t>
            </a: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5" dirty="0">
                <a:latin typeface="Calibri"/>
                <a:cs typeface="Calibri"/>
              </a:rPr>
              <a:t>permissions, </a:t>
            </a:r>
            <a:r>
              <a:rPr sz="2400" spc="-10" dirty="0">
                <a:latin typeface="Calibri"/>
                <a:cs typeface="Calibri"/>
              </a:rPr>
              <a:t>last </a:t>
            </a: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5" dirty="0">
                <a:latin typeface="Calibri"/>
                <a:cs typeface="Calibri"/>
              </a:rPr>
              <a:t>timestamp, </a:t>
            </a:r>
            <a:r>
              <a:rPr sz="2400" spc="-30" dirty="0">
                <a:latin typeface="Calibri"/>
                <a:cs typeface="Calibri"/>
              </a:rPr>
              <a:t>owner</a:t>
            </a:r>
            <a:r>
              <a:rPr lang="en-US" sz="2400" spc="-30" dirty="0">
                <a:latin typeface="Calibri"/>
                <a:cs typeface="Calibri"/>
              </a:rPr>
              <a:t>’s username</a:t>
            </a:r>
            <a:r>
              <a:rPr sz="2400" spc="-30" dirty="0">
                <a:latin typeface="Calibri"/>
                <a:cs typeface="Calibri"/>
              </a:rPr>
              <a:t>,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name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15" dirty="0">
                <a:latin typeface="Calibri"/>
                <a:cs typeface="Calibri"/>
              </a:rPr>
              <a:t>size</a:t>
            </a:r>
            <a:r>
              <a:rPr lang="en-US" sz="2400" spc="-15" dirty="0">
                <a:latin typeface="Calibri"/>
                <a:cs typeface="Calibri"/>
              </a:rPr>
              <a:t> in bytes</a:t>
            </a:r>
            <a:r>
              <a:rPr sz="2400" spc="-15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location of </a:t>
            </a:r>
            <a:r>
              <a:rPr sz="2400" spc="-25" dirty="0">
                <a:latin typeface="Calibri"/>
                <a:cs typeface="Calibri"/>
              </a:rPr>
              <a:t>file’s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data</a:t>
            </a:r>
            <a:r>
              <a:rPr lang="en-US" sz="2400" spc="-15" dirty="0">
                <a:latin typeface="Calibri"/>
                <a:cs typeface="Calibri"/>
              </a:rPr>
              <a:t> on disk, etc.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spcBef>
                <a:spcPts val="2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lang="en-US" sz="2400" dirty="0">
                <a:latin typeface="Calibri"/>
                <a:cs typeface="Calibri"/>
              </a:rPr>
              <a:t>However, it doesn’t include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filename</a:t>
            </a:r>
            <a:r>
              <a:rPr lang="en-US" sz="2400" dirty="0">
                <a:latin typeface="Calibri"/>
                <a:cs typeface="Calibri"/>
              </a:rPr>
              <a:t> and directory information</a:t>
            </a:r>
            <a:r>
              <a:rPr sz="2400" dirty="0">
                <a:latin typeface="Calibri"/>
                <a:cs typeface="Calibri"/>
              </a:rPr>
              <a:t>!</a:t>
            </a:r>
          </a:p>
          <a:p>
            <a:pPr marL="241300" indent="-229235">
              <a:lnSpc>
                <a:spcPts val="2830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800" spc="-5" dirty="0">
                <a:latin typeface="Calibri"/>
                <a:cs typeface="Calibri"/>
              </a:rPr>
              <a:t>Using the Linux </a:t>
            </a:r>
            <a:r>
              <a:rPr sz="2800" spc="-10" dirty="0">
                <a:latin typeface="Calibri"/>
                <a:cs typeface="Calibri"/>
              </a:rPr>
              <a:t>command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ls </a:t>
            </a:r>
            <a:r>
              <a:rPr sz="2400" spc="-5" dirty="0">
                <a:solidFill>
                  <a:srgbClr val="0070C0"/>
                </a:solidFill>
                <a:latin typeface="Consolas"/>
                <a:cs typeface="Consolas"/>
              </a:rPr>
              <a:t>-</a:t>
            </a:r>
            <a:r>
              <a:rPr sz="2400" spc="-5" dirty="0" err="1">
                <a:solidFill>
                  <a:srgbClr val="0070C0"/>
                </a:solidFill>
                <a:latin typeface="Consolas"/>
                <a:cs typeface="Consolas"/>
              </a:rPr>
              <a:t>i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 </a:t>
            </a:r>
            <a:r>
              <a:rPr lang="en-US" sz="2800" spc="-10" dirty="0">
                <a:latin typeface="Calibri"/>
                <a:cs typeface="Calibri"/>
              </a:rPr>
              <a:t>display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lang="en-US" sz="2800" dirty="0">
                <a:latin typeface="Calibri"/>
                <a:cs typeface="Calibri"/>
              </a:rPr>
              <a:t> files’</a:t>
            </a:r>
            <a:r>
              <a:rPr sz="2800" dirty="0">
                <a:latin typeface="Calibri"/>
                <a:cs typeface="Calibri"/>
              </a:rPr>
              <a:t> inode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number</a:t>
            </a:r>
            <a:r>
              <a:rPr lang="en-US" sz="2800" spc="-5" dirty="0">
                <a:latin typeface="Calibri"/>
                <a:cs typeface="Calibri"/>
              </a:rPr>
              <a:t>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372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45" dirty="0"/>
              <a:t>Stat</a:t>
            </a:r>
            <a:r>
              <a:rPr spc="-200" dirty="0"/>
              <a:t> </a:t>
            </a:r>
            <a:r>
              <a:rPr spc="-50" dirty="0"/>
              <a:t>Family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8" y="1765757"/>
            <a:ext cx="10284461" cy="45526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Unix </a:t>
            </a:r>
            <a:r>
              <a:rPr sz="2600" spc="-15" dirty="0">
                <a:latin typeface="Calibri"/>
                <a:cs typeface="Calibri"/>
              </a:rPr>
              <a:t>systems </a:t>
            </a:r>
            <a:r>
              <a:rPr sz="2600" spc="-5" dirty="0">
                <a:latin typeface="Calibri"/>
                <a:cs typeface="Calibri"/>
              </a:rPr>
              <a:t>provide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family </a:t>
            </a:r>
            <a:r>
              <a:rPr sz="2600" dirty="0">
                <a:latin typeface="Calibri"/>
                <a:cs typeface="Calibri"/>
              </a:rPr>
              <a:t>of functions </a:t>
            </a:r>
            <a:r>
              <a:rPr sz="2600" spc="-5" dirty="0">
                <a:latin typeface="Calibri"/>
                <a:cs typeface="Calibri"/>
              </a:rPr>
              <a:t>obtaining </a:t>
            </a:r>
            <a:r>
              <a:rPr lang="en-US" sz="2600" dirty="0">
                <a:latin typeface="Calibri"/>
                <a:cs typeface="Calibri"/>
              </a:rPr>
              <a:t>a file’s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metadata</a:t>
            </a:r>
            <a:r>
              <a:rPr lang="en-US" sz="2600" spc="-1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 marR="6673215">
              <a:lnSpc>
                <a:spcPct val="101800"/>
              </a:lnSpc>
              <a:spcBef>
                <a:spcPts val="4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&lt;sys/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types.h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&gt; #include &lt;sys/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stat.h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&gt; 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stat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stat</a:t>
            </a:r>
            <a:r>
              <a:rPr sz="2000" spc="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*buf);</a:t>
            </a:r>
          </a:p>
          <a:p>
            <a:pPr marL="469900">
              <a:lnSpc>
                <a:spcPct val="100000"/>
              </a:lnSpc>
              <a:spcBef>
                <a:spcPts val="40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fstat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stat</a:t>
            </a:r>
            <a:r>
              <a:rPr sz="2000" spc="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*buf);</a:t>
            </a: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lstat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stat</a:t>
            </a:r>
            <a:r>
              <a:rPr sz="2000" spc="9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*buf);</a:t>
            </a:r>
          </a:p>
          <a:p>
            <a:pPr marL="241300" marR="5080" indent="-228600">
              <a:lnSpc>
                <a:spcPct val="80000"/>
              </a:lnSpc>
              <a:spcBef>
                <a:spcPts val="969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0070C0"/>
                </a:solidFill>
                <a:latin typeface="Consolas"/>
                <a:cs typeface="Consolas"/>
              </a:rPr>
              <a:t>stat()</a:t>
            </a:r>
            <a:r>
              <a:rPr sz="2600" spc="-5" dirty="0">
                <a:latin typeface="+mj-lt"/>
                <a:cs typeface="Consolas"/>
              </a:rPr>
              <a:t> </a:t>
            </a:r>
            <a:r>
              <a:rPr sz="2600" dirty="0">
                <a:latin typeface="Calibri"/>
                <a:cs typeface="Calibri"/>
              </a:rPr>
              <a:t>is the </a:t>
            </a:r>
            <a:r>
              <a:rPr sz="2600" spc="-5" dirty="0">
                <a:latin typeface="Calibri"/>
                <a:cs typeface="Calibri"/>
              </a:rPr>
              <a:t>basic </a:t>
            </a:r>
            <a:r>
              <a:rPr sz="2600" spc="-15" dirty="0">
                <a:latin typeface="Calibri"/>
                <a:cs typeface="Calibri"/>
              </a:rPr>
              <a:t>version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lang="en-US" sz="2600" spc="-25" dirty="0">
                <a:latin typeface="Calibri"/>
                <a:cs typeface="Calibri"/>
              </a:rPr>
              <a:t>a quoted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lang="en-US" sz="2600" spc="-5" dirty="0">
                <a:latin typeface="Calibri"/>
                <a:cs typeface="Calibri"/>
              </a:rPr>
              <a:t>location </a:t>
            </a:r>
            <a:r>
              <a:rPr sz="2600" spc="-5" dirty="0">
                <a:latin typeface="Calibri"/>
                <a:cs typeface="Calibri"/>
              </a:rPr>
              <a:t>specified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path</a:t>
            </a:r>
            <a:r>
              <a:rPr sz="2600" dirty="0">
                <a:latin typeface="Calibri"/>
                <a:cs typeface="Calibri"/>
              </a:rPr>
              <a:t>,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fstat()</a:t>
            </a:r>
            <a:r>
              <a:rPr sz="2600" spc="-5" dirty="0">
                <a:latin typeface="+mj-lt"/>
                <a:cs typeface="Consolas"/>
              </a:rPr>
              <a:t> </a:t>
            </a:r>
            <a:r>
              <a:rPr sz="2600" spc="-30" dirty="0">
                <a:latin typeface="Calibri"/>
                <a:cs typeface="Calibri"/>
              </a:rPr>
              <a:t>refers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 by </a:t>
            </a:r>
            <a:r>
              <a:rPr sz="2600" dirty="0">
                <a:latin typeface="Calibri"/>
                <a:cs typeface="Calibri"/>
              </a:rPr>
              <a:t>its </a:t>
            </a:r>
            <a:r>
              <a:rPr sz="2600" spc="-5" dirty="0">
                <a:latin typeface="Calibri"/>
                <a:cs typeface="Calibri"/>
              </a:rPr>
              <a:t>file descriptor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fd</a:t>
            </a:r>
            <a:r>
              <a:rPr sz="2600" spc="-15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lstart()</a:t>
            </a:r>
            <a:r>
              <a:rPr sz="2600" spc="-5" dirty="0">
                <a:latin typeface="+mj-lt"/>
                <a:cs typeface="Consolas"/>
              </a:rPr>
              <a:t>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identical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stat()</a:t>
            </a:r>
            <a:r>
              <a:rPr dirty="0"/>
              <a:t> </a:t>
            </a:r>
            <a:r>
              <a:rPr sz="2600" spc="-15" dirty="0">
                <a:latin typeface="Calibri"/>
                <a:cs typeface="Calibri"/>
              </a:rPr>
              <a:t>except </a:t>
            </a:r>
            <a:r>
              <a:rPr sz="2600" spc="-5" dirty="0">
                <a:latin typeface="Calibri"/>
                <a:cs typeface="Calibri"/>
              </a:rPr>
              <a:t>that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symbolic </a:t>
            </a:r>
            <a:r>
              <a:rPr sz="2600" dirty="0">
                <a:latin typeface="Calibri"/>
                <a:cs typeface="Calibri"/>
              </a:rPr>
              <a:t>link, it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spc="-10" dirty="0">
                <a:latin typeface="Calibri"/>
                <a:cs typeface="Calibri"/>
              </a:rPr>
              <a:t>information </a:t>
            </a:r>
            <a:r>
              <a:rPr sz="2600" dirty="0">
                <a:latin typeface="Calibri"/>
                <a:cs typeface="Calibri"/>
              </a:rPr>
              <a:t>about the link </a:t>
            </a:r>
            <a:r>
              <a:rPr sz="2600" spc="-25" dirty="0">
                <a:latin typeface="Calibri"/>
                <a:cs typeface="Calibri"/>
              </a:rPr>
              <a:t>itself,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target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6642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success, </a:t>
            </a:r>
            <a:r>
              <a:rPr lang="en-US" sz="2600" dirty="0">
                <a:latin typeface="Calibri"/>
                <a:cs typeface="Calibri"/>
              </a:rPr>
              <a:t>each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 and </a:t>
            </a:r>
            <a:r>
              <a:rPr sz="2600" spc="-20" dirty="0">
                <a:latin typeface="Calibri"/>
                <a:cs typeface="Calibri"/>
              </a:rPr>
              <a:t>store</a:t>
            </a:r>
            <a:r>
              <a:rPr lang="en-US" sz="2600" spc="-20" dirty="0">
                <a:latin typeface="Calibri"/>
                <a:cs typeface="Calibri"/>
              </a:rPr>
              <a:t>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metadata </a:t>
            </a:r>
            <a:r>
              <a:rPr sz="2600" dirty="0">
                <a:latin typeface="Calibri"/>
                <a:cs typeface="Calibri"/>
              </a:rPr>
              <a:t>in the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stat</a:t>
            </a:r>
            <a:r>
              <a:rPr sz="2600" spc="-1005" dirty="0">
                <a:latin typeface="Consolas"/>
                <a:cs typeface="Consolas"/>
              </a:rPr>
              <a:t> </a:t>
            </a:r>
            <a:r>
              <a:rPr sz="2600" spc="-5" dirty="0">
                <a:latin typeface="Calibri"/>
                <a:cs typeface="Calibri"/>
              </a:rPr>
              <a:t>structure </a:t>
            </a:r>
            <a:r>
              <a:rPr sz="2600" spc="-10" dirty="0">
                <a:latin typeface="Calibri"/>
                <a:cs typeface="Calibri"/>
              </a:rPr>
              <a:t>pointed to </a:t>
            </a:r>
            <a:r>
              <a:rPr sz="2600" spc="-5" dirty="0">
                <a:latin typeface="Calibri"/>
                <a:cs typeface="Calibri"/>
              </a:rPr>
              <a:t>by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buf</a:t>
            </a:r>
            <a:r>
              <a:rPr sz="2600" dirty="0">
                <a:latin typeface="Calibri"/>
                <a:cs typeface="Calibri"/>
              </a:rPr>
              <a:t>. On </a:t>
            </a:r>
            <a:r>
              <a:rPr sz="2600" spc="-45" dirty="0">
                <a:latin typeface="Calibri"/>
                <a:cs typeface="Calibri"/>
              </a:rPr>
              <a:t>error, </a:t>
            </a:r>
            <a:r>
              <a:rPr lang="en-US" sz="2600" spc="-5" dirty="0">
                <a:latin typeface="Calibri"/>
                <a:cs typeface="Calibri"/>
              </a:rPr>
              <a:t>each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return</a:t>
            </a:r>
            <a:r>
              <a:rPr lang="en-US" sz="2600" spc="-1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-1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60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19176"/>
            <a:ext cx="8531861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16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b="1" dirty="0">
                <a:latin typeface="Courier New" panose="02070309020205020404" pitchFamily="49" charset="0"/>
                <a:cs typeface="Courier New" panose="02070309020205020404" pitchFamily="49" charset="0"/>
              </a:rPr>
              <a:t>stat</a:t>
            </a:r>
            <a:r>
              <a:rPr b="1" spc="-1530" dirty="0">
                <a:latin typeface="Consolas"/>
                <a:cs typeface="Consolas"/>
              </a:rPr>
              <a:t> </a:t>
            </a:r>
            <a:r>
              <a:rPr spc="-40" dirty="0"/>
              <a:t>Structure</a:t>
            </a:r>
          </a:p>
          <a:p>
            <a:pPr marL="12700">
              <a:lnSpc>
                <a:spcPts val="3240"/>
              </a:lnSpc>
            </a:pPr>
            <a:r>
              <a:rPr sz="2800" spc="-20" dirty="0"/>
              <a:t>(defined </a:t>
            </a:r>
            <a:r>
              <a:rPr sz="2800" spc="-5" dirty="0"/>
              <a:t>in </a:t>
            </a:r>
            <a:r>
              <a:rPr sz="24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&lt;bits/stat.h&gt;</a:t>
            </a:r>
            <a:r>
              <a:rPr sz="2800" spc="-30" dirty="0"/>
              <a:t> </a:t>
            </a:r>
            <a:r>
              <a:rPr sz="2800" spc="-15" dirty="0"/>
              <a:t>but included </a:t>
            </a:r>
            <a:r>
              <a:rPr sz="2800" spc="-5" dirty="0"/>
              <a:t>in</a:t>
            </a:r>
            <a:r>
              <a:rPr sz="2800" spc="-275" dirty="0"/>
              <a:t> </a:t>
            </a:r>
            <a:r>
              <a:rPr sz="24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&lt;sys/stat.h&gt;</a:t>
            </a:r>
            <a:r>
              <a:rPr sz="2800" spc="-45" dirty="0"/>
              <a:t>)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904161" y="1928813"/>
            <a:ext cx="7532796" cy="4142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27213" y="5532120"/>
            <a:ext cx="3672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latin typeface="Calibri"/>
                <a:cs typeface="Calibri"/>
              </a:rPr>
              <a:t>A.k.a., the last </a:t>
            </a:r>
            <a:r>
              <a:rPr lang="en-US" sz="1800" spc="-10" dirty="0">
                <a:latin typeface="Calibri"/>
                <a:cs typeface="Calibri"/>
              </a:rPr>
              <a:t>metadata </a:t>
            </a:r>
            <a:r>
              <a:rPr sz="1800" spc="-5" dirty="0">
                <a:latin typeface="Calibri"/>
                <a:cs typeface="Calibri"/>
              </a:rPr>
              <a:t>change </a:t>
            </a:r>
            <a:r>
              <a:rPr lang="en-US" sz="1800" spc="-5" dirty="0">
                <a:latin typeface="Calibri"/>
                <a:cs typeface="Calibri"/>
              </a:rPr>
              <a:t>time.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24910" y="3836452"/>
            <a:ext cx="329784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Calibri"/>
                <a:cs typeface="Calibri"/>
              </a:rPr>
              <a:t>If a regular file, it will be a zero (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lang="en-US" sz="1800" dirty="0">
                <a:latin typeface="Calibri"/>
                <a:cs typeface="Calibri"/>
              </a:rPr>
              <a:t>)</a:t>
            </a:r>
            <a:r>
              <a:rPr lang="en-US" sz="1800" spc="-5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545" y="160407"/>
            <a:ext cx="4733925" cy="54395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815584" y="0"/>
            <a:ext cx="5953184" cy="6786478"/>
            <a:chOff x="5815584" y="0"/>
            <a:chExt cx="5953184" cy="6786478"/>
          </a:xfrm>
        </p:grpSpPr>
        <p:sp>
          <p:nvSpPr>
            <p:cNvPr id="5" name="object 5"/>
            <p:cNvSpPr/>
            <p:nvPr/>
          </p:nvSpPr>
          <p:spPr>
            <a:xfrm>
              <a:off x="8185183" y="47680"/>
              <a:ext cx="3583585" cy="67387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5584" y="0"/>
              <a:ext cx="2667000" cy="15621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86200" y="5486400"/>
            <a:ext cx="473392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45" dirty="0">
                <a:solidFill>
                  <a:srgbClr val="001F5F"/>
                </a:solidFill>
                <a:latin typeface="Calibri Light"/>
                <a:cs typeface="Calibri Light"/>
              </a:rPr>
              <a:t>Examples </a:t>
            </a:r>
            <a:r>
              <a:rPr sz="4400" b="0" spc="-15" dirty="0">
                <a:solidFill>
                  <a:srgbClr val="001F5F"/>
                </a:solidFill>
                <a:latin typeface="Calibri Light"/>
                <a:cs typeface="Calibri Light"/>
              </a:rPr>
              <a:t>of</a:t>
            </a:r>
            <a:r>
              <a:rPr sz="4400" b="0" spc="-160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4200" b="0" spc="-50" dirty="0">
                <a:solidFill>
                  <a:srgbClr val="001F5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stat()</a:t>
            </a:r>
            <a:endParaRPr sz="4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83EC1F-7A52-EA15-E244-C1DF939623CE}"/>
              </a:ext>
            </a:extLst>
          </p:cNvPr>
          <p:cNvGrpSpPr/>
          <p:nvPr/>
        </p:nvGrpSpPr>
        <p:grpSpPr>
          <a:xfrm>
            <a:off x="5894578" y="2150094"/>
            <a:ext cx="1827530" cy="897906"/>
            <a:chOff x="5894578" y="2150094"/>
            <a:chExt cx="1827530" cy="897906"/>
          </a:xfrm>
        </p:grpSpPr>
        <p:sp>
          <p:nvSpPr>
            <p:cNvPr id="14" name="object 14"/>
            <p:cNvSpPr txBox="1"/>
            <p:nvPr/>
          </p:nvSpPr>
          <p:spPr>
            <a:xfrm>
              <a:off x="5894578" y="2717165"/>
              <a:ext cx="1827530" cy="33083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000" b="1" spc="-10" dirty="0">
                  <a:latin typeface="Calibri"/>
                  <a:cs typeface="Calibri"/>
                </a:rPr>
                <a:t>Getting </a:t>
              </a:r>
              <a:r>
                <a:rPr sz="2000" b="1" spc="-5" dirty="0">
                  <a:latin typeface="Calibri"/>
                  <a:cs typeface="Calibri"/>
                </a:rPr>
                <a:t>file</a:t>
              </a:r>
              <a:r>
                <a:rPr sz="2000" b="1" spc="-65" dirty="0">
                  <a:latin typeface="Calibri"/>
                  <a:cs typeface="Calibri"/>
                </a:rPr>
                <a:t> </a:t>
              </a:r>
              <a:r>
                <a:rPr sz="2000" b="1" dirty="0">
                  <a:latin typeface="Calibri"/>
                  <a:cs typeface="Calibri"/>
                </a:rPr>
                <a:t>types</a:t>
              </a:r>
              <a:endParaRPr sz="2000" dirty="0">
                <a:latin typeface="Calibri"/>
                <a:cs typeface="Calibri"/>
              </a:endParaRPr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33D05B25-589A-6226-5BA1-073D93111302}"/>
                </a:ext>
              </a:extLst>
            </p:cNvPr>
            <p:cNvSpPr/>
            <p:nvPr/>
          </p:nvSpPr>
          <p:spPr>
            <a:xfrm rot="13858522">
              <a:off x="6883374" y="1921494"/>
              <a:ext cx="381000" cy="838200"/>
            </a:xfrm>
            <a:prstGeom prst="downArrow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8DC20C-3F92-52B4-7072-8D41ABCDF657}"/>
              </a:ext>
            </a:extLst>
          </p:cNvPr>
          <p:cNvGrpSpPr/>
          <p:nvPr/>
        </p:nvGrpSpPr>
        <p:grpSpPr>
          <a:xfrm>
            <a:off x="3228848" y="228600"/>
            <a:ext cx="1662646" cy="1230401"/>
            <a:chOff x="3228848" y="228600"/>
            <a:chExt cx="1662646" cy="1230401"/>
          </a:xfrm>
        </p:grpSpPr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3E6615AA-EC28-B2D4-1D24-67CE1A33CD7A}"/>
                </a:ext>
              </a:extLst>
            </p:cNvPr>
            <p:cNvSpPr/>
            <p:nvPr/>
          </p:nvSpPr>
          <p:spPr>
            <a:xfrm rot="1868948">
              <a:off x="3696116" y="620801"/>
              <a:ext cx="381000" cy="838200"/>
            </a:xfrm>
            <a:prstGeom prst="downArrow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092F69A-2E35-7E31-4A09-1EF65B968BC2}"/>
                </a:ext>
              </a:extLst>
            </p:cNvPr>
            <p:cNvSpPr txBox="1"/>
            <p:nvPr/>
          </p:nvSpPr>
          <p:spPr>
            <a:xfrm>
              <a:off x="3228848" y="228600"/>
              <a:ext cx="1662646" cy="33147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2000" b="1" spc="-5" dirty="0">
                  <a:solidFill>
                    <a:srgbClr val="000000"/>
                  </a:solidFill>
                  <a:latin typeface="Calibri"/>
                  <a:cs typeface="Calibri"/>
                </a:rPr>
                <a:t>Getting file</a:t>
              </a:r>
              <a:r>
                <a:rPr lang="en-US" sz="2000" b="1" spc="-100" dirty="0">
                  <a:solidFill>
                    <a:srgbClr val="000000"/>
                  </a:solidFill>
                  <a:latin typeface="Calibri"/>
                  <a:cs typeface="Calibri"/>
                </a:rPr>
                <a:t> </a:t>
              </a:r>
              <a:r>
                <a:rPr lang="en-US" sz="2000" b="1" spc="-10" dirty="0">
                  <a:solidFill>
                    <a:srgbClr val="000000"/>
                  </a:solidFill>
                  <a:latin typeface="Calibri"/>
                  <a:cs typeface="Calibri"/>
                </a:rPr>
                <a:t>size</a:t>
              </a:r>
              <a:endParaRPr sz="2000" dirty="0">
                <a:latin typeface="Calibri"/>
                <a:cs typeface="Calibr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60F025-E97D-82E6-220F-BBF1412C3F39}"/>
              </a:ext>
            </a:extLst>
          </p:cNvPr>
          <p:cNvGrpSpPr/>
          <p:nvPr/>
        </p:nvGrpSpPr>
        <p:grpSpPr>
          <a:xfrm>
            <a:off x="77729" y="5820122"/>
            <a:ext cx="1708877" cy="795419"/>
            <a:chOff x="77729" y="5820122"/>
            <a:chExt cx="1708877" cy="795419"/>
          </a:xfrm>
        </p:grpSpPr>
        <p:sp>
          <p:nvSpPr>
            <p:cNvPr id="3" name="object 3"/>
            <p:cNvSpPr/>
            <p:nvPr/>
          </p:nvSpPr>
          <p:spPr>
            <a:xfrm>
              <a:off x="177545" y="6262840"/>
              <a:ext cx="1609061" cy="35270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8A97D8-14E9-AFC2-B55C-D77FDFA3FE99}"/>
                </a:ext>
              </a:extLst>
            </p:cNvPr>
            <p:cNvSpPr txBox="1"/>
            <p:nvPr/>
          </p:nvSpPr>
          <p:spPr>
            <a:xfrm>
              <a:off x="77729" y="5820122"/>
              <a:ext cx="16996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Possible output: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D23258-4524-75CB-F577-0F1275D0689C}"/>
              </a:ext>
            </a:extLst>
          </p:cNvPr>
          <p:cNvCxnSpPr/>
          <p:nvPr/>
        </p:nvCxnSpPr>
        <p:spPr>
          <a:xfrm>
            <a:off x="5410200" y="0"/>
            <a:ext cx="0" cy="530352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2BE5BB-EBC9-11BC-0D6F-2A4C54786FA1}"/>
              </a:ext>
            </a:extLst>
          </p:cNvPr>
          <p:cNvCxnSpPr>
            <a:cxnSpLocks/>
          </p:cNvCxnSpPr>
          <p:nvPr/>
        </p:nvCxnSpPr>
        <p:spPr>
          <a:xfrm flipH="1">
            <a:off x="0" y="5820122"/>
            <a:ext cx="3718051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644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Permissions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65757"/>
            <a:ext cx="10718165" cy="42596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set permission</a:t>
            </a:r>
            <a:r>
              <a:rPr sz="2600" spc="6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values:</a:t>
            </a:r>
            <a:endParaRPr sz="2600" dirty="0">
              <a:latin typeface="Calibri"/>
              <a:cs typeface="Calibri"/>
            </a:endParaRPr>
          </a:p>
          <a:p>
            <a:pPr marL="469900" marR="7308850">
              <a:lnSpc>
                <a:spcPct val="101600"/>
              </a:lnSpc>
              <a:spcBef>
                <a:spcPts val="40"/>
              </a:spcBef>
              <a:spcAft>
                <a:spcPts val="600"/>
              </a:spcAft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&lt;sys/types.h&gt;  #include</a:t>
            </a:r>
            <a:r>
              <a:rPr sz="19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&lt;sys/stat.h&gt;</a:t>
            </a: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chmod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mode_t</a:t>
            </a:r>
            <a:r>
              <a:rPr sz="1900" spc="7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mode);</a:t>
            </a: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19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fchmod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mode_t</a:t>
            </a:r>
            <a:r>
              <a:rPr sz="1900" spc="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mode);</a:t>
            </a: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Both </a:t>
            </a:r>
            <a:r>
              <a:rPr sz="2600" spc="-5" dirty="0">
                <a:latin typeface="Calibri"/>
                <a:cs typeface="Calibri"/>
              </a:rPr>
              <a:t>se</a:t>
            </a:r>
            <a:r>
              <a:rPr lang="en-US" sz="2600" spc="-5" dirty="0">
                <a:latin typeface="Calibri"/>
                <a:cs typeface="Calibri"/>
              </a:rPr>
              <a:t>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30" dirty="0">
                <a:latin typeface="Calibri"/>
                <a:cs typeface="Calibri"/>
              </a:rPr>
              <a:t>file’s </a:t>
            </a:r>
            <a:r>
              <a:rPr sz="2600" dirty="0">
                <a:latin typeface="Calibri"/>
                <a:cs typeface="Calibri"/>
              </a:rPr>
              <a:t>permissions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mode</a:t>
            </a:r>
            <a:r>
              <a:rPr lang="en-US" sz="2600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fchmod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()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specif</a:t>
            </a:r>
            <a:r>
              <a:rPr lang="en-US" sz="2600" spc="-5" dirty="0">
                <a:latin typeface="Calibri"/>
                <a:cs typeface="Calibri"/>
              </a:rPr>
              <a:t>ies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lang="en-US" sz="2600" spc="-10" dirty="0">
                <a:latin typeface="Calibri"/>
                <a:cs typeface="Calibri"/>
              </a:rPr>
              <a:t>using an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fd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mode_t</a:t>
            </a:r>
            <a:r>
              <a:rPr sz="2600" spc="-965" dirty="0">
                <a:latin typeface="Consolas"/>
                <a:cs typeface="Consolas"/>
              </a:rPr>
              <a:t> </a:t>
            </a:r>
            <a:r>
              <a:rPr sz="2600" dirty="0">
                <a:latin typeface="Calibri"/>
                <a:cs typeface="Calibri"/>
              </a:rPr>
              <a:t>is an </a:t>
            </a:r>
            <a:r>
              <a:rPr sz="2600" spc="-5" dirty="0">
                <a:latin typeface="Calibri"/>
                <a:cs typeface="Calibri"/>
              </a:rPr>
              <a:t>opaque </a:t>
            </a:r>
            <a:r>
              <a:rPr sz="2600" spc="-10" dirty="0">
                <a:latin typeface="Calibri"/>
                <a:cs typeface="Calibri"/>
              </a:rPr>
              <a:t>integer </a:t>
            </a:r>
            <a:r>
              <a:rPr sz="2600" dirty="0">
                <a:latin typeface="Calibri"/>
                <a:cs typeface="Calibri"/>
              </a:rPr>
              <a:t>type </a:t>
            </a:r>
            <a:r>
              <a:rPr sz="2600" spc="-5" dirty="0">
                <a:latin typeface="Calibri"/>
                <a:cs typeface="Calibri"/>
              </a:rPr>
              <a:t>specific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each Unix </a:t>
            </a:r>
            <a:r>
              <a:rPr sz="2600" spc="-5" dirty="0">
                <a:latin typeface="Calibri"/>
                <a:cs typeface="Calibri"/>
              </a:rPr>
              <a:t>implementation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8255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POSIX </a:t>
            </a:r>
            <a:r>
              <a:rPr sz="2600" spc="-5" dirty="0">
                <a:latin typeface="Calibri"/>
                <a:cs typeface="Calibri"/>
              </a:rPr>
              <a:t>defines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set </a:t>
            </a:r>
            <a:r>
              <a:rPr sz="2600" dirty="0">
                <a:latin typeface="Calibri"/>
                <a:cs typeface="Calibri"/>
              </a:rPr>
              <a:t>of </a:t>
            </a:r>
            <a:r>
              <a:rPr sz="2600" spc="-15" dirty="0">
                <a:latin typeface="Calibri"/>
                <a:cs typeface="Calibri"/>
              </a:rPr>
              <a:t>constants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5" dirty="0">
                <a:latin typeface="Calibri"/>
                <a:cs typeface="Calibri"/>
              </a:rPr>
              <a:t>be </a:t>
            </a:r>
            <a:r>
              <a:rPr sz="2600" spc="-10" dirty="0">
                <a:latin typeface="Calibri"/>
                <a:cs typeface="Calibri"/>
              </a:rPr>
              <a:t>binary-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sz="2600" spc="-10" dirty="0">
                <a:latin typeface="Calibri"/>
                <a:cs typeface="Calibri"/>
              </a:rPr>
              <a:t>ed to </a:t>
            </a:r>
            <a:r>
              <a:rPr sz="2600" spc="-20" dirty="0">
                <a:latin typeface="Calibri"/>
                <a:cs typeface="Calibri"/>
              </a:rPr>
              <a:t>form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legal </a:t>
            </a:r>
            <a:r>
              <a:rPr sz="2600" spc="-5" dirty="0">
                <a:latin typeface="Calibri"/>
                <a:cs typeface="Calibri"/>
              </a:rPr>
              <a:t>values </a:t>
            </a:r>
            <a:r>
              <a:rPr sz="2600" spc="-25" dirty="0">
                <a:latin typeface="Calibri"/>
                <a:cs typeface="Calibri"/>
              </a:rPr>
              <a:t>for  </a:t>
            </a:r>
            <a:r>
              <a:rPr sz="2600" dirty="0">
                <a:latin typeface="Calibri"/>
                <a:cs typeface="Calibri"/>
              </a:rPr>
              <a:t>mode </a:t>
            </a:r>
            <a:r>
              <a:rPr sz="2600" spc="5" dirty="0">
                <a:latin typeface="Calibri"/>
                <a:cs typeface="Calibri"/>
              </a:rPr>
              <a:t>(e.g.</a:t>
            </a:r>
            <a:r>
              <a:rPr lang="en-US" sz="2600" spc="5" dirty="0">
                <a:latin typeface="Calibri"/>
                <a:cs typeface="Calibri"/>
              </a:rPr>
              <a:t>,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S_IRUSR</a:t>
            </a:r>
            <a:r>
              <a:rPr sz="2600" dirty="0">
                <a:latin typeface="Calibri"/>
                <a:cs typeface="Calibri"/>
              </a:rPr>
              <a:t> |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S_IRGRP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both </a:t>
            </a:r>
            <a:r>
              <a:rPr sz="2600" spc="-10" dirty="0">
                <a:latin typeface="Calibri"/>
                <a:cs typeface="Calibri"/>
              </a:rPr>
              <a:t>owner-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group-readab</a:t>
            </a:r>
            <a:r>
              <a:rPr lang="en-US" sz="2600" spc="-5" dirty="0">
                <a:latin typeface="Calibri"/>
                <a:cs typeface="Calibri"/>
              </a:rPr>
              <a:t>ility.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4" dirty="0">
                <a:latin typeface="Calibri"/>
                <a:cs typeface="Calibri"/>
              </a:rPr>
              <a:t>To</a:t>
            </a:r>
            <a:r>
              <a:rPr sz="2600" spc="-5" dirty="0">
                <a:latin typeface="Calibri"/>
                <a:cs typeface="Calibri"/>
              </a:rPr>
              <a:t> change </a:t>
            </a:r>
            <a:r>
              <a:rPr sz="2600" dirty="0">
                <a:latin typeface="Calibri"/>
                <a:cs typeface="Calibri"/>
              </a:rPr>
              <a:t>permissions, the </a:t>
            </a:r>
            <a:r>
              <a:rPr sz="2600" spc="-15" dirty="0">
                <a:latin typeface="Calibri"/>
                <a:cs typeface="Calibri"/>
              </a:rPr>
              <a:t>effective </a:t>
            </a:r>
            <a:r>
              <a:rPr sz="2600" dirty="0">
                <a:latin typeface="Calibri"/>
                <a:cs typeface="Calibri"/>
              </a:rPr>
              <a:t>ID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must </a:t>
            </a:r>
            <a:r>
              <a:rPr sz="2600" spc="-10" dirty="0">
                <a:latin typeface="Calibri"/>
                <a:cs typeface="Calibri"/>
              </a:rPr>
              <a:t>match </a:t>
            </a:r>
            <a:r>
              <a:rPr sz="2600" spc="-30" dirty="0">
                <a:latin typeface="Calibri"/>
                <a:cs typeface="Calibri"/>
              </a:rPr>
              <a:t>file’s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owner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On </a:t>
            </a:r>
            <a:r>
              <a:rPr sz="2600" spc="-5" dirty="0">
                <a:latin typeface="Calibri"/>
                <a:cs typeface="Calibri"/>
              </a:rPr>
              <a:t>success, </a:t>
            </a:r>
            <a:r>
              <a:rPr lang="en-US" sz="2600" spc="-5" dirty="0">
                <a:latin typeface="Calibri"/>
                <a:cs typeface="Calibri"/>
              </a:rPr>
              <a:t>either</a:t>
            </a:r>
            <a:r>
              <a:rPr sz="2600" spc="-5" dirty="0">
                <a:latin typeface="Calibri"/>
                <a:cs typeface="Calibri"/>
              </a:rPr>
              <a:t> call return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lang="en-US" sz="2600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n </a:t>
            </a:r>
            <a:r>
              <a:rPr sz="2600" spc="-10" dirty="0">
                <a:latin typeface="Calibri"/>
                <a:cs typeface="Calibri"/>
              </a:rPr>
              <a:t>failure, </a:t>
            </a:r>
            <a:r>
              <a:rPr lang="en-US" sz="2600" spc="-10" dirty="0">
                <a:latin typeface="Calibri"/>
                <a:cs typeface="Calibri"/>
              </a:rPr>
              <a:t>either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 -1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190" dirty="0">
                <a:latin typeface="Calibri"/>
                <a:cs typeface="Calibri"/>
              </a:rPr>
              <a:t> </a:t>
            </a:r>
            <a:r>
              <a:rPr sz="26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68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Examples </a:t>
            </a:r>
            <a:r>
              <a:rPr spc="-15" dirty="0"/>
              <a:t>of </a:t>
            </a:r>
            <a:r>
              <a:rPr spc="-40" dirty="0"/>
              <a:t>Setting</a:t>
            </a:r>
            <a:r>
              <a:rPr spc="-180" dirty="0"/>
              <a:t> </a:t>
            </a:r>
            <a:r>
              <a:rPr spc="-45" dirty="0"/>
              <a:t>Permissions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3189"/>
            <a:ext cx="4874262" cy="830356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Set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map.png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lang="en-US" sz="2800" spc="-1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readable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writable</a:t>
            </a:r>
            <a:r>
              <a:rPr lang="en-US" sz="2800" spc="-10" dirty="0">
                <a:latin typeface="Calibri"/>
                <a:cs typeface="Calibri"/>
              </a:rPr>
              <a:t> by the owner: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5999" y="3106832"/>
            <a:ext cx="4406023" cy="2287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43665" y="3217422"/>
            <a:ext cx="4472387" cy="20658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87261" y="1793189"/>
            <a:ext cx="4396105" cy="12204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marR="5080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Calling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fchmod()</a:t>
            </a:r>
            <a:r>
              <a:rPr sz="2800" spc="-15" dirty="0">
                <a:latin typeface="Calibri"/>
                <a:cs typeface="Calibri"/>
              </a:rPr>
              <a:t> instead,  </a:t>
            </a:r>
            <a:r>
              <a:rPr sz="2800" spc="-5" dirty="0">
                <a:latin typeface="Calibri"/>
                <a:cs typeface="Calibri"/>
              </a:rPr>
              <a:t>assuming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map.png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had been  opened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lang="en-US" sz="2800" spc="-5" dirty="0">
                <a:latin typeface="Calibri"/>
                <a:cs typeface="Calibri"/>
              </a:rPr>
              <a:t> 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4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fd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spc="-1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415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Ownership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661"/>
            <a:ext cx="10208261" cy="4538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change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st_uid</a:t>
            </a:r>
            <a:r>
              <a:rPr sz="2800" spc="-15" dirty="0">
                <a:latin typeface="Calibri"/>
                <a:cs typeface="Calibri"/>
              </a:rPr>
              <a:t>/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st_gid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fields:</a:t>
            </a:r>
            <a:endParaRPr sz="2800" dirty="0">
              <a:latin typeface="Calibri"/>
              <a:cs typeface="Calibri"/>
            </a:endParaRPr>
          </a:p>
          <a:p>
            <a:pPr marL="469900" marR="6447790">
              <a:lnSpc>
                <a:spcPct val="100499"/>
              </a:lnSpc>
              <a:spcBef>
                <a:spcPts val="5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1700530">
              <a:lnSpc>
                <a:spcPct val="100800"/>
              </a:lnSpc>
              <a:spcBef>
                <a:spcPts val="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chown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uid_t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owner,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gid_t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group);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lchown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uid_t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owner,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gid_t</a:t>
            </a:r>
            <a:r>
              <a:rPr sz="2000" spc="-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group);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fchown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uid_t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owner,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gid_t</a:t>
            </a:r>
            <a:r>
              <a:rPr sz="20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group);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ts val="269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differences </a:t>
            </a:r>
            <a:r>
              <a:rPr lang="en-US" sz="2800" spc="-5" dirty="0">
                <a:latin typeface="Calibri"/>
                <a:cs typeface="Calibri"/>
              </a:rPr>
              <a:t>between</a:t>
            </a:r>
            <a:r>
              <a:rPr sz="2800" spc="-5" dirty="0">
                <a:latin typeface="Calibri"/>
                <a:cs typeface="Calibri"/>
              </a:rPr>
              <a:t> these </a:t>
            </a:r>
            <a:r>
              <a:rPr sz="2800" spc="-15" dirty="0">
                <a:latin typeface="Calibri"/>
                <a:cs typeface="Calibri"/>
              </a:rPr>
              <a:t>versions are </a:t>
            </a:r>
            <a:r>
              <a:rPr lang="en-US" sz="2800" spc="-10" dirty="0">
                <a:latin typeface="Calibri"/>
                <a:cs typeface="Calibri"/>
              </a:rPr>
              <a:t>similar 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</a:t>
            </a:r>
            <a:r>
              <a:rPr lang="en-US" sz="2800" spc="-5" dirty="0">
                <a:latin typeface="Calibri"/>
                <a:cs typeface="Calibri"/>
              </a:rPr>
              <a:t>ose of 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stat()</a:t>
            </a:r>
            <a:r>
              <a:rPr sz="2400" dirty="0">
                <a:solidFill>
                  <a:srgbClr val="0070C0"/>
                </a:solidFill>
                <a:latin typeface="+mj-lt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family, </a:t>
            </a:r>
            <a:r>
              <a:rPr sz="2800" dirty="0">
                <a:latin typeface="Calibri"/>
                <a:cs typeface="Calibri"/>
              </a:rPr>
              <a:t>e.g.</a:t>
            </a:r>
            <a:r>
              <a:rPr lang="en-US" sz="2800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l</a:t>
            </a:r>
            <a:r>
              <a:rPr lang="en-US"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chown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version </a:t>
            </a:r>
            <a:r>
              <a:rPr sz="2800" spc="-5" dirty="0">
                <a:latin typeface="Calibri"/>
                <a:cs typeface="Calibri"/>
              </a:rPr>
              <a:t>changes the </a:t>
            </a:r>
            <a:r>
              <a:rPr lang="en-US" sz="2800" spc="-5" dirty="0">
                <a:latin typeface="Calibri"/>
                <a:cs typeface="Calibri"/>
              </a:rPr>
              <a:t>soft </a:t>
            </a:r>
            <a:r>
              <a:rPr sz="2800" spc="-10" dirty="0">
                <a:latin typeface="Calibri"/>
                <a:cs typeface="Calibri"/>
              </a:rPr>
              <a:t>link </a:t>
            </a:r>
            <a:r>
              <a:rPr sz="2800" spc="-15" dirty="0">
                <a:latin typeface="Calibri"/>
                <a:cs typeface="Calibri"/>
              </a:rPr>
              <a:t>rather </a:t>
            </a:r>
            <a:r>
              <a:rPr sz="2800" spc="-5" dirty="0">
                <a:latin typeface="Calibri"/>
                <a:cs typeface="Calibri"/>
              </a:rPr>
              <a:t>than the </a:t>
            </a:r>
            <a:r>
              <a:rPr sz="2800" spc="-40" dirty="0">
                <a:latin typeface="Calibri"/>
                <a:cs typeface="Calibri"/>
              </a:rPr>
              <a:t>link’s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target.</a:t>
            </a:r>
            <a:endParaRPr sz="2800" dirty="0">
              <a:latin typeface="Calibri"/>
              <a:cs typeface="Calibri"/>
            </a:endParaRPr>
          </a:p>
          <a:p>
            <a:pPr marL="241300" marR="419100" indent="-228600">
              <a:lnSpc>
                <a:spcPts val="269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</a:t>
            </a:r>
            <a:r>
              <a:rPr lang="en-US" sz="2800" spc="-5" dirty="0">
                <a:latin typeface="Calibri"/>
                <a:cs typeface="Calibri"/>
              </a:rPr>
              <a:t>each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35" dirty="0">
                <a:latin typeface="Calibri"/>
                <a:cs typeface="Calibri"/>
              </a:rPr>
              <a:t>file’s </a:t>
            </a:r>
            <a:r>
              <a:rPr sz="2800" spc="-10" dirty="0">
                <a:latin typeface="Calibri"/>
                <a:cs typeface="Calibri"/>
              </a:rPr>
              <a:t>owner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owner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lang="en-US" sz="2800" spc="-10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group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group</a:t>
            </a:r>
            <a:r>
              <a:rPr sz="2800" spc="-5" dirty="0">
                <a:latin typeface="Calibri"/>
                <a:cs typeface="Calibri"/>
              </a:rPr>
              <a:t>, and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0. If either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alibri"/>
              </a:rPr>
              <a:t>owner</a:t>
            </a:r>
            <a:r>
              <a:rPr lang="en-US" sz="2800" spc="-10" dirty="0">
                <a:latin typeface="Calibri"/>
                <a:cs typeface="Calibri"/>
              </a:rPr>
              <a:t> 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alibri"/>
              </a:rPr>
              <a:t>group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-1, </a:t>
            </a:r>
            <a:r>
              <a:rPr lang="en-US" sz="2800" spc="-10" dirty="0">
                <a:latin typeface="Calibri"/>
                <a:cs typeface="Calibri"/>
              </a:rPr>
              <a:t>it won’t be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changed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lang="en-US" sz="2800" spc="-5" dirty="0">
                <a:latin typeface="Calibri"/>
                <a:cs typeface="Calibri"/>
              </a:rPr>
              <a:t>each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9504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180" dirty="0"/>
              <a:t> </a:t>
            </a:r>
            <a:r>
              <a:rPr sz="42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chown()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71675"/>
            <a:ext cx="11046461" cy="1213024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This snippet changes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group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manifest.txt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officers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500"/>
              </a:lnSpc>
              <a:spcBef>
                <a:spcPts val="72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invoking </a:t>
            </a:r>
            <a:r>
              <a:rPr sz="2400" spc="-5" dirty="0">
                <a:latin typeface="Calibri"/>
                <a:cs typeface="Calibri"/>
              </a:rPr>
              <a:t>user </a:t>
            </a:r>
            <a:r>
              <a:rPr sz="2400" dirty="0">
                <a:latin typeface="Calibri"/>
                <a:cs typeface="Calibri"/>
              </a:rPr>
              <a:t>either </a:t>
            </a:r>
            <a:r>
              <a:rPr sz="2400" spc="-5" dirty="0">
                <a:latin typeface="Calibri"/>
                <a:cs typeface="Calibri"/>
              </a:rPr>
              <a:t>must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spc="-5" dirty="0">
                <a:latin typeface="Calibri"/>
                <a:cs typeface="Calibri"/>
              </a:rPr>
              <a:t>the right </a:t>
            </a:r>
            <a:r>
              <a:rPr lang="en-US" sz="2400" spc="-5" dirty="0">
                <a:latin typeface="Calibri"/>
                <a:cs typeface="Calibri"/>
              </a:rPr>
              <a:t>to change owners (usually the </a:t>
            </a:r>
            <a:r>
              <a:rPr lang="en-US"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lang="en-US" sz="2400" spc="-5" dirty="0">
                <a:latin typeface="Calibri"/>
                <a:cs typeface="Calibri"/>
              </a:rPr>
              <a:t> user has such rights) </a:t>
            </a:r>
            <a:r>
              <a:rPr sz="2400" spc="-5" dirty="0">
                <a:latin typeface="Calibri"/>
                <a:cs typeface="Calibri"/>
              </a:rPr>
              <a:t>or must be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user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kidd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i="1" spc="-5" dirty="0">
                <a:latin typeface="Calibri"/>
                <a:cs typeface="Calibri"/>
              </a:rPr>
              <a:t>and</a:t>
            </a:r>
            <a:r>
              <a:rPr lang="en-US" sz="2400" spc="-5" dirty="0">
                <a:latin typeface="Calibri"/>
                <a:cs typeface="Calibri"/>
              </a:rPr>
              <a:t> a member of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officers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E824D3-31B0-FE66-3249-F93D9A1DD591}"/>
              </a:ext>
            </a:extLst>
          </p:cNvPr>
          <p:cNvGrpSpPr/>
          <p:nvPr/>
        </p:nvGrpSpPr>
        <p:grpSpPr>
          <a:xfrm>
            <a:off x="1044308" y="2743200"/>
            <a:ext cx="10414274" cy="3581400"/>
            <a:chOff x="1044308" y="2667000"/>
            <a:chExt cx="10414274" cy="35814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7B19A62-11BC-B8BC-9AB5-F8A8906A7729}"/>
                </a:ext>
              </a:extLst>
            </p:cNvPr>
            <p:cNvGrpSpPr/>
            <p:nvPr/>
          </p:nvGrpSpPr>
          <p:grpSpPr>
            <a:xfrm>
              <a:off x="1044308" y="2667000"/>
              <a:ext cx="10414274" cy="3581400"/>
              <a:chOff x="1044308" y="2647188"/>
              <a:chExt cx="10414274" cy="358140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1044308" y="2722626"/>
                <a:ext cx="3419119" cy="3086100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5335130" y="4399788"/>
                <a:ext cx="6123452" cy="1828800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5175503" y="2647188"/>
                <a:ext cx="617855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6178550" h="1600200">
                    <a:moveTo>
                      <a:pt x="6178296" y="0"/>
                    </a:moveTo>
                    <a:lnTo>
                      <a:pt x="0" y="0"/>
                    </a:lnTo>
                    <a:lnTo>
                      <a:pt x="0" y="1600200"/>
                    </a:lnTo>
                    <a:lnTo>
                      <a:pt x="6178296" y="1600200"/>
                    </a:lnTo>
                    <a:lnTo>
                      <a:pt x="6178296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" name="object 7"/>
            <p:cNvSpPr txBox="1"/>
            <p:nvPr/>
          </p:nvSpPr>
          <p:spPr>
            <a:xfrm>
              <a:off x="5267578" y="2671394"/>
              <a:ext cx="138874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1400" b="1" dirty="0">
                  <a:solidFill>
                    <a:srgbClr val="0070C0"/>
                  </a:solidFill>
                  <a:latin typeface="Consolas"/>
                  <a:cs typeface="Consolas"/>
                </a:rPr>
                <a:t>struct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 group</a:t>
              </a:r>
              <a:r>
                <a:rPr sz="1400" spc="-70" dirty="0">
                  <a:solidFill>
                    <a:srgbClr val="0070C0"/>
                  </a:solidFill>
                  <a:latin typeface="Consolas"/>
                  <a:cs typeface="Consolas"/>
                </a:rPr>
                <a:t> 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{</a:t>
              </a: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6250336" y="2885313"/>
              <a:ext cx="2769870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  <a:tabLst>
                  <a:tab pos="1182370" algn="l"/>
                </a:tabLst>
              </a:pPr>
              <a:r>
                <a:rPr sz="1400" spc="5" dirty="0">
                  <a:solidFill>
                    <a:srgbClr val="0070C0"/>
                  </a:solidFill>
                  <a:latin typeface="Consolas"/>
                  <a:cs typeface="Consolas"/>
                </a:rPr>
                <a:t>*gr_name;	</a:t>
              </a:r>
              <a:r>
                <a:rPr sz="1400" i="1" dirty="0">
                  <a:latin typeface="Consolas"/>
                  <a:cs typeface="Consolas"/>
                </a:rPr>
                <a:t>/* group name</a:t>
              </a:r>
              <a:r>
                <a:rPr sz="1400" i="1" spc="-45" dirty="0">
                  <a:latin typeface="Consolas"/>
                  <a:cs typeface="Consolas"/>
                </a:rPr>
                <a:t> </a:t>
              </a:r>
              <a:r>
                <a:rPr sz="1400" i="1" spc="5" dirty="0">
                  <a:latin typeface="Consolas"/>
                  <a:cs typeface="Consolas"/>
                </a:rPr>
                <a:t>*/</a:t>
              </a:r>
              <a:endParaRPr sz="1400" i="1" dirty="0">
                <a:latin typeface="Consolas"/>
                <a:cs typeface="Consolas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250336" y="3098673"/>
              <a:ext cx="316293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*gr_passwd; </a:t>
              </a:r>
              <a:r>
                <a:rPr sz="1400" i="1" dirty="0">
                  <a:latin typeface="Consolas"/>
                  <a:cs typeface="Consolas"/>
                </a:rPr>
                <a:t>/* group password</a:t>
              </a:r>
              <a:r>
                <a:rPr sz="1400" i="1" spc="45" dirty="0">
                  <a:latin typeface="Consolas"/>
                  <a:cs typeface="Consolas"/>
                </a:rPr>
                <a:t> </a:t>
              </a:r>
              <a:r>
                <a:rPr sz="1400" i="1" dirty="0">
                  <a:latin typeface="Consolas"/>
                  <a:cs typeface="Consolas"/>
                </a:rPr>
                <a:t>*/</a:t>
              </a: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561710" y="2885313"/>
              <a:ext cx="505459" cy="87947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R="5080">
                <a:lnSpc>
                  <a:spcPct val="100000"/>
                </a:lnSpc>
                <a:spcBef>
                  <a:spcPts val="105"/>
                </a:spcBef>
              </a:pPr>
              <a:r>
                <a:rPr sz="1400" b="1" dirty="0">
                  <a:solidFill>
                    <a:srgbClr val="0070C0"/>
                  </a:solidFill>
                  <a:latin typeface="Consolas"/>
                  <a:cs typeface="Consolas"/>
                </a:rPr>
                <a:t>char  char  </a:t>
              </a:r>
              <a:r>
                <a:rPr sz="1400" b="1" spc="5" dirty="0">
                  <a:solidFill>
                    <a:srgbClr val="0070C0"/>
                  </a:solidFill>
                  <a:latin typeface="Consolas"/>
                  <a:cs typeface="Consolas"/>
                </a:rPr>
                <a:t>g</a:t>
              </a:r>
              <a:r>
                <a:rPr sz="1400" b="1" dirty="0">
                  <a:solidFill>
                    <a:srgbClr val="0070C0"/>
                  </a:solidFill>
                  <a:latin typeface="Consolas"/>
                  <a:cs typeface="Consolas"/>
                </a:rPr>
                <a:t>id</a:t>
              </a:r>
              <a:r>
                <a:rPr sz="1400" b="1" spc="10" dirty="0">
                  <a:solidFill>
                    <a:srgbClr val="0070C0"/>
                  </a:solidFill>
                  <a:latin typeface="Consolas"/>
                  <a:cs typeface="Consolas"/>
                </a:rPr>
                <a:t>_</a:t>
              </a:r>
              <a:r>
                <a:rPr sz="1400" b="1" dirty="0">
                  <a:solidFill>
                    <a:srgbClr val="0070C0"/>
                  </a:solidFill>
                  <a:latin typeface="Consolas"/>
                  <a:cs typeface="Consolas"/>
                </a:rPr>
                <a:t>t  char</a:t>
              </a: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6152267" y="3312032"/>
              <a:ext cx="899794" cy="45275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R="5080" algn="r">
                <a:lnSpc>
                  <a:spcPct val="100000"/>
                </a:lnSpc>
                <a:spcBef>
                  <a:spcPts val="105"/>
                </a:spcBef>
              </a:pPr>
              <a:r>
                <a:rPr sz="1400" spc="5" dirty="0">
                  <a:solidFill>
                    <a:srgbClr val="0070C0"/>
                  </a:solidFill>
                  <a:latin typeface="Consolas"/>
                  <a:cs typeface="Consolas"/>
                </a:rPr>
                <a:t>g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r_</a:t>
              </a:r>
              <a:r>
                <a:rPr sz="1400" spc="10" dirty="0">
                  <a:solidFill>
                    <a:srgbClr val="0070C0"/>
                  </a:solidFill>
                  <a:latin typeface="Consolas"/>
                  <a:cs typeface="Consolas"/>
                </a:rPr>
                <a:t>g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i</a:t>
              </a:r>
              <a:r>
                <a:rPr sz="1400" spc="5" dirty="0">
                  <a:solidFill>
                    <a:srgbClr val="0070C0"/>
                  </a:solidFill>
                  <a:latin typeface="Consolas"/>
                  <a:cs typeface="Consolas"/>
                </a:rPr>
                <a:t>d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;</a:t>
              </a:r>
            </a:p>
            <a:p>
              <a:pPr marR="5080" algn="r">
                <a:lnSpc>
                  <a:spcPct val="100000"/>
                </a:lnSpc>
              </a:pP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*</a:t>
              </a:r>
              <a:r>
                <a:rPr sz="1400" spc="10" dirty="0">
                  <a:solidFill>
                    <a:srgbClr val="0070C0"/>
                  </a:solidFill>
                  <a:latin typeface="Consolas"/>
                  <a:cs typeface="Consolas"/>
                </a:rPr>
                <a:t>*</a:t>
              </a:r>
              <a:r>
                <a:rPr sz="1400" spc="5" dirty="0">
                  <a:solidFill>
                    <a:srgbClr val="0070C0"/>
                  </a:solidFill>
                  <a:latin typeface="Consolas"/>
                  <a:cs typeface="Consolas"/>
                </a:rPr>
                <a:t>g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r_</a:t>
              </a:r>
              <a:r>
                <a:rPr sz="1400" spc="10" dirty="0">
                  <a:solidFill>
                    <a:srgbClr val="0070C0"/>
                  </a:solidFill>
                  <a:latin typeface="Consolas"/>
                  <a:cs typeface="Consolas"/>
                </a:rPr>
                <a:t>m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e</a:t>
              </a:r>
              <a:r>
                <a:rPr sz="1400" spc="5" dirty="0">
                  <a:solidFill>
                    <a:srgbClr val="0070C0"/>
                  </a:solidFill>
                  <a:latin typeface="Consolas"/>
                  <a:cs typeface="Consolas"/>
                </a:rPr>
                <a:t>m</a:t>
              </a:r>
              <a:r>
                <a:rPr sz="1400" dirty="0">
                  <a:solidFill>
                    <a:srgbClr val="0070C0"/>
                  </a:solidFill>
                  <a:latin typeface="Consolas"/>
                  <a:cs typeface="Consolas"/>
                </a:rPr>
                <a:t>;</a:t>
              </a: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7433171" y="3312032"/>
              <a:ext cx="3555365" cy="66611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1400" i="1" dirty="0">
                  <a:latin typeface="Consolas"/>
                  <a:cs typeface="Consolas"/>
                </a:rPr>
                <a:t>/* group ID</a:t>
              </a:r>
              <a:r>
                <a:rPr sz="1400" i="1" spc="5" dirty="0">
                  <a:latin typeface="Consolas"/>
                  <a:cs typeface="Consolas"/>
                </a:rPr>
                <a:t> </a:t>
              </a:r>
              <a:r>
                <a:rPr sz="1400" i="1" dirty="0">
                  <a:latin typeface="Consolas"/>
                  <a:cs typeface="Consolas"/>
                </a:rPr>
                <a:t>*/</a:t>
              </a:r>
            </a:p>
            <a:p>
              <a:pPr marL="351790" marR="5080" indent="-352425">
                <a:lnSpc>
                  <a:spcPct val="100000"/>
                </a:lnSpc>
              </a:pPr>
              <a:r>
                <a:rPr sz="1400" i="1" dirty="0">
                  <a:latin typeface="Consolas"/>
                  <a:cs typeface="Consolas"/>
                </a:rPr>
                <a:t>/* NULL-terminated </a:t>
              </a:r>
              <a:r>
                <a:rPr sz="1400" i="1" spc="5" dirty="0">
                  <a:latin typeface="Consolas"/>
                  <a:cs typeface="Consolas"/>
                </a:rPr>
                <a:t>array </a:t>
              </a:r>
              <a:r>
                <a:rPr sz="1400" i="1" dirty="0">
                  <a:latin typeface="Consolas"/>
                  <a:cs typeface="Consolas"/>
                </a:rPr>
                <a:t>of pointers  to names of group </a:t>
              </a:r>
              <a:r>
                <a:rPr sz="1400" i="1" spc="5" dirty="0">
                  <a:latin typeface="Consolas"/>
                  <a:cs typeface="Consolas"/>
                </a:rPr>
                <a:t>members</a:t>
              </a:r>
              <a:r>
                <a:rPr sz="1400" i="1" spc="-10" dirty="0">
                  <a:latin typeface="Consolas"/>
                  <a:cs typeface="Consolas"/>
                </a:rPr>
                <a:t> </a:t>
              </a:r>
              <a:r>
                <a:rPr sz="1400" i="1" dirty="0">
                  <a:latin typeface="Consolas"/>
                  <a:cs typeface="Consolas"/>
                </a:rPr>
                <a:t>*/</a:t>
              </a: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267578" y="3951808"/>
              <a:ext cx="208279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05"/>
                </a:spcBef>
              </a:pPr>
              <a:r>
                <a:rPr sz="1400" spc="-10" dirty="0">
                  <a:solidFill>
                    <a:srgbClr val="0070C0"/>
                  </a:solidFill>
                  <a:latin typeface="Consolas"/>
                  <a:cs typeface="Consolas"/>
                </a:rPr>
                <a:t>};</a:t>
              </a:r>
              <a:endParaRPr sz="1400" dirty="0">
                <a:solidFill>
                  <a:srgbClr val="0070C0"/>
                </a:solidFill>
                <a:latin typeface="Consolas"/>
                <a:cs typeface="Consola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419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Extended</a:t>
            </a:r>
            <a:r>
              <a:rPr spc="-165" dirty="0"/>
              <a:t> </a:t>
            </a:r>
            <a:r>
              <a:rPr spc="-50" dirty="0"/>
              <a:t>Attributes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97761"/>
            <a:ext cx="10589261" cy="452110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4508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Also </a:t>
            </a:r>
            <a:r>
              <a:rPr sz="2600" spc="-5" dirty="0">
                <a:latin typeface="Calibri"/>
                <a:cs typeface="Calibri"/>
              </a:rPr>
              <a:t>called </a:t>
            </a:r>
            <a:r>
              <a:rPr sz="24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xattrs</a:t>
            </a:r>
            <a:r>
              <a:rPr sz="2600" spc="-15" dirty="0">
                <a:latin typeface="Calibri"/>
                <a:cs typeface="Calibri"/>
              </a:rPr>
              <a:t>, </a:t>
            </a:r>
            <a:r>
              <a:rPr sz="2600" spc="-10" dirty="0">
                <a:latin typeface="Calibri"/>
                <a:cs typeface="Calibri"/>
              </a:rPr>
              <a:t>provide </a:t>
            </a:r>
            <a:r>
              <a:rPr sz="2600" dirty="0">
                <a:latin typeface="Calibri"/>
                <a:cs typeface="Calibri"/>
              </a:rPr>
              <a:t>a mechanism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associating </a:t>
            </a:r>
            <a:r>
              <a:rPr sz="2600" spc="-15" dirty="0">
                <a:latin typeface="Calibri"/>
                <a:cs typeface="Calibri"/>
              </a:rPr>
              <a:t>key/value pairs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5" dirty="0">
                <a:latin typeface="Calibri"/>
                <a:cs typeface="Calibri"/>
              </a:rPr>
              <a:t>files </a:t>
            </a:r>
            <a:r>
              <a:rPr sz="2600" spc="-10" dirty="0">
                <a:latin typeface="Calibri"/>
                <a:cs typeface="Calibri"/>
              </a:rPr>
              <a:t>beyond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metadata </a:t>
            </a:r>
            <a:r>
              <a:rPr sz="2600" spc="-15" dirty="0">
                <a:latin typeface="Calibri"/>
                <a:cs typeface="Calibri"/>
              </a:rPr>
              <a:t>covered </a:t>
            </a:r>
            <a:r>
              <a:rPr sz="2600" spc="-5" dirty="0">
                <a:latin typeface="Calibri"/>
                <a:cs typeface="Calibri"/>
              </a:rPr>
              <a:t>so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far</a:t>
            </a:r>
            <a:r>
              <a:rPr lang="en-US" sz="2600" spc="-2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77800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allows </a:t>
            </a:r>
            <a:r>
              <a:rPr sz="2600" spc="-10" dirty="0">
                <a:latin typeface="Calibri"/>
                <a:cs typeface="Calibri"/>
              </a:rPr>
              <a:t>existing </a:t>
            </a:r>
            <a:r>
              <a:rPr sz="2600" spc="-15" dirty="0">
                <a:latin typeface="Calibri"/>
                <a:cs typeface="Calibri"/>
              </a:rPr>
              <a:t>filesystems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add </a:t>
            </a:r>
            <a:r>
              <a:rPr sz="2600" spc="-5" dirty="0">
                <a:latin typeface="Calibri"/>
                <a:cs typeface="Calibri"/>
              </a:rPr>
              <a:t>new </a:t>
            </a:r>
            <a:r>
              <a:rPr sz="2600" spc="-15" dirty="0">
                <a:latin typeface="Calibri"/>
                <a:cs typeface="Calibri"/>
              </a:rPr>
              <a:t>features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lang="en-US" sz="2600" spc="-5" dirty="0">
                <a:latin typeface="Calibri"/>
                <a:cs typeface="Calibri"/>
              </a:rPr>
              <a:t>included </a:t>
            </a:r>
            <a:r>
              <a:rPr sz="2600" dirty="0">
                <a:latin typeface="Calibri"/>
                <a:cs typeface="Calibri"/>
              </a:rPr>
              <a:t>in their  </a:t>
            </a:r>
            <a:r>
              <a:rPr sz="2600" spc="-5" dirty="0">
                <a:latin typeface="Calibri"/>
                <a:cs typeface="Calibri"/>
              </a:rPr>
              <a:t>original </a:t>
            </a:r>
            <a:r>
              <a:rPr sz="2600" dirty="0">
                <a:latin typeface="Calibri"/>
                <a:cs typeface="Calibri"/>
              </a:rPr>
              <a:t>designs </a:t>
            </a:r>
            <a:r>
              <a:rPr sz="2600" spc="-5" dirty="0">
                <a:latin typeface="Calibri"/>
                <a:cs typeface="Calibri"/>
              </a:rPr>
              <a:t>(such </a:t>
            </a:r>
            <a:r>
              <a:rPr sz="2600" dirty="0">
                <a:latin typeface="Calibri"/>
                <a:cs typeface="Calibri"/>
              </a:rPr>
              <a:t>as access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controls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r>
              <a:rPr sz="2600" spc="-10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  <a:p>
            <a:pPr marL="241300" marR="457834" indent="-228600">
              <a:lnSpc>
                <a:spcPts val="281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Any </a:t>
            </a:r>
            <a:r>
              <a:rPr sz="2600" spc="-5" dirty="0">
                <a:latin typeface="Calibri"/>
                <a:cs typeface="Calibri"/>
              </a:rPr>
              <a:t>user-space applications </a:t>
            </a:r>
            <a:r>
              <a:rPr sz="2600" spc="-20" dirty="0">
                <a:latin typeface="Calibri"/>
                <a:cs typeface="Calibri"/>
              </a:rPr>
              <a:t>may </a:t>
            </a:r>
            <a:r>
              <a:rPr sz="2600" spc="-5" dirty="0">
                <a:latin typeface="Calibri"/>
                <a:cs typeface="Calibri"/>
              </a:rPr>
              <a:t>arbitrarily </a:t>
            </a:r>
            <a:r>
              <a:rPr sz="2600" spc="-15" dirty="0">
                <a:latin typeface="Calibri"/>
                <a:cs typeface="Calibri"/>
              </a:rPr>
              <a:t>create, </a:t>
            </a:r>
            <a:r>
              <a:rPr sz="2600" spc="-5" dirty="0">
                <a:latin typeface="Calibri"/>
                <a:cs typeface="Calibri"/>
              </a:rPr>
              <a:t>read</a:t>
            </a:r>
            <a:r>
              <a:rPr lang="en-US" sz="2600" spc="-5" dirty="0">
                <a:latin typeface="Calibri"/>
                <a:cs typeface="Calibri"/>
              </a:rPr>
              <a:t> from, and </a:t>
            </a:r>
            <a:r>
              <a:rPr sz="2600" spc="-5" dirty="0">
                <a:latin typeface="Calibri"/>
                <a:cs typeface="Calibri"/>
              </a:rPr>
              <a:t>write</a:t>
            </a:r>
            <a:r>
              <a:rPr lang="en-US" sz="2600" spc="-5" dirty="0">
                <a:latin typeface="Calibri"/>
                <a:cs typeface="Calibri"/>
              </a:rPr>
              <a:t> to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 </a:t>
            </a:r>
            <a:r>
              <a:rPr sz="2600" spc="-15" dirty="0">
                <a:latin typeface="Calibri"/>
                <a:cs typeface="Calibri"/>
              </a:rPr>
              <a:t>key/value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pairs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41529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</a:t>
            </a:r>
            <a:r>
              <a:rPr lang="en-US" sz="2600" spc="-5" dirty="0">
                <a:latin typeface="Calibri"/>
                <a:cs typeface="Calibri"/>
              </a:rPr>
              <a:t> standard </a:t>
            </a:r>
            <a:r>
              <a:rPr lang="en-US" sz="2600" spc="-10" dirty="0">
                <a:latin typeface="Calibri"/>
                <a:cs typeface="Calibri"/>
              </a:rPr>
              <a:t>interface that apps to use manipulate these attributes</a:t>
            </a:r>
            <a:r>
              <a:rPr sz="2600" dirty="0">
                <a:latin typeface="Calibri"/>
                <a:cs typeface="Calibri"/>
              </a:rPr>
              <a:t> is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specific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any filesystem</a:t>
            </a:r>
            <a:r>
              <a:rPr lang="en-US" sz="2600" spc="-15" dirty="0">
                <a:latin typeface="Calibri"/>
                <a:cs typeface="Calibri"/>
              </a:rPr>
              <a:t> and is </a:t>
            </a:r>
            <a:r>
              <a:rPr sz="2600" spc="-15" dirty="0">
                <a:latin typeface="Calibri"/>
                <a:cs typeface="Calibri"/>
              </a:rPr>
              <a:t>standardized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user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space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15" dirty="0">
                <a:latin typeface="Calibri"/>
                <a:cs typeface="Calibri"/>
              </a:rPr>
              <a:t>course,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implementation of extended attributes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very </a:t>
            </a:r>
            <a:r>
              <a:rPr sz="2600" spc="-25" dirty="0">
                <a:latin typeface="Calibri"/>
                <a:cs typeface="Calibri"/>
              </a:rPr>
              <a:t>filesystem-  </a:t>
            </a:r>
            <a:r>
              <a:rPr sz="2600" dirty="0">
                <a:latin typeface="Calibri"/>
                <a:cs typeface="Calibri"/>
              </a:rPr>
              <a:t>specific, </a:t>
            </a:r>
            <a:r>
              <a:rPr sz="2600" spc="-5" dirty="0">
                <a:latin typeface="Calibri"/>
                <a:cs typeface="Calibri"/>
              </a:rPr>
              <a:t>but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hides </a:t>
            </a:r>
            <a:r>
              <a:rPr sz="2600" dirty="0">
                <a:latin typeface="Calibri"/>
                <a:cs typeface="Calibri"/>
              </a:rPr>
              <a:t>these specifics and </a:t>
            </a:r>
            <a:r>
              <a:rPr sz="2600" spc="-10" dirty="0">
                <a:latin typeface="Calibri"/>
                <a:cs typeface="Calibri"/>
              </a:rPr>
              <a:t>exposes </a:t>
            </a:r>
            <a:r>
              <a:rPr lang="en-US" sz="2600" spc="-10" dirty="0">
                <a:latin typeface="Calibri"/>
                <a:cs typeface="Calibri"/>
              </a:rPr>
              <a:t>only the </a:t>
            </a:r>
            <a:r>
              <a:rPr sz="2600" spc="-10" dirty="0">
                <a:latin typeface="Calibri"/>
                <a:cs typeface="Calibri"/>
              </a:rPr>
              <a:t>standard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interface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12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Keys </a:t>
            </a:r>
            <a:r>
              <a:rPr spc="-20" dirty="0"/>
              <a:t>and</a:t>
            </a:r>
            <a:r>
              <a:rPr spc="-170" dirty="0"/>
              <a:t> </a:t>
            </a:r>
            <a:r>
              <a:rPr spc="-70" dirty="0"/>
              <a:t>Values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65757"/>
            <a:ext cx="10215880" cy="436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11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unique </a:t>
            </a:r>
            <a:r>
              <a:rPr sz="2600" spc="-30" dirty="0">
                <a:latin typeface="Calibri"/>
                <a:cs typeface="Calibri"/>
              </a:rPr>
              <a:t>key </a:t>
            </a:r>
            <a:r>
              <a:rPr sz="2600" dirty="0">
                <a:latin typeface="Calibri"/>
                <a:cs typeface="Calibri"/>
              </a:rPr>
              <a:t>identifies each </a:t>
            </a:r>
            <a:r>
              <a:rPr sz="2600" spc="-5" dirty="0">
                <a:latin typeface="Calibri"/>
                <a:cs typeface="Calibri"/>
              </a:rPr>
              <a:t>extended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attribute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10" dirty="0">
                <a:latin typeface="Calibri"/>
                <a:cs typeface="Calibri"/>
              </a:rPr>
              <a:t>M</a:t>
            </a:r>
            <a:r>
              <a:rPr sz="2200" spc="-10" dirty="0">
                <a:latin typeface="Calibri"/>
                <a:cs typeface="Calibri"/>
              </a:rPr>
              <a:t>ust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alibri"/>
                <a:cs typeface="Calibri"/>
              </a:rPr>
              <a:t>valid </a:t>
            </a:r>
            <a:r>
              <a:rPr sz="2200" spc="-5" dirty="0">
                <a:latin typeface="Calibri"/>
                <a:cs typeface="Calibri"/>
                <a:hlinkClick r:id="rId2"/>
              </a:rPr>
              <a:t>UTF-</a:t>
            </a:r>
            <a:r>
              <a:rPr lang="en-US" sz="2200" spc="-5" dirty="0">
                <a:latin typeface="Calibri"/>
                <a:cs typeface="Calibri"/>
                <a:hlinkClick r:id="rId2"/>
              </a:rPr>
              <a:t>8</a:t>
            </a:r>
            <a:r>
              <a:rPr lang="en-US" sz="2200" spc="-5" dirty="0">
                <a:latin typeface="Calibri"/>
                <a:cs typeface="Calibri"/>
              </a:rPr>
              <a:t> and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take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form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namespace.attribute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spc="-5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10" dirty="0">
                <a:latin typeface="Calibri"/>
                <a:cs typeface="Calibri"/>
              </a:rPr>
              <a:t>M</a:t>
            </a:r>
            <a:r>
              <a:rPr sz="2200" spc="-10" dirty="0">
                <a:latin typeface="Calibri"/>
                <a:cs typeface="Calibri"/>
              </a:rPr>
              <a:t>ust </a:t>
            </a:r>
            <a:r>
              <a:rPr sz="2200" spc="-5" dirty="0">
                <a:latin typeface="Calibri"/>
                <a:cs typeface="Calibri"/>
              </a:rPr>
              <a:t>be fully </a:t>
            </a:r>
            <a:r>
              <a:rPr sz="2200" spc="-10" dirty="0">
                <a:latin typeface="Calibri"/>
                <a:cs typeface="Calibri"/>
              </a:rPr>
              <a:t>qualified</a:t>
            </a:r>
            <a:r>
              <a:rPr lang="en-US" sz="2200" spc="-10" dirty="0">
                <a:latin typeface="Calibri"/>
                <a:cs typeface="Calibri"/>
              </a:rPr>
              <a:t>: </a:t>
            </a:r>
            <a:r>
              <a:rPr sz="2200" spc="-10" dirty="0">
                <a:latin typeface="Calibri"/>
                <a:cs typeface="Calibri"/>
              </a:rPr>
              <a:t>begin </a:t>
            </a:r>
            <a:r>
              <a:rPr sz="2200" spc="-5" dirty="0">
                <a:latin typeface="Calibri"/>
                <a:cs typeface="Calibri"/>
              </a:rPr>
              <a:t>with a </a:t>
            </a:r>
            <a:r>
              <a:rPr sz="2200" spc="-10" dirty="0">
                <a:latin typeface="Calibri"/>
                <a:cs typeface="Calibri"/>
              </a:rPr>
              <a:t>valid </a:t>
            </a:r>
            <a:r>
              <a:rPr sz="2200" spc="-5" dirty="0">
                <a:latin typeface="Calibri"/>
                <a:cs typeface="Calibri"/>
              </a:rPr>
              <a:t>namespace, </a:t>
            </a:r>
            <a:r>
              <a:rPr sz="2200" spc="-15" dirty="0">
                <a:latin typeface="Calibri"/>
                <a:cs typeface="Calibri"/>
              </a:rPr>
              <a:t>followed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period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Example: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user.mime_type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spc="-1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30" dirty="0">
                <a:latin typeface="Calibri"/>
                <a:cs typeface="Calibri"/>
              </a:rPr>
              <a:t>key </a:t>
            </a:r>
            <a:r>
              <a:rPr sz="2600" dirty="0">
                <a:latin typeface="Calibri"/>
                <a:cs typeface="Calibri"/>
              </a:rPr>
              <a:t>is either </a:t>
            </a:r>
            <a:r>
              <a:rPr sz="2600" i="1" spc="-5" dirty="0">
                <a:latin typeface="Calibri"/>
                <a:cs typeface="Calibri"/>
              </a:rPr>
              <a:t>defined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i="1" spc="-5" dirty="0">
                <a:latin typeface="Calibri"/>
                <a:cs typeface="Calibri"/>
              </a:rPr>
              <a:t>undefined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defined </a:t>
            </a:r>
            <a:r>
              <a:rPr sz="2200" spc="-35" dirty="0">
                <a:latin typeface="Calibri"/>
                <a:cs typeface="Calibri"/>
              </a:rPr>
              <a:t>key </a:t>
            </a:r>
            <a:r>
              <a:rPr sz="2200" spc="-5" dirty="0">
                <a:latin typeface="Calibri"/>
                <a:cs typeface="Calibri"/>
              </a:rPr>
              <a:t>with </a:t>
            </a:r>
            <a:r>
              <a:rPr lang="en-US" sz="2200" spc="-5" dirty="0">
                <a:latin typeface="Calibri"/>
                <a:cs typeface="Calibri"/>
              </a:rPr>
              <a:t>an </a:t>
            </a:r>
            <a:r>
              <a:rPr sz="2200" spc="-10" dirty="0">
                <a:latin typeface="Calibri"/>
                <a:cs typeface="Calibri"/>
              </a:rPr>
              <a:t>empty value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20" dirty="0">
                <a:latin typeface="Calibri"/>
                <a:cs typeface="Calibri"/>
              </a:rPr>
              <a:t>different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dirty="0">
                <a:latin typeface="Calibri"/>
                <a:cs typeface="Calibri"/>
              </a:rPr>
              <a:t>an </a:t>
            </a:r>
            <a:r>
              <a:rPr sz="2200" spc="-10" dirty="0">
                <a:latin typeface="Calibri"/>
                <a:cs typeface="Calibri"/>
              </a:rPr>
              <a:t>undefined</a:t>
            </a:r>
            <a:r>
              <a:rPr sz="2200" spc="17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key</a:t>
            </a:r>
            <a:r>
              <a:rPr lang="en-US" sz="2200" spc="-3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1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value </a:t>
            </a:r>
            <a:r>
              <a:rPr sz="2200" spc="-15" dirty="0">
                <a:latin typeface="Calibri"/>
                <a:cs typeface="Calibri"/>
              </a:rPr>
              <a:t>could </a:t>
            </a:r>
            <a:r>
              <a:rPr sz="2200" spc="-5" dirty="0">
                <a:latin typeface="Calibri"/>
                <a:cs typeface="Calibri"/>
              </a:rPr>
              <a:t>be </a:t>
            </a:r>
            <a:r>
              <a:rPr sz="2200" spc="-15" dirty="0">
                <a:latin typeface="Calibri"/>
                <a:cs typeface="Calibri"/>
              </a:rPr>
              <a:t>any </a:t>
            </a:r>
            <a:r>
              <a:rPr sz="2200" spc="-10" dirty="0">
                <a:latin typeface="Calibri"/>
                <a:cs typeface="Calibri"/>
              </a:rPr>
              <a:t>arbitrary </a:t>
            </a:r>
            <a:r>
              <a:rPr sz="2200" spc="-20" dirty="0">
                <a:latin typeface="Calibri"/>
                <a:cs typeface="Calibri"/>
              </a:rPr>
              <a:t>array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bytes (need </a:t>
            </a:r>
            <a:r>
              <a:rPr sz="2200" spc="-5" dirty="0">
                <a:latin typeface="Calibri"/>
                <a:cs typeface="Calibri"/>
              </a:rPr>
              <a:t>not be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null-terminated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6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Thus,</a:t>
            </a:r>
            <a:r>
              <a:rPr sz="2200" spc="-5" dirty="0">
                <a:latin typeface="Calibri"/>
                <a:cs typeface="Calibri"/>
              </a:rPr>
              <a:t> all </a:t>
            </a:r>
            <a:r>
              <a:rPr lang="en-US" sz="2200" spc="-5" dirty="0">
                <a:latin typeface="Calibri"/>
                <a:cs typeface="Calibri"/>
              </a:rPr>
              <a:t>writing </a:t>
            </a:r>
            <a:r>
              <a:rPr sz="2200" spc="-10" dirty="0">
                <a:latin typeface="Calibri"/>
                <a:cs typeface="Calibri"/>
              </a:rPr>
              <a:t>operations require </a:t>
            </a:r>
            <a:r>
              <a:rPr lang="en-US" sz="2200" spc="-10" dirty="0">
                <a:latin typeface="Calibri"/>
                <a:cs typeface="Calibri"/>
              </a:rPr>
              <a:t>you to specify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20" dirty="0">
                <a:latin typeface="Calibri"/>
                <a:cs typeface="Calibri"/>
              </a:rPr>
              <a:t>size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the value (</a:t>
            </a:r>
            <a:r>
              <a:rPr sz="2200" spc="-5" dirty="0">
                <a:latin typeface="Calibri"/>
                <a:cs typeface="Calibri"/>
              </a:rPr>
              <a:t>reading</a:t>
            </a:r>
            <a:r>
              <a:rPr lang="en-US" sz="2200" spc="-5" dirty="0">
                <a:latin typeface="Calibri"/>
                <a:cs typeface="Calibri"/>
              </a:rPr>
              <a:t> operations will return the value’s size in bytes to you.</a:t>
            </a:r>
            <a:r>
              <a:rPr sz="2200" spc="-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241300" marR="517525" indent="-228600">
              <a:lnSpc>
                <a:spcPct val="800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Linux doesn’t </a:t>
            </a:r>
            <a:r>
              <a:rPr sz="2600" spc="-20" dirty="0">
                <a:latin typeface="Calibri"/>
                <a:cs typeface="Calibri"/>
              </a:rPr>
              <a:t>enforce </a:t>
            </a:r>
            <a:r>
              <a:rPr sz="2600" spc="-15" dirty="0">
                <a:latin typeface="Calibri"/>
                <a:cs typeface="Calibri"/>
              </a:rPr>
              <a:t>any </a:t>
            </a:r>
            <a:r>
              <a:rPr sz="2600" dirty="0">
                <a:latin typeface="Calibri"/>
                <a:cs typeface="Calibri"/>
              </a:rPr>
              <a:t>limits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lang="en-US" sz="2600" dirty="0">
                <a:latin typeface="Calibri"/>
                <a:cs typeface="Calibri"/>
              </a:rPr>
              <a:t>number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25" dirty="0">
                <a:latin typeface="Calibri"/>
                <a:cs typeface="Calibri"/>
              </a:rPr>
              <a:t>keys, </a:t>
            </a:r>
            <a:r>
              <a:rPr sz="2600" spc="-5" dirty="0">
                <a:latin typeface="Calibri"/>
                <a:cs typeface="Calibri"/>
              </a:rPr>
              <a:t>length of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70" dirty="0">
                <a:latin typeface="Calibri"/>
                <a:cs typeface="Calibri"/>
              </a:rPr>
              <a:t>key, </a:t>
            </a:r>
            <a:r>
              <a:rPr sz="2600" spc="-15" dirty="0">
                <a:latin typeface="Calibri"/>
                <a:cs typeface="Calibri"/>
              </a:rPr>
              <a:t>size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value, </a:t>
            </a:r>
            <a:r>
              <a:rPr sz="2600" dirty="0">
                <a:latin typeface="Calibri"/>
                <a:cs typeface="Calibri"/>
              </a:rPr>
              <a:t>and the </a:t>
            </a:r>
            <a:r>
              <a:rPr sz="2600" spc="-15" dirty="0">
                <a:latin typeface="Calibri"/>
                <a:cs typeface="Calibri"/>
              </a:rPr>
              <a:t>total </a:t>
            </a:r>
            <a:r>
              <a:rPr lang="en-US" sz="2600" dirty="0">
                <a:latin typeface="Calibri"/>
                <a:cs typeface="Calibri"/>
              </a:rPr>
              <a:t>size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all </a:t>
            </a:r>
            <a:r>
              <a:rPr sz="2600" spc="-10" dirty="0">
                <a:latin typeface="Calibri"/>
                <a:cs typeface="Calibri"/>
              </a:rPr>
              <a:t>pairs </a:t>
            </a:r>
            <a:r>
              <a:rPr sz="2600" spc="-5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 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Filesystems </a:t>
            </a:r>
            <a:r>
              <a:rPr sz="2600" spc="-20" dirty="0">
                <a:latin typeface="Calibri"/>
                <a:cs typeface="Calibri"/>
              </a:rPr>
              <a:t>have </a:t>
            </a:r>
            <a:r>
              <a:rPr sz="2600" spc="-5" dirty="0">
                <a:latin typeface="Calibri"/>
                <a:cs typeface="Calibri"/>
              </a:rPr>
              <a:t>practical </a:t>
            </a:r>
            <a:r>
              <a:rPr sz="2600" dirty="0">
                <a:latin typeface="Calibri"/>
                <a:cs typeface="Calibri"/>
              </a:rPr>
              <a:t>limits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though</a:t>
            </a:r>
            <a:r>
              <a:rPr lang="en-US" sz="2600" dirty="0">
                <a:latin typeface="Calibri"/>
                <a:cs typeface="Calibri"/>
              </a:rPr>
              <a:t>, such as storage space limitations.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908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Extended </a:t>
            </a:r>
            <a:r>
              <a:rPr spc="-50" dirty="0"/>
              <a:t>Attribute</a:t>
            </a:r>
            <a:r>
              <a:rPr spc="-215" dirty="0"/>
              <a:t> </a:t>
            </a:r>
            <a:r>
              <a:rPr spc="-35" dirty="0"/>
              <a:t>Namespace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938" y="1759661"/>
            <a:ext cx="10589261" cy="4195829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Namespace</a:t>
            </a:r>
            <a:r>
              <a:rPr lang="en-US" sz="2800" spc="-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spc="-5" dirty="0">
                <a:latin typeface="Calibri"/>
                <a:cs typeface="Calibri"/>
              </a:rPr>
              <a:t>than </a:t>
            </a:r>
            <a:r>
              <a:rPr sz="2800" spc="-15" dirty="0">
                <a:latin typeface="Calibri"/>
                <a:cs typeface="Calibri"/>
              </a:rPr>
              <a:t>just organizational </a:t>
            </a:r>
            <a:r>
              <a:rPr sz="2800" spc="-10" dirty="0">
                <a:latin typeface="Calibri"/>
                <a:cs typeface="Calibri"/>
              </a:rPr>
              <a:t>tools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they are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20" dirty="0">
                <a:latin typeface="Calibri"/>
                <a:cs typeface="Calibri"/>
              </a:rPr>
              <a:t>enforce </a:t>
            </a:r>
            <a:r>
              <a:rPr sz="2800" spc="-25" dirty="0">
                <a:latin typeface="Calibri"/>
                <a:cs typeface="Calibri"/>
              </a:rPr>
              <a:t>different </a:t>
            </a:r>
            <a:r>
              <a:rPr sz="2800" spc="-5" dirty="0">
                <a:latin typeface="Calibri"/>
                <a:cs typeface="Calibri"/>
              </a:rPr>
              <a:t>access </a:t>
            </a:r>
            <a:r>
              <a:rPr sz="2800" spc="-10" dirty="0">
                <a:latin typeface="Calibri"/>
                <a:cs typeface="Calibri"/>
              </a:rPr>
              <a:t>policies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kernel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defines </a:t>
            </a:r>
            <a:r>
              <a:rPr sz="2800" spc="-5" dirty="0">
                <a:latin typeface="Calibri"/>
                <a:cs typeface="Calibri"/>
              </a:rPr>
              <a:t>4 </a:t>
            </a:r>
            <a:r>
              <a:rPr sz="2800" spc="-10" dirty="0">
                <a:latin typeface="Calibri"/>
                <a:cs typeface="Calibri"/>
              </a:rPr>
              <a:t>extended </a:t>
            </a:r>
            <a:r>
              <a:rPr sz="2800" spc="-15" dirty="0">
                <a:latin typeface="Calibri"/>
                <a:cs typeface="Calibri"/>
              </a:rPr>
              <a:t>attribute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namespaces</a:t>
            </a:r>
            <a:r>
              <a:rPr lang="en-US"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50"/>
              </a:lnSpc>
              <a:buFont typeface="Arial"/>
              <a:buChar char="•"/>
              <a:tabLst>
                <a:tab pos="699135" algn="l"/>
              </a:tabLst>
            </a:pPr>
            <a:r>
              <a:rPr sz="2200" spc="-20" dirty="0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sz="2400" spc="-20" dirty="0">
                <a:latin typeface="Calibri"/>
                <a:cs typeface="Calibri"/>
              </a:rPr>
              <a:t>: for </a:t>
            </a:r>
            <a:r>
              <a:rPr sz="2400" spc="-15" dirty="0">
                <a:latin typeface="Calibri"/>
                <a:cs typeface="Calibri"/>
              </a:rPr>
              <a:t>kernel features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5" dirty="0">
                <a:latin typeface="Calibri"/>
                <a:cs typeface="Calibri"/>
              </a:rPr>
              <a:t>use </a:t>
            </a:r>
            <a:r>
              <a:rPr sz="22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xattrs</a:t>
            </a:r>
            <a:r>
              <a:rPr sz="2400" spc="-25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such </a:t>
            </a:r>
            <a:r>
              <a:rPr sz="2400" dirty="0">
                <a:latin typeface="Calibri"/>
                <a:cs typeface="Calibri"/>
              </a:rPr>
              <a:t>as access </a:t>
            </a:r>
            <a:r>
              <a:rPr sz="2400" spc="-15" dirty="0">
                <a:latin typeface="Calibri"/>
                <a:cs typeface="Calibri"/>
              </a:rPr>
              <a:t>control </a:t>
            </a:r>
            <a:r>
              <a:rPr sz="2400" spc="-10" dirty="0">
                <a:latin typeface="Calibri"/>
                <a:cs typeface="Calibri"/>
              </a:rPr>
              <a:t>lists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(ACLs)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ts val="2350"/>
              </a:lnSpc>
              <a:spcBef>
                <a:spcPts val="4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200" spc="-5" dirty="0">
                <a:latin typeface="Calibri"/>
                <a:cs typeface="Calibri"/>
              </a:rPr>
              <a:t>Example: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system.posix_acl_access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186055" lvl="1" indent="-228600">
              <a:lnSpc>
                <a:spcPts val="230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200" spc="-20" dirty="0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security</a:t>
            </a:r>
            <a:r>
              <a:rPr sz="2400" spc="-5" dirty="0">
                <a:latin typeface="Calibri"/>
                <a:cs typeface="Calibri"/>
              </a:rPr>
              <a:t>: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security </a:t>
            </a:r>
            <a:r>
              <a:rPr sz="2400" dirty="0">
                <a:latin typeface="Calibri"/>
                <a:cs typeface="Calibri"/>
              </a:rPr>
              <a:t>modules</a:t>
            </a:r>
            <a:r>
              <a:rPr lang="en-US" sz="2400" dirty="0">
                <a:latin typeface="Calibri"/>
                <a:cs typeface="Calibri"/>
              </a:rPr>
              <a:t>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B</a:t>
            </a:r>
            <a:r>
              <a:rPr sz="2400" spc="-10" dirty="0">
                <a:latin typeface="Calibri"/>
                <a:cs typeface="Calibri"/>
              </a:rPr>
              <a:t>y default,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processes can read </a:t>
            </a:r>
            <a:r>
              <a:rPr sz="2400" dirty="0">
                <a:latin typeface="Calibri"/>
                <a:cs typeface="Calibri"/>
              </a:rPr>
              <a:t>these  </a:t>
            </a:r>
            <a:r>
              <a:rPr sz="2400" spc="-10" dirty="0">
                <a:latin typeface="Calibri"/>
                <a:cs typeface="Calibri"/>
              </a:rPr>
              <a:t>attributes, </a:t>
            </a:r>
            <a:r>
              <a:rPr sz="2400" spc="-5" dirty="0">
                <a:latin typeface="Calibri"/>
                <a:cs typeface="Calibri"/>
              </a:rPr>
              <a:t>but only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lang="en-US" sz="2400" dirty="0">
                <a:latin typeface="Calibri"/>
                <a:cs typeface="Calibri"/>
              </a:rPr>
              <a:t>run by a system administrator user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write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236854" lvl="1" indent="-228600">
              <a:lnSpc>
                <a:spcPct val="80000"/>
              </a:lnSpc>
              <a:spcBef>
                <a:spcPts val="535"/>
              </a:spcBef>
              <a:buFont typeface="Arial"/>
              <a:buChar char="•"/>
              <a:tabLst>
                <a:tab pos="699135" algn="l"/>
              </a:tabLst>
            </a:pPr>
            <a:r>
              <a:rPr sz="2200" spc="-20" dirty="0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trusted</a:t>
            </a:r>
            <a:r>
              <a:rPr sz="2400" spc="-10" dirty="0">
                <a:latin typeface="Calibri"/>
                <a:cs typeface="Calibri"/>
              </a:rPr>
              <a:t>: </a:t>
            </a:r>
            <a:r>
              <a:rPr sz="2400" spc="-20" dirty="0">
                <a:latin typeface="Calibri"/>
                <a:cs typeface="Calibri"/>
              </a:rPr>
              <a:t>stores </a:t>
            </a:r>
            <a:r>
              <a:rPr sz="2400" spc="-10" dirty="0">
                <a:latin typeface="Calibri"/>
                <a:cs typeface="Calibri"/>
              </a:rPr>
              <a:t>restricted information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user space. Only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lang="en-US" sz="2400" dirty="0">
                <a:latin typeface="Calibri"/>
                <a:cs typeface="Calibri"/>
              </a:rPr>
              <a:t>run by a system administrator user </a:t>
            </a:r>
            <a:r>
              <a:rPr sz="2400" spc="-10" dirty="0">
                <a:latin typeface="Calibri"/>
                <a:cs typeface="Calibri"/>
              </a:rPr>
              <a:t>can read</a:t>
            </a:r>
            <a:r>
              <a:rPr lang="en-US" sz="2400" spc="-10" dirty="0">
                <a:latin typeface="Calibri"/>
                <a:cs typeface="Calibri"/>
              </a:rPr>
              <a:t> from or </a:t>
            </a:r>
            <a:r>
              <a:rPr sz="2400" spc="-10" dirty="0">
                <a:latin typeface="Calibri"/>
                <a:cs typeface="Calibri"/>
              </a:rPr>
              <a:t>write </a:t>
            </a:r>
            <a:r>
              <a:rPr lang="en-US" sz="2400" spc="-1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835660" lvl="1" indent="-228600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699135" algn="l"/>
              </a:tabLst>
            </a:pPr>
            <a:r>
              <a:rPr sz="2200" spc="-20" dirty="0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sz="2400" dirty="0">
                <a:latin typeface="Calibri"/>
                <a:cs typeface="Calibri"/>
              </a:rPr>
              <a:t>: </a:t>
            </a:r>
            <a:r>
              <a:rPr sz="2400" spc="-15" dirty="0">
                <a:latin typeface="Calibri"/>
                <a:cs typeface="Calibri"/>
              </a:rPr>
              <a:t>standard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use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regular </a:t>
            </a:r>
            <a:r>
              <a:rPr sz="2400" spc="-10" dirty="0">
                <a:latin typeface="Calibri"/>
                <a:cs typeface="Calibri"/>
              </a:rPr>
              <a:t>processes. </a:t>
            </a:r>
            <a:r>
              <a:rPr lang="en-US" sz="2400" spc="-10" dirty="0">
                <a:latin typeface="Calibri"/>
                <a:cs typeface="Calibri"/>
              </a:rPr>
              <a:t>Can o</a:t>
            </a:r>
            <a:r>
              <a:rPr sz="2400" spc="-5" dirty="0">
                <a:latin typeface="Calibri"/>
                <a:cs typeface="Calibri"/>
              </a:rPr>
              <a:t>nly </a:t>
            </a:r>
            <a:r>
              <a:rPr lang="en-US" sz="2400" spc="-5" dirty="0">
                <a:latin typeface="Calibri"/>
                <a:cs typeface="Calibri"/>
              </a:rPr>
              <a:t>be used for attributes of </a:t>
            </a:r>
            <a:r>
              <a:rPr sz="2400" spc="-5" dirty="0">
                <a:latin typeface="Calibri"/>
                <a:cs typeface="Calibri"/>
              </a:rPr>
              <a:t>regular files, </a:t>
            </a:r>
            <a:r>
              <a:rPr sz="2400" spc="-10" dirty="0">
                <a:latin typeface="Calibri"/>
                <a:cs typeface="Calibri"/>
              </a:rPr>
              <a:t>not </a:t>
            </a:r>
            <a:r>
              <a:rPr lang="en-US" sz="2400" spc="-10" dirty="0">
                <a:latin typeface="Calibri"/>
                <a:cs typeface="Calibri"/>
              </a:rPr>
              <a:t>those </a:t>
            </a:r>
            <a:r>
              <a:rPr lang="en-US" sz="2400" spc="-1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symbolic links </a:t>
            </a:r>
            <a:r>
              <a:rPr sz="2400" spc="-5" dirty="0">
                <a:latin typeface="Calibri"/>
                <a:cs typeface="Calibri"/>
              </a:rPr>
              <a:t>or device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764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Extended </a:t>
            </a:r>
            <a:r>
              <a:rPr spc="-50" dirty="0"/>
              <a:t>Attribute</a:t>
            </a:r>
            <a:r>
              <a:rPr spc="-210" dirty="0"/>
              <a:t> </a:t>
            </a:r>
            <a:r>
              <a:rPr spc="-45" dirty="0"/>
              <a:t>Operations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59661"/>
            <a:ext cx="10141585" cy="400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3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POSIX </a:t>
            </a:r>
            <a:r>
              <a:rPr sz="2800" spc="-10" dirty="0">
                <a:latin typeface="Calibri"/>
                <a:cs typeface="Calibri"/>
              </a:rPr>
              <a:t>defines </a:t>
            </a:r>
            <a:r>
              <a:rPr sz="2800" spc="-5" dirty="0">
                <a:latin typeface="Calibri"/>
                <a:cs typeface="Calibri"/>
              </a:rPr>
              <a:t>4 </a:t>
            </a:r>
            <a:r>
              <a:rPr sz="2800" spc="-15" dirty="0">
                <a:latin typeface="Calibri"/>
                <a:cs typeface="Calibri"/>
              </a:rPr>
              <a:t>operations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lang="en-US"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35" dirty="0">
                <a:latin typeface="Calibri"/>
                <a:cs typeface="Calibri"/>
              </a:rPr>
              <a:t>file’s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400" spc="-3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xattrs</a:t>
            </a:r>
            <a:r>
              <a:rPr lang="en-US" sz="2800" spc="-35" dirty="0">
                <a:latin typeface="Calibri"/>
                <a:cs typeface="Calibri"/>
              </a:rPr>
              <a:t>:</a:t>
            </a:r>
            <a:endParaRPr sz="2800" spc="-35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file, </a:t>
            </a:r>
            <a:r>
              <a:rPr sz="2400" u="sng" spc="-10" dirty="0">
                <a:latin typeface="Calibri"/>
                <a:cs typeface="Calibri"/>
              </a:rPr>
              <a:t>return </a:t>
            </a:r>
            <a:r>
              <a:rPr sz="2400" u="sng" dirty="0">
                <a:latin typeface="Calibri"/>
                <a:cs typeface="Calibri"/>
              </a:rPr>
              <a:t>a </a:t>
            </a:r>
            <a:r>
              <a:rPr sz="2400" u="sng" spc="-10" dirty="0">
                <a:latin typeface="Calibri"/>
                <a:cs typeface="Calibri"/>
              </a:rPr>
              <a:t>list </a:t>
            </a:r>
            <a:r>
              <a:rPr sz="2400" u="sng" spc="-5" dirty="0">
                <a:latin typeface="Calibri"/>
                <a:cs typeface="Calibri"/>
              </a:rPr>
              <a:t>of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 its </a:t>
            </a:r>
            <a:r>
              <a:rPr sz="2400" spc="-5" dirty="0">
                <a:latin typeface="Calibri"/>
                <a:cs typeface="Calibri"/>
              </a:rPr>
              <a:t>assigned </a:t>
            </a:r>
            <a:r>
              <a:rPr sz="2200" spc="-3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xattrs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u="sng" spc="-30" dirty="0">
                <a:latin typeface="Calibri"/>
                <a:cs typeface="Calibri"/>
              </a:rPr>
              <a:t>keys</a:t>
            </a:r>
            <a:r>
              <a:rPr lang="en-US" sz="2400" spc="-3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and a </a:t>
            </a:r>
            <a:r>
              <a:rPr sz="2400" spc="-60" dirty="0">
                <a:latin typeface="Calibri"/>
                <a:cs typeface="Calibri"/>
              </a:rPr>
              <a:t>key, </a:t>
            </a:r>
            <a:r>
              <a:rPr sz="2400" u="sng" spc="-10" dirty="0">
                <a:latin typeface="Calibri"/>
                <a:cs typeface="Calibri"/>
              </a:rPr>
              <a:t>return </a:t>
            </a:r>
            <a:r>
              <a:rPr sz="2400" u="sng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corresponding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u="sng" spc="-10" dirty="0">
                <a:latin typeface="Calibri"/>
                <a:cs typeface="Calibri"/>
              </a:rPr>
              <a:t>value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file,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60" dirty="0">
                <a:latin typeface="Calibri"/>
                <a:cs typeface="Calibri"/>
              </a:rPr>
              <a:t>key, </a:t>
            </a:r>
            <a:r>
              <a:rPr sz="2400" dirty="0">
                <a:latin typeface="Calibri"/>
                <a:cs typeface="Calibri"/>
              </a:rPr>
              <a:t>and a </a:t>
            </a:r>
            <a:r>
              <a:rPr sz="2400" spc="-10" dirty="0">
                <a:latin typeface="Calibri"/>
                <a:cs typeface="Calibri"/>
              </a:rPr>
              <a:t>value, </a:t>
            </a:r>
            <a:r>
              <a:rPr sz="2400" u="sng" dirty="0">
                <a:latin typeface="Calibri"/>
                <a:cs typeface="Calibri"/>
              </a:rPr>
              <a:t>assign </a:t>
            </a:r>
            <a:r>
              <a:rPr sz="2400" u="sng" spc="-10" dirty="0">
                <a:latin typeface="Calibri"/>
                <a:cs typeface="Calibri"/>
              </a:rPr>
              <a:t>that value to </a:t>
            </a:r>
            <a:r>
              <a:rPr sz="2400" u="sng" dirty="0">
                <a:latin typeface="Calibri"/>
                <a:cs typeface="Calibri"/>
              </a:rPr>
              <a:t>the</a:t>
            </a:r>
            <a:r>
              <a:rPr sz="2400" u="sng" spc="15" dirty="0">
                <a:latin typeface="Calibri"/>
                <a:cs typeface="Calibri"/>
              </a:rPr>
              <a:t> </a:t>
            </a:r>
            <a:r>
              <a:rPr sz="2400" u="sng" spc="-25" dirty="0">
                <a:latin typeface="Calibri"/>
                <a:cs typeface="Calibri"/>
              </a:rPr>
              <a:t>key</a:t>
            </a:r>
            <a:r>
              <a:rPr lang="en-US"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and a </a:t>
            </a:r>
            <a:r>
              <a:rPr sz="2400" spc="-65" dirty="0">
                <a:latin typeface="Calibri"/>
                <a:cs typeface="Calibri"/>
              </a:rPr>
              <a:t>key, </a:t>
            </a:r>
            <a:r>
              <a:rPr sz="2400" u="sng" spc="-15" dirty="0">
                <a:latin typeface="Calibri"/>
                <a:cs typeface="Calibri"/>
              </a:rPr>
              <a:t>remove </a:t>
            </a:r>
            <a:r>
              <a:rPr sz="2400" u="sng" spc="-10" dirty="0">
                <a:latin typeface="Calibri"/>
                <a:cs typeface="Calibri"/>
              </a:rPr>
              <a:t>that </a:t>
            </a:r>
            <a:r>
              <a:rPr sz="2400" u="sng" spc="-25" dirty="0">
                <a:latin typeface="Calibri"/>
                <a:cs typeface="Calibri"/>
              </a:rPr>
              <a:t>xattr </a:t>
            </a:r>
            <a:r>
              <a:rPr sz="2400" u="sng" spc="-15" dirty="0">
                <a:latin typeface="Calibri"/>
                <a:cs typeface="Calibri"/>
              </a:rPr>
              <a:t>from </a:t>
            </a:r>
            <a:r>
              <a:rPr sz="2400" u="sng" dirty="0">
                <a:latin typeface="Calibri"/>
                <a:cs typeface="Calibri"/>
              </a:rPr>
              <a:t>the</a:t>
            </a:r>
            <a:r>
              <a:rPr sz="2400" u="sng" spc="40" dirty="0">
                <a:latin typeface="Calibri"/>
                <a:cs typeface="Calibri"/>
              </a:rPr>
              <a:t> </a:t>
            </a:r>
            <a:r>
              <a:rPr sz="2400" u="sng" spc="-5" dirty="0">
                <a:latin typeface="Calibri"/>
                <a:cs typeface="Calibri"/>
              </a:rPr>
              <a:t>file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each </a:t>
            </a:r>
            <a:r>
              <a:rPr sz="2800" spc="-15" dirty="0">
                <a:latin typeface="Calibri"/>
                <a:cs typeface="Calibri"/>
              </a:rPr>
              <a:t>operation, </a:t>
            </a:r>
            <a:r>
              <a:rPr sz="2800" spc="-5" dirty="0">
                <a:latin typeface="Calibri"/>
                <a:cs typeface="Calibri"/>
              </a:rPr>
              <a:t>POSIX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3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calls: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300"/>
              </a:lnSpc>
              <a:spcBef>
                <a:spcPts val="5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lang="en-US" sz="2400" dirty="0">
                <a:latin typeface="Calibri"/>
                <a:cs typeface="Calibri"/>
              </a:rPr>
              <a:t> syscall that accepts 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path</a:t>
            </a:r>
            <a:r>
              <a:rPr lang="en-US" sz="2400" spc="-5" dirty="0">
                <a:latin typeface="Calibri"/>
                <a:cs typeface="Calibri"/>
              </a:rPr>
              <a:t> as an argument.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400" spc="-20" dirty="0">
                <a:latin typeface="Calibri"/>
                <a:cs typeface="Calibri"/>
              </a:rPr>
              <a:t>it’s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symbolic </a:t>
            </a:r>
            <a:r>
              <a:rPr sz="2400" dirty="0">
                <a:latin typeface="Calibri"/>
                <a:cs typeface="Calibri"/>
              </a:rPr>
              <a:t>link, </a:t>
            </a:r>
            <a:r>
              <a:rPr sz="2400" spc="-15" dirty="0">
                <a:latin typeface="Calibri"/>
                <a:cs typeface="Calibri"/>
              </a:rPr>
              <a:t>works </a:t>
            </a:r>
            <a:r>
              <a:rPr sz="2400" spc="-10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target</a:t>
            </a:r>
            <a:r>
              <a:rPr lang="en-US" sz="2400" spc="-20" dirty="0">
                <a:latin typeface="Calibri"/>
                <a:cs typeface="Calibri"/>
              </a:rPr>
              <a:t> file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 link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lang="en-US" sz="2400" spc="-5" dirty="0">
                <a:latin typeface="Calibri"/>
                <a:cs typeface="Calibri"/>
              </a:rPr>
              <a:t>not the symbolic link itself.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marR="135255" lvl="1" indent="-228600">
              <a:lnSpc>
                <a:spcPts val="2300"/>
              </a:lnSpc>
              <a:spcBef>
                <a:spcPts val="5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Same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above, </a:t>
            </a:r>
            <a:r>
              <a:rPr sz="2400" spc="-15" dirty="0">
                <a:latin typeface="Calibri"/>
                <a:cs typeface="Calibri"/>
              </a:rPr>
              <a:t>except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working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symbolic </a:t>
            </a:r>
            <a:r>
              <a:rPr sz="2400" dirty="0">
                <a:latin typeface="Calibri"/>
                <a:cs typeface="Calibri"/>
              </a:rPr>
              <a:t>link </a:t>
            </a:r>
            <a:r>
              <a:rPr sz="2400" spc="-15" dirty="0">
                <a:latin typeface="Calibri"/>
                <a:cs typeface="Calibri"/>
              </a:rPr>
              <a:t>rather </a:t>
            </a:r>
            <a:r>
              <a:rPr sz="2400" dirty="0">
                <a:latin typeface="Calibri"/>
                <a:cs typeface="Calibri"/>
              </a:rPr>
              <a:t>than the </a:t>
            </a:r>
            <a:r>
              <a:rPr sz="2400" spc="-15" dirty="0">
                <a:latin typeface="Calibri"/>
                <a:cs typeface="Calibri"/>
              </a:rPr>
              <a:t>target </a:t>
            </a:r>
            <a:r>
              <a:rPr lang="en-US" sz="2400" spc="-15" dirty="0">
                <a:latin typeface="Calibri"/>
                <a:cs typeface="Calibri"/>
              </a:rPr>
              <a:t>file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(the </a:t>
            </a:r>
            <a:r>
              <a:rPr sz="2400" b="1" spc="-5" dirty="0">
                <a:latin typeface="Calibri"/>
                <a:cs typeface="Calibri"/>
              </a:rPr>
              <a:t>l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(lowercase L) </a:t>
            </a:r>
            <a:r>
              <a:rPr sz="2400" spc="-10" dirty="0">
                <a:latin typeface="Calibri"/>
                <a:cs typeface="Calibri"/>
              </a:rPr>
              <a:t>variant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30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version </a:t>
            </a:r>
            <a:r>
              <a:rPr sz="2400" spc="-10" dirty="0">
                <a:latin typeface="Calibri"/>
                <a:cs typeface="Calibri"/>
              </a:rPr>
              <a:t>operating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lang="en-US" sz="240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2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(the </a:t>
            </a:r>
            <a:r>
              <a:rPr sz="2400" b="1" spc="-5" dirty="0">
                <a:latin typeface="Calibri"/>
                <a:cs typeface="Calibri"/>
              </a:rPr>
              <a:t>f</a:t>
            </a:r>
            <a:r>
              <a:rPr sz="2400" b="1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variant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148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Retrieving </a:t>
            </a:r>
            <a:r>
              <a:rPr spc="-15" dirty="0"/>
              <a:t>an </a:t>
            </a:r>
            <a:r>
              <a:rPr spc="-35" dirty="0"/>
              <a:t>Extended</a:t>
            </a:r>
            <a:r>
              <a:rPr spc="-225" dirty="0"/>
              <a:t> </a:t>
            </a:r>
            <a:r>
              <a:rPr spc="-5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0382" y="1740001"/>
            <a:ext cx="11240618" cy="40553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966709">
              <a:lnSpc>
                <a:spcPct val="13160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types.h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en-US" sz="20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 marR="7966709">
              <a:lnSpc>
                <a:spcPts val="200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&lt;attr/xattr.h&gt;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 marR="5080">
              <a:lnSpc>
                <a:spcPts val="2400"/>
              </a:lnSpc>
              <a:spcBef>
                <a:spcPts val="12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getxattr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*key,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*value,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size);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lgetxattr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*key,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*value,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size);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fgetxattr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*key,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*value,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000" b="1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size);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272415" indent="-228600">
              <a:lnSpc>
                <a:spcPts val="302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success, they </a:t>
            </a:r>
            <a:r>
              <a:rPr sz="2800" spc="-25" dirty="0">
                <a:latin typeface="Calibri"/>
                <a:cs typeface="Calibri"/>
              </a:rPr>
              <a:t>store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xattr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key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path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the </a:t>
            </a:r>
            <a:r>
              <a:rPr sz="2800" spc="-25" dirty="0">
                <a:latin typeface="Calibri"/>
                <a:cs typeface="Calibri"/>
              </a:rPr>
              <a:t>buffer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value</a:t>
            </a:r>
            <a:r>
              <a:rPr sz="2800" spc="-5" dirty="0">
                <a:latin typeface="Calibri"/>
                <a:cs typeface="Calibri"/>
              </a:rPr>
              <a:t>, which is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size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5" dirty="0">
                <a:latin typeface="Calibri"/>
                <a:cs typeface="Calibri"/>
              </a:rPr>
              <a:t>length.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actual </a:t>
            </a:r>
            <a:r>
              <a:rPr sz="2800" spc="-25" dirty="0">
                <a:latin typeface="Calibri"/>
                <a:cs typeface="Calibri"/>
              </a:rPr>
              <a:t>size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value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  <a:p>
            <a:pPr marL="241300" marR="33845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size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0, the </a:t>
            </a:r>
            <a:r>
              <a:rPr sz="2800" spc="-10" dirty="0">
                <a:latin typeface="Calibri"/>
                <a:cs typeface="Calibri"/>
              </a:rPr>
              <a:t>calls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size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value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without </a:t>
            </a:r>
            <a:r>
              <a:rPr sz="2800" spc="-20" dirty="0">
                <a:latin typeface="Calibri"/>
                <a:cs typeface="Calibri"/>
              </a:rPr>
              <a:t>storing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value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15" dirty="0">
                <a:latin typeface="Calibri"/>
                <a:cs typeface="Calibri"/>
              </a:rPr>
              <a:t>useful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determine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correct </a:t>
            </a:r>
            <a:r>
              <a:rPr sz="2800" spc="-25" dirty="0">
                <a:latin typeface="Calibri"/>
                <a:cs typeface="Calibri"/>
              </a:rPr>
              <a:t>size for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buffer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55" dirty="0">
                <a:latin typeface="Calibri"/>
                <a:cs typeface="Calibri"/>
              </a:rPr>
              <a:t>error,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5328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Setting </a:t>
            </a:r>
            <a:r>
              <a:rPr spc="-15" dirty="0"/>
              <a:t>an </a:t>
            </a:r>
            <a:r>
              <a:rPr spc="-35" dirty="0"/>
              <a:t>Extended</a:t>
            </a:r>
            <a:r>
              <a:rPr spc="-290" dirty="0"/>
              <a:t> </a:t>
            </a:r>
            <a:r>
              <a:rPr spc="-5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3682" y="1723618"/>
            <a:ext cx="12421718" cy="3926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827770">
              <a:lnSpc>
                <a:spcPts val="2000"/>
              </a:lnSpc>
            </a:pP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&lt;sys/types.h&gt; 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pc="-7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&lt;attr/xattr.h&gt;</a:t>
            </a:r>
          </a:p>
          <a:p>
            <a:pPr marL="12700" marR="488315">
              <a:lnSpc>
                <a:spcPts val="2000"/>
              </a:lnSpc>
              <a:spcBef>
                <a:spcPts val="1200"/>
              </a:spcBef>
            </a:pP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setxattr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*key,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*value,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size,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flags); 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lsetxattr (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*key,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*value,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size,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flags); 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fsetxattr (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b="1" spc="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*key, </a:t>
            </a:r>
            <a:r>
              <a:rPr b="1" spc="-5" dirty="0">
                <a:solidFill>
                  <a:srgbClr val="0070C0"/>
                </a:solidFill>
                <a:latin typeface="Consolas"/>
                <a:cs typeface="Consolas"/>
              </a:rPr>
              <a:t>const void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*value,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pc="-5" dirty="0">
                <a:solidFill>
                  <a:srgbClr val="0070C0"/>
                </a:solidFill>
                <a:latin typeface="Consolas"/>
                <a:cs typeface="Consolas"/>
              </a:rPr>
              <a:t>size, </a:t>
            </a:r>
            <a:r>
              <a:rPr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b="1" spc="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dirty="0">
                <a:solidFill>
                  <a:srgbClr val="0070C0"/>
                </a:solidFill>
                <a:latin typeface="Consolas"/>
                <a:cs typeface="Consolas"/>
              </a:rPr>
              <a:t>flags);</a:t>
            </a:r>
          </a:p>
          <a:p>
            <a:pPr marL="241300" indent="-228600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All functions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counterparts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get</a:t>
            </a:r>
            <a:r>
              <a:rPr sz="2800" spc="-15" dirty="0">
                <a:latin typeface="Calibri"/>
                <a:cs typeface="Calibri"/>
              </a:rPr>
              <a:t> versions, </a:t>
            </a:r>
            <a:r>
              <a:rPr sz="2800" spc="-25" dirty="0">
                <a:latin typeface="Calibri"/>
                <a:cs typeface="Calibri"/>
              </a:rPr>
              <a:t>except for </a:t>
            </a:r>
            <a:r>
              <a:rPr sz="2800" spc="-5" dirty="0">
                <a:latin typeface="Calibri"/>
                <a:cs typeface="Calibri"/>
              </a:rPr>
              <a:t>the field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flag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flag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field </a:t>
            </a:r>
            <a:r>
              <a:rPr sz="2800" spc="-5" dirty="0">
                <a:latin typeface="Calibri"/>
                <a:cs typeface="Calibri"/>
              </a:rPr>
              <a:t>modifies the </a:t>
            </a:r>
            <a:r>
              <a:rPr sz="2800" spc="-15" dirty="0">
                <a:latin typeface="Calibri"/>
                <a:cs typeface="Calibri"/>
              </a:rPr>
              <a:t>behavior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call in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</a:t>
            </a:r>
            <a:r>
              <a:rPr lang="en-US" sz="2800" spc="-10" dirty="0">
                <a:latin typeface="Calibri"/>
                <a:cs typeface="Calibri"/>
              </a:rPr>
              <a:t>e following way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ts val="2810"/>
              </a:lnSpc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lang="en-US" sz="2400" spc="-20" dirty="0">
                <a:latin typeface="Calibri"/>
                <a:cs typeface="Calibri"/>
              </a:rPr>
              <a:t>you pass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2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XATTR_CREATE</a:t>
            </a:r>
            <a:r>
              <a:rPr sz="2400" spc="-35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the call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5" dirty="0">
                <a:latin typeface="Calibri"/>
                <a:cs typeface="Calibri"/>
              </a:rPr>
              <a:t>fail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lang="en-US" sz="2200" spc="-25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xattr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already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exists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05"/>
              </a:lnSpc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lang="en-US" sz="2400" spc="-20" dirty="0">
                <a:latin typeface="Calibri"/>
                <a:cs typeface="Calibri"/>
              </a:rPr>
              <a:t>you pass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2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XATTR_REPLACE</a:t>
            </a:r>
            <a:r>
              <a:rPr sz="2400" spc="-1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call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5" dirty="0">
                <a:latin typeface="Calibri"/>
                <a:cs typeface="Calibri"/>
              </a:rPr>
              <a:t>fail </a:t>
            </a:r>
            <a:r>
              <a:rPr sz="2400" dirty="0">
                <a:latin typeface="Calibri"/>
                <a:cs typeface="Calibri"/>
              </a:rPr>
              <a:t>if the </a:t>
            </a:r>
            <a:r>
              <a:rPr sz="2200" spc="-25" dirty="0">
                <a:latin typeface="Courier New" panose="02070309020205020404" pitchFamily="49" charset="0"/>
                <a:cs typeface="Courier New" panose="02070309020205020404" pitchFamily="49" charset="0"/>
              </a:rPr>
              <a:t>xattr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doesn’t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exist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845"/>
              </a:lnSpc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lang="en-US" sz="2400" spc="-20" dirty="0">
                <a:latin typeface="Calibri"/>
                <a:cs typeface="Calibri"/>
              </a:rPr>
              <a:t>you pass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(the </a:t>
            </a:r>
            <a:r>
              <a:rPr sz="2400" spc="-10" dirty="0">
                <a:latin typeface="Calibri"/>
                <a:cs typeface="Calibri"/>
              </a:rPr>
              <a:t>default), </a:t>
            </a:r>
            <a:r>
              <a:rPr sz="2400" spc="-5" dirty="0">
                <a:latin typeface="Calibri"/>
                <a:cs typeface="Calibri"/>
              </a:rPr>
              <a:t>both </a:t>
            </a:r>
            <a:r>
              <a:rPr sz="2400" spc="-10" dirty="0">
                <a:latin typeface="Calibri"/>
                <a:cs typeface="Calibri"/>
              </a:rPr>
              <a:t>creations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replacements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allowed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</a:t>
            </a:r>
            <a:r>
              <a:rPr sz="2800" spc="-10" dirty="0">
                <a:latin typeface="Calibri"/>
                <a:cs typeface="Calibri"/>
              </a:rPr>
              <a:t>they </a:t>
            </a:r>
            <a:r>
              <a:rPr sz="2800" dirty="0">
                <a:latin typeface="Calibri"/>
                <a:cs typeface="Calibri"/>
              </a:rPr>
              <a:t>all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0. 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sz="2800" spc="-10" dirty="0">
                <a:latin typeface="Calibri"/>
                <a:cs typeface="Calibri"/>
              </a:rPr>
              <a:t>they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7744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Listing </a:t>
            </a:r>
            <a:r>
              <a:rPr spc="-20" dirty="0"/>
              <a:t>the </a:t>
            </a:r>
            <a:r>
              <a:rPr spc="-35" dirty="0"/>
              <a:t>Extended </a:t>
            </a:r>
            <a:r>
              <a:rPr spc="-50" dirty="0"/>
              <a:t>Attributes </a:t>
            </a:r>
            <a:r>
              <a:rPr spc="-15" dirty="0"/>
              <a:t>on </a:t>
            </a:r>
            <a:r>
              <a:rPr dirty="0"/>
              <a:t>a</a:t>
            </a:r>
            <a:r>
              <a:rPr spc="-375" dirty="0"/>
              <a:t> </a:t>
            </a:r>
            <a:r>
              <a:rPr spc="-15" dirty="0"/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0633"/>
            <a:ext cx="10665462" cy="4646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144">
              <a:lnSpc>
                <a:spcPts val="2185"/>
              </a:lnSpc>
              <a:spcBef>
                <a:spcPts val="95"/>
              </a:spcBef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19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&lt;sys/types.h&gt;</a:t>
            </a:r>
          </a:p>
          <a:p>
            <a:pPr marL="9144">
              <a:lnSpc>
                <a:spcPts val="2000"/>
              </a:lnSpc>
            </a:pP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#include &lt;attr/xattr.h&gt;</a:t>
            </a:r>
          </a:p>
          <a:p>
            <a:pPr marL="9144" marR="1431925">
              <a:lnSpc>
                <a:spcPts val="2000"/>
              </a:lnSpc>
              <a:spcBef>
                <a:spcPts val="1200"/>
              </a:spcBef>
            </a:pP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listxattr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*list,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size); 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llistxattr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*list,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size_t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size); 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ssize_t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flistxattr (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*list, </a:t>
            </a:r>
            <a:r>
              <a:rPr sz="19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1900" b="1" spc="7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1900" dirty="0">
                <a:solidFill>
                  <a:srgbClr val="0070C0"/>
                </a:solidFill>
                <a:latin typeface="Consolas"/>
                <a:cs typeface="Consolas"/>
              </a:rPr>
              <a:t>size);</a:t>
            </a:r>
          </a:p>
          <a:p>
            <a:pPr marL="241300" indent="-228600">
              <a:lnSpc>
                <a:spcPts val="2655"/>
              </a:lnSpc>
              <a:spcBef>
                <a:spcPts val="12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All </a:t>
            </a:r>
            <a:r>
              <a:rPr sz="2600" spc="-5" dirty="0">
                <a:latin typeface="Calibri"/>
                <a:cs typeface="Calibri"/>
              </a:rPr>
              <a:t>return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list of </a:t>
            </a: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xattr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keys </a:t>
            </a:r>
            <a:r>
              <a:rPr sz="2600" spc="-5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 the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lang="en-US" sz="2400" spc="5" dirty="0">
                <a:solidFill>
                  <a:srgbClr val="0070C0"/>
                </a:solidFill>
                <a:latin typeface="Consolas"/>
              </a:rPr>
              <a:t>path</a:t>
            </a:r>
            <a:r>
              <a:rPr lang="en-US" sz="2600" dirty="0">
                <a:latin typeface="Calibri"/>
                <a:cs typeface="Calibri"/>
              </a:rPr>
              <a:t> and</a:t>
            </a:r>
            <a:r>
              <a:rPr sz="2600" dirty="0">
                <a:latin typeface="Calibri"/>
                <a:cs typeface="Calibri"/>
              </a:rPr>
              <a:t> s</a:t>
            </a:r>
            <a:r>
              <a:rPr sz="2600" spc="-20" dirty="0">
                <a:latin typeface="Calibri"/>
                <a:cs typeface="Calibri"/>
              </a:rPr>
              <a:t>tore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70C0"/>
                </a:solidFill>
                <a:latin typeface="Consolas"/>
              </a:rPr>
              <a:t>list</a:t>
            </a:r>
            <a:r>
              <a:rPr sz="2600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400" spc="5" dirty="0">
                <a:solidFill>
                  <a:srgbClr val="0070C0"/>
                </a:solidFill>
                <a:latin typeface="Consolas"/>
              </a:rPr>
              <a:t>size</a:t>
            </a:r>
            <a:r>
              <a:rPr sz="2600" i="1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bytes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</a:t>
            </a:r>
            <a:r>
              <a:rPr lang="en-US" sz="2600" dirty="0">
                <a:latin typeface="Calibri"/>
                <a:cs typeface="Calibri"/>
              </a:rPr>
              <a:t>,</a:t>
            </a:r>
            <a:r>
              <a:rPr sz="2600" dirty="0">
                <a:latin typeface="Calibri"/>
                <a:cs typeface="Calibri"/>
              </a:rPr>
              <a:t> they </a:t>
            </a:r>
            <a:r>
              <a:rPr sz="2600" spc="-5" dirty="0">
                <a:latin typeface="Calibri"/>
                <a:cs typeface="Calibri"/>
              </a:rPr>
              <a:t>return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size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list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5" dirty="0">
                <a:latin typeface="Calibri"/>
                <a:cs typeface="Calibri"/>
              </a:rPr>
              <a:t>bytes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n </a:t>
            </a:r>
            <a:r>
              <a:rPr sz="2600" spc="-10" dirty="0">
                <a:latin typeface="Calibri"/>
                <a:cs typeface="Calibri"/>
              </a:rPr>
              <a:t>failure</a:t>
            </a:r>
            <a:r>
              <a:rPr lang="en-US"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-15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</a:t>
            </a:r>
            <a:r>
              <a:rPr lang="en-US" sz="2600" spc="-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-1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316230" indent="-30416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315595" algn="l"/>
                <a:tab pos="316865" algn="l"/>
              </a:tabLst>
            </a:pPr>
            <a:r>
              <a:rPr sz="2600" spc="-15" dirty="0">
                <a:latin typeface="Calibri"/>
                <a:cs typeface="Calibri"/>
              </a:rPr>
              <a:t>Each </a:t>
            </a:r>
            <a:r>
              <a:rPr sz="2600" spc="-30" dirty="0">
                <a:latin typeface="Calibri"/>
                <a:cs typeface="Calibri"/>
              </a:rPr>
              <a:t>key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400" spc="5" dirty="0">
                <a:solidFill>
                  <a:srgbClr val="0070C0"/>
                </a:solidFill>
                <a:latin typeface="Consolas"/>
              </a:rPr>
              <a:t>list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terminated by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null </a:t>
            </a:r>
            <a:r>
              <a:rPr sz="2600" spc="-30" dirty="0">
                <a:latin typeface="Calibri"/>
                <a:cs typeface="Calibri"/>
              </a:rPr>
              <a:t>character</a:t>
            </a:r>
            <a:r>
              <a:rPr lang="en-US" sz="2600" spc="-30" dirty="0">
                <a:latin typeface="Calibri"/>
                <a:cs typeface="Calibri"/>
              </a:rPr>
              <a:t>. 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example:</a:t>
            </a:r>
            <a:endParaRPr sz="26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sz="2400" spc="5" dirty="0">
                <a:solidFill>
                  <a:srgbClr val="0070C0"/>
                </a:solidFill>
                <a:latin typeface="Consolas"/>
                <a:cs typeface="Consolas"/>
              </a:rPr>
              <a:t>"user.md5_sum\0user.mime_type\0system.posix_acl_default\0"</a:t>
            </a:r>
            <a:endParaRPr sz="24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20" dirty="0">
                <a:latin typeface="Calibri"/>
                <a:cs typeface="Calibri"/>
              </a:rPr>
              <a:t>Therefore</a:t>
            </a:r>
            <a:r>
              <a:rPr lang="en-US" sz="2600" spc="-2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the returned total size 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need</a:t>
            </a:r>
            <a:r>
              <a:rPr lang="en-US" sz="2600" spc="-5" dirty="0">
                <a:latin typeface="Calibri"/>
                <a:cs typeface="Calibri"/>
              </a:rPr>
              <a:t>ed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dissect the </a:t>
            </a:r>
            <a:r>
              <a:rPr sz="2600" spc="-5" dirty="0">
                <a:latin typeface="Calibri"/>
                <a:cs typeface="Calibri"/>
              </a:rPr>
              <a:t>list 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keys</a:t>
            </a:r>
            <a:r>
              <a:rPr lang="en-US" sz="2600" spc="-3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dirty="0">
                <a:latin typeface="Calibri"/>
                <a:cs typeface="Calibri"/>
              </a:rPr>
              <a:t>Passing 0 for </a:t>
            </a:r>
            <a:r>
              <a:rPr sz="2400" spc="5" dirty="0">
                <a:solidFill>
                  <a:srgbClr val="0070C0"/>
                </a:solidFill>
                <a:latin typeface="Consolas"/>
              </a:rPr>
              <a:t>size</a:t>
            </a:r>
            <a:r>
              <a:rPr lang="en-US" sz="2600" spc="-5" dirty="0">
                <a:latin typeface="Calibri"/>
                <a:cs typeface="Calibri"/>
              </a:rPr>
              <a:t> returns the size of the b</a:t>
            </a:r>
            <a:r>
              <a:rPr sz="2600" spc="-15" dirty="0">
                <a:latin typeface="Calibri"/>
                <a:cs typeface="Calibri"/>
              </a:rPr>
              <a:t>uffer </a:t>
            </a:r>
            <a:r>
              <a:rPr sz="2600" spc="-10" dirty="0">
                <a:latin typeface="Calibri"/>
                <a:cs typeface="Calibri"/>
              </a:rPr>
              <a:t>you</a:t>
            </a:r>
            <a:r>
              <a:rPr lang="en-US" sz="2600" spc="-10" dirty="0">
                <a:latin typeface="Calibri"/>
                <a:cs typeface="Calibri"/>
              </a:rPr>
              <a:t> should create.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173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Removing </a:t>
            </a:r>
            <a:r>
              <a:rPr spc="-15" dirty="0"/>
              <a:t>an </a:t>
            </a:r>
            <a:r>
              <a:rPr spc="-35" dirty="0"/>
              <a:t>Extended</a:t>
            </a:r>
            <a:r>
              <a:rPr spc="-250" dirty="0"/>
              <a:t> </a:t>
            </a:r>
            <a:r>
              <a:rPr spc="-50" dirty="0"/>
              <a:t>Attribute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0006"/>
            <a:ext cx="10741661" cy="284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381625">
              <a:lnSpc>
                <a:spcPct val="111100"/>
              </a:lnSpc>
              <a:spcBef>
                <a:spcPts val="10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&lt;attr/xattr.h&gt;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1189990">
              <a:lnSpc>
                <a:spcPts val="2660"/>
              </a:lnSpc>
              <a:spcBef>
                <a:spcPts val="12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removexattr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*key);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lremovexattr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*key);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fremovexattr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fd,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*key);</a:t>
            </a:r>
          </a:p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Each of these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remove</a:t>
            </a:r>
            <a:r>
              <a:rPr lang="en-US" sz="2800" spc="-15" dirty="0">
                <a:latin typeface="Calibri"/>
                <a:cs typeface="Calibri"/>
              </a:rPr>
              <a:t>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spc="5" dirty="0">
                <a:solidFill>
                  <a:srgbClr val="0070C0"/>
                </a:solidFill>
                <a:latin typeface="Consolas"/>
              </a:rPr>
              <a:t>key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specified</a:t>
            </a:r>
            <a:r>
              <a:rPr lang="en-US" sz="2800" spc="-5" dirty="0">
                <a:latin typeface="Calibri"/>
                <a:cs typeface="Calibri"/>
              </a:rPr>
              <a:t> by </a:t>
            </a:r>
            <a:r>
              <a:rPr lang="en-US" sz="2400" spc="5" dirty="0" err="1">
                <a:solidFill>
                  <a:srgbClr val="0070C0"/>
                </a:solidFill>
                <a:latin typeface="Consolas"/>
              </a:rPr>
              <a:t>fd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spc="-2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</a:t>
            </a:r>
            <a:r>
              <a:rPr lang="en-US" sz="2800" spc="-5" dirty="0">
                <a:latin typeface="Calibri"/>
                <a:cs typeface="Calibri"/>
              </a:rPr>
              <a:t>each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0. 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lang="en-US" sz="2800" spc="-20" dirty="0">
                <a:latin typeface="Calibri"/>
                <a:cs typeface="Calibri"/>
              </a:rPr>
              <a:t>each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6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4307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Directories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8759"/>
            <a:ext cx="10970261" cy="433439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Each c</a:t>
            </a:r>
            <a:r>
              <a:rPr sz="2600" spc="-10" dirty="0">
                <a:latin typeface="Calibri"/>
                <a:cs typeface="Calibri"/>
              </a:rPr>
              <a:t>ontain</a:t>
            </a:r>
            <a:r>
              <a:rPr lang="en-US" sz="2600" spc="-1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list of filenames </a:t>
            </a:r>
            <a:r>
              <a:rPr sz="2600" dirty="0">
                <a:latin typeface="Calibri"/>
                <a:cs typeface="Calibri"/>
              </a:rPr>
              <a:t>and their mapping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inode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numbers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spc="-10" dirty="0">
                <a:latin typeface="Calibri"/>
                <a:cs typeface="Calibri"/>
              </a:rPr>
              <a:t>Names 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called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i="1" spc="-10" dirty="0">
                <a:latin typeface="Calibri"/>
                <a:cs typeface="Calibri"/>
              </a:rPr>
              <a:t>directory </a:t>
            </a:r>
            <a:r>
              <a:rPr sz="2600" i="1" dirty="0">
                <a:latin typeface="Calibri"/>
                <a:cs typeface="Calibri"/>
              </a:rPr>
              <a:t>entr</a:t>
            </a:r>
            <a:r>
              <a:rPr lang="en-US" sz="2600" i="1" dirty="0">
                <a:latin typeface="Calibri"/>
                <a:cs typeface="Calibri"/>
              </a:rPr>
              <a:t>ies </a:t>
            </a:r>
            <a:r>
              <a:rPr lang="en-US" sz="2600" dirty="0">
                <a:latin typeface="Calibri"/>
                <a:cs typeface="Calibri"/>
              </a:rPr>
              <a:t>(“</a:t>
            </a:r>
            <a:r>
              <a:rPr lang="en-US" sz="2600" i="1" dirty="0" err="1">
                <a:latin typeface="Calibri"/>
                <a:cs typeface="Calibri"/>
              </a:rPr>
              <a:t>dentries</a:t>
            </a:r>
            <a:r>
              <a:rPr lang="en-US" sz="2600" dirty="0">
                <a:latin typeface="Calibri"/>
                <a:cs typeface="Calibri"/>
              </a:rPr>
              <a:t>”)</a:t>
            </a:r>
            <a:r>
              <a:rPr sz="2600" dirty="0">
                <a:latin typeface="Calibri"/>
                <a:cs typeface="Calibri"/>
              </a:rPr>
              <a:t>, </a:t>
            </a:r>
            <a:r>
              <a:rPr lang="en-US" sz="2600" dirty="0">
                <a:latin typeface="Calibri"/>
                <a:cs typeface="Calibri"/>
              </a:rPr>
              <a:t>and </a:t>
            </a:r>
            <a:r>
              <a:rPr sz="2600" dirty="0">
                <a:latin typeface="Calibri"/>
                <a:cs typeface="Calibri"/>
              </a:rPr>
              <a:t>mapping</a:t>
            </a:r>
            <a:r>
              <a:rPr lang="en-US" sz="2600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called </a:t>
            </a:r>
            <a:r>
              <a:rPr sz="2600" i="1" dirty="0">
                <a:latin typeface="Calibri"/>
                <a:cs typeface="Calibri"/>
              </a:rPr>
              <a:t>link</a:t>
            </a:r>
            <a:r>
              <a:rPr lang="en-US" sz="2600" i="1" dirty="0">
                <a:latin typeface="Calibri"/>
                <a:cs typeface="Calibri"/>
              </a:rPr>
              <a:t>s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3589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When a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opened,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looks up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filename </a:t>
            </a:r>
            <a:r>
              <a:rPr sz="2600" dirty="0">
                <a:latin typeface="Calibri"/>
                <a:cs typeface="Calibri"/>
              </a:rPr>
              <a:t>in the </a:t>
            </a:r>
            <a:r>
              <a:rPr sz="2600" spc="-10" dirty="0">
                <a:latin typeface="Calibri"/>
                <a:cs typeface="Calibri"/>
              </a:rPr>
              <a:t>containing  </a:t>
            </a:r>
            <a:r>
              <a:rPr sz="2600" spc="-5" dirty="0">
                <a:latin typeface="Calibri"/>
                <a:cs typeface="Calibri"/>
              </a:rPr>
              <a:t>directory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find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matching </a:t>
            </a:r>
            <a:r>
              <a:rPr sz="2600" dirty="0">
                <a:latin typeface="Calibri"/>
                <a:cs typeface="Calibri"/>
              </a:rPr>
              <a:t>inode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number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429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moment</a:t>
            </a:r>
            <a:r>
              <a:rPr lang="en-US" sz="2600" spc="-5" dirty="0">
                <a:latin typeface="Calibri"/>
                <a:cs typeface="Calibri"/>
              </a:rPr>
              <a:t> and</a:t>
            </a:r>
            <a:r>
              <a:rPr sz="2600" spc="-5" dirty="0">
                <a:latin typeface="Calibri"/>
                <a:cs typeface="Calibri"/>
              </a:rPr>
              <a:t> on, only </a:t>
            </a:r>
            <a:r>
              <a:rPr sz="2600" dirty="0">
                <a:latin typeface="Calibri"/>
                <a:cs typeface="Calibri"/>
              </a:rPr>
              <a:t>the inode </a:t>
            </a:r>
            <a:r>
              <a:rPr sz="2600" spc="-5" dirty="0">
                <a:latin typeface="Calibri"/>
                <a:cs typeface="Calibri"/>
              </a:rPr>
              <a:t>number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used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filesystem to </a:t>
            </a:r>
            <a:r>
              <a:rPr sz="2600" spc="-5" dirty="0">
                <a:latin typeface="Calibri"/>
                <a:cs typeface="Calibri"/>
              </a:rPr>
              <a:t>find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physical </a:t>
            </a:r>
            <a:r>
              <a:rPr sz="2600" spc="-5" dirty="0">
                <a:latin typeface="Calibri"/>
                <a:cs typeface="Calibri"/>
              </a:rPr>
              <a:t>location 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 on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device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Directories </a:t>
            </a:r>
            <a:r>
              <a:rPr sz="2600" spc="-10" dirty="0">
                <a:latin typeface="Calibri"/>
                <a:cs typeface="Calibri"/>
              </a:rPr>
              <a:t>can </a:t>
            </a:r>
            <a:r>
              <a:rPr sz="2600" spc="-15" dirty="0">
                <a:latin typeface="Calibri"/>
                <a:cs typeface="Calibri"/>
              </a:rPr>
              <a:t>contain </a:t>
            </a:r>
            <a:r>
              <a:rPr sz="2600" i="1" spc="-5" dirty="0">
                <a:latin typeface="Calibri"/>
                <a:cs typeface="Calibri"/>
              </a:rPr>
              <a:t>subdirectories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xcept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i="1" spc="-5" dirty="0">
                <a:latin typeface="Calibri"/>
                <a:cs typeface="Calibri"/>
              </a:rPr>
              <a:t>root directory</a:t>
            </a:r>
            <a:r>
              <a:rPr sz="2600" spc="-5" dirty="0">
                <a:latin typeface="Calibri"/>
                <a:cs typeface="Calibri"/>
              </a:rPr>
              <a:t>, </a:t>
            </a:r>
            <a:r>
              <a:rPr sz="2600" spc="-10" dirty="0">
                <a:latin typeface="Calibri"/>
                <a:cs typeface="Calibri"/>
              </a:rPr>
              <a:t>every  </a:t>
            </a:r>
            <a:r>
              <a:rPr sz="2600" spc="-5" dirty="0">
                <a:latin typeface="Calibri"/>
                <a:cs typeface="Calibri"/>
              </a:rPr>
              <a:t>directory </a:t>
            </a:r>
            <a:r>
              <a:rPr sz="2600" dirty="0">
                <a:latin typeface="Calibri"/>
                <a:cs typeface="Calibri"/>
              </a:rPr>
              <a:t>itself is 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subdirectory.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i="1" dirty="0">
                <a:latin typeface="Calibri"/>
                <a:cs typeface="Calibri"/>
              </a:rPr>
              <a:t>pathname </a:t>
            </a:r>
            <a:r>
              <a:rPr sz="2600" spc="-10" dirty="0">
                <a:latin typeface="Calibri"/>
                <a:cs typeface="Calibri"/>
              </a:rPr>
              <a:t>consists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a filename along with all its </a:t>
            </a:r>
            <a:r>
              <a:rPr sz="2600" spc="-15" dirty="0">
                <a:latin typeface="Calibri"/>
                <a:cs typeface="Calibri"/>
              </a:rPr>
              <a:t>parent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directories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An </a:t>
            </a:r>
            <a:r>
              <a:rPr sz="2200" i="1" u="sng" spc="-15" dirty="0">
                <a:latin typeface="Calibri"/>
                <a:cs typeface="Calibri"/>
              </a:rPr>
              <a:t>absolute </a:t>
            </a:r>
            <a:r>
              <a:rPr sz="2200" i="1" u="sng" spc="-10" dirty="0">
                <a:latin typeface="Calibri"/>
                <a:cs typeface="Calibri"/>
              </a:rPr>
              <a:t>pathname</a:t>
            </a:r>
            <a:r>
              <a:rPr sz="2200" spc="-10" dirty="0">
                <a:latin typeface="Calibri"/>
                <a:cs typeface="Calibri"/>
              </a:rPr>
              <a:t> starts </a:t>
            </a:r>
            <a:r>
              <a:rPr sz="2200" spc="-5" dirty="0">
                <a:latin typeface="Calibri"/>
                <a:cs typeface="Calibri"/>
              </a:rPr>
              <a:t>with the </a:t>
            </a:r>
            <a:r>
              <a:rPr sz="2200" spc="-15" dirty="0">
                <a:latin typeface="Calibri"/>
                <a:cs typeface="Calibri"/>
              </a:rPr>
              <a:t>root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directory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i="1" u="sng" spc="-5" dirty="0">
                <a:latin typeface="Calibri"/>
                <a:cs typeface="Calibri"/>
              </a:rPr>
              <a:t>relative </a:t>
            </a:r>
            <a:r>
              <a:rPr sz="2200" i="1" u="sng" spc="-10" dirty="0">
                <a:latin typeface="Calibri"/>
                <a:cs typeface="Calibri"/>
              </a:rPr>
              <a:t>pathname</a:t>
            </a:r>
            <a:r>
              <a:rPr sz="2200" spc="-10" dirty="0">
                <a:latin typeface="Calibri"/>
                <a:cs typeface="Calibri"/>
              </a:rPr>
              <a:t> starts </a:t>
            </a:r>
            <a:r>
              <a:rPr sz="2200" spc="-5" dirty="0">
                <a:latin typeface="Calibri"/>
                <a:cs typeface="Calibri"/>
              </a:rPr>
              <a:t>with the </a:t>
            </a:r>
            <a:r>
              <a:rPr sz="2200" spc="-10" dirty="0">
                <a:latin typeface="Calibri"/>
                <a:cs typeface="Calibri"/>
              </a:rPr>
              <a:t>current working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directory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4A77D-F41E-4652-996F-0FB4B5961C80}"/>
              </a:ext>
            </a:extLst>
          </p:cNvPr>
          <p:cNvSpPr txBox="1"/>
          <p:nvPr/>
        </p:nvSpPr>
        <p:spPr>
          <a:xfrm>
            <a:off x="6096000" y="609676"/>
            <a:ext cx="1295400" cy="4616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filename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9131F8-4756-4083-B38C-5CF332EA1360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7391400" y="840433"/>
            <a:ext cx="1066800" cy="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42EE6B-65E3-414D-A129-2FDE9BC0952A}"/>
              </a:ext>
            </a:extLst>
          </p:cNvPr>
          <p:cNvSpPr txBox="1"/>
          <p:nvPr/>
        </p:nvSpPr>
        <p:spPr>
          <a:xfrm>
            <a:off x="8458200" y="609600"/>
            <a:ext cx="894797" cy="4616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inode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006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Directories</a:t>
            </a:r>
            <a:r>
              <a:rPr spc="-130" dirty="0"/>
              <a:t> </a:t>
            </a:r>
            <a:r>
              <a:rPr spc="-20" dirty="0"/>
              <a:t>(cont’)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06841"/>
            <a:ext cx="10422255" cy="435952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800" spc="-5" dirty="0">
                <a:latin typeface="Calibri"/>
                <a:cs typeface="Calibri"/>
              </a:rPr>
              <a:t>names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15" dirty="0">
                <a:latin typeface="Calibri"/>
                <a:cs typeface="Calibri"/>
              </a:rPr>
              <a:t>contain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character </a:t>
            </a:r>
            <a:r>
              <a:rPr sz="2800" spc="-20" dirty="0">
                <a:latin typeface="Calibri"/>
                <a:cs typeface="Calibri"/>
              </a:rPr>
              <a:t>except </a:t>
            </a:r>
            <a:r>
              <a:rPr sz="2800" spc="-5" dirty="0">
                <a:latin typeface="Calibri"/>
                <a:cs typeface="Calibri"/>
              </a:rPr>
              <a:t>‘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sz="2800" spc="-5" dirty="0">
                <a:latin typeface="Calibri"/>
                <a:cs typeface="Calibri"/>
              </a:rPr>
              <a:t>’ and</a:t>
            </a:r>
            <a:r>
              <a:rPr sz="2800" spc="-10" dirty="0">
                <a:latin typeface="Calibri"/>
                <a:cs typeface="Calibri"/>
              </a:rPr>
              <a:t> null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But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15" dirty="0">
                <a:latin typeface="Calibri"/>
                <a:cs typeface="Calibri"/>
              </a:rPr>
              <a:t>standard </a:t>
            </a:r>
            <a:r>
              <a:rPr sz="2800" spc="-10" dirty="0">
                <a:latin typeface="Calibri"/>
                <a:cs typeface="Calibri"/>
              </a:rPr>
              <a:t>practice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only use </a:t>
            </a:r>
            <a:r>
              <a:rPr sz="2800" spc="-15" dirty="0">
                <a:latin typeface="Calibri"/>
                <a:cs typeface="Calibri"/>
              </a:rPr>
              <a:t>printable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lang="en-US" sz="2800" spc="220" dirty="0">
                <a:latin typeface="Calibri"/>
                <a:cs typeface="Calibri"/>
              </a:rPr>
              <a:t>(</a:t>
            </a:r>
            <a:r>
              <a:rPr lang="en-US" sz="2800" dirty="0"/>
              <a:t>keyboard</a:t>
            </a:r>
            <a:r>
              <a:rPr lang="en-US" sz="2800" spc="220" dirty="0">
                <a:latin typeface="Calibri"/>
                <a:cs typeface="Calibri"/>
              </a:rPr>
              <a:t>) </a:t>
            </a:r>
            <a:r>
              <a:rPr sz="2800" spc="-15" dirty="0">
                <a:latin typeface="Calibri"/>
                <a:cs typeface="Calibri"/>
              </a:rPr>
              <a:t>characters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All modern Unix </a:t>
            </a:r>
            <a:r>
              <a:rPr sz="2800" spc="-20" dirty="0">
                <a:latin typeface="Calibri"/>
                <a:cs typeface="Calibri"/>
              </a:rPr>
              <a:t>filesystems </a:t>
            </a:r>
            <a:r>
              <a:rPr sz="2800" spc="-5" dirty="0">
                <a:latin typeface="Calibri"/>
                <a:cs typeface="Calibri"/>
              </a:rPr>
              <a:t>allow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10" dirty="0">
                <a:latin typeface="Calibri"/>
                <a:cs typeface="Calibri"/>
              </a:rPr>
              <a:t>least </a:t>
            </a:r>
            <a:r>
              <a:rPr sz="2800" spc="-5" dirty="0">
                <a:latin typeface="Calibri"/>
                <a:cs typeface="Calibri"/>
              </a:rPr>
              <a:t>255 </a:t>
            </a:r>
            <a:r>
              <a:rPr sz="2800" spc="-10" dirty="0">
                <a:latin typeface="Calibri"/>
                <a:cs typeface="Calibri"/>
              </a:rPr>
              <a:t>bytes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each </a:t>
            </a:r>
            <a:r>
              <a:rPr sz="2800" spc="-5" dirty="0">
                <a:latin typeface="Calibri"/>
                <a:cs typeface="Calibri"/>
              </a:rPr>
              <a:t>filename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r>
              <a:rPr sz="2800" spc="-5" dirty="0">
                <a:latin typeface="Calibri"/>
                <a:cs typeface="Calibri"/>
              </a:rPr>
              <a:t>  </a:t>
            </a:r>
            <a:r>
              <a:rPr lang="en-US" sz="2800" spc="-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otice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some language</a:t>
            </a:r>
            <a:r>
              <a:rPr lang="en-US" sz="2800" spc="-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use </a:t>
            </a:r>
            <a:r>
              <a:rPr sz="2800" spc="-10" dirty="0">
                <a:latin typeface="Calibri"/>
                <a:cs typeface="Calibri"/>
              </a:rPr>
              <a:t>multibyte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characters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Every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800" spc="-15" dirty="0">
                <a:latin typeface="Calibri"/>
                <a:cs typeface="Calibri"/>
              </a:rPr>
              <a:t>contains </a:t>
            </a:r>
            <a:r>
              <a:rPr sz="2800" spc="-10" dirty="0">
                <a:latin typeface="Calibri"/>
                <a:cs typeface="Calibri"/>
              </a:rPr>
              <a:t>two </a:t>
            </a:r>
            <a:r>
              <a:rPr sz="2800" spc="-5" dirty="0">
                <a:latin typeface="Calibri"/>
                <a:cs typeface="Calibri"/>
              </a:rPr>
              <a:t>special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directories: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699135" algn="l"/>
              </a:tabLst>
            </a:pPr>
            <a:r>
              <a:rPr sz="2400" i="1" spc="-5" dirty="0">
                <a:latin typeface="Calibri"/>
                <a:cs typeface="Calibri"/>
              </a:rPr>
              <a:t>dot </a:t>
            </a:r>
            <a:r>
              <a:rPr sz="2200" dirty="0">
                <a:latin typeface="Consolas" panose="020B0609020204030204" pitchFamily="49" charset="0"/>
                <a:cs typeface="Calibri"/>
              </a:rPr>
              <a:t>.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 directory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itself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20"/>
              </a:spcBef>
              <a:buFont typeface="Arial"/>
              <a:buChar char="•"/>
              <a:tabLst>
                <a:tab pos="699135" algn="l"/>
              </a:tabLst>
            </a:pPr>
            <a:r>
              <a:rPr sz="2400" i="1" spc="-5" dirty="0">
                <a:latin typeface="Calibri"/>
                <a:cs typeface="Calibri"/>
              </a:rPr>
              <a:t>dot-dot </a:t>
            </a:r>
            <a:r>
              <a:rPr sz="2200" dirty="0">
                <a:latin typeface="Consolas" panose="020B0609020204030204" pitchFamily="49" charset="0"/>
                <a:cs typeface="Calibri"/>
              </a:rPr>
              <a:t>..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current </a:t>
            </a:r>
            <a:r>
              <a:rPr sz="2400" spc="-15" dirty="0">
                <a:latin typeface="Calibri"/>
                <a:cs typeface="Calibri"/>
              </a:rPr>
              <a:t>directory’s parent </a:t>
            </a:r>
            <a:r>
              <a:rPr sz="2400" spc="-25" dirty="0">
                <a:latin typeface="Calibri"/>
                <a:cs typeface="Calibri"/>
              </a:rPr>
              <a:t>directory,</a:t>
            </a:r>
            <a:r>
              <a:rPr sz="2400" spc="-5" dirty="0">
                <a:latin typeface="Calibri"/>
                <a:cs typeface="Calibri"/>
              </a:rPr>
              <a:t> so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/home/kidd/gold/..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sz="2400" spc="-25" dirty="0">
                <a:latin typeface="Calibri"/>
                <a:cs typeface="Calibri"/>
              </a:rPr>
              <a:t>refers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/home/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kidd</a:t>
            </a:r>
            <a:r>
              <a:rPr lang="en-US" sz="2400" spc="-25" dirty="0">
                <a:latin typeface="Calibri"/>
                <a:cs typeface="Calibri"/>
              </a:rPr>
              <a:t>.</a:t>
            </a:r>
            <a:endParaRPr sz="2400" spc="-25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root directory’s </a:t>
            </a:r>
            <a:r>
              <a:rPr lang="en-US" sz="2400" dirty="0">
                <a:latin typeface="Consolas" panose="020B0609020204030204" pitchFamily="49" charset="0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lang="en-US" sz="2400" dirty="0">
                <a:latin typeface="Consolas" panose="020B0609020204030204" pitchFamily="49" charset="0"/>
                <a:cs typeface="Calibri"/>
              </a:rPr>
              <a:t>..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directories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point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itself</a:t>
            </a:r>
            <a:r>
              <a:rPr lang="en-US" sz="2400" dirty="0">
                <a:latin typeface="Calibri"/>
                <a:cs typeface="Calibri"/>
              </a:rPr>
              <a:t>, like in the tree data structure, in which the root has no parent, so it points back to itself.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8303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pc="-45" dirty="0"/>
              <a:t>Current </a:t>
            </a:r>
            <a:r>
              <a:rPr spc="-65" dirty="0"/>
              <a:t>Working </a:t>
            </a:r>
            <a:r>
              <a:rPr spc="-35" dirty="0"/>
              <a:t>Directory</a:t>
            </a:r>
            <a:r>
              <a:rPr spc="-280" dirty="0"/>
              <a:t> </a:t>
            </a:r>
            <a:r>
              <a:rPr spc="-45" dirty="0"/>
              <a:t>(</a:t>
            </a:r>
            <a:r>
              <a:rPr sz="4200" spc="-45" dirty="0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spc="-4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10326370" cy="452880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732155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Every </a:t>
            </a:r>
            <a:r>
              <a:rPr sz="2800" spc="-10" dirty="0">
                <a:latin typeface="Calibri"/>
                <a:cs typeface="Calibri"/>
              </a:rPr>
              <a:t>process inherits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5" dirty="0">
                <a:latin typeface="Calibri"/>
                <a:cs typeface="Calibri"/>
              </a:rPr>
              <a:t>parent, </a:t>
            </a:r>
            <a:r>
              <a:rPr lang="en-US" sz="2800" spc="-20" dirty="0">
                <a:latin typeface="Calibri"/>
                <a:cs typeface="Calibri"/>
              </a:rPr>
              <a:t>using</a:t>
            </a:r>
            <a:r>
              <a:rPr sz="2800" spc="-20" dirty="0">
                <a:latin typeface="Calibri"/>
                <a:cs typeface="Calibri"/>
              </a:rPr>
              <a:t>  </a:t>
            </a:r>
            <a:r>
              <a:rPr sz="2800" spc="-5" dirty="0">
                <a:latin typeface="Calibri"/>
                <a:cs typeface="Calibri"/>
              </a:rPr>
              <a:t>which 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10" dirty="0">
                <a:latin typeface="Calibri"/>
                <a:cs typeface="Calibri"/>
              </a:rPr>
              <a:t>resolves </a:t>
            </a:r>
            <a:r>
              <a:rPr sz="2800" spc="-15" dirty="0">
                <a:latin typeface="Calibri"/>
                <a:cs typeface="Calibri"/>
              </a:rPr>
              <a:t>relative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pathnames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process can </a:t>
            </a:r>
            <a:r>
              <a:rPr sz="2800" spc="-15" dirty="0">
                <a:latin typeface="Calibri"/>
                <a:cs typeface="Calibri"/>
              </a:rPr>
              <a:t>obtain/change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5" dirty="0">
                <a:latin typeface="Calibri"/>
                <a:cs typeface="Calibri"/>
              </a:rPr>
              <a:t>current </a:t>
            </a:r>
            <a:r>
              <a:rPr sz="2800" spc="-10" dirty="0">
                <a:latin typeface="Calibri"/>
                <a:cs typeface="Calibri"/>
              </a:rPr>
              <a:t>working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directory</a:t>
            </a:r>
            <a:r>
              <a:rPr lang="en-US" sz="2800" spc="-10" dirty="0">
                <a:latin typeface="Calibri"/>
                <a:cs typeface="Calibri"/>
              </a:rPr>
              <a:t> (</a:t>
            </a:r>
            <a:r>
              <a:rPr lang="en-US" sz="26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lang="en-US"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Obtaining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  <a:spcAft>
                <a:spcPts val="600"/>
              </a:spcAft>
            </a:pP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400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spc="5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  <a:endParaRPr sz="24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z="24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400" spc="5" dirty="0">
                <a:solidFill>
                  <a:srgbClr val="0070C0"/>
                </a:solidFill>
                <a:latin typeface="Consolas"/>
                <a:cs typeface="Consolas"/>
              </a:rPr>
              <a:t>getcwd (</a:t>
            </a:r>
            <a:r>
              <a:rPr sz="2400" b="1" spc="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*buf, </a:t>
            </a:r>
            <a:r>
              <a:rPr sz="2400" b="1" dirty="0">
                <a:solidFill>
                  <a:srgbClr val="0070C0"/>
                </a:solidFill>
                <a:latin typeface="Consolas"/>
                <a:cs typeface="Consolas"/>
              </a:rPr>
              <a:t>size_t</a:t>
            </a:r>
            <a:r>
              <a:rPr sz="2400" b="1" spc="3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/>
                <a:cs typeface="Consolas"/>
              </a:rPr>
              <a:t>size);</a:t>
            </a: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it </a:t>
            </a:r>
            <a:r>
              <a:rPr sz="2800" spc="-10" dirty="0">
                <a:latin typeface="Calibri"/>
                <a:cs typeface="Calibri"/>
              </a:rPr>
              <a:t>copies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an </a:t>
            </a:r>
            <a:r>
              <a:rPr sz="2800" spc="-15" dirty="0">
                <a:latin typeface="Calibri"/>
                <a:cs typeface="Calibri"/>
              </a:rPr>
              <a:t>absolute </a:t>
            </a:r>
            <a:r>
              <a:rPr sz="2800" spc="-10" dirty="0">
                <a:latin typeface="Calibri"/>
                <a:cs typeface="Calibri"/>
              </a:rPr>
              <a:t>pathname </a:t>
            </a:r>
            <a:r>
              <a:rPr sz="2800" spc="-20" dirty="0">
                <a:latin typeface="Calibri"/>
                <a:cs typeface="Calibri"/>
              </a:rPr>
              <a:t>into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buffer  </a:t>
            </a:r>
            <a:r>
              <a:rPr sz="2800" spc="-15" dirty="0">
                <a:latin typeface="Calibri"/>
                <a:cs typeface="Calibri"/>
              </a:rPr>
              <a:t>pointed at </a:t>
            </a:r>
            <a:r>
              <a:rPr sz="2800" spc="-5" dirty="0">
                <a:latin typeface="Calibri"/>
                <a:cs typeface="Calibri"/>
              </a:rPr>
              <a:t>by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buf</a:t>
            </a:r>
            <a:r>
              <a:rPr sz="2800" spc="-5" dirty="0">
                <a:latin typeface="Calibri"/>
                <a:cs typeface="Calibri"/>
              </a:rPr>
              <a:t>, which is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length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size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bytes,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returns</a:t>
            </a:r>
            <a:r>
              <a:rPr lang="en-US" sz="2800" spc="-15" dirty="0">
                <a:latin typeface="Calibri"/>
                <a:cs typeface="Calibri"/>
              </a:rPr>
              <a:t> a pointer to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600" dirty="0" err="1">
                <a:solidFill>
                  <a:srgbClr val="0070C0"/>
                </a:solidFill>
                <a:latin typeface="Consolas"/>
              </a:rPr>
              <a:t>buf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5179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Example </a:t>
            </a:r>
            <a:r>
              <a:rPr spc="-15" dirty="0"/>
              <a:t>of</a:t>
            </a:r>
            <a:r>
              <a:rPr spc="-195" dirty="0"/>
              <a:t> </a:t>
            </a:r>
            <a:r>
              <a:rPr sz="4200" spc="-55" dirty="0">
                <a:latin typeface="Courier New" panose="02070309020205020404" pitchFamily="49" charset="0"/>
                <a:cs typeface="Courier New" panose="02070309020205020404" pitchFamily="49" charset="0"/>
              </a:rPr>
              <a:t>getcwd()</a:t>
            </a:r>
          </a:p>
        </p:txBody>
      </p:sp>
      <p:sp>
        <p:nvSpPr>
          <p:cNvPr id="3" name="object 3"/>
          <p:cNvSpPr/>
          <p:nvPr/>
        </p:nvSpPr>
        <p:spPr>
          <a:xfrm>
            <a:off x="1371600" y="4308499"/>
            <a:ext cx="3058388" cy="1939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05800" y="3816582"/>
            <a:ext cx="3058388" cy="28268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8" y="1717547"/>
            <a:ext cx="9674861" cy="37074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POSIX </a:t>
            </a:r>
            <a:r>
              <a:rPr sz="2800" spc="-15" dirty="0">
                <a:latin typeface="Calibri"/>
                <a:cs typeface="Calibri"/>
              </a:rPr>
              <a:t>dictates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buf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can’t be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But </a:t>
            </a:r>
            <a:r>
              <a:rPr sz="2800" spc="-20" dirty="0">
                <a:latin typeface="Calibri"/>
                <a:cs typeface="Calibri"/>
              </a:rPr>
              <a:t>Linux’s </a:t>
            </a:r>
            <a:r>
              <a:rPr lang="en-US" sz="2800" spc="-5" dirty="0">
                <a:latin typeface="Calibri"/>
                <a:cs typeface="Calibri"/>
              </a:rPr>
              <a:t>implementation supports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lang="en-US" sz="2800" spc="-10" dirty="0">
                <a:latin typeface="Calibri"/>
                <a:cs typeface="Calibri"/>
              </a:rPr>
              <a:t>greater </a:t>
            </a:r>
            <a:r>
              <a:rPr sz="2800" spc="-15" dirty="0">
                <a:latin typeface="Calibri"/>
                <a:cs typeface="Calibri"/>
              </a:rPr>
              <a:t>flexibility</a:t>
            </a:r>
            <a:r>
              <a:rPr lang="en-US" sz="2800" spc="-1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5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buf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, it will </a:t>
            </a:r>
            <a:r>
              <a:rPr sz="2400" spc="-10" dirty="0">
                <a:latin typeface="Calibri"/>
                <a:cs typeface="Calibri"/>
              </a:rPr>
              <a:t>automatically allocate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length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size</a:t>
            </a:r>
            <a:r>
              <a:rPr lang="en-US" sz="2400" spc="-20" dirty="0">
                <a:latin typeface="Calibri"/>
                <a:cs typeface="Calibri"/>
              </a:rPr>
              <a:t>.</a:t>
            </a:r>
            <a:endParaRPr sz="2400" spc="-2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Arial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size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0, it will </a:t>
            </a:r>
            <a:r>
              <a:rPr sz="2400" spc="-10" dirty="0">
                <a:latin typeface="Calibri"/>
                <a:cs typeface="Calibri"/>
              </a:rPr>
              <a:t>allocate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sz="2400" spc="-15" dirty="0">
                <a:latin typeface="Calibri"/>
                <a:cs typeface="Calibri"/>
              </a:rPr>
              <a:t>large </a:t>
            </a:r>
            <a:r>
              <a:rPr sz="2400" spc="-5" dirty="0">
                <a:latin typeface="Calibri"/>
                <a:cs typeface="Calibri"/>
              </a:rPr>
              <a:t>enough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store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You program </a:t>
            </a:r>
            <a:r>
              <a:rPr sz="2400" spc="-10" dirty="0">
                <a:latin typeface="Calibri"/>
                <a:cs typeface="Calibri"/>
              </a:rPr>
              <a:t>must free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lang="en-US" sz="2400" dirty="0">
                <a:latin typeface="Calibri"/>
                <a:cs typeface="Calibri"/>
              </a:rPr>
              <a:t>created </a:t>
            </a:r>
            <a:r>
              <a:rPr sz="2400" spc="-20" dirty="0">
                <a:latin typeface="Calibri"/>
                <a:cs typeface="Calibri"/>
              </a:rPr>
              <a:t>buffer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free()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5" dirty="0">
                <a:latin typeface="Calibri"/>
                <a:cs typeface="Calibri"/>
              </a:rPr>
              <a:t>it’s </a:t>
            </a:r>
            <a:r>
              <a:rPr sz="2400" spc="-5" dirty="0">
                <a:latin typeface="Calibri"/>
                <a:cs typeface="Calibri"/>
              </a:rPr>
              <a:t>done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Arial"/>
              <a:buChar char="•"/>
              <a:tabLst>
                <a:tab pos="699135" algn="l"/>
              </a:tabLst>
            </a:pP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20" dirty="0">
                <a:latin typeface="Calibri"/>
                <a:cs typeface="Calibri"/>
              </a:rPr>
              <a:t>portability, </a:t>
            </a:r>
            <a:r>
              <a:rPr sz="2400" spc="-5" dirty="0">
                <a:latin typeface="Calibri"/>
                <a:cs typeface="Calibri"/>
              </a:rPr>
              <a:t>use POSIX </a:t>
            </a:r>
            <a:r>
              <a:rPr sz="2400" spc="-15" dirty="0">
                <a:latin typeface="Calibri"/>
                <a:cs typeface="Calibri"/>
              </a:rPr>
              <a:t>version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06705" algn="ctr">
              <a:lnSpc>
                <a:spcPct val="100000"/>
              </a:lnSpc>
            </a:pPr>
            <a:endParaRPr lang="en-US" sz="2650" dirty="0">
              <a:latin typeface="Calibri"/>
              <a:cs typeface="Calibri"/>
            </a:endParaRPr>
          </a:p>
          <a:p>
            <a:pPr marL="306705" algn="ctr" rtl="1">
              <a:lnSpc>
                <a:spcPct val="100000"/>
              </a:lnSpc>
            </a:pPr>
            <a:r>
              <a:rPr sz="2000" dirty="0">
                <a:latin typeface="Wingdings"/>
                <a:cs typeface="Wingdings"/>
              </a:rPr>
              <a:t>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Calibri"/>
                <a:cs typeface="Calibri"/>
              </a:rPr>
              <a:t>POSIX</a:t>
            </a:r>
            <a:r>
              <a:rPr lang="en-US" sz="2000" b="1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version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 dirty="0">
              <a:latin typeface="Calibri"/>
              <a:cs typeface="Calibri"/>
            </a:endParaRPr>
          </a:p>
          <a:p>
            <a:pPr marL="4209415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Linux-specific C </a:t>
            </a:r>
            <a:r>
              <a:rPr sz="2000" b="1" spc="-10" dirty="0">
                <a:latin typeface="Calibri"/>
                <a:cs typeface="Calibri"/>
              </a:rPr>
              <a:t>library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spc="5" dirty="0">
                <a:latin typeface="Wingdings"/>
                <a:cs typeface="Wingdings"/>
              </a:rPr>
              <a:t></a:t>
            </a:r>
            <a:endParaRPr sz="2000" dirty="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10132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Changing </a:t>
            </a:r>
            <a:r>
              <a:rPr spc="-20" dirty="0"/>
              <a:t>the </a:t>
            </a:r>
            <a:r>
              <a:rPr spc="-45" dirty="0"/>
              <a:t>current </a:t>
            </a:r>
            <a:r>
              <a:rPr spc="-40" dirty="0"/>
              <a:t>working directory</a:t>
            </a:r>
            <a:r>
              <a:rPr spc="-325" dirty="0"/>
              <a:t> </a:t>
            </a:r>
            <a:r>
              <a:rPr spc="-50" dirty="0"/>
              <a:t>(</a:t>
            </a:r>
            <a:r>
              <a:rPr sz="4200" spc="-50" dirty="0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spc="-50" dirty="0"/>
              <a:t>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8" y="1759661"/>
            <a:ext cx="10665461" cy="44421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At login time, t</a:t>
            </a:r>
            <a:r>
              <a:rPr sz="2800" spc="-5" dirty="0">
                <a:latin typeface="Calibri"/>
                <a:cs typeface="Calibri"/>
              </a:rPr>
              <a:t>he </a:t>
            </a:r>
            <a:r>
              <a:rPr sz="26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be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user’s </a:t>
            </a:r>
            <a:r>
              <a:rPr sz="2800" spc="-5" dirty="0">
                <a:latin typeface="Calibri"/>
                <a:cs typeface="Calibri"/>
              </a:rPr>
              <a:t>home </a:t>
            </a:r>
            <a:r>
              <a:rPr sz="2800" spc="-15" dirty="0">
                <a:latin typeface="Calibri"/>
                <a:cs typeface="Calibri"/>
              </a:rPr>
              <a:t>directory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lang="en-US" sz="2800" spc="-5" dirty="0">
                <a:latin typeface="Calibri"/>
                <a:cs typeface="Calibri"/>
              </a:rPr>
              <a:t>which is </a:t>
            </a:r>
            <a:r>
              <a:rPr sz="2800" spc="-5" dirty="0">
                <a:latin typeface="Calibri"/>
                <a:cs typeface="Calibri"/>
              </a:rPr>
              <a:t>specified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ourier New" panose="02070309020205020404" pitchFamily="49" charset="0"/>
                <a:cs typeface="Courier New" panose="02070309020205020404" pitchFamily="49" charset="0"/>
              </a:rPr>
              <a:t>/etc/passwd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20" dirty="0">
                <a:latin typeface="Calibri"/>
                <a:cs typeface="Calibri"/>
              </a:rPr>
              <a:t>)</a:t>
            </a:r>
            <a:r>
              <a:rPr lang="en-US" sz="2800" spc="-20" dirty="0">
                <a:latin typeface="Calibri"/>
                <a:cs typeface="Calibri"/>
              </a:rPr>
              <a:t> View this file using: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cat /</a:t>
            </a:r>
            <a:r>
              <a:rPr lang="en-US" sz="2400" dirty="0" err="1">
                <a:solidFill>
                  <a:srgbClr val="0070C0"/>
                </a:solidFill>
                <a:latin typeface="Consolas"/>
              </a:rPr>
              <a:t>etc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/passwd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spc="-2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10" dirty="0">
                <a:latin typeface="Calibri"/>
                <a:cs typeface="Calibri"/>
              </a:rPr>
              <a:t>two </a:t>
            </a:r>
            <a:r>
              <a:rPr sz="2800" spc="-20" dirty="0">
                <a:latin typeface="Calibri"/>
                <a:cs typeface="Calibri"/>
              </a:rPr>
              <a:t>syscalls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changing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&lt;unistd.h&gt;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chdir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*path);</a:t>
            </a:r>
          </a:p>
          <a:p>
            <a:pPr marL="469900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fchdir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fd);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ct val="800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chdir()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version </a:t>
            </a:r>
            <a:r>
              <a:rPr sz="2800" spc="-5" dirty="0">
                <a:latin typeface="Calibri"/>
                <a:cs typeface="Calibri"/>
              </a:rPr>
              <a:t>accepts the </a:t>
            </a:r>
            <a:r>
              <a:rPr sz="2800" spc="-10" dirty="0">
                <a:latin typeface="Calibri"/>
                <a:cs typeface="Calibri"/>
              </a:rPr>
              <a:t>pathname </a:t>
            </a:r>
            <a:r>
              <a:rPr sz="2800" spc="-5" dirty="0">
                <a:latin typeface="Calibri"/>
                <a:cs typeface="Calibri"/>
              </a:rPr>
              <a:t>of a </a:t>
            </a:r>
            <a:r>
              <a:rPr sz="2800" spc="-10" dirty="0">
                <a:latin typeface="Calibri"/>
                <a:cs typeface="Calibri"/>
              </a:rPr>
              <a:t>new </a:t>
            </a:r>
            <a:r>
              <a:rPr sz="2800" spc="-35" dirty="0">
                <a:latin typeface="Calibri"/>
                <a:cs typeface="Calibri"/>
              </a:rPr>
              <a:t>directory,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path</a:t>
            </a:r>
            <a:r>
              <a:rPr sz="2800" spc="-5" dirty="0">
                <a:latin typeface="Calibri"/>
                <a:cs typeface="Calibri"/>
              </a:rPr>
              <a:t>,  and the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fchdir()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version </a:t>
            </a:r>
            <a:r>
              <a:rPr sz="2800" spc="-5" dirty="0">
                <a:latin typeface="Calibri"/>
                <a:cs typeface="Calibri"/>
              </a:rPr>
              <a:t>accepts a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35" dirty="0">
                <a:latin typeface="Calibri"/>
                <a:cs typeface="Calibri"/>
              </a:rPr>
              <a:t>descriptor, </a:t>
            </a:r>
            <a:r>
              <a:rPr sz="2400" dirty="0">
                <a:solidFill>
                  <a:srgbClr val="0070C0"/>
                </a:solidFill>
                <a:latin typeface="Consolas"/>
              </a:rPr>
              <a:t>fd</a:t>
            </a:r>
            <a:r>
              <a:rPr sz="2800" spc="-15" dirty="0">
                <a:latin typeface="Calibri"/>
                <a:cs typeface="Calibri"/>
              </a:rPr>
              <a:t>, representing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open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directory</a:t>
            </a:r>
            <a:r>
              <a:rPr lang="en-US" sz="2800" spc="-10" dirty="0">
                <a:latin typeface="Calibri"/>
                <a:cs typeface="Calibri"/>
              </a:rPr>
              <a:t> file.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</a:t>
            </a:r>
            <a:r>
              <a:rPr lang="en-US" sz="2800" spc="-5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either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function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</a:t>
            </a:r>
            <a:r>
              <a:rPr lang="en-US" sz="2800" spc="-15" dirty="0">
                <a:latin typeface="Calibri"/>
                <a:cs typeface="Calibri"/>
              </a:rPr>
              <a:t>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0. 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lang="en-US" sz="2800" spc="-20" dirty="0">
                <a:latin typeface="Calibri"/>
                <a:cs typeface="Calibri"/>
              </a:rPr>
              <a:t>either </a:t>
            </a:r>
            <a:r>
              <a:rPr sz="2800" spc="-15" dirty="0">
                <a:latin typeface="Calibri"/>
                <a:cs typeface="Calibri"/>
              </a:rPr>
              <a:t>return</a:t>
            </a:r>
            <a:r>
              <a:rPr lang="en-US" sz="2800" spc="-15" dirty="0">
                <a:latin typeface="Calibri"/>
                <a:cs typeface="Calibri"/>
              </a:rPr>
              <a:t>s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-1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Note: </a:t>
            </a:r>
            <a:r>
              <a:rPr lang="en-US" sz="2800" spc="-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 can change </a:t>
            </a:r>
            <a:r>
              <a:rPr lang="en-US" sz="2800" spc="-10" dirty="0">
                <a:latin typeface="Calibri"/>
                <a:cs typeface="Calibri"/>
              </a:rPr>
              <a:t>only </a:t>
            </a: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lang="en-US" sz="2800" spc="95" dirty="0">
                <a:latin typeface="Calibri"/>
                <a:cs typeface="Calibri"/>
              </a:rPr>
              <a:t>own </a:t>
            </a:r>
            <a:r>
              <a:rPr sz="26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lang="en-US" sz="2800" spc="-10" dirty="0">
                <a:latin typeface="Calibri"/>
                <a:cs typeface="Calibri"/>
              </a:rPr>
              <a:t> but not others’ directories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72923"/>
            <a:ext cx="4370705" cy="132151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40" dirty="0"/>
              <a:t>Saving </a:t>
            </a:r>
            <a:r>
              <a:rPr sz="42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cwd</a:t>
            </a:r>
            <a:r>
              <a:rPr spc="-40" dirty="0"/>
              <a:t> </a:t>
            </a:r>
            <a:r>
              <a:rPr spc="-35" dirty="0"/>
              <a:t>and  </a:t>
            </a:r>
            <a:r>
              <a:rPr spc="-50" dirty="0"/>
              <a:t>Restoring </a:t>
            </a:r>
            <a:r>
              <a:rPr spc="-35" dirty="0"/>
              <a:t>to </a:t>
            </a:r>
            <a:r>
              <a:rPr spc="-5" dirty="0"/>
              <a:t>It</a:t>
            </a:r>
            <a:r>
              <a:rPr spc="-204" dirty="0"/>
              <a:t> </a:t>
            </a:r>
            <a:r>
              <a:rPr spc="-40" dirty="0"/>
              <a:t>Later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0021" y="1780997"/>
            <a:ext cx="3987179" cy="42693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375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Both </a:t>
            </a:r>
            <a:r>
              <a:rPr sz="2200" spc="-10" dirty="0">
                <a:latin typeface="Calibri"/>
                <a:cs typeface="Calibri"/>
              </a:rPr>
              <a:t>versions </a:t>
            </a:r>
            <a:r>
              <a:rPr sz="2200" spc="-5" dirty="0">
                <a:latin typeface="Calibri"/>
                <a:cs typeface="Calibri"/>
              </a:rPr>
              <a:t>do </a:t>
            </a:r>
            <a:r>
              <a:rPr sz="2200" spc="-20" dirty="0">
                <a:latin typeface="Calibri"/>
                <a:cs typeface="Calibri"/>
              </a:rPr>
              <a:t>pretty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much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375"/>
              </a:lnSpc>
            </a:pPr>
            <a:r>
              <a:rPr sz="2200" spc="-5" dirty="0">
                <a:latin typeface="Calibri"/>
                <a:cs typeface="Calibri"/>
              </a:rPr>
              <a:t>the same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thing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65151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Calibri"/>
                <a:cs typeface="Calibri"/>
              </a:rPr>
              <a:t>But the one </a:t>
            </a:r>
            <a:r>
              <a:rPr sz="2200" dirty="0">
                <a:latin typeface="Calibri"/>
                <a:cs typeface="Calibri"/>
              </a:rPr>
              <a:t>on </a:t>
            </a:r>
            <a:r>
              <a:rPr sz="2200" spc="-10" dirty="0">
                <a:latin typeface="Calibri"/>
                <a:cs typeface="Calibri"/>
              </a:rPr>
              <a:t>the right </a:t>
            </a:r>
            <a:r>
              <a:rPr sz="2200" spc="-5" dirty="0">
                <a:latin typeface="Calibri"/>
                <a:cs typeface="Calibri"/>
              </a:rPr>
              <a:t>is  </a:t>
            </a:r>
            <a:r>
              <a:rPr sz="2200" spc="-20" dirty="0">
                <a:latin typeface="Calibri"/>
                <a:cs typeface="Calibri"/>
              </a:rPr>
              <a:t>preferred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W</a:t>
            </a:r>
            <a:r>
              <a:rPr sz="2200" spc="-15" dirty="0">
                <a:latin typeface="Calibri"/>
                <a:cs typeface="Calibri"/>
              </a:rPr>
              <a:t>hy?</a:t>
            </a:r>
            <a:endParaRPr sz="2200" dirty="0">
              <a:latin typeface="Calibri"/>
              <a:cs typeface="Calibri"/>
            </a:endParaRPr>
          </a:p>
          <a:p>
            <a:pPr marL="241300" marR="204470" indent="-228600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Answer: </a:t>
            </a:r>
            <a:r>
              <a:rPr sz="2200" spc="-5" dirty="0">
                <a:latin typeface="Calibri"/>
                <a:cs typeface="Calibri"/>
              </a:rPr>
              <a:t>the one on the </a:t>
            </a:r>
            <a:r>
              <a:rPr sz="2200" spc="-15" dirty="0">
                <a:latin typeface="Calibri"/>
                <a:cs typeface="Calibri"/>
              </a:rPr>
              <a:t>left  </a:t>
            </a:r>
            <a:r>
              <a:rPr sz="2200" spc="-10" dirty="0">
                <a:latin typeface="Calibri"/>
                <a:cs typeface="Calibri"/>
              </a:rPr>
              <a:t>needs </a:t>
            </a:r>
            <a:r>
              <a:rPr sz="2200" spc="-20" dirty="0">
                <a:latin typeface="Calibri"/>
                <a:cs typeface="Calibri"/>
              </a:rPr>
              <a:t>to save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pathname,  whereas </a:t>
            </a:r>
            <a:r>
              <a:rPr sz="2200" spc="-5" dirty="0">
                <a:latin typeface="Calibri"/>
                <a:cs typeface="Calibri"/>
              </a:rPr>
              <a:t>the other only </a:t>
            </a:r>
            <a:r>
              <a:rPr sz="2200" spc="-10" dirty="0">
                <a:latin typeface="Calibri"/>
                <a:cs typeface="Calibri"/>
              </a:rPr>
              <a:t>needs  </a:t>
            </a:r>
            <a:r>
              <a:rPr sz="2200" spc="-20" dirty="0">
                <a:latin typeface="Calibri"/>
                <a:cs typeface="Calibri"/>
              </a:rPr>
              <a:t>to save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000" spc="-3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lang="en-US" sz="2200" spc="-35" dirty="0">
                <a:latin typeface="Calibri"/>
                <a:cs typeface="Calibri"/>
              </a:rPr>
              <a:t>(integer) </a:t>
            </a:r>
            <a:r>
              <a:rPr sz="2200" spc="-5" dirty="0">
                <a:latin typeface="Calibri"/>
                <a:cs typeface="Calibri"/>
              </a:rPr>
              <a:t>which is mapped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inode in file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z="2200" spc="-100" dirty="0">
                <a:latin typeface="Calibri"/>
                <a:cs typeface="Calibri"/>
              </a:rPr>
              <a:t>R</a:t>
            </a:r>
            <a:r>
              <a:rPr sz="2200" spc="-15" dirty="0">
                <a:latin typeface="Calibri"/>
                <a:cs typeface="Calibri"/>
              </a:rPr>
              <a:t>etriev</a:t>
            </a:r>
            <a:r>
              <a:rPr lang="en-US" sz="2200" spc="-15" dirty="0">
                <a:latin typeface="Calibri"/>
                <a:cs typeface="Calibri"/>
              </a:rPr>
              <a:t>ing 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pathname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costly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200" spc="-15" dirty="0">
                <a:latin typeface="Calibri"/>
                <a:cs typeface="Calibri"/>
              </a:rPr>
              <a:t>kernel </a:t>
            </a:r>
            <a:r>
              <a:rPr sz="2200" spc="-10" dirty="0">
                <a:latin typeface="Calibri"/>
                <a:cs typeface="Calibri"/>
              </a:rPr>
              <a:t>must walk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directory structure </a:t>
            </a:r>
            <a:r>
              <a:rPr lang="en-US" sz="2200" spc="-10" dirty="0">
                <a:latin typeface="Calibri"/>
                <a:cs typeface="Calibri"/>
              </a:rPr>
              <a:t>and since the </a:t>
            </a:r>
            <a:r>
              <a:rPr sz="2200" spc="-10" dirty="0">
                <a:latin typeface="Calibri"/>
                <a:cs typeface="Calibri"/>
              </a:rPr>
              <a:t>pathname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5" dirty="0">
                <a:latin typeface="Calibri"/>
                <a:cs typeface="Calibri"/>
              </a:rPr>
              <a:t>discarded </a:t>
            </a:r>
            <a:r>
              <a:rPr sz="2200" spc="-5" dirty="0">
                <a:latin typeface="Calibri"/>
                <a:cs typeface="Calibri"/>
              </a:rPr>
              <a:t>once the </a:t>
            </a:r>
            <a:r>
              <a:rPr sz="2200" spc="-10" dirty="0">
                <a:latin typeface="Calibri"/>
                <a:cs typeface="Calibri"/>
              </a:rPr>
              <a:t>directory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open</a:t>
            </a:r>
            <a:r>
              <a:rPr lang="en-US" sz="2200" spc="-5" dirty="0">
                <a:latin typeface="Calibri"/>
                <a:cs typeface="Calibri"/>
              </a:rPr>
              <a:t>ed.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8734" y="1749922"/>
            <a:ext cx="3725378" cy="49328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60470" y="969258"/>
            <a:ext cx="3725016" cy="55050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98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Creating</a:t>
            </a:r>
            <a:r>
              <a:rPr spc="-145" dirty="0"/>
              <a:t> </a:t>
            </a:r>
            <a:r>
              <a:rPr spc="-40" dirty="0"/>
              <a:t>Directories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0006"/>
            <a:ext cx="11275061" cy="4508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778625">
              <a:lnSpc>
                <a:spcPct val="111100"/>
              </a:lnSpc>
              <a:spcBef>
                <a:spcPts val="10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&lt;sys/stat.h&gt;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mkdir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mode_t</a:t>
            </a:r>
            <a:r>
              <a:rPr sz="2000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mode);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146685" indent="-228600">
              <a:lnSpc>
                <a:spcPct val="90000"/>
              </a:lnSpc>
              <a:spcBef>
                <a:spcPts val="9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successful call </a:t>
            </a:r>
            <a:r>
              <a:rPr sz="2800" spc="-15" dirty="0">
                <a:latin typeface="Calibri"/>
                <a:cs typeface="Calibri"/>
              </a:rPr>
              <a:t>creates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path</a:t>
            </a:r>
            <a:r>
              <a:rPr sz="2800" spc="-5" dirty="0">
                <a:latin typeface="Calibri"/>
                <a:cs typeface="Calibri"/>
              </a:rPr>
              <a:t>, which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relative </a:t>
            </a:r>
            <a:r>
              <a:rPr sz="2800" spc="-10" dirty="0">
                <a:latin typeface="Calibri"/>
                <a:cs typeface="Calibri"/>
              </a:rPr>
              <a:t>or  absolute, </a:t>
            </a:r>
            <a:r>
              <a:rPr sz="2800" spc="-5" dirty="0">
                <a:latin typeface="Calibri"/>
                <a:cs typeface="Calibri"/>
              </a:rPr>
              <a:t>with the </a:t>
            </a:r>
            <a:r>
              <a:rPr sz="2800" spc="-10" dirty="0">
                <a:latin typeface="Calibri"/>
                <a:cs typeface="Calibri"/>
              </a:rPr>
              <a:t>permission bits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mode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returns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In Linux, the </a:t>
            </a:r>
            <a:r>
              <a:rPr sz="2800" spc="-10" dirty="0">
                <a:latin typeface="Calibri"/>
                <a:cs typeface="Calibri"/>
              </a:rPr>
              <a:t>permission bits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newly </a:t>
            </a:r>
            <a:r>
              <a:rPr sz="2800" spc="-15" dirty="0">
                <a:latin typeface="Calibri"/>
                <a:cs typeface="Calibri"/>
              </a:rPr>
              <a:t>created </a:t>
            </a:r>
            <a:r>
              <a:rPr sz="2800" spc="-10" dirty="0">
                <a:latin typeface="Calibri"/>
                <a:cs typeface="Calibri"/>
              </a:rPr>
              <a:t>directory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lang="en-US" sz="2800" spc="-15" dirty="0">
                <a:latin typeface="Calibri"/>
                <a:cs typeface="Calibri"/>
              </a:rPr>
              <a:t>:</a:t>
            </a:r>
          </a:p>
          <a:p>
            <a:pPr marL="12700" marR="5080">
              <a:lnSpc>
                <a:spcPts val="3030"/>
              </a:lnSpc>
              <a:spcBef>
                <a:spcPts val="1050"/>
              </a:spcBef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mode</a:t>
            </a:r>
            <a:r>
              <a:rPr lang="en-US" sz="2800" spc="-5" dirty="0">
                <a:solidFill>
                  <a:srgbClr val="0070C0"/>
                </a:solidFill>
                <a:latin typeface="Consolas"/>
              </a:rPr>
              <a:t> </a:t>
            </a:r>
            <a:r>
              <a:rPr sz="2800" spc="-5" dirty="0">
                <a:latin typeface="Consolas"/>
                <a:cs typeface="Consolas"/>
              </a:rPr>
              <a:t>&amp;</a:t>
            </a:r>
            <a:r>
              <a:rPr sz="28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latin typeface="Consolas"/>
                <a:cs typeface="Consolas"/>
              </a:rPr>
              <a:t>~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umask</a:t>
            </a:r>
            <a:r>
              <a:rPr sz="2800" spc="-5" dirty="0">
                <a:solidFill>
                  <a:srgbClr val="0070C0"/>
                </a:solidFill>
                <a:latin typeface="Consolas"/>
              </a:rPr>
              <a:t> </a:t>
            </a:r>
            <a:r>
              <a:rPr sz="2800" spc="-5" dirty="0">
                <a:latin typeface="Consolas"/>
                <a:cs typeface="Consolas"/>
              </a:rPr>
              <a:t>&amp;</a:t>
            </a:r>
            <a:r>
              <a:rPr sz="2800" spc="-5" dirty="0">
                <a:solidFill>
                  <a:srgbClr val="0070C0"/>
                </a:solidFill>
                <a:latin typeface="Consolas"/>
              </a:rPr>
              <a:t>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01777</a:t>
            </a:r>
            <a:endParaRPr lang="en-US" sz="2600" dirty="0">
              <a:solidFill>
                <a:srgbClr val="0070C0"/>
              </a:solidFill>
              <a:latin typeface="Consolas"/>
            </a:endParaRPr>
          </a:p>
          <a:p>
            <a:pPr marL="698500" lvl="1" indent="-228600"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Above, </a:t>
            </a:r>
            <a:r>
              <a:rPr lang="en-US" sz="2400" dirty="0" err="1">
                <a:solidFill>
                  <a:srgbClr val="0070C0"/>
                </a:solidFill>
                <a:latin typeface="Consolas"/>
              </a:rPr>
              <a:t>umask</a:t>
            </a:r>
            <a:r>
              <a:rPr lang="en-US" sz="2400" spc="-5" dirty="0">
                <a:latin typeface="Calibri"/>
                <a:cs typeface="Calibri"/>
              </a:rPr>
              <a:t> is a set of permissions that the OS excludes from </a:t>
            </a:r>
            <a:r>
              <a:rPr lang="en-US" sz="2400" dirty="0">
                <a:solidFill>
                  <a:srgbClr val="0070C0"/>
                </a:solidFill>
                <a:latin typeface="Consolas"/>
              </a:rPr>
              <a:t>mode</a:t>
            </a:r>
            <a:r>
              <a:rPr lang="en-US" sz="2400" spc="-5" dirty="0">
                <a:latin typeface="Calibri"/>
                <a:cs typeface="Calibri"/>
              </a:rPr>
              <a:t>. E.g.: disallowing other users from executing this file. [</a:t>
            </a:r>
            <a:r>
              <a:rPr lang="en-US" sz="2400" dirty="0" err="1">
                <a:solidFill>
                  <a:srgbClr val="0070C0"/>
                </a:solidFill>
                <a:latin typeface="Consolas"/>
              </a:rPr>
              <a:t>umask</a:t>
            </a:r>
            <a:r>
              <a:rPr lang="en-US" sz="2400" spc="-5" dirty="0">
                <a:latin typeface="Calibri"/>
                <a:cs typeface="Calibri"/>
              </a:rPr>
              <a:t> is also a Linux command.]</a:t>
            </a: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lang="en-US" sz="2800" spc="-5" dirty="0">
                <a:latin typeface="Calibri"/>
                <a:cs typeface="Calibri"/>
              </a:rPr>
              <a:t>this function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27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Removing</a:t>
            </a:r>
            <a:r>
              <a:rPr spc="-135" dirty="0"/>
              <a:t> </a:t>
            </a:r>
            <a:r>
              <a:rPr spc="-40" dirty="0"/>
              <a:t>Directories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80006"/>
            <a:ext cx="10589261" cy="4177682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69900">
              <a:lnSpc>
                <a:spcPts val="2400"/>
              </a:lnSpc>
              <a:spcBef>
                <a:spcPts val="3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&lt;unistd.h&gt;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rmdir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*path);</a:t>
            </a:r>
          </a:p>
          <a:p>
            <a:pPr marL="241300" indent="-22860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it </a:t>
            </a:r>
            <a:r>
              <a:rPr sz="2800" spc="-15" dirty="0">
                <a:latin typeface="Calibri"/>
                <a:cs typeface="Calibri"/>
              </a:rPr>
              <a:t>removes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path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filesystem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returns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30" dirty="0">
                <a:latin typeface="Calibri"/>
                <a:cs typeface="Calibri"/>
              </a:rPr>
              <a:t>directory,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path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40" dirty="0">
                <a:latin typeface="Calibri"/>
                <a:cs typeface="Calibri"/>
              </a:rPr>
              <a:t>empty, </a:t>
            </a:r>
            <a:r>
              <a:rPr sz="2800" spc="-5" dirty="0">
                <a:latin typeface="Calibri"/>
                <a:cs typeface="Calibri"/>
              </a:rPr>
              <a:t>and not the dot and </a:t>
            </a:r>
            <a:r>
              <a:rPr sz="2800" spc="-20" dirty="0">
                <a:latin typeface="Calibri"/>
                <a:cs typeface="Calibri"/>
              </a:rPr>
              <a:t>dot-dot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There </a:t>
            </a:r>
            <a:r>
              <a:rPr sz="2800" spc="-5" dirty="0">
                <a:latin typeface="Calibri"/>
                <a:cs typeface="Calibri"/>
              </a:rPr>
              <a:t>is no </a:t>
            </a:r>
            <a:r>
              <a:rPr sz="2800" spc="-20" dirty="0">
                <a:latin typeface="Calibri"/>
                <a:cs typeface="Calibri"/>
              </a:rPr>
              <a:t>syscall </a:t>
            </a:r>
            <a:r>
              <a:rPr sz="2800" spc="-10" dirty="0">
                <a:latin typeface="Calibri"/>
                <a:cs typeface="Calibri"/>
              </a:rPr>
              <a:t>that implements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recursive </a:t>
            </a:r>
            <a:r>
              <a:rPr sz="2800" spc="-15" dirty="0">
                <a:latin typeface="Calibri"/>
                <a:cs typeface="Calibri"/>
              </a:rPr>
              <a:t>delete, </a:t>
            </a:r>
            <a:r>
              <a:rPr sz="2800" spc="-5" dirty="0">
                <a:latin typeface="Calibri"/>
                <a:cs typeface="Calibri"/>
              </a:rPr>
              <a:t>as with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rm –r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241300" marR="13525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That is, if you want to delete a directory that contains files, you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5" dirty="0">
                <a:latin typeface="Calibri"/>
                <a:cs typeface="Calibri"/>
              </a:rPr>
              <a:t>manually </a:t>
            </a:r>
            <a:r>
              <a:rPr lang="en-US" sz="2800" spc="-5" dirty="0">
                <a:latin typeface="Calibri"/>
                <a:cs typeface="Calibri"/>
              </a:rPr>
              <a:t>implement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it using </a:t>
            </a:r>
            <a:r>
              <a:rPr lang="en-US" sz="2800" spc="-1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depth-first </a:t>
            </a:r>
            <a:r>
              <a:rPr sz="2800" spc="-25" dirty="0">
                <a:latin typeface="Calibri"/>
                <a:cs typeface="Calibri"/>
              </a:rPr>
              <a:t>traversal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lang="en-US" sz="2800" spc="-20" dirty="0">
                <a:latin typeface="Calibri"/>
                <a:cs typeface="Calibri"/>
              </a:rPr>
              <a:t>directory</a:t>
            </a:r>
            <a:r>
              <a:rPr sz="2800" spc="-20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removing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0" dirty="0">
                <a:latin typeface="Calibri"/>
                <a:cs typeface="Calibri"/>
              </a:rPr>
              <a:t>files/directories </a:t>
            </a:r>
            <a:r>
              <a:rPr lang="en-US" sz="2800" spc="-15" dirty="0">
                <a:latin typeface="Calibri"/>
                <a:cs typeface="Calibri"/>
              </a:rPr>
              <a:t>inside it</a:t>
            </a:r>
            <a:r>
              <a:rPr sz="2800" spc="-15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using </a:t>
            </a:r>
            <a:r>
              <a:rPr sz="2600" dirty="0" err="1">
                <a:solidFill>
                  <a:srgbClr val="0070C0"/>
                </a:solidFill>
                <a:latin typeface="Consolas"/>
              </a:rPr>
              <a:t>rmdir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sz="2800" spc="-25" dirty="0">
                <a:latin typeface="Calibri"/>
                <a:cs typeface="Calibri"/>
              </a:rPr>
              <a:t> and </a:t>
            </a:r>
            <a:r>
              <a:rPr lang="en-US" sz="2600" dirty="0" err="1">
                <a:solidFill>
                  <a:srgbClr val="0070C0"/>
                </a:solidFill>
                <a:latin typeface="Consolas"/>
              </a:rPr>
              <a:t>chdir</a:t>
            </a:r>
            <a:r>
              <a:rPr lang="en-US" sz="2600" dirty="0">
                <a:solidFill>
                  <a:srgbClr val="0070C0"/>
                </a:solidFill>
                <a:latin typeface="Consolas"/>
              </a:rPr>
              <a:t>()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spc="-2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lang="en-US" sz="2800" spc="-5" dirty="0">
                <a:latin typeface="Calibri"/>
                <a:cs typeface="Calibri"/>
              </a:rPr>
              <a:t>the function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684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dirty="0"/>
              <a:t>a </a:t>
            </a:r>
            <a:r>
              <a:rPr spc="-50" dirty="0"/>
              <a:t>Directory’s</a:t>
            </a:r>
            <a:r>
              <a:rPr spc="-210" dirty="0"/>
              <a:t> </a:t>
            </a:r>
            <a:r>
              <a:rPr spc="-50" dirty="0"/>
              <a:t>Content</a:t>
            </a:r>
            <a:r>
              <a:rPr lang="en-US" spc="-50" dirty="0"/>
              <a:t>s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10436861" cy="47366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03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6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must </a:t>
            </a:r>
            <a:r>
              <a:rPr sz="2600" spc="-10" dirty="0">
                <a:latin typeface="Calibri"/>
                <a:cs typeface="Calibri"/>
              </a:rPr>
              <a:t>create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i="1" spc="-10" dirty="0">
                <a:latin typeface="Calibri"/>
                <a:cs typeface="Calibri"/>
              </a:rPr>
              <a:t>directory </a:t>
            </a:r>
            <a:r>
              <a:rPr sz="2600" i="1" spc="-5" dirty="0">
                <a:latin typeface="Calibri"/>
                <a:cs typeface="Calibri"/>
              </a:rPr>
              <a:t>stream </a:t>
            </a:r>
            <a:r>
              <a:rPr sz="2600" spc="-15" dirty="0">
                <a:latin typeface="Calibri"/>
                <a:cs typeface="Calibri"/>
              </a:rPr>
              <a:t>first, </a:t>
            </a:r>
            <a:r>
              <a:rPr sz="2600" dirty="0">
                <a:latin typeface="Calibri"/>
                <a:cs typeface="Calibri"/>
              </a:rPr>
              <a:t>which is a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DIR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object</a:t>
            </a:r>
            <a:r>
              <a:rPr lang="en-US" sz="2600" spc="-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 marR="6780530">
              <a:lnSpc>
                <a:spcPts val="2100"/>
              </a:lnSpc>
              <a:spcBef>
                <a:spcPts val="12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&lt;sys/types.h&gt;  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&lt;dirent.h&gt;</a:t>
            </a:r>
          </a:p>
          <a:p>
            <a:pPr marL="469900">
              <a:lnSpc>
                <a:spcPts val="2060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DIR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opendir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</a:t>
            </a:r>
            <a:r>
              <a:rPr sz="2000" b="1" spc="7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*name);</a:t>
            </a:r>
          </a:p>
          <a:p>
            <a:pPr marL="241300" marR="17716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directory </a:t>
            </a:r>
            <a:r>
              <a:rPr sz="2600" spc="-10" dirty="0">
                <a:latin typeface="Calibri"/>
                <a:cs typeface="Calibri"/>
              </a:rPr>
              <a:t>stream </a:t>
            </a:r>
            <a:r>
              <a:rPr lang="en-US" sz="2600" spc="-10" dirty="0">
                <a:latin typeface="Calibri"/>
                <a:cs typeface="Calibri"/>
              </a:rPr>
              <a:t>consists 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lang="en-US" sz="260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4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30" dirty="0">
                <a:latin typeface="Calibri"/>
                <a:cs typeface="Calibri"/>
              </a:rPr>
              <a:t>, </a:t>
            </a:r>
            <a:r>
              <a:rPr sz="2600" spc="-5" dirty="0">
                <a:latin typeface="Calibri"/>
                <a:cs typeface="Calibri"/>
              </a:rPr>
              <a:t>some </a:t>
            </a:r>
            <a:r>
              <a:rPr sz="2600" spc="-15" dirty="0">
                <a:latin typeface="Calibri"/>
                <a:cs typeface="Calibri"/>
              </a:rPr>
              <a:t>metadata</a:t>
            </a:r>
            <a:r>
              <a:rPr lang="en-US" sz="2600" spc="-15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 a </a:t>
            </a:r>
            <a:r>
              <a:rPr sz="2600" spc="-15" dirty="0">
                <a:latin typeface="Calibri"/>
                <a:cs typeface="Calibri"/>
              </a:rPr>
              <a:t>buffer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hold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directory’s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contents.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01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One </a:t>
            </a:r>
            <a:r>
              <a:rPr sz="2600" spc="-5" dirty="0">
                <a:latin typeface="Calibri"/>
                <a:cs typeface="Calibri"/>
              </a:rPr>
              <a:t>can </a:t>
            </a:r>
            <a:r>
              <a:rPr sz="2600" spc="-10" dirty="0">
                <a:latin typeface="Calibri"/>
                <a:cs typeface="Calibri"/>
              </a:rPr>
              <a:t>obtain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400" spc="-4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behind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given </a:t>
            </a:r>
            <a:r>
              <a:rPr sz="2600" spc="-10" dirty="0">
                <a:latin typeface="Calibri"/>
                <a:cs typeface="Calibri"/>
              </a:rPr>
              <a:t>directory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stream</a:t>
            </a:r>
            <a:r>
              <a:rPr lang="en-US" sz="2600" spc="-10" dirty="0">
                <a:latin typeface="Calibri"/>
                <a:cs typeface="Calibri"/>
              </a:rPr>
              <a:t> using </a:t>
            </a:r>
            <a:r>
              <a:rPr lang="en-US" sz="24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dirfd</a:t>
            </a:r>
            <a:r>
              <a:rPr lang="en-US"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85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#define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_BSD_SOURCE </a:t>
            </a:r>
            <a:r>
              <a:rPr sz="2000" i="1" spc="-5" dirty="0">
                <a:latin typeface="Consolas"/>
                <a:cs typeface="Consolas"/>
              </a:rPr>
              <a:t>/* </a:t>
            </a:r>
            <a:r>
              <a:rPr sz="2000" i="1" dirty="0">
                <a:latin typeface="Consolas"/>
                <a:cs typeface="Consolas"/>
              </a:rPr>
              <a:t>or </a:t>
            </a:r>
            <a:r>
              <a:rPr sz="2000" i="1" spc="-5" dirty="0">
                <a:latin typeface="Consolas"/>
                <a:cs typeface="Consolas"/>
              </a:rPr>
              <a:t>_SVID_SOURCE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sz="2000" i="1" spc="-10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469900" marR="6637655">
              <a:lnSpc>
                <a:spcPct val="90800"/>
              </a:lnSpc>
              <a:spcBef>
                <a:spcPts val="114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dirent.h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en-US" sz="2000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6637655">
              <a:lnSpc>
                <a:spcPct val="90800"/>
              </a:lnSpc>
              <a:spcBef>
                <a:spcPts val="114"/>
              </a:spcBef>
              <a:spcAft>
                <a:spcPts val="600"/>
              </a:spcAft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dirfd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DIR</a:t>
            </a:r>
            <a:r>
              <a:rPr sz="2000" b="1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*dir);</a:t>
            </a: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40" dirty="0">
                <a:latin typeface="Calibri"/>
                <a:cs typeface="Calibri"/>
              </a:rPr>
              <a:t>However, </a:t>
            </a:r>
            <a:r>
              <a:rPr sz="2600" dirty="0">
                <a:latin typeface="Calibri"/>
                <a:cs typeface="Calibri"/>
              </a:rPr>
              <a:t>this is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spc="-10" dirty="0">
                <a:latin typeface="Calibri"/>
                <a:cs typeface="Calibri"/>
              </a:rPr>
              <a:t>standard </a:t>
            </a:r>
            <a:r>
              <a:rPr sz="2600" spc="5" dirty="0">
                <a:latin typeface="Calibri"/>
                <a:cs typeface="Calibri"/>
              </a:rPr>
              <a:t>POSIX, </a:t>
            </a:r>
            <a:r>
              <a:rPr sz="2600" dirty="0">
                <a:latin typeface="Calibri"/>
                <a:cs typeface="Calibri"/>
              </a:rPr>
              <a:t>and in </a:t>
            </a:r>
            <a:r>
              <a:rPr sz="2600" spc="-10" dirty="0">
                <a:latin typeface="Calibri"/>
                <a:cs typeface="Calibri"/>
              </a:rPr>
              <a:t>generally </a:t>
            </a:r>
            <a:r>
              <a:rPr sz="2600" spc="-5" dirty="0">
                <a:latin typeface="Calibri"/>
                <a:cs typeface="Calibri"/>
              </a:rPr>
              <a:t>should be </a:t>
            </a:r>
            <a:r>
              <a:rPr sz="2600" spc="-15" dirty="0">
                <a:latin typeface="Calibri"/>
                <a:cs typeface="Calibri"/>
              </a:rPr>
              <a:t>avoided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since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directory </a:t>
            </a:r>
            <a:r>
              <a:rPr sz="2600" spc="-10" dirty="0">
                <a:latin typeface="Calibri"/>
                <a:cs typeface="Calibri"/>
              </a:rPr>
              <a:t>stream </a:t>
            </a:r>
            <a:r>
              <a:rPr sz="2600" dirty="0">
                <a:latin typeface="Calibri"/>
                <a:cs typeface="Calibri"/>
              </a:rPr>
              <a:t>functions </a:t>
            </a:r>
            <a:r>
              <a:rPr sz="2600" spc="-5" dirty="0">
                <a:latin typeface="Calibri"/>
                <a:cs typeface="Calibri"/>
              </a:rPr>
              <a:t>use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400" spc="-35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internally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don’t </a:t>
            </a:r>
            <a:r>
              <a:rPr sz="2600" spc="-15" dirty="0">
                <a:latin typeface="Calibri"/>
                <a:cs typeface="Calibri"/>
              </a:rPr>
              <a:t>want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mess it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up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436" y="1773377"/>
            <a:ext cx="11408564" cy="46233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59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Once 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opendir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is called </a:t>
            </a:r>
            <a:r>
              <a:rPr sz="2400" spc="-20" dirty="0">
                <a:latin typeface="Calibri"/>
                <a:cs typeface="Calibri"/>
              </a:rPr>
              <a:t>successfully, </a:t>
            </a:r>
            <a:r>
              <a:rPr sz="2400" spc="-10" dirty="0">
                <a:latin typeface="Calibri"/>
                <a:cs typeface="Calibri"/>
              </a:rPr>
              <a:t>you can read </a:t>
            </a:r>
            <a:r>
              <a:rPr lang="en-US" sz="2400" spc="-5" dirty="0">
                <a:latin typeface="Calibri"/>
                <a:cs typeface="Calibri"/>
              </a:rPr>
              <a:t>the files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one by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lang="en-US" sz="2400" dirty="0">
                <a:latin typeface="Calibri"/>
                <a:cs typeface="Calibri"/>
              </a:rPr>
              <a:t>the directory</a:t>
            </a:r>
            <a:r>
              <a:rPr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 marR="7785734">
              <a:lnSpc>
                <a:spcPct val="104099"/>
              </a:lnSpc>
              <a:spcBef>
                <a:spcPts val="40"/>
              </a:spcBef>
              <a:spcAft>
                <a:spcPts val="600"/>
              </a:spcAft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#include &lt;sys/types.h&gt;  #include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&lt;dirent.h&gt;</a:t>
            </a:r>
          </a:p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dirent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readdir </a:t>
            </a:r>
            <a:r>
              <a:rPr sz="2000" spc="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5" dirty="0">
                <a:solidFill>
                  <a:srgbClr val="0070C0"/>
                </a:solidFill>
                <a:latin typeface="Consolas"/>
                <a:cs typeface="Consolas"/>
              </a:rPr>
              <a:t>DIR</a:t>
            </a:r>
            <a:r>
              <a:rPr sz="2000" b="1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*dir);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successful call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readdir()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next </a:t>
            </a:r>
            <a:r>
              <a:rPr sz="2400" spc="-5" dirty="0">
                <a:latin typeface="Calibri"/>
                <a:cs typeface="Calibri"/>
              </a:rPr>
              <a:t>entry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directory represented by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dir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200" b="1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dirent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 represents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directory </a:t>
            </a:r>
            <a:r>
              <a:rPr sz="2400" spc="-30" dirty="0">
                <a:latin typeface="Calibri"/>
                <a:cs typeface="Calibri"/>
              </a:rPr>
              <a:t>entry</a:t>
            </a:r>
            <a:r>
              <a:rPr lang="en-US" sz="2400" spc="-30" dirty="0">
                <a:latin typeface="Calibri"/>
                <a:cs typeface="Calibri"/>
              </a:rPr>
              <a:t> 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defined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dirent.h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endParaRPr sz="2400" spc="-1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dirent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927100">
              <a:lnSpc>
                <a:spcPts val="2039"/>
              </a:lnSpc>
              <a:spcBef>
                <a:spcPts val="110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ino_t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d_ino; </a:t>
            </a:r>
            <a:r>
              <a:rPr sz="2000" i="1" dirty="0">
                <a:latin typeface="Consolas"/>
                <a:cs typeface="Consolas"/>
              </a:rPr>
              <a:t>/* </a:t>
            </a:r>
            <a:r>
              <a:rPr sz="2000" i="1" spc="-5" dirty="0">
                <a:latin typeface="Consolas"/>
                <a:cs typeface="Consolas"/>
              </a:rPr>
              <a:t>inode </a:t>
            </a:r>
            <a:r>
              <a:rPr sz="2000" i="1" dirty="0">
                <a:latin typeface="Consolas"/>
                <a:cs typeface="Consolas"/>
              </a:rPr>
              <a:t>number</a:t>
            </a:r>
            <a:r>
              <a:rPr sz="2000" i="1" spc="10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off_t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d_off; </a:t>
            </a:r>
            <a:r>
              <a:rPr sz="2000" i="1" spc="-5" dirty="0">
                <a:latin typeface="Consolas"/>
                <a:cs typeface="Consolas"/>
              </a:rPr>
              <a:t>/* offset to the next dirent */ </a:t>
            </a:r>
            <a:r>
              <a:rPr sz="2000" i="1" spc="-95" dirty="0">
                <a:latin typeface="Wingdings"/>
                <a:cs typeface="Wingdings"/>
              </a:rPr>
              <a:t></a:t>
            </a:r>
            <a:r>
              <a:rPr sz="2000" i="1" spc="26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Consolas"/>
                <a:cs typeface="Consolas"/>
              </a:rPr>
              <a:t>should be treated as </a:t>
            </a:r>
            <a:r>
              <a:rPr lang="en-US" sz="2000" b="1" i="1" dirty="0">
                <a:latin typeface="Consolas"/>
                <a:cs typeface="Consolas"/>
              </a:rPr>
              <a:t>o</a:t>
            </a:r>
            <a:r>
              <a:rPr sz="2000" b="1" i="1" dirty="0">
                <a:latin typeface="Consolas"/>
                <a:cs typeface="Consolas"/>
              </a:rPr>
              <a:t>paque</a:t>
            </a:r>
            <a:endParaRPr sz="20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6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unsigned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short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d_reclen; </a:t>
            </a:r>
            <a:r>
              <a:rPr sz="2000" i="1" dirty="0">
                <a:latin typeface="Consolas"/>
                <a:cs typeface="Consolas"/>
              </a:rPr>
              <a:t>/* length </a:t>
            </a:r>
            <a:r>
              <a:rPr sz="2000" i="1" spc="-5" dirty="0">
                <a:latin typeface="Consolas"/>
                <a:cs typeface="Consolas"/>
              </a:rPr>
              <a:t>of </a:t>
            </a:r>
            <a:r>
              <a:rPr sz="2000" i="1" dirty="0">
                <a:latin typeface="Consolas"/>
                <a:cs typeface="Consolas"/>
              </a:rPr>
              <a:t>this record</a:t>
            </a:r>
            <a:r>
              <a:rPr sz="2000" i="1" spc="3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27100">
              <a:lnSpc>
                <a:spcPts val="2039"/>
              </a:lnSpc>
              <a:spcBef>
                <a:spcPts val="9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unsigned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d_type; </a:t>
            </a:r>
            <a:r>
              <a:rPr sz="2000" i="1" dirty="0">
                <a:latin typeface="Consolas"/>
                <a:cs typeface="Consolas"/>
              </a:rPr>
              <a:t>/* type </a:t>
            </a:r>
            <a:r>
              <a:rPr sz="2000" i="1" spc="-5" dirty="0">
                <a:latin typeface="Consolas"/>
                <a:cs typeface="Consolas"/>
              </a:rPr>
              <a:t>of file</a:t>
            </a:r>
            <a:r>
              <a:rPr sz="2000" i="1" spc="4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27100">
              <a:lnSpc>
                <a:spcPts val="2150"/>
              </a:lnSpc>
              <a:tabLst>
                <a:tab pos="4975225" algn="l"/>
              </a:tabLst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d_name[256]; </a:t>
            </a:r>
            <a:r>
              <a:rPr sz="2000" i="1" dirty="0">
                <a:latin typeface="Consolas"/>
                <a:cs typeface="Consolas"/>
              </a:rPr>
              <a:t>/*</a:t>
            </a:r>
            <a:r>
              <a:rPr sz="2000" i="1" spc="7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filename</a:t>
            </a:r>
            <a:r>
              <a:rPr sz="2000" i="1" spc="2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r>
              <a:rPr sz="2000" i="1" dirty="0">
                <a:solidFill>
                  <a:srgbClr val="00AFEF"/>
                </a:solidFill>
                <a:latin typeface="Consolas"/>
                <a:cs typeface="Consolas"/>
              </a:rPr>
              <a:t>	</a:t>
            </a:r>
            <a:r>
              <a:rPr sz="2000" i="1" spc="-95" dirty="0">
                <a:latin typeface="Wingdings"/>
                <a:cs typeface="Wingdings"/>
              </a:rPr>
              <a:t></a:t>
            </a:r>
            <a:r>
              <a:rPr sz="2000" i="1" spc="-95" dirty="0">
                <a:latin typeface="Times New Roman"/>
                <a:cs typeface="Times New Roman"/>
              </a:rPr>
              <a:t>  </a:t>
            </a:r>
            <a:r>
              <a:rPr sz="2000" b="1" i="1" dirty="0">
                <a:latin typeface="Consolas"/>
                <a:cs typeface="Consolas"/>
              </a:rPr>
              <a:t>only field required by</a:t>
            </a:r>
            <a:r>
              <a:rPr sz="2000" b="1" i="1" spc="-130" dirty="0">
                <a:latin typeface="Consolas"/>
                <a:cs typeface="Consolas"/>
              </a:rPr>
              <a:t> </a:t>
            </a:r>
            <a:r>
              <a:rPr sz="2000" b="1" i="1" dirty="0">
                <a:latin typeface="Consolas"/>
                <a:cs typeface="Consolas"/>
              </a:rPr>
              <a:t>POSIX</a:t>
            </a:r>
            <a:endParaRPr sz="2000" dirty="0">
              <a:latin typeface="Consolas"/>
              <a:cs typeface="Consolas"/>
            </a:endParaRPr>
          </a:p>
          <a:p>
            <a:pPr marL="469900">
              <a:lnSpc>
                <a:spcPts val="239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6881DDB-755C-4716-0B80-B18ACCA83F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684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dirty="0"/>
              <a:t>a </a:t>
            </a:r>
            <a:r>
              <a:rPr spc="-50" dirty="0"/>
              <a:t>Directory’s</a:t>
            </a:r>
            <a:r>
              <a:rPr spc="-210" dirty="0"/>
              <a:t> </a:t>
            </a:r>
            <a:r>
              <a:rPr spc="-50" dirty="0"/>
              <a:t>Contents</a:t>
            </a:r>
            <a:r>
              <a:rPr lang="en-US" spc="-50" dirty="0"/>
              <a:t> – </a:t>
            </a:r>
            <a:r>
              <a:rPr lang="en-US" spc="-50" dirty="0" err="1"/>
              <a:t>Cont</a:t>
            </a:r>
            <a:r>
              <a:rPr lang="en-US" spc="-50" dirty="0"/>
              <a:t>’</a:t>
            </a:r>
            <a:endParaRPr spc="-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8" y="1793189"/>
            <a:ext cx="10436861" cy="419666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34290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Applications </a:t>
            </a:r>
            <a:r>
              <a:rPr sz="2800" spc="-5" dirty="0">
                <a:latin typeface="Calibri"/>
                <a:cs typeface="Calibri"/>
              </a:rPr>
              <a:t>successively </a:t>
            </a:r>
            <a:r>
              <a:rPr sz="2800" spc="-30" dirty="0">
                <a:latin typeface="Calibri"/>
                <a:cs typeface="Calibri"/>
              </a:rPr>
              <a:t>invoke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readdir()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15" dirty="0">
                <a:latin typeface="Calibri"/>
                <a:cs typeface="Calibri"/>
              </a:rPr>
              <a:t>obtaining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in the </a:t>
            </a:r>
            <a:r>
              <a:rPr sz="2800" spc="-30" dirty="0">
                <a:latin typeface="Calibri"/>
                <a:cs typeface="Calibri"/>
              </a:rPr>
              <a:t>directory,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until: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They </a:t>
            </a:r>
            <a:r>
              <a:rPr sz="2400" spc="-5" dirty="0">
                <a:latin typeface="Calibri"/>
                <a:cs typeface="Calibri"/>
              </a:rPr>
              <a:t>find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they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searching </a:t>
            </a:r>
            <a:r>
              <a:rPr sz="2400" spc="-70" dirty="0">
                <a:latin typeface="Calibri"/>
                <a:cs typeface="Calibri"/>
              </a:rPr>
              <a:t>for,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entire directory </a:t>
            </a:r>
            <a:r>
              <a:rPr lang="en-US" sz="2400" dirty="0">
                <a:latin typeface="Calibri"/>
                <a:cs typeface="Calibri"/>
              </a:rPr>
              <a:t>was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read,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5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time </a:t>
            </a:r>
            <a:r>
              <a:rPr sz="24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readdir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readdir()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also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800" spc="-5" dirty="0">
                <a:latin typeface="Calibri"/>
                <a:cs typeface="Calibri"/>
              </a:rPr>
              <a:t>. </a:t>
            </a:r>
            <a:r>
              <a:rPr sz="2800" spc="-12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tell </a:t>
            </a:r>
            <a:r>
              <a:rPr sz="2800" spc="-5" dirty="0">
                <a:latin typeface="Calibri"/>
                <a:cs typeface="Calibri"/>
              </a:rPr>
              <a:t>apart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error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having read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0" dirty="0">
                <a:latin typeface="Calibri"/>
                <a:cs typeface="Calibri"/>
              </a:rPr>
              <a:t>files, </a:t>
            </a:r>
            <a:r>
              <a:rPr lang="en-US" sz="2800" spc="-10" dirty="0">
                <a:latin typeface="Calibri"/>
                <a:cs typeface="Calibri"/>
              </a:rPr>
              <a:t>your program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0 </a:t>
            </a:r>
            <a:r>
              <a:rPr sz="2800" spc="-30" dirty="0">
                <a:latin typeface="Calibri"/>
                <a:cs typeface="Calibri"/>
              </a:rPr>
              <a:t>before </a:t>
            </a:r>
            <a:r>
              <a:rPr sz="2800" dirty="0">
                <a:latin typeface="Calibri"/>
                <a:cs typeface="Calibri"/>
              </a:rPr>
              <a:t>each </a:t>
            </a:r>
            <a:r>
              <a:rPr lang="en-US" sz="2800" dirty="0">
                <a:latin typeface="Calibri"/>
                <a:cs typeface="Calibri"/>
              </a:rPr>
              <a:t>call to </a:t>
            </a:r>
            <a:r>
              <a:rPr sz="26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readdir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 check both the </a:t>
            </a:r>
            <a:r>
              <a:rPr sz="2800" spc="-15" dirty="0">
                <a:latin typeface="Calibri"/>
                <a:cs typeface="Calibri"/>
              </a:rPr>
              <a:t>return value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02615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only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 set by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readdir()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6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EBADF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lang="en-US" sz="2800" spc="-5" dirty="0">
                <a:latin typeface="Calibri"/>
                <a:cs typeface="Calibri"/>
              </a:rPr>
              <a:t> which happens if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dir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invalid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hus</a:t>
            </a:r>
            <a:r>
              <a:rPr lang="en-US" sz="2800" spc="-5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10" dirty="0">
                <a:latin typeface="Calibri"/>
                <a:cs typeface="Calibri"/>
              </a:rPr>
              <a:t>applications don’t bother </a:t>
            </a:r>
            <a:r>
              <a:rPr lang="en-US" sz="2800" spc="-15" dirty="0">
                <a:latin typeface="Calibri"/>
                <a:cs typeface="Calibri"/>
              </a:rPr>
              <a:t>checking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lang="en-US" sz="2800" spc="-10" dirty="0">
                <a:latin typeface="Calibri"/>
                <a:cs typeface="Calibri"/>
              </a:rPr>
              <a:t>for errors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assume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800" spc="-5" dirty="0">
                <a:latin typeface="Calibri"/>
                <a:cs typeface="Calibri"/>
              </a:rPr>
              <a:t> means no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spc="-10" dirty="0">
                <a:latin typeface="Calibri"/>
                <a:cs typeface="Calibri"/>
              </a:rPr>
              <a:t>files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remain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0764F2C-0501-887C-627E-FF0AB06AD7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6842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Reading </a:t>
            </a:r>
            <a:r>
              <a:rPr dirty="0"/>
              <a:t>a </a:t>
            </a:r>
            <a:r>
              <a:rPr spc="-50" dirty="0"/>
              <a:t>Directory’s</a:t>
            </a:r>
            <a:r>
              <a:rPr spc="-210" dirty="0"/>
              <a:t> </a:t>
            </a:r>
            <a:r>
              <a:rPr spc="-50" dirty="0"/>
              <a:t>Contents</a:t>
            </a:r>
            <a:r>
              <a:rPr lang="en-US" spc="-50" dirty="0"/>
              <a:t> – </a:t>
            </a:r>
            <a:r>
              <a:rPr lang="en-US" spc="-50" dirty="0" err="1"/>
              <a:t>Cont</a:t>
            </a:r>
            <a:r>
              <a:rPr lang="en-US" spc="-50" dirty="0"/>
              <a:t>’</a:t>
            </a:r>
            <a:endParaRPr spc="-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7924"/>
            <a:ext cx="6240145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25" dirty="0"/>
              <a:t>Closing </a:t>
            </a:r>
            <a:r>
              <a:rPr spc="-20" dirty="0"/>
              <a:t>the </a:t>
            </a:r>
            <a:r>
              <a:rPr spc="-35" dirty="0"/>
              <a:t>directory</a:t>
            </a:r>
            <a:r>
              <a:rPr spc="-310" dirty="0"/>
              <a:t> </a:t>
            </a:r>
            <a:r>
              <a:rPr spc="-45" dirty="0"/>
              <a:t>stream  </a:t>
            </a:r>
            <a:r>
              <a:rPr spc="-20" dirty="0"/>
              <a:t>and </a:t>
            </a:r>
            <a:r>
              <a:rPr spc="-15" dirty="0"/>
              <a:t>an</a:t>
            </a:r>
            <a:r>
              <a:rPr spc="-160" dirty="0"/>
              <a:t> </a:t>
            </a:r>
            <a:r>
              <a:rPr spc="-5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87398"/>
            <a:ext cx="6090285" cy="451482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69900" marR="2538095">
              <a:lnSpc>
                <a:spcPct val="101099"/>
              </a:lnSpc>
              <a:spcBef>
                <a:spcPts val="7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&lt;sys/types.h&gt; 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&lt;dirent.h&gt;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closedir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DIR</a:t>
            </a: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*dir);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84455" indent="-228600">
              <a:lnSpc>
                <a:spcPct val="800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successful call </a:t>
            </a:r>
            <a:r>
              <a:rPr sz="2800" spc="-5" dirty="0">
                <a:latin typeface="Calibri"/>
                <a:cs typeface="Calibri"/>
              </a:rPr>
              <a:t>closes the </a:t>
            </a:r>
            <a:r>
              <a:rPr sz="2800" spc="-10" dirty="0">
                <a:latin typeface="Calibri"/>
                <a:cs typeface="Calibri"/>
              </a:rPr>
              <a:t>directory  </a:t>
            </a:r>
            <a:r>
              <a:rPr sz="2800" spc="-15" dirty="0">
                <a:latin typeface="Calibri"/>
                <a:cs typeface="Calibri"/>
              </a:rPr>
              <a:t>stream </a:t>
            </a:r>
            <a:r>
              <a:rPr sz="26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dir</a:t>
            </a:r>
            <a:r>
              <a:rPr sz="2800" spc="-70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including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lang="en-US" sz="2800" spc="-5" dirty="0">
                <a:latin typeface="Calibri"/>
                <a:cs typeface="Calibri"/>
              </a:rPr>
              <a:t>used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600" spc="-30" dirty="0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sz="2800" spc="-3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returns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6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EBADF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  <a:p>
            <a:pPr marL="241300" marR="62865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example 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right implements </a:t>
            </a:r>
            <a:r>
              <a:rPr sz="2800" spc="-5" dirty="0">
                <a:latin typeface="Calibri"/>
                <a:cs typeface="Calibri"/>
              </a:rPr>
              <a:t>a  </a:t>
            </a:r>
            <a:r>
              <a:rPr sz="2800" spc="-10" dirty="0">
                <a:latin typeface="Calibri"/>
                <a:cs typeface="Calibri"/>
              </a:rPr>
              <a:t>function that searches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given directory 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5" dirty="0">
                <a:latin typeface="Calibri"/>
                <a:cs typeface="Calibri"/>
              </a:rPr>
              <a:t>filename. </a:t>
            </a:r>
            <a:r>
              <a:rPr lang="en-US" sz="2800" spc="-5" dirty="0">
                <a:latin typeface="Calibri"/>
                <a:cs typeface="Calibri"/>
              </a:rPr>
              <a:t>It r</a:t>
            </a:r>
            <a:r>
              <a:rPr sz="2800" spc="-10" dirty="0">
                <a:latin typeface="Calibri"/>
                <a:cs typeface="Calibri"/>
              </a:rPr>
              <a:t>eturns </a:t>
            </a:r>
            <a:r>
              <a:rPr sz="2800" spc="-5" dirty="0">
                <a:latin typeface="Calibri"/>
                <a:cs typeface="Calibri"/>
              </a:rPr>
              <a:t>0 if the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found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09694" y="1002802"/>
            <a:ext cx="4419966" cy="53156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117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</a:t>
            </a:r>
            <a:r>
              <a:rPr spc="-15" dirty="0"/>
              <a:t>i</a:t>
            </a:r>
            <a:r>
              <a:rPr spc="-45" dirty="0"/>
              <a:t>n</a:t>
            </a:r>
            <a:r>
              <a:rPr spc="-85" dirty="0"/>
              <a:t>k</a:t>
            </a:r>
            <a:r>
              <a:rPr dirty="0"/>
              <a:t>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8" y="1717547"/>
            <a:ext cx="10513061" cy="407542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Recall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name-to-inode mapping </a:t>
            </a:r>
            <a:r>
              <a:rPr sz="2800" spc="-5" dirty="0">
                <a:latin typeface="Calibri"/>
                <a:cs typeface="Calibri"/>
              </a:rPr>
              <a:t>in a </a:t>
            </a:r>
            <a:r>
              <a:rPr sz="2800" spc="-15" dirty="0">
                <a:latin typeface="Calibri"/>
                <a:cs typeface="Calibri"/>
              </a:rPr>
              <a:t>directory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called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link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called </a:t>
            </a:r>
            <a:r>
              <a:rPr sz="2800" i="1" spc="-10" dirty="0">
                <a:latin typeface="Calibri"/>
                <a:cs typeface="Calibri"/>
              </a:rPr>
              <a:t>hard links </a:t>
            </a:r>
            <a:r>
              <a:rPr sz="2800" spc="-10" dirty="0">
                <a:latin typeface="Calibri"/>
                <a:cs typeface="Calibri"/>
              </a:rPr>
              <a:t>(discussed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ch1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r>
              <a:rPr sz="2800" spc="-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15" dirty="0">
                <a:latin typeface="Calibri"/>
                <a:cs typeface="Calibri"/>
              </a:rPr>
              <a:t>can </a:t>
            </a:r>
            <a:r>
              <a:rPr sz="2800" spc="-25" dirty="0">
                <a:latin typeface="Calibri"/>
                <a:cs typeface="Calibri"/>
              </a:rPr>
              <a:t>have </a:t>
            </a:r>
            <a:r>
              <a:rPr sz="2800" spc="-5" dirty="0">
                <a:latin typeface="Calibri"/>
                <a:cs typeface="Calibri"/>
              </a:rPr>
              <a:t>0, 1, or </a:t>
            </a:r>
            <a:r>
              <a:rPr sz="2800" spc="-15" dirty="0">
                <a:latin typeface="Calibri"/>
                <a:cs typeface="Calibri"/>
              </a:rPr>
              <a:t>many links </a:t>
            </a:r>
            <a:r>
              <a:rPr sz="2800" spc="-5" dirty="0">
                <a:latin typeface="Calibri"/>
                <a:cs typeface="Calibri"/>
              </a:rPr>
              <a:t>– </a:t>
            </a:r>
            <a:r>
              <a:rPr sz="2800" spc="-15" dirty="0">
                <a:latin typeface="Calibri"/>
                <a:cs typeface="Calibri"/>
              </a:rPr>
              <a:t>most </a:t>
            </a:r>
            <a:r>
              <a:rPr sz="2800" spc="-25" dirty="0">
                <a:latin typeface="Calibri"/>
                <a:cs typeface="Calibri"/>
              </a:rPr>
              <a:t>have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link </a:t>
            </a:r>
            <a:r>
              <a:rPr sz="2800" spc="-15" dirty="0">
                <a:latin typeface="Calibri"/>
                <a:cs typeface="Calibri"/>
              </a:rPr>
              <a:t>count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0734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with a </a:t>
            </a:r>
            <a:r>
              <a:rPr sz="2800" spc="-10" dirty="0">
                <a:latin typeface="Calibri"/>
                <a:cs typeface="Calibri"/>
              </a:rPr>
              <a:t>link </a:t>
            </a:r>
            <a:r>
              <a:rPr sz="2800" spc="-15" dirty="0">
                <a:latin typeface="Calibri"/>
                <a:cs typeface="Calibri"/>
              </a:rPr>
              <a:t>count </a:t>
            </a:r>
            <a:r>
              <a:rPr sz="2800" spc="-5" dirty="0">
                <a:latin typeface="Calibri"/>
                <a:cs typeface="Calibri"/>
              </a:rPr>
              <a:t>of 0 is </a:t>
            </a:r>
            <a:r>
              <a:rPr sz="2800" spc="-15" dirty="0">
                <a:latin typeface="Calibri"/>
                <a:cs typeface="Calibri"/>
              </a:rPr>
              <a:t>marked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lang="en-US" sz="2800" spc="-5" dirty="0">
                <a:latin typeface="Calibri"/>
                <a:cs typeface="Calibri"/>
              </a:rPr>
              <a:t>'</a:t>
            </a:r>
            <a:r>
              <a:rPr sz="2800" spc="-15" dirty="0">
                <a:latin typeface="Calibri"/>
                <a:cs typeface="Calibri"/>
              </a:rPr>
              <a:t>free</a:t>
            </a:r>
            <a:r>
              <a:rPr lang="en-US" sz="2800" spc="-15" dirty="0">
                <a:latin typeface="Calibri"/>
                <a:cs typeface="Calibri"/>
              </a:rPr>
              <a:t>'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its </a:t>
            </a:r>
            <a:r>
              <a:rPr sz="2800" spc="-10" dirty="0">
                <a:latin typeface="Calibri"/>
                <a:cs typeface="Calibri"/>
              </a:rPr>
              <a:t>disk blocks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made </a:t>
            </a:r>
            <a:r>
              <a:rPr sz="2800" spc="-15" dirty="0">
                <a:latin typeface="Calibri"/>
                <a:cs typeface="Calibri"/>
              </a:rPr>
              <a:t>available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reuse, unless </a:t>
            </a:r>
            <a:r>
              <a:rPr sz="2800" spc="-5" dirty="0">
                <a:latin typeface="Calibri"/>
                <a:cs typeface="Calibri"/>
              </a:rPr>
              <a:t>the file is </a:t>
            </a:r>
            <a:r>
              <a:rPr sz="2800" spc="-15" dirty="0">
                <a:latin typeface="Calibri"/>
                <a:cs typeface="Calibri"/>
              </a:rPr>
              <a:t>still </a:t>
            </a:r>
            <a:r>
              <a:rPr sz="2800" spc="-10" dirty="0">
                <a:latin typeface="Calibri"/>
                <a:cs typeface="Calibri"/>
              </a:rPr>
              <a:t>open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process. Once </a:t>
            </a:r>
            <a:r>
              <a:rPr sz="2800" spc="-5" dirty="0">
                <a:latin typeface="Calibri"/>
                <a:cs typeface="Calibri"/>
              </a:rPr>
              <a:t>no </a:t>
            </a:r>
            <a:r>
              <a:rPr sz="2800" spc="-10" dirty="0">
                <a:latin typeface="Calibri"/>
                <a:cs typeface="Calibri"/>
              </a:rPr>
              <a:t>process has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open, the </a:t>
            </a:r>
            <a:r>
              <a:rPr sz="2800" spc="-10" dirty="0">
                <a:latin typeface="Calibri"/>
                <a:cs typeface="Calibri"/>
              </a:rPr>
              <a:t>file is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deleted from disk.</a:t>
            </a:r>
            <a:endParaRPr sz="2800" dirty="0">
              <a:latin typeface="Calibri"/>
              <a:cs typeface="Calibri"/>
            </a:endParaRPr>
          </a:p>
          <a:p>
            <a:pPr marL="241300" marR="15113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10" dirty="0">
                <a:latin typeface="Calibri"/>
                <a:cs typeface="Calibri"/>
              </a:rPr>
              <a:t>implements </a:t>
            </a:r>
            <a:r>
              <a:rPr sz="2800" spc="-5" dirty="0">
                <a:latin typeface="Calibri"/>
                <a:cs typeface="Calibri"/>
              </a:rPr>
              <a:t>this </a:t>
            </a:r>
            <a:r>
              <a:rPr sz="2800" spc="-15" dirty="0">
                <a:latin typeface="Calibri"/>
                <a:cs typeface="Calibri"/>
              </a:rPr>
              <a:t>behavior by </a:t>
            </a:r>
            <a:r>
              <a:rPr sz="2800" spc="-10" dirty="0">
                <a:latin typeface="Calibri"/>
                <a:cs typeface="Calibri"/>
              </a:rPr>
              <a:t>using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lang="en-US" sz="2800" spc="-5" dirty="0">
                <a:latin typeface="Calibri"/>
                <a:cs typeface="Calibri"/>
              </a:rPr>
              <a:t>'</a:t>
            </a:r>
            <a:r>
              <a:rPr sz="2800" spc="-10" dirty="0">
                <a:latin typeface="Calibri"/>
                <a:cs typeface="Calibri"/>
              </a:rPr>
              <a:t>usage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lang="en-US" sz="2800" spc="-15" dirty="0">
                <a:latin typeface="Calibri"/>
                <a:cs typeface="Calibri"/>
              </a:rPr>
              <a:t>'</a:t>
            </a:r>
            <a:r>
              <a:rPr sz="2800" spc="-1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together </a:t>
            </a:r>
            <a:r>
              <a:rPr sz="2800" spc="-5" dirty="0">
                <a:latin typeface="Calibri"/>
                <a:cs typeface="Calibri"/>
              </a:rPr>
              <a:t>with the </a:t>
            </a:r>
            <a:r>
              <a:rPr lang="en-US" sz="2800" spc="-5" dirty="0">
                <a:latin typeface="Calibri"/>
                <a:cs typeface="Calibri"/>
              </a:rPr>
              <a:t>'</a:t>
            </a:r>
            <a:r>
              <a:rPr sz="2800" spc="-5" dirty="0">
                <a:latin typeface="Calibri"/>
                <a:cs typeface="Calibri"/>
              </a:rPr>
              <a:t>link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lang="en-US" sz="2800" spc="-15" dirty="0">
                <a:latin typeface="Calibri"/>
                <a:cs typeface="Calibri"/>
              </a:rPr>
              <a:t>'</a:t>
            </a:r>
            <a:r>
              <a:rPr sz="2800" spc="-15" dirty="0">
                <a:latin typeface="Calibri"/>
                <a:cs typeface="Calibri"/>
              </a:rPr>
              <a:t>.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i="1" spc="-5" dirty="0">
                <a:latin typeface="Calibri"/>
                <a:cs typeface="Calibri"/>
              </a:rPr>
              <a:t>usage </a:t>
            </a:r>
            <a:r>
              <a:rPr sz="2800" i="1" spc="-15" dirty="0">
                <a:latin typeface="Calibri"/>
                <a:cs typeface="Calibri"/>
              </a:rPr>
              <a:t>count </a:t>
            </a:r>
            <a:r>
              <a:rPr sz="2800" spc="-5" dirty="0">
                <a:latin typeface="Calibri"/>
                <a:cs typeface="Calibri"/>
              </a:rPr>
              <a:t>is the </a:t>
            </a:r>
            <a:r>
              <a:rPr lang="en-US" sz="2800" spc="-5" dirty="0">
                <a:latin typeface="Calibri"/>
                <a:cs typeface="Calibri"/>
              </a:rPr>
              <a:t>number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instances where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open</a:t>
            </a:r>
            <a:r>
              <a:rPr lang="en-US" sz="2800" spc="-10" dirty="0">
                <a:latin typeface="Calibri"/>
                <a:cs typeface="Calibri"/>
              </a:rPr>
              <a:t> by some process</a:t>
            </a:r>
            <a:r>
              <a:rPr sz="2800" spc="-10" dirty="0">
                <a:latin typeface="Calibri"/>
                <a:cs typeface="Calibri"/>
              </a:rPr>
              <a:t>. </a:t>
            </a:r>
            <a:r>
              <a:rPr sz="2800" spc="-5" dirty="0">
                <a:latin typeface="Calibri"/>
                <a:cs typeface="Calibri"/>
              </a:rPr>
              <a:t>A file is </a:t>
            </a:r>
            <a:r>
              <a:rPr sz="2800" spc="-10" dirty="0">
                <a:latin typeface="Calibri"/>
                <a:cs typeface="Calibri"/>
              </a:rPr>
              <a:t>not </a:t>
            </a:r>
            <a:r>
              <a:rPr sz="2800" spc="-15" dirty="0">
                <a:latin typeface="Calibri"/>
                <a:cs typeface="Calibri"/>
              </a:rPr>
              <a:t>removed </a:t>
            </a:r>
            <a:r>
              <a:rPr sz="2800" spc="-10" dirty="0">
                <a:latin typeface="Calibri"/>
                <a:cs typeface="Calibri"/>
              </a:rPr>
              <a:t>until both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10" dirty="0">
                <a:latin typeface="Calibri"/>
                <a:cs typeface="Calibri"/>
              </a:rPr>
              <a:t>link</a:t>
            </a:r>
            <a:r>
              <a:rPr lang="en-US" sz="2800" spc="-10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usage </a:t>
            </a:r>
            <a:r>
              <a:rPr sz="2800" spc="-15" dirty="0">
                <a:latin typeface="Calibri"/>
                <a:cs typeface="Calibri"/>
              </a:rPr>
              <a:t>counts </a:t>
            </a:r>
            <a:r>
              <a:rPr sz="2800" spc="-10" dirty="0">
                <a:latin typeface="Calibri"/>
                <a:cs typeface="Calibri"/>
              </a:rPr>
              <a:t>hit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0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273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Creating </a:t>
            </a:r>
            <a:r>
              <a:rPr spc="-35" dirty="0"/>
              <a:t>Hard</a:t>
            </a:r>
            <a:r>
              <a:rPr spc="-229" dirty="0"/>
              <a:t> </a:t>
            </a:r>
            <a:r>
              <a:rPr spc="-35" dirty="0"/>
              <a:t>Links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4431"/>
            <a:ext cx="10513061" cy="318548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create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new </a:t>
            </a:r>
            <a:r>
              <a:rPr sz="2800" spc="-15" dirty="0">
                <a:latin typeface="Calibri"/>
                <a:cs typeface="Calibri"/>
              </a:rPr>
              <a:t>hard </a:t>
            </a:r>
            <a:r>
              <a:rPr sz="2800" spc="-10" dirty="0">
                <a:latin typeface="Calibri"/>
                <a:cs typeface="Calibri"/>
              </a:rPr>
              <a:t>link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15" dirty="0">
                <a:latin typeface="Calibri"/>
                <a:cs typeface="Calibri"/>
              </a:rPr>
              <a:t>existing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&lt;unistd.h&gt;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link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*oldpath,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char</a:t>
            </a:r>
            <a:r>
              <a:rPr sz="2000" b="1" spc="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*newpath);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ts val="303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successful call </a:t>
            </a:r>
            <a:r>
              <a:rPr sz="2800" spc="-15" dirty="0">
                <a:latin typeface="Calibri"/>
                <a:cs typeface="Calibri"/>
              </a:rPr>
              <a:t>creates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new link </a:t>
            </a:r>
            <a:r>
              <a:rPr sz="2800" spc="-5" dirty="0">
                <a:latin typeface="Calibri"/>
                <a:cs typeface="Calibri"/>
              </a:rPr>
              <a:t>under the </a:t>
            </a:r>
            <a:r>
              <a:rPr sz="2800" spc="-10" dirty="0">
                <a:latin typeface="Calibri"/>
                <a:cs typeface="Calibri"/>
              </a:rPr>
              <a:t>path </a:t>
            </a:r>
            <a:r>
              <a:rPr sz="26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newpath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15" dirty="0">
                <a:latin typeface="Calibri"/>
                <a:cs typeface="Calibri"/>
              </a:rPr>
              <a:t>existing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lang="en-US" sz="26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oldpath</a:t>
            </a:r>
            <a:r>
              <a:rPr lang="en-US" sz="2800" spc="-15" dirty="0">
                <a:latin typeface="Calibri"/>
                <a:cs typeface="Calibri"/>
              </a:rPr>
              <a:t> and</a:t>
            </a:r>
            <a:r>
              <a:rPr sz="2800" spc="-15" dirty="0">
                <a:latin typeface="Calibri"/>
                <a:cs typeface="Calibri"/>
              </a:rPr>
              <a:t> returns </a:t>
            </a:r>
            <a:r>
              <a:rPr sz="2800" spc="-5" dirty="0">
                <a:latin typeface="Calibri"/>
                <a:cs typeface="Calibri"/>
              </a:rPr>
              <a:t>0 – </a:t>
            </a:r>
            <a:r>
              <a:rPr sz="2800" spc="-10" dirty="0">
                <a:latin typeface="Calibri"/>
                <a:cs typeface="Calibri"/>
              </a:rPr>
              <a:t>both now </a:t>
            </a:r>
            <a:r>
              <a:rPr sz="2800" spc="-30" dirty="0">
                <a:latin typeface="Calibri"/>
                <a:cs typeface="Calibri"/>
              </a:rPr>
              <a:t>refer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same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spc="-20" dirty="0">
                <a:latin typeface="Calibri"/>
                <a:cs typeface="Calibri"/>
              </a:rPr>
              <a:t>failure,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</a:t>
            </a:r>
            <a:endParaRPr lang="en-US" sz="2800" spc="-5" dirty="0">
              <a:latin typeface="Calibri"/>
              <a:cs typeface="Calibri"/>
            </a:endParaRPr>
          </a:p>
          <a:p>
            <a:pPr marL="12700">
              <a:lnSpc>
                <a:spcPts val="3000"/>
              </a:lnSpc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  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3356C-8F3C-8B46-FBA1-DA0EAD3E2A05}"/>
              </a:ext>
            </a:extLst>
          </p:cNvPr>
          <p:cNvSpPr txBox="1"/>
          <p:nvPr/>
        </p:nvSpPr>
        <p:spPr>
          <a:xfrm>
            <a:off x="4800600" y="3898247"/>
            <a:ext cx="74029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007789"/>
                </a:solidFill>
                <a:latin typeface="Consolas" panose="020B0609020204030204" pitchFamily="49" charset="0"/>
              </a:rPr>
              <a:t>int </a:t>
            </a:r>
            <a:r>
              <a:rPr lang="en-US" sz="1800" b="0" i="0" u="none" strike="noStrike" baseline="0" dirty="0">
                <a:solidFill>
                  <a:srgbClr val="000089"/>
                </a:solidFill>
                <a:latin typeface="Consolas" panose="020B0609020204030204" pitchFamily="49" charset="0"/>
              </a:rPr>
              <a:t>ret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b="0" i="1" u="none" strike="noStrike" baseline="0" dirty="0">
                <a:solidFill>
                  <a:srgbClr val="35586C"/>
                </a:solidFill>
                <a:latin typeface="Consolas" panose="020B0609020204030204" pitchFamily="49" charset="0"/>
              </a:rPr>
              <a:t>/*</a:t>
            </a:r>
          </a:p>
          <a:p>
            <a:pPr algn="l"/>
            <a:r>
              <a:rPr lang="en-US" sz="1800" b="0" i="1" u="none" strike="noStrike" baseline="0" dirty="0">
                <a:solidFill>
                  <a:srgbClr val="35586C"/>
                </a:solidFill>
                <a:latin typeface="Consolas" panose="020B0609020204030204" pitchFamily="49" charset="0"/>
              </a:rPr>
              <a:t> * create a new directory entry that points at</a:t>
            </a:r>
          </a:p>
          <a:p>
            <a:pPr algn="l"/>
            <a:r>
              <a:rPr lang="en-US" sz="1800" b="0" i="1" u="none" strike="noStrike" baseline="0" dirty="0">
                <a:solidFill>
                  <a:srgbClr val="35586C"/>
                </a:solidFill>
                <a:latin typeface="Consolas" panose="020B0609020204030204" pitchFamily="49" charset="0"/>
              </a:rPr>
              <a:t> * the same inode as '/home/</a:t>
            </a:r>
            <a:r>
              <a:rPr lang="en-US" sz="1800" b="0" i="1" u="none" strike="noStrike" baseline="0" dirty="0" err="1">
                <a:solidFill>
                  <a:srgbClr val="35586C"/>
                </a:solidFill>
                <a:latin typeface="Consolas" panose="020B0609020204030204" pitchFamily="49" charset="0"/>
              </a:rPr>
              <a:t>kidd</a:t>
            </a:r>
            <a:r>
              <a:rPr lang="en-US" sz="1800" b="0" i="1" u="none" strike="noStrike" baseline="0" dirty="0">
                <a:solidFill>
                  <a:srgbClr val="35586C"/>
                </a:solidFill>
                <a:latin typeface="Consolas" panose="020B0609020204030204" pitchFamily="49" charset="0"/>
              </a:rPr>
              <a:t>/pirate'.</a:t>
            </a:r>
          </a:p>
          <a:p>
            <a:pPr algn="l"/>
            <a:r>
              <a:rPr lang="en-US" sz="1800" b="0" i="1" u="none" strike="noStrike" baseline="0" dirty="0">
                <a:solidFill>
                  <a:srgbClr val="35586C"/>
                </a:solidFill>
                <a:latin typeface="Consolas" panose="020B0609020204030204" pitchFamily="49" charset="0"/>
              </a:rPr>
              <a:t> */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89"/>
                </a:solidFill>
                <a:latin typeface="Consolas" panose="020B0609020204030204" pitchFamily="49" charset="0"/>
              </a:rPr>
              <a:t>ret </a:t>
            </a:r>
            <a:r>
              <a:rPr lang="en-US" sz="1800" b="0" i="0" u="none" strike="noStrike" baseline="0" dirty="0">
                <a:solidFill>
                  <a:srgbClr val="555555"/>
                </a:solidFill>
                <a:latin typeface="Consolas" panose="020B0609020204030204" pitchFamily="49" charset="0"/>
              </a:rPr>
              <a:t>= </a:t>
            </a:r>
            <a:r>
              <a:rPr lang="en-US" sz="1800" b="0" i="0" u="none" strike="noStrike" baseline="0" dirty="0">
                <a:solidFill>
                  <a:srgbClr val="000089"/>
                </a:solidFill>
                <a:latin typeface="Consolas" panose="020B0609020204030204" pitchFamily="49" charset="0"/>
              </a:rPr>
              <a:t>link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onsolas" panose="020B0609020204030204" pitchFamily="49" charset="0"/>
              </a:rPr>
              <a:t>"/home/</a:t>
            </a:r>
            <a:r>
              <a:rPr lang="en-US" sz="1800" b="0" i="0" u="none" strike="noStrike" baseline="0" dirty="0" err="1">
                <a:solidFill>
                  <a:srgbClr val="CD3300"/>
                </a:solidFill>
                <a:latin typeface="Consolas" panose="020B0609020204030204" pitchFamily="49" charset="0"/>
              </a:rPr>
              <a:t>kidd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onsolas" panose="020B0609020204030204" pitchFamily="49" charset="0"/>
              </a:rPr>
              <a:t>/privateer"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onsolas" panose="020B0609020204030204" pitchFamily="49" charset="0"/>
              </a:rPr>
              <a:t>"/home/</a:t>
            </a:r>
            <a:r>
              <a:rPr lang="en-US" sz="1800" b="0" i="0" u="none" strike="noStrike" baseline="0" dirty="0" err="1">
                <a:solidFill>
                  <a:srgbClr val="CD3300"/>
                </a:solidFill>
                <a:latin typeface="Consolas" panose="020B0609020204030204" pitchFamily="49" charset="0"/>
              </a:rPr>
              <a:t>kidd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onsolas" panose="020B0609020204030204" pitchFamily="49" charset="0"/>
              </a:rPr>
              <a:t>/pirate"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669A"/>
                </a:solidFill>
                <a:latin typeface="Consolas" panose="020B0609020204030204" pitchFamily="49" charset="0"/>
              </a:rPr>
              <a:t>if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>
                <a:solidFill>
                  <a:srgbClr val="000089"/>
                </a:solidFill>
                <a:latin typeface="Consolas" panose="020B0609020204030204" pitchFamily="49" charset="0"/>
              </a:rPr>
              <a:t>ret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89"/>
                </a:solidFill>
                <a:latin typeface="Consolas" panose="020B0609020204030204" pitchFamily="49" charset="0"/>
              </a:rPr>
              <a:t>    </a:t>
            </a:r>
            <a:r>
              <a:rPr lang="en-US" sz="1800" b="0" i="0" u="none" strike="noStrike" baseline="0" dirty="0" err="1">
                <a:solidFill>
                  <a:srgbClr val="000089"/>
                </a:solidFill>
                <a:latin typeface="Consolas" panose="020B0609020204030204" pitchFamily="49" charset="0"/>
              </a:rPr>
              <a:t>perror</a:t>
            </a:r>
            <a:r>
              <a:rPr lang="en-US" sz="1800" b="0" i="0" u="none" strike="noStrike" baseline="0" dirty="0">
                <a:solidFill>
                  <a:srgbClr val="000089"/>
                </a:solidFill>
                <a:latin typeface="Consolas" panose="020B0609020204030204" pitchFamily="49" charset="0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b="0" i="0" u="none" strike="noStrike" baseline="0" dirty="0">
                <a:solidFill>
                  <a:srgbClr val="CD3300"/>
                </a:solidFill>
                <a:latin typeface="Consolas" panose="020B0609020204030204" pitchFamily="49" charset="0"/>
              </a:rPr>
              <a:t>"link"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171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Creating Symbolic</a:t>
            </a:r>
            <a:r>
              <a:rPr spc="-229" dirty="0"/>
              <a:t> </a:t>
            </a:r>
            <a:r>
              <a:rPr spc="-30" dirty="0"/>
              <a:t>Links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93189"/>
            <a:ext cx="10665461" cy="42761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0" dirty="0">
                <a:latin typeface="Calibri"/>
                <a:cs typeface="Calibri"/>
              </a:rPr>
              <a:t>A s</a:t>
            </a:r>
            <a:r>
              <a:rPr sz="2800" spc="-10" dirty="0">
                <a:latin typeface="Calibri"/>
                <a:cs typeface="Calibri"/>
              </a:rPr>
              <a:t>ymbolic link </a:t>
            </a:r>
            <a:r>
              <a:rPr sz="2800" spc="-5" dirty="0">
                <a:latin typeface="Calibri"/>
                <a:cs typeface="Calibri"/>
              </a:rPr>
              <a:t>is a special </a:t>
            </a:r>
            <a:r>
              <a:rPr sz="2800" spc="-10" dirty="0">
                <a:latin typeface="Calibri"/>
                <a:cs typeface="Calibri"/>
              </a:rPr>
              <a:t>file </a:t>
            </a:r>
            <a:r>
              <a:rPr sz="2800" spc="-15" dirty="0">
                <a:latin typeface="Calibri"/>
                <a:cs typeface="Calibri"/>
              </a:rPr>
              <a:t>contains </a:t>
            </a:r>
            <a:r>
              <a:rPr sz="2800" spc="-5" dirty="0">
                <a:latin typeface="Calibri"/>
                <a:cs typeface="Calibri"/>
              </a:rPr>
              <a:t>the pathname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different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spc="-10" dirty="0">
                <a:latin typeface="Calibri"/>
                <a:cs typeface="Calibri"/>
              </a:rPr>
              <a:t>file, </a:t>
            </a:r>
            <a:r>
              <a:rPr sz="2800" spc="-5" dirty="0">
                <a:latin typeface="Calibri"/>
                <a:cs typeface="Calibri"/>
              </a:rPr>
              <a:t>called the </a:t>
            </a:r>
            <a:r>
              <a:rPr sz="2800" spc="-10" dirty="0">
                <a:latin typeface="Calibri"/>
                <a:cs typeface="Calibri"/>
              </a:rPr>
              <a:t>symbolic </a:t>
            </a:r>
            <a:r>
              <a:rPr sz="2800" spc="-35" dirty="0">
                <a:latin typeface="Calibri"/>
                <a:cs typeface="Calibri"/>
              </a:rPr>
              <a:t>link’s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target</a:t>
            </a:r>
            <a:r>
              <a:rPr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3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symbolic link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relative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absolute;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15" dirty="0">
                <a:latin typeface="Calibri"/>
                <a:cs typeface="Calibri"/>
              </a:rPr>
              <a:t>contain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dot or  </a:t>
            </a:r>
            <a:r>
              <a:rPr sz="2800" spc="-5" dirty="0">
                <a:latin typeface="Calibri"/>
                <a:cs typeface="Calibri"/>
              </a:rPr>
              <a:t>dot-dot </a:t>
            </a:r>
            <a:r>
              <a:rPr sz="2800" spc="-15" dirty="0">
                <a:latin typeface="Calibri"/>
                <a:cs typeface="Calibri"/>
              </a:rPr>
              <a:t>directory; </a:t>
            </a:r>
            <a:r>
              <a:rPr sz="2800" spc="-5" dirty="0">
                <a:latin typeface="Calibri"/>
                <a:cs typeface="Calibri"/>
              </a:rPr>
              <a:t>and it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5" dirty="0">
                <a:latin typeface="Calibri"/>
                <a:cs typeface="Calibri"/>
              </a:rPr>
              <a:t>span </a:t>
            </a:r>
            <a:r>
              <a:rPr sz="2800" spc="-20" dirty="0">
                <a:latin typeface="Calibri"/>
                <a:cs typeface="Calibri"/>
              </a:rPr>
              <a:t>filesystems;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15" dirty="0">
                <a:latin typeface="Calibri"/>
                <a:cs typeface="Calibri"/>
              </a:rPr>
              <a:t>point at </a:t>
            </a:r>
            <a:r>
              <a:rPr sz="2800" spc="-20" dirty="0">
                <a:latin typeface="Calibri"/>
                <a:cs typeface="Calibri"/>
              </a:rPr>
              <a:t>nonexistent </a:t>
            </a:r>
            <a:r>
              <a:rPr sz="2800" spc="-10" dirty="0">
                <a:latin typeface="Calibri"/>
                <a:cs typeface="Calibri"/>
              </a:rPr>
              <a:t>files (</a:t>
            </a:r>
            <a:r>
              <a:rPr sz="2800" i="1" spc="-10" dirty="0">
                <a:latin typeface="Calibri"/>
                <a:cs typeface="Calibri"/>
              </a:rPr>
              <a:t>dangling</a:t>
            </a:r>
            <a:r>
              <a:rPr sz="2800" i="1" spc="80" dirty="0">
                <a:latin typeface="Calibri"/>
                <a:cs typeface="Calibri"/>
              </a:rPr>
              <a:t> </a:t>
            </a:r>
            <a:r>
              <a:rPr lang="en-US" sz="2800" i="1" spc="-10" dirty="0">
                <a:latin typeface="Calibri"/>
                <a:cs typeface="Calibri"/>
              </a:rPr>
              <a:t>= broken </a:t>
            </a:r>
            <a:r>
              <a:rPr sz="2800" i="1" spc="-15" dirty="0" err="1">
                <a:latin typeface="Calibri"/>
                <a:cs typeface="Calibri"/>
              </a:rPr>
              <a:t>symlink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create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symbolic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&lt;unistd.h&gt;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symlink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*oldpath,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*newpath);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348615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successful call </a:t>
            </a:r>
            <a:r>
              <a:rPr sz="2800" spc="-15" dirty="0">
                <a:latin typeface="Calibri"/>
                <a:cs typeface="Calibri"/>
              </a:rPr>
              <a:t>creates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symbolic link </a:t>
            </a:r>
            <a:r>
              <a:rPr sz="26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newpath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pointing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20" dirty="0">
                <a:latin typeface="Calibri"/>
                <a:cs typeface="Calibri"/>
              </a:rPr>
              <a:t>target </a:t>
            </a:r>
            <a:r>
              <a:rPr sz="26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oldpath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0. On </a:t>
            </a:r>
            <a:r>
              <a:rPr sz="2800" spc="-55" dirty="0">
                <a:latin typeface="Calibri"/>
                <a:cs typeface="Calibri"/>
              </a:rPr>
              <a:t>error,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0986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Unlinking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8" y="1736801"/>
            <a:ext cx="10894062" cy="4742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030"/>
              </a:lnSpc>
              <a:spcBef>
                <a:spcPts val="105"/>
              </a:spcBef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600" spc="-110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remove </a:t>
            </a:r>
            <a:r>
              <a:rPr sz="2600" dirty="0">
                <a:latin typeface="Calibri"/>
                <a:cs typeface="Calibri"/>
              </a:rPr>
              <a:t>a pathname </a:t>
            </a:r>
            <a:r>
              <a:rPr sz="2600" spc="-1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filesystem</a:t>
            </a:r>
            <a:r>
              <a:rPr lang="en-US" sz="2600" spc="-1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00"/>
              </a:lnSpc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&lt;unistd.h&gt;</a:t>
            </a:r>
          </a:p>
          <a:p>
            <a:pPr marL="469900">
              <a:lnSpc>
                <a:spcPts val="2190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unlink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</a:t>
            </a:r>
            <a:r>
              <a:rPr sz="2000" b="1" spc="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*pathname);</a:t>
            </a: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successful call deletes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pathname</a:t>
            </a:r>
            <a:r>
              <a:rPr sz="2600" i="1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filesystem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return</a:t>
            </a:r>
            <a:r>
              <a:rPr sz="2600" dirty="0">
                <a:latin typeface="Calibri"/>
                <a:cs typeface="Calibri"/>
              </a:rPr>
              <a:t>s 0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the </a:t>
            </a:r>
            <a:r>
              <a:rPr sz="2600" spc="-5" dirty="0">
                <a:latin typeface="Calibri"/>
                <a:cs typeface="Calibri"/>
              </a:rPr>
              <a:t>name </a:t>
            </a:r>
            <a:r>
              <a:rPr sz="2600" spc="-10" dirty="0">
                <a:latin typeface="Calibri"/>
                <a:cs typeface="Calibri"/>
              </a:rPr>
              <a:t>was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last </a:t>
            </a:r>
            <a:r>
              <a:rPr sz="2600" spc="-20" dirty="0">
                <a:latin typeface="Calibri"/>
                <a:cs typeface="Calibri"/>
              </a:rPr>
              <a:t>reference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deleted</a:t>
            </a:r>
            <a:r>
              <a:rPr lang="en-US" sz="2600" spc="-5" dirty="0">
                <a:latin typeface="Calibri"/>
                <a:cs typeface="Calibri"/>
              </a:rPr>
              <a:t> from disk.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the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pathname</a:t>
            </a:r>
            <a:r>
              <a:rPr sz="2600" i="1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refers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symlink, </a:t>
            </a:r>
            <a:r>
              <a:rPr lang="en-US" sz="2600" spc="-10" dirty="0">
                <a:latin typeface="Calibri"/>
                <a:cs typeface="Calibri"/>
              </a:rPr>
              <a:t>then </a:t>
            </a:r>
            <a:r>
              <a:rPr sz="2600" dirty="0">
                <a:latin typeface="Calibri"/>
                <a:cs typeface="Calibri"/>
              </a:rPr>
              <a:t>the link,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target,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destroyed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spc="-45" dirty="0">
                <a:latin typeface="Calibri"/>
                <a:cs typeface="Calibri"/>
              </a:rPr>
              <a:t>error,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unlink()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returns -1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015"/>
              </a:lnSpc>
              <a:spcBef>
                <a:spcPts val="7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unlink()</a:t>
            </a:r>
            <a:r>
              <a:rPr sz="2600" spc="-5" dirty="0">
                <a:latin typeface="Calibri"/>
                <a:cs typeface="Calibri"/>
              </a:rPr>
              <a:t> doesn’t </a:t>
            </a:r>
            <a:r>
              <a:rPr sz="2600" spc="-10" dirty="0">
                <a:latin typeface="Calibri"/>
                <a:cs typeface="Calibri"/>
              </a:rPr>
              <a:t>remove </a:t>
            </a:r>
            <a:r>
              <a:rPr sz="2600" spc="-5" dirty="0">
                <a:latin typeface="Calibri"/>
                <a:cs typeface="Calibri"/>
              </a:rPr>
              <a:t>directories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400" dirty="0">
                <a:solidFill>
                  <a:srgbClr val="0070C0"/>
                </a:solidFill>
                <a:latin typeface="+mj-lt"/>
                <a:cs typeface="Calibri"/>
              </a:rPr>
              <a:t>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rmdir()</a:t>
            </a:r>
            <a:r>
              <a:rPr sz="2600" dirty="0">
                <a:latin typeface="Calibri"/>
                <a:cs typeface="Calibri"/>
              </a:rPr>
              <a:t> is </a:t>
            </a:r>
            <a:r>
              <a:rPr lang="en-US" sz="2600" dirty="0">
                <a:latin typeface="Calibri"/>
                <a:cs typeface="Calibri"/>
              </a:rPr>
              <a:t>used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that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purpose</a:t>
            </a:r>
            <a:r>
              <a:rPr lang="en-US" sz="2600" spc="-5" dirty="0">
                <a:latin typeface="Calibri"/>
                <a:cs typeface="Calibri"/>
              </a:rPr>
              <a:t>.</a:t>
            </a:r>
          </a:p>
          <a:p>
            <a:pPr marL="241300" indent="-228600">
              <a:spcBef>
                <a:spcPts val="6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lang="en-US" sz="2600" dirty="0">
                <a:cs typeface="Calibri"/>
              </a:rPr>
              <a:t>The C </a:t>
            </a:r>
            <a:r>
              <a:rPr lang="en-US" sz="2600" spc="-5" dirty="0">
                <a:cs typeface="Calibri"/>
              </a:rPr>
              <a:t>language provides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remove()</a:t>
            </a:r>
            <a:r>
              <a:rPr lang="en-US" sz="2600" dirty="0">
                <a:cs typeface="Calibri"/>
              </a:rPr>
              <a:t>,</a:t>
            </a:r>
            <a:r>
              <a:rPr lang="en-US" sz="2600" spc="-10" dirty="0">
                <a:cs typeface="Calibri"/>
              </a:rPr>
              <a:t> </a:t>
            </a:r>
            <a:r>
              <a:rPr lang="en-US" sz="2600" dirty="0">
                <a:cs typeface="Calibri"/>
              </a:rPr>
              <a:t>which </a:t>
            </a:r>
            <a:r>
              <a:rPr lang="en-US" sz="2600" spc="-5" dirty="0">
                <a:cs typeface="Calibri"/>
              </a:rPr>
              <a:t>calls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unlink()</a:t>
            </a:r>
            <a:r>
              <a:rPr lang="en-US" sz="2600" spc="-5" dirty="0">
                <a:cs typeface="Calibri"/>
              </a:rPr>
              <a:t> </a:t>
            </a:r>
            <a:r>
              <a:rPr lang="en-US" sz="2600" spc="-25" dirty="0">
                <a:cs typeface="Calibri"/>
              </a:rPr>
              <a:t>for a </a:t>
            </a:r>
            <a:r>
              <a:rPr lang="en-US" sz="2600" spc="-5" dirty="0">
                <a:cs typeface="Calibri"/>
              </a:rPr>
              <a:t>file </a:t>
            </a:r>
            <a:r>
              <a:rPr lang="en-US" sz="2600" dirty="0">
                <a:cs typeface="Calibri"/>
              </a:rPr>
              <a:t>and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solidFill>
                  <a:srgbClr val="0070C0"/>
                </a:solidFill>
                <a:latin typeface="+mj-lt"/>
                <a:cs typeface="Calibri"/>
              </a:rPr>
              <a:t> </a:t>
            </a:r>
            <a:r>
              <a:rPr lang="en-US" sz="2600" spc="-25" dirty="0">
                <a:cs typeface="Calibri"/>
              </a:rPr>
              <a:t>for a </a:t>
            </a:r>
            <a:r>
              <a:rPr lang="en-US" sz="2600" spc="-5" dirty="0">
                <a:cs typeface="Calibri"/>
              </a:rPr>
              <a:t>directory: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80"/>
              </a:lnSpc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28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remove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*path);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901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Copying</a:t>
            </a:r>
            <a:r>
              <a:rPr spc="-165" dirty="0"/>
              <a:t> </a:t>
            </a:r>
            <a:r>
              <a:rPr spc="-2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5757"/>
            <a:ext cx="10360661" cy="42672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5" dirty="0">
                <a:latin typeface="Calibri"/>
                <a:cs typeface="Calibri"/>
              </a:rPr>
              <a:t>Surprisingly, </a:t>
            </a:r>
            <a:r>
              <a:rPr sz="2600" dirty="0">
                <a:latin typeface="Calibri"/>
                <a:cs typeface="Calibri"/>
              </a:rPr>
              <a:t>Unix </a:t>
            </a:r>
            <a:r>
              <a:rPr sz="2600" spc="-5" dirty="0">
                <a:latin typeface="Calibri"/>
                <a:cs typeface="Calibri"/>
              </a:rPr>
              <a:t>doesn’t </a:t>
            </a:r>
            <a:r>
              <a:rPr sz="2600" spc="-20" dirty="0">
                <a:latin typeface="Calibri"/>
                <a:cs typeface="Calibri"/>
              </a:rPr>
              <a:t>have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dirty="0">
                <a:latin typeface="Calibri"/>
                <a:cs typeface="Calibri"/>
              </a:rPr>
              <a:t>or </a:t>
            </a:r>
            <a:r>
              <a:rPr sz="2600" spc="-5" dirty="0">
                <a:latin typeface="Calibri"/>
                <a:cs typeface="Calibri"/>
              </a:rPr>
              <a:t>library call </a:t>
            </a:r>
            <a:r>
              <a:rPr lang="en-US" sz="2600" spc="-5" dirty="0">
                <a:latin typeface="Calibri"/>
                <a:cs typeface="Calibri"/>
              </a:rPr>
              <a:t>similar to the terminal’s </a:t>
            </a:r>
            <a:r>
              <a:rPr lang="en-US"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cp</a:t>
            </a:r>
            <a:r>
              <a:rPr lang="en-US" sz="2600" spc="-5" dirty="0">
                <a:latin typeface="Calibri"/>
                <a:cs typeface="Calibri"/>
              </a:rPr>
              <a:t> command </a:t>
            </a:r>
            <a:r>
              <a:rPr sz="2600" spc="-5" dirty="0">
                <a:latin typeface="Calibri"/>
                <a:cs typeface="Calibri"/>
              </a:rPr>
              <a:t>that does copying of files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directories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Instead, </a:t>
            </a:r>
            <a:r>
              <a:rPr lang="en-US" sz="2600" dirty="0">
                <a:latin typeface="Calibri"/>
                <a:cs typeface="Calibri"/>
              </a:rPr>
              <a:t>your program must implement it</a:t>
            </a:r>
            <a:r>
              <a:rPr sz="2600" spc="-20" dirty="0">
                <a:latin typeface="Calibri"/>
                <a:cs typeface="Calibri"/>
              </a:rPr>
              <a:t>. </a:t>
            </a:r>
            <a:r>
              <a:rPr sz="2600" spc="-114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copy </a:t>
            </a:r>
            <a:r>
              <a:rPr lang="en-US" sz="2600" spc="-1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file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src</a:t>
            </a:r>
            <a:r>
              <a:rPr sz="2600" i="1" spc="-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dst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927100" lvl="1" indent="-457834">
              <a:lnSpc>
                <a:spcPts val="2625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200" spc="-10" dirty="0">
                <a:latin typeface="Calibri"/>
                <a:cs typeface="Calibri"/>
              </a:rPr>
              <a:t>Open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src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endParaRPr sz="2200" spc="-10" dirty="0">
              <a:latin typeface="Calibri"/>
              <a:cs typeface="Calibri"/>
            </a:endParaRPr>
          </a:p>
          <a:p>
            <a:pPr marL="927100" lvl="1" indent="-457834">
              <a:lnSpc>
                <a:spcPts val="261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200" spc="-10" dirty="0">
                <a:latin typeface="Calibri"/>
                <a:cs typeface="Calibri"/>
              </a:rPr>
              <a:t>Open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dst</a:t>
            </a:r>
            <a:r>
              <a:rPr sz="2200" spc="-10" dirty="0">
                <a:latin typeface="Calibri"/>
                <a:cs typeface="Calibri"/>
              </a:rPr>
              <a:t>, creating </a:t>
            </a:r>
            <a:r>
              <a:rPr sz="2200" spc="-5" dirty="0">
                <a:latin typeface="Calibri"/>
                <a:cs typeface="Calibri"/>
              </a:rPr>
              <a:t>it if it doesn’t </a:t>
            </a:r>
            <a:r>
              <a:rPr sz="2200" spc="-15" dirty="0">
                <a:latin typeface="Calibri"/>
                <a:cs typeface="Calibri"/>
              </a:rPr>
              <a:t>exist, </a:t>
            </a:r>
            <a:r>
              <a:rPr sz="2200" spc="-10" dirty="0">
                <a:latin typeface="Calibri"/>
                <a:cs typeface="Calibri"/>
              </a:rPr>
              <a:t>truncating </a:t>
            </a:r>
            <a:r>
              <a:rPr sz="2200" spc="-5" dirty="0">
                <a:latin typeface="Calibri"/>
                <a:cs typeface="Calibri"/>
              </a:rPr>
              <a:t>it if it does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exist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endParaRPr sz="2200" dirty="0">
              <a:latin typeface="Calibri"/>
              <a:cs typeface="Calibri"/>
            </a:endParaRPr>
          </a:p>
          <a:p>
            <a:pPr marL="927100" lvl="1" indent="-457834">
              <a:lnSpc>
                <a:spcPts val="261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200" spc="-15" dirty="0">
                <a:latin typeface="Calibri"/>
                <a:cs typeface="Calibri"/>
              </a:rPr>
              <a:t>Read </a:t>
            </a:r>
            <a:r>
              <a:rPr sz="2200" spc="-5" dirty="0">
                <a:latin typeface="Calibri"/>
                <a:cs typeface="Calibri"/>
              </a:rPr>
              <a:t>a chunk of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src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into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lang="en-US" sz="2200" spc="50" dirty="0">
                <a:latin typeface="Calibri"/>
                <a:cs typeface="Calibri"/>
              </a:rPr>
              <a:t>an array in </a:t>
            </a:r>
            <a:r>
              <a:rPr sz="2200" spc="-5" dirty="0">
                <a:latin typeface="Calibri"/>
                <a:cs typeface="Calibri"/>
              </a:rPr>
              <a:t>memory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endParaRPr sz="2200" dirty="0">
              <a:latin typeface="Calibri"/>
              <a:cs typeface="Calibri"/>
            </a:endParaRPr>
          </a:p>
          <a:p>
            <a:pPr marL="927100" lvl="1" indent="-457834">
              <a:lnSpc>
                <a:spcPts val="2615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200" spc="-20" dirty="0">
                <a:latin typeface="Calibri"/>
                <a:cs typeface="Calibri"/>
              </a:rPr>
              <a:t>Write </a:t>
            </a:r>
            <a:r>
              <a:rPr sz="2200" spc="-5" dirty="0">
                <a:latin typeface="Calibri"/>
                <a:cs typeface="Calibri"/>
              </a:rPr>
              <a:t>th</a:t>
            </a:r>
            <a:r>
              <a:rPr lang="en-US" sz="2200" spc="-5" dirty="0">
                <a:latin typeface="Calibri"/>
                <a:cs typeface="Calibri"/>
              </a:rPr>
              <a:t>at</a:t>
            </a:r>
            <a:r>
              <a:rPr sz="2200" spc="-5" dirty="0">
                <a:latin typeface="Calibri"/>
                <a:cs typeface="Calibri"/>
              </a:rPr>
              <a:t> chunk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dst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endParaRPr sz="22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927100" lvl="1" indent="-457834">
              <a:lnSpc>
                <a:spcPts val="261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200" spc="-10" dirty="0">
                <a:latin typeface="Calibri"/>
                <a:cs typeface="Calibri"/>
              </a:rPr>
              <a:t>Continue until </a:t>
            </a:r>
            <a:r>
              <a:rPr lang="en-US" sz="2200" spc="-5" dirty="0">
                <a:latin typeface="Calibri"/>
                <a:cs typeface="Calibri"/>
              </a:rPr>
              <a:t>the entire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src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has </a:t>
            </a:r>
            <a:r>
              <a:rPr sz="2200" spc="-10" dirty="0">
                <a:latin typeface="Calibri"/>
                <a:cs typeface="Calibri"/>
              </a:rPr>
              <a:t>been read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5" dirty="0">
                <a:latin typeface="Calibri"/>
                <a:cs typeface="Calibri"/>
              </a:rPr>
              <a:t>written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100" dirty="0">
                <a:latin typeface="Calibri"/>
                <a:cs typeface="Calibri"/>
              </a:rPr>
              <a:t>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dst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endParaRPr sz="22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927100" lvl="1" indent="-457834">
              <a:lnSpc>
                <a:spcPts val="261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200" spc="-5" dirty="0">
                <a:latin typeface="Calibri"/>
                <a:cs typeface="Calibri"/>
              </a:rPr>
              <a:t>Close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dst</a:t>
            </a:r>
            <a:r>
              <a:rPr lang="en-US" sz="2200" spc="-10" dirty="0">
                <a:latin typeface="Calibri"/>
                <a:cs typeface="Calibri"/>
              </a:rPr>
              <a:t>,</a:t>
            </a:r>
            <a:endParaRPr sz="22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927100" lvl="1" indent="-457834">
              <a:lnSpc>
                <a:spcPts val="2630"/>
              </a:lnSpc>
              <a:buAutoNum type="arabicPeriod"/>
              <a:tabLst>
                <a:tab pos="927100" algn="l"/>
                <a:tab pos="927735" algn="l"/>
              </a:tabLst>
            </a:pPr>
            <a:r>
              <a:rPr sz="2200" spc="-5" dirty="0">
                <a:latin typeface="Calibri"/>
                <a:cs typeface="Calibri"/>
              </a:rPr>
              <a:t>Close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src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spc="-10" dirty="0">
              <a:solidFill>
                <a:srgbClr val="0070C0"/>
              </a:solidFill>
              <a:latin typeface="Consolas" panose="020B0609020204030204" pitchFamily="49" charset="0"/>
              <a:cs typeface="Calibri"/>
            </a:endParaRPr>
          </a:p>
          <a:p>
            <a:pPr marL="241300" marR="35306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14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copy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25" dirty="0">
                <a:latin typeface="Calibri"/>
                <a:cs typeface="Calibri"/>
              </a:rPr>
              <a:t>directory,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directory/subdirectories are created </a:t>
            </a:r>
            <a:r>
              <a:rPr sz="2600" dirty="0">
                <a:latin typeface="Calibri"/>
                <a:cs typeface="Calibri"/>
              </a:rPr>
              <a:t>via </a:t>
            </a:r>
            <a:r>
              <a:rPr sz="2400" spc="-1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sz="2400" spc="-1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spc="-15" dirty="0">
                <a:latin typeface="Calibri"/>
                <a:cs typeface="Calibri"/>
              </a:rPr>
              <a:t> 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 each </a:t>
            </a:r>
            <a:r>
              <a:rPr sz="2600" spc="-5" dirty="0">
                <a:latin typeface="Calibri"/>
                <a:cs typeface="Calibri"/>
              </a:rPr>
              <a:t>file therein </a:t>
            </a:r>
            <a:r>
              <a:rPr sz="2600" dirty="0">
                <a:latin typeface="Calibri"/>
                <a:cs typeface="Calibri"/>
              </a:rPr>
              <a:t>is then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copied</a:t>
            </a:r>
            <a:r>
              <a:rPr lang="en-US" sz="2600" spc="-10" dirty="0">
                <a:latin typeface="Calibri"/>
                <a:cs typeface="Calibri"/>
              </a:rPr>
              <a:t> to the new directory.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787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Moving</a:t>
            </a:r>
            <a:r>
              <a:rPr spc="-150" dirty="0"/>
              <a:t> </a:t>
            </a:r>
            <a:r>
              <a:rPr spc="-20" dirty="0"/>
              <a:t>Files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4431"/>
            <a:ext cx="10208261" cy="345222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However, </a:t>
            </a:r>
            <a:r>
              <a:rPr sz="2800" spc="-5" dirty="0">
                <a:latin typeface="Calibri"/>
                <a:cs typeface="Calibri"/>
              </a:rPr>
              <a:t>Unix </a:t>
            </a:r>
            <a:r>
              <a:rPr sz="2800" spc="-15" dirty="0">
                <a:latin typeface="Calibri"/>
                <a:cs typeface="Calibri"/>
              </a:rPr>
              <a:t>provide</a:t>
            </a:r>
            <a:r>
              <a:rPr lang="en-US" sz="2800" spc="-15" dirty="0">
                <a:latin typeface="Calibri"/>
                <a:cs typeface="Calibri"/>
              </a:rPr>
              <a:t>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syscall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moving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&lt;stdio.h&gt;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rename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*oldpath,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char</a:t>
            </a:r>
            <a:r>
              <a:rPr sz="2000" b="1" spc="-8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*newpath);</a:t>
            </a:r>
          </a:p>
          <a:p>
            <a:pPr marL="241300" marR="5080" indent="-228600">
              <a:lnSpc>
                <a:spcPts val="303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successful call renames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oldpath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newpath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(both </a:t>
            </a:r>
            <a:r>
              <a:rPr sz="2800" spc="-15" dirty="0">
                <a:latin typeface="Calibri"/>
                <a:cs typeface="Calibri"/>
              </a:rPr>
              <a:t>must </a:t>
            </a:r>
            <a:r>
              <a:rPr sz="2800" spc="-5" dirty="0">
                <a:latin typeface="Calibri"/>
                <a:cs typeface="Calibri"/>
              </a:rPr>
              <a:t>be on the  same </a:t>
            </a:r>
            <a:r>
              <a:rPr sz="2800" spc="-20" dirty="0">
                <a:latin typeface="Calibri"/>
                <a:cs typeface="Calibri"/>
              </a:rPr>
              <a:t>filesystem, </a:t>
            </a:r>
            <a:r>
              <a:rPr sz="2800" spc="-5" dirty="0">
                <a:latin typeface="Calibri"/>
                <a:cs typeface="Calibri"/>
              </a:rPr>
              <a:t>otherwise the </a:t>
            </a:r>
            <a:r>
              <a:rPr sz="2800" spc="-10" dirty="0">
                <a:latin typeface="Calibri"/>
                <a:cs typeface="Calibri"/>
              </a:rPr>
              <a:t>call will </a:t>
            </a:r>
            <a:r>
              <a:rPr sz="2800" spc="-15" dirty="0">
                <a:latin typeface="Calibri"/>
                <a:cs typeface="Calibri"/>
              </a:rPr>
              <a:t>fail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)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35" dirty="0">
                <a:latin typeface="Calibri"/>
                <a:cs typeface="Calibri"/>
              </a:rPr>
              <a:t>file’s </a:t>
            </a:r>
            <a:r>
              <a:rPr sz="2800" spc="-15" dirty="0">
                <a:latin typeface="Calibri"/>
                <a:cs typeface="Calibri"/>
              </a:rPr>
              <a:t>contents </a:t>
            </a:r>
            <a:r>
              <a:rPr sz="2800" spc="-5" dirty="0">
                <a:latin typeface="Calibri"/>
                <a:cs typeface="Calibri"/>
              </a:rPr>
              <a:t>and  </a:t>
            </a:r>
            <a:r>
              <a:rPr sz="2800" spc="-10" dirty="0">
                <a:latin typeface="Calibri"/>
                <a:cs typeface="Calibri"/>
              </a:rPr>
              <a:t>inode remain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same.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5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success, 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0. On </a:t>
            </a:r>
            <a:r>
              <a:rPr sz="2800" spc="-20" dirty="0">
                <a:latin typeface="Calibri"/>
                <a:cs typeface="Calibri"/>
              </a:rPr>
              <a:t>failure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</a:t>
            </a:r>
            <a:r>
              <a:rPr lang="en-US" sz="2800" spc="-5" dirty="0">
                <a:latin typeface="Calibri"/>
                <a:cs typeface="Calibri"/>
              </a:rPr>
              <a:t>, sets</a:t>
            </a:r>
            <a:r>
              <a:rPr lang="en-US" sz="2800" spc="-6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10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and </a:t>
            </a:r>
            <a:r>
              <a:rPr sz="2800" spc="-10" dirty="0">
                <a:latin typeface="Calibri"/>
                <a:cs typeface="Calibri"/>
              </a:rPr>
              <a:t>doesn’t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change </a:t>
            </a:r>
            <a:r>
              <a:rPr sz="24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oldpath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newpath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0321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Device</a:t>
            </a:r>
            <a:r>
              <a:rPr spc="-155" dirty="0"/>
              <a:t> </a:t>
            </a:r>
            <a:r>
              <a:rPr spc="-35" dirty="0"/>
              <a:t>Nodes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939" y="1793189"/>
            <a:ext cx="10219055" cy="42906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latin typeface="Calibri"/>
                <a:cs typeface="Calibri"/>
              </a:rPr>
              <a:t>Device </a:t>
            </a:r>
            <a:r>
              <a:rPr sz="2800" i="1" spc="-5" dirty="0">
                <a:latin typeface="Calibri"/>
                <a:cs typeface="Calibri"/>
              </a:rPr>
              <a:t>nodes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special files </a:t>
            </a:r>
            <a:r>
              <a:rPr sz="2800" spc="-10" dirty="0">
                <a:latin typeface="Calibri"/>
                <a:cs typeface="Calibri"/>
              </a:rPr>
              <a:t>that allow applications </a:t>
            </a:r>
            <a:r>
              <a:rPr sz="2800" spc="-20" dirty="0">
                <a:latin typeface="Calibri"/>
                <a:cs typeface="Calibri"/>
              </a:rPr>
              <a:t>to interface </a:t>
            </a:r>
            <a:r>
              <a:rPr sz="2800" spc="-5" dirty="0">
                <a:latin typeface="Calibri"/>
                <a:cs typeface="Calibri"/>
              </a:rPr>
              <a:t>with  </a:t>
            </a:r>
            <a:r>
              <a:rPr sz="2800" spc="-10" dirty="0">
                <a:latin typeface="Calibri"/>
                <a:cs typeface="Calibri"/>
              </a:rPr>
              <a:t>device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drivers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21005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When an </a:t>
            </a:r>
            <a:r>
              <a:rPr sz="2800" spc="-10" dirty="0">
                <a:latin typeface="Calibri"/>
                <a:cs typeface="Calibri"/>
              </a:rPr>
              <a:t>application </a:t>
            </a:r>
            <a:r>
              <a:rPr sz="2800" spc="-15" dirty="0">
                <a:latin typeface="Calibri"/>
                <a:cs typeface="Calibri"/>
              </a:rPr>
              <a:t>performs </a:t>
            </a:r>
            <a:r>
              <a:rPr sz="2800" spc="-5" dirty="0">
                <a:latin typeface="Calibri"/>
                <a:cs typeface="Calibri"/>
              </a:rPr>
              <a:t>I/O on a </a:t>
            </a:r>
            <a:r>
              <a:rPr sz="2800" spc="-10" dirty="0">
                <a:latin typeface="Calibri"/>
                <a:cs typeface="Calibri"/>
              </a:rPr>
              <a:t>device node,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 </a:t>
            </a:r>
            <a:r>
              <a:rPr sz="2800" spc="-5" dirty="0">
                <a:latin typeface="Calibri"/>
                <a:cs typeface="Calibri"/>
              </a:rPr>
              <a:t>passes such </a:t>
            </a:r>
            <a:r>
              <a:rPr sz="2800" spc="-15" dirty="0">
                <a:latin typeface="Calibri"/>
                <a:cs typeface="Calibri"/>
              </a:rPr>
              <a:t>requests 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device </a:t>
            </a:r>
            <a:r>
              <a:rPr sz="2800" spc="-45" dirty="0">
                <a:latin typeface="Calibri"/>
                <a:cs typeface="Calibri"/>
              </a:rPr>
              <a:t>driver,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10" dirty="0">
                <a:latin typeface="Calibri"/>
                <a:cs typeface="Calibri"/>
              </a:rPr>
              <a:t>handles </a:t>
            </a:r>
            <a:r>
              <a:rPr sz="2800" spc="-5" dirty="0">
                <a:latin typeface="Calibri"/>
                <a:cs typeface="Calibri"/>
              </a:rPr>
              <a:t>the I/O and 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results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user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53085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standard </a:t>
            </a:r>
            <a:r>
              <a:rPr sz="2800" spc="-5" dirty="0">
                <a:latin typeface="Calibri"/>
                <a:cs typeface="Calibri"/>
              </a:rPr>
              <a:t>mechanism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accessing </a:t>
            </a:r>
            <a:r>
              <a:rPr sz="2800" spc="-20" dirty="0">
                <a:latin typeface="Calibri"/>
                <a:cs typeface="Calibri"/>
              </a:rPr>
              <a:t>hardware </a:t>
            </a:r>
            <a:r>
              <a:rPr sz="2800" spc="-10" dirty="0">
                <a:latin typeface="Calibri"/>
                <a:cs typeface="Calibri"/>
              </a:rPr>
              <a:t>on  </a:t>
            </a:r>
            <a:r>
              <a:rPr sz="2800" spc="-5" dirty="0">
                <a:latin typeface="Calibri"/>
                <a:cs typeface="Calibri"/>
              </a:rPr>
              <a:t>Unix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6921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identify device </a:t>
            </a:r>
            <a:r>
              <a:rPr sz="2800" spc="-45" dirty="0">
                <a:latin typeface="Calibri"/>
                <a:cs typeface="Calibri"/>
              </a:rPr>
              <a:t>driver, </a:t>
            </a:r>
            <a:r>
              <a:rPr sz="2800" spc="-5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device node </a:t>
            </a:r>
            <a:r>
              <a:rPr sz="2800" spc="-5" dirty="0">
                <a:latin typeface="Calibri"/>
                <a:cs typeface="Calibri"/>
              </a:rPr>
              <a:t>is assigned </a:t>
            </a:r>
            <a:r>
              <a:rPr sz="2800" spc="-10" dirty="0">
                <a:latin typeface="Calibri"/>
                <a:cs typeface="Calibri"/>
              </a:rPr>
              <a:t>two numerical  values </a:t>
            </a:r>
            <a:r>
              <a:rPr sz="2800" spc="-5" dirty="0">
                <a:latin typeface="Calibri"/>
                <a:cs typeface="Calibri"/>
              </a:rPr>
              <a:t>– a </a:t>
            </a:r>
            <a:r>
              <a:rPr sz="2800" i="1" spc="-5" dirty="0">
                <a:latin typeface="Calibri"/>
                <a:cs typeface="Calibri"/>
              </a:rPr>
              <a:t>major </a:t>
            </a:r>
            <a:r>
              <a:rPr sz="2800" i="1" spc="-10" dirty="0">
                <a:latin typeface="Calibri"/>
                <a:cs typeface="Calibri"/>
              </a:rPr>
              <a:t>number </a:t>
            </a:r>
            <a:r>
              <a:rPr sz="2800" spc="-5" dirty="0">
                <a:latin typeface="Calibri"/>
                <a:cs typeface="Calibri"/>
              </a:rPr>
              <a:t>and a </a:t>
            </a:r>
            <a:r>
              <a:rPr sz="2800" i="1" spc="-5" dirty="0">
                <a:latin typeface="Calibri"/>
                <a:cs typeface="Calibri"/>
              </a:rPr>
              <a:t>minor </a:t>
            </a:r>
            <a:r>
              <a:rPr sz="2800" i="1" spc="-40" dirty="0">
                <a:latin typeface="Calibri"/>
                <a:cs typeface="Calibri"/>
              </a:rPr>
              <a:t>number. </a:t>
            </a:r>
            <a:r>
              <a:rPr sz="2800" spc="-10" dirty="0">
                <a:latin typeface="Calibri"/>
                <a:cs typeface="Calibri"/>
              </a:rPr>
              <a:t>The pair </a:t>
            </a:r>
            <a:r>
              <a:rPr sz="2800" spc="-5" dirty="0">
                <a:latin typeface="Calibri"/>
                <a:cs typeface="Calibri"/>
              </a:rPr>
              <a:t>map</a:t>
            </a:r>
            <a:r>
              <a:rPr lang="en-US" sz="2800" spc="-5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 </a:t>
            </a:r>
            <a:r>
              <a:rPr sz="2800" spc="-10" dirty="0">
                <a:latin typeface="Calibri"/>
                <a:cs typeface="Calibri"/>
              </a:rPr>
              <a:t>specific device driver </a:t>
            </a:r>
            <a:r>
              <a:rPr sz="2800" spc="-5" dirty="0">
                <a:latin typeface="Calibri"/>
                <a:cs typeface="Calibri"/>
              </a:rPr>
              <a:t>loaded </a:t>
            </a:r>
            <a:r>
              <a:rPr sz="2800" spc="-20" dirty="0">
                <a:latin typeface="Calibri"/>
                <a:cs typeface="Calibri"/>
              </a:rPr>
              <a:t>into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kernel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695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Special Device</a:t>
            </a:r>
            <a:r>
              <a:rPr spc="-180" dirty="0"/>
              <a:t> </a:t>
            </a:r>
            <a:r>
              <a:rPr spc="-35" dirty="0"/>
              <a:t>Nodes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6938" y="1759661"/>
            <a:ext cx="11275062" cy="42224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3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part of the </a:t>
            </a:r>
            <a:r>
              <a:rPr sz="2800" spc="-10" dirty="0">
                <a:latin typeface="Calibri"/>
                <a:cs typeface="Calibri"/>
              </a:rPr>
              <a:t>Linux development </a:t>
            </a:r>
            <a:r>
              <a:rPr sz="2800" spc="-15" dirty="0">
                <a:latin typeface="Calibri"/>
                <a:cs typeface="Calibri"/>
              </a:rPr>
              <a:t>environment</a:t>
            </a:r>
            <a:r>
              <a:rPr lang="en-US" sz="2800" spc="-15" dirty="0">
                <a:latin typeface="Calibri"/>
                <a:cs typeface="Calibri"/>
              </a:rPr>
              <a:t> and 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part of the </a:t>
            </a:r>
            <a:r>
              <a:rPr sz="2800" spc="-10" dirty="0">
                <a:latin typeface="Calibri"/>
                <a:cs typeface="Calibri"/>
              </a:rPr>
              <a:t>Linux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ABI</a:t>
            </a:r>
            <a:r>
              <a:rPr lang="en-US" sz="2800" spc="-5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698500" marR="85090" lvl="1" indent="-228600">
              <a:lnSpc>
                <a:spcPts val="2300"/>
              </a:lnSpc>
              <a:spcBef>
                <a:spcPts val="53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i="1" spc="-5" dirty="0">
                <a:latin typeface="Calibri"/>
                <a:cs typeface="Calibri"/>
              </a:rPr>
              <a:t>null </a:t>
            </a:r>
            <a:r>
              <a:rPr sz="2400" i="1" spc="-10" dirty="0">
                <a:latin typeface="Calibri"/>
                <a:cs typeface="Calibri"/>
              </a:rPr>
              <a:t>device </a:t>
            </a:r>
            <a:r>
              <a:rPr sz="2400" spc="-5" dirty="0">
                <a:latin typeface="Calibri"/>
                <a:cs typeface="Calibri"/>
              </a:rPr>
              <a:t>(major #1, </a:t>
            </a:r>
            <a:r>
              <a:rPr sz="2400" dirty="0">
                <a:latin typeface="Calibri"/>
                <a:cs typeface="Calibri"/>
              </a:rPr>
              <a:t>minor </a:t>
            </a:r>
            <a:r>
              <a:rPr sz="2400" spc="-5" dirty="0">
                <a:latin typeface="Calibri"/>
                <a:cs typeface="Calibri"/>
              </a:rPr>
              <a:t>#3):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/dev/null</a:t>
            </a:r>
            <a:r>
              <a:rPr sz="2400" spc="-5" dirty="0">
                <a:latin typeface="Calibri"/>
                <a:cs typeface="Calibri"/>
              </a:rPr>
              <a:t>. 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silently discards </a:t>
            </a:r>
            <a:r>
              <a:rPr lang="en-US" sz="2400" dirty="0">
                <a:latin typeface="Calibri"/>
                <a:cs typeface="Calibri"/>
              </a:rPr>
              <a:t>any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writes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device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all </a:t>
            </a:r>
            <a:r>
              <a:rPr lang="en-US"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reads return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200" spc="-15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EOF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698500" marR="363855" lvl="1" indent="-228600">
              <a:lnSpc>
                <a:spcPts val="2300"/>
              </a:lnSpc>
              <a:spcBef>
                <a:spcPts val="500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i="1" spc="-10" dirty="0">
                <a:latin typeface="Calibri"/>
                <a:cs typeface="Calibri"/>
              </a:rPr>
              <a:t>zero device </a:t>
            </a:r>
            <a:r>
              <a:rPr sz="2400" spc="-5" dirty="0">
                <a:latin typeface="Calibri"/>
                <a:cs typeface="Calibri"/>
              </a:rPr>
              <a:t>(major #1, </a:t>
            </a:r>
            <a:r>
              <a:rPr sz="2400" dirty="0">
                <a:latin typeface="Calibri"/>
                <a:cs typeface="Calibri"/>
              </a:rPr>
              <a:t>minor </a:t>
            </a:r>
            <a:r>
              <a:rPr sz="2400" spc="-5" dirty="0">
                <a:latin typeface="Calibri"/>
                <a:cs typeface="Calibri"/>
              </a:rPr>
              <a:t>#5):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/dev/zero</a:t>
            </a:r>
            <a:r>
              <a:rPr sz="2400" spc="-15" dirty="0">
                <a:latin typeface="Calibri"/>
                <a:cs typeface="Calibri"/>
              </a:rPr>
              <a:t>.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drops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writes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but reading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lang="en-US" sz="2400" spc="-5" dirty="0">
                <a:latin typeface="Calibri"/>
                <a:cs typeface="Calibri"/>
              </a:rPr>
              <a:t>v</a:t>
            </a:r>
            <a:r>
              <a:rPr sz="2400" spc="-5" dirty="0">
                <a:latin typeface="Calibri"/>
                <a:cs typeface="Calibri"/>
              </a:rPr>
              <a:t>ice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lang="en-US" sz="2400" spc="-1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infinite </a:t>
            </a:r>
            <a:r>
              <a:rPr sz="2400" spc="-15" dirty="0">
                <a:latin typeface="Calibri"/>
                <a:cs typeface="Calibri"/>
              </a:rPr>
              <a:t>stream </a:t>
            </a:r>
            <a:r>
              <a:rPr sz="2400" spc="-5" dirty="0">
                <a:latin typeface="Calibri"/>
                <a:cs typeface="Calibri"/>
              </a:rPr>
              <a:t>of null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bytes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316230" lvl="1" indent="-228600">
              <a:lnSpc>
                <a:spcPts val="2300"/>
              </a:lnSpc>
              <a:spcBef>
                <a:spcPts val="515"/>
              </a:spcBef>
              <a:buFont typeface="Arial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The full device </a:t>
            </a:r>
            <a:r>
              <a:rPr sz="2400" dirty="0">
                <a:latin typeface="Calibri"/>
                <a:cs typeface="Calibri"/>
              </a:rPr>
              <a:t>(major </a:t>
            </a:r>
            <a:r>
              <a:rPr sz="2400" spc="-5" dirty="0">
                <a:latin typeface="Calibri"/>
                <a:cs typeface="Calibri"/>
              </a:rPr>
              <a:t>#1, </a:t>
            </a:r>
            <a:r>
              <a:rPr sz="2400" dirty="0">
                <a:latin typeface="Calibri"/>
                <a:cs typeface="Calibri"/>
              </a:rPr>
              <a:t>minor </a:t>
            </a:r>
            <a:r>
              <a:rPr sz="2400" spc="-5" dirty="0">
                <a:latin typeface="Calibri"/>
                <a:cs typeface="Calibri"/>
              </a:rPr>
              <a:t>#7):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/dev/full</a:t>
            </a:r>
            <a:r>
              <a:rPr sz="2400" spc="-5" dirty="0">
                <a:latin typeface="Calibri"/>
                <a:cs typeface="Calibri"/>
              </a:rPr>
              <a:t>. </a:t>
            </a:r>
            <a:r>
              <a:rPr sz="2400" spc="-10" dirty="0">
                <a:latin typeface="Calibri"/>
                <a:cs typeface="Calibri"/>
              </a:rPr>
              <a:t>Reads return </a:t>
            </a:r>
            <a:r>
              <a:rPr sz="2400" spc="-5" dirty="0">
                <a:latin typeface="Calibri"/>
                <a:cs typeface="Calibri"/>
              </a:rPr>
              <a:t>null </a:t>
            </a:r>
            <a:r>
              <a:rPr sz="2400" spc="-10" dirty="0">
                <a:latin typeface="Calibri"/>
                <a:cs typeface="Calibri"/>
              </a:rPr>
              <a:t>characters. </a:t>
            </a:r>
            <a:r>
              <a:rPr sz="2400" dirty="0">
                <a:latin typeface="Calibri"/>
                <a:cs typeface="Calibri"/>
              </a:rPr>
              <a:t>But </a:t>
            </a:r>
            <a:r>
              <a:rPr sz="2400" spc="-5" dirty="0">
                <a:latin typeface="Calibri"/>
                <a:cs typeface="Calibri"/>
              </a:rPr>
              <a:t>writes </a:t>
            </a:r>
            <a:r>
              <a:rPr sz="2400" spc="-20" dirty="0">
                <a:latin typeface="Calibri"/>
                <a:cs typeface="Calibri"/>
              </a:rPr>
              <a:t>always </a:t>
            </a:r>
            <a:r>
              <a:rPr sz="2400" spc="-5" dirty="0">
                <a:latin typeface="Calibri"/>
                <a:cs typeface="Calibri"/>
              </a:rPr>
              <a:t>trigger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200" spc="-15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ENOSPC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error </a:t>
            </a:r>
            <a:r>
              <a:rPr sz="2400" spc="-5" dirty="0">
                <a:latin typeface="Calibri"/>
                <a:cs typeface="Calibri"/>
              </a:rPr>
              <a:t>(no space), signifying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underlying device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full</a:t>
            </a:r>
            <a:r>
              <a:rPr lang="en-US" sz="2400" spc="-5" dirty="0">
                <a:latin typeface="Calibri"/>
                <a:cs typeface="Calibri"/>
              </a:rPr>
              <a:t>.</a:t>
            </a:r>
          </a:p>
          <a:p>
            <a:pPr marL="698500" marR="316230" lvl="1" indent="-228600">
              <a:lnSpc>
                <a:spcPts val="2300"/>
              </a:lnSpc>
              <a:spcBef>
                <a:spcPts val="515"/>
              </a:spcBef>
              <a:buFont typeface="Arial"/>
              <a:buChar char="•"/>
              <a:tabLst>
                <a:tab pos="699135" algn="l"/>
              </a:tabLst>
            </a:pPr>
            <a:r>
              <a:rPr lang="en-US" sz="2400" spc="-5" dirty="0">
                <a:latin typeface="Calibri"/>
                <a:cs typeface="Calibri"/>
              </a:rPr>
              <a:t>See more at </a:t>
            </a:r>
            <a:r>
              <a:rPr lang="en-US" sz="2400" spc="-5" dirty="0">
                <a:latin typeface="Calibri"/>
                <a:cs typeface="Calibri"/>
                <a:hlinkClick r:id="rId2"/>
              </a:rPr>
              <a:t>https://www.kernel.org/doc/Documentation/admin-guide/devices.txt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These </a:t>
            </a:r>
            <a:r>
              <a:rPr sz="2800" spc="-10" dirty="0">
                <a:latin typeface="Calibri"/>
                <a:cs typeface="Calibri"/>
              </a:rPr>
              <a:t>device </a:t>
            </a:r>
            <a:r>
              <a:rPr sz="2800" spc="-25" dirty="0">
                <a:latin typeface="Calibri"/>
                <a:cs typeface="Calibri"/>
              </a:rPr>
              <a:t>have </a:t>
            </a:r>
            <a:r>
              <a:rPr sz="2800" spc="-10" dirty="0">
                <a:latin typeface="Calibri"/>
                <a:cs typeface="Calibri"/>
              </a:rPr>
              <a:t>varied purpose</a:t>
            </a:r>
            <a:r>
              <a:rPr lang="en-US" sz="2800" spc="-10" dirty="0">
                <a:latin typeface="Calibri"/>
                <a:cs typeface="Calibri"/>
              </a:rPr>
              <a:t>s</a:t>
            </a:r>
            <a:r>
              <a:rPr sz="2800" spc="-10" dirty="0">
                <a:latin typeface="Calibri"/>
                <a:cs typeface="Calibri"/>
              </a:rPr>
              <a:t>. They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useful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testing how </a:t>
            </a:r>
            <a:r>
              <a:rPr sz="2800" spc="-5" dirty="0">
                <a:latin typeface="Calibri"/>
                <a:cs typeface="Calibri"/>
              </a:rPr>
              <a:t>an  </a:t>
            </a:r>
            <a:r>
              <a:rPr sz="2800" spc="-10" dirty="0">
                <a:latin typeface="Calibri"/>
                <a:cs typeface="Calibri"/>
              </a:rPr>
              <a:t>application handles corner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5" dirty="0">
                <a:latin typeface="Calibri"/>
                <a:cs typeface="Calibri"/>
              </a:rPr>
              <a:t>problem </a:t>
            </a:r>
            <a:r>
              <a:rPr sz="2800" spc="-5" dirty="0">
                <a:latin typeface="Calibri"/>
                <a:cs typeface="Calibri"/>
              </a:rPr>
              <a:t>cases – </a:t>
            </a:r>
            <a:r>
              <a:rPr sz="2800" dirty="0">
                <a:latin typeface="Calibri"/>
                <a:cs typeface="Calibri"/>
              </a:rPr>
              <a:t>e.g.</a:t>
            </a:r>
            <a:r>
              <a:rPr lang="en-US" sz="2800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full </a:t>
            </a:r>
            <a:r>
              <a:rPr sz="2800" spc="-20" dirty="0">
                <a:latin typeface="Calibri"/>
                <a:cs typeface="Calibri"/>
              </a:rPr>
              <a:t>filesystem. </a:t>
            </a:r>
            <a:r>
              <a:rPr sz="2800" spc="-5" dirty="0">
                <a:latin typeface="Calibri"/>
                <a:cs typeface="Calibri"/>
              </a:rPr>
              <a:t>Null and </a:t>
            </a:r>
            <a:r>
              <a:rPr sz="2800" spc="-30" dirty="0">
                <a:latin typeface="Calibri"/>
                <a:cs typeface="Calibri"/>
              </a:rPr>
              <a:t>zero </a:t>
            </a:r>
            <a:r>
              <a:rPr sz="2800" spc="-10" dirty="0">
                <a:latin typeface="Calibri"/>
                <a:cs typeface="Calibri"/>
              </a:rPr>
              <a:t>devices </a:t>
            </a:r>
            <a:r>
              <a:rPr sz="2800" spc="-15" dirty="0">
                <a:latin typeface="Calibri"/>
                <a:cs typeface="Calibri"/>
              </a:rPr>
              <a:t>provide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no-overhead </a:t>
            </a:r>
            <a:r>
              <a:rPr sz="2800" spc="-30" dirty="0">
                <a:latin typeface="Calibri"/>
                <a:cs typeface="Calibri"/>
              </a:rPr>
              <a:t>way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discard </a:t>
            </a:r>
            <a:r>
              <a:rPr sz="2800" spc="-20" dirty="0">
                <a:latin typeface="Calibri"/>
                <a:cs typeface="Calibri"/>
              </a:rPr>
              <a:t>unwanted  </a:t>
            </a:r>
            <a:r>
              <a:rPr sz="2800" spc="-5" dirty="0">
                <a:latin typeface="Calibri"/>
                <a:cs typeface="Calibri"/>
              </a:rPr>
              <a:t>I/O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09600" y="1406254"/>
            <a:ext cx="5269344" cy="4842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9984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An </a:t>
            </a:r>
            <a:r>
              <a:rPr spc="-45" dirty="0"/>
              <a:t>Example </a:t>
            </a:r>
            <a:r>
              <a:rPr lang="en-US" spc="-35" dirty="0"/>
              <a:t>of</a:t>
            </a:r>
            <a:r>
              <a:rPr spc="-35" dirty="0"/>
              <a:t> </a:t>
            </a:r>
            <a:r>
              <a:rPr spc="-20" dirty="0"/>
              <a:t>Eject</a:t>
            </a:r>
            <a:r>
              <a:rPr lang="en-US" spc="-20" dirty="0"/>
              <a:t>ing</a:t>
            </a:r>
            <a:r>
              <a:rPr spc="-20" dirty="0"/>
              <a:t> the</a:t>
            </a:r>
            <a:r>
              <a:rPr spc="-320" dirty="0"/>
              <a:t> </a:t>
            </a:r>
            <a:r>
              <a:rPr spc="-45" dirty="0"/>
              <a:t>CD-ROM</a:t>
            </a:r>
          </a:p>
        </p:txBody>
      </p:sp>
      <p:sp>
        <p:nvSpPr>
          <p:cNvPr id="4" name="object 4"/>
          <p:cNvSpPr/>
          <p:nvPr/>
        </p:nvSpPr>
        <p:spPr>
          <a:xfrm>
            <a:off x="6089153" y="1611706"/>
            <a:ext cx="5417047" cy="46366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1351</TotalTime>
  <Words>5056</Words>
  <Application>Microsoft Office PowerPoint</Application>
  <PresentationFormat>Widescreen</PresentationFormat>
  <Paragraphs>342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Courier New</vt:lpstr>
      <vt:lpstr>Times New Roman</vt:lpstr>
      <vt:lpstr>Wingdings</vt:lpstr>
      <vt:lpstr>Office Theme</vt:lpstr>
      <vt:lpstr>Linux System Programming Talking directly to the kernel and C library</vt:lpstr>
      <vt:lpstr>Ch8 File and Directory Management</vt:lpstr>
      <vt:lpstr>The Stat Family</vt:lpstr>
      <vt:lpstr>The stat Structure (defined in &lt;bits/stat.h&gt; but included in &lt;sys/stat.h&gt;)</vt:lpstr>
      <vt:lpstr>PowerPoint Presentation</vt:lpstr>
      <vt:lpstr>Permissions</vt:lpstr>
      <vt:lpstr>Examples of Setting Permissions</vt:lpstr>
      <vt:lpstr>Ownership</vt:lpstr>
      <vt:lpstr>Example of chown()</vt:lpstr>
      <vt:lpstr>Extended Attributes</vt:lpstr>
      <vt:lpstr>Keys and Values</vt:lpstr>
      <vt:lpstr>Extended Attribute Namespace</vt:lpstr>
      <vt:lpstr>Extended Attribute Operations</vt:lpstr>
      <vt:lpstr>Retrieving an Extended Attribute</vt:lpstr>
      <vt:lpstr>Setting an Extended Attribute</vt:lpstr>
      <vt:lpstr>Listing the Extended Attributes on a File</vt:lpstr>
      <vt:lpstr>Removing an Extended Attribute</vt:lpstr>
      <vt:lpstr>Directories</vt:lpstr>
      <vt:lpstr>Directories (cont’)</vt:lpstr>
      <vt:lpstr>The Current Working Directory (cwd)</vt:lpstr>
      <vt:lpstr>Example of getcwd()</vt:lpstr>
      <vt:lpstr>Changing the current working directory (cwd)</vt:lpstr>
      <vt:lpstr>Saving cwd and  Restoring to It Later</vt:lpstr>
      <vt:lpstr>Creating Directories</vt:lpstr>
      <vt:lpstr>Removing Directories</vt:lpstr>
      <vt:lpstr>Reading a Directory’s Contents</vt:lpstr>
      <vt:lpstr>Reading a Directory’s Contents – Cont’</vt:lpstr>
      <vt:lpstr>Reading a Directory’s Contents – Cont’</vt:lpstr>
      <vt:lpstr>Closing the directory stream  and an example</vt:lpstr>
      <vt:lpstr>Links</vt:lpstr>
      <vt:lpstr>Creating Hard Links</vt:lpstr>
      <vt:lpstr>Creating Symbolic Links</vt:lpstr>
      <vt:lpstr>Unlinking</vt:lpstr>
      <vt:lpstr>Copying Files</vt:lpstr>
      <vt:lpstr>Moving Files</vt:lpstr>
      <vt:lpstr>Device Nodes</vt:lpstr>
      <vt:lpstr>Special Device Nodes</vt:lpstr>
      <vt:lpstr>An Example of Ejecting the CD-ROM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242</cp:revision>
  <dcterms:created xsi:type="dcterms:W3CDTF">2021-02-04T01:13:54Z</dcterms:created>
  <dcterms:modified xsi:type="dcterms:W3CDTF">2023-04-24T09:38:29Z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