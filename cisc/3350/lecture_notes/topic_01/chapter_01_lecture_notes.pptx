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8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87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8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5175" y="2132428"/>
            <a:ext cx="8121649" cy="176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93189"/>
            <a:ext cx="5136515" cy="3903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691383" y="675131"/>
            <a:ext cx="6809232" cy="5501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90220"/>
            <a:ext cx="701167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36801"/>
            <a:ext cx="8191500" cy="3598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66438" y="6464985"/>
            <a:ext cx="36607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ux_(mascot)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love.org/" TargetMode="External"/><Relationship Id="rId2" Type="http://schemas.openxmlformats.org/officeDocument/2006/relationships/hyperlink" Target="https://www.gnome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rmlove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6893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2905"/>
              </a:spcBef>
            </a:pPr>
            <a:r>
              <a:rPr spc="-35" dirty="0"/>
              <a:t>Linux </a:t>
            </a:r>
            <a:r>
              <a:rPr spc="-80" dirty="0"/>
              <a:t>System</a:t>
            </a:r>
            <a:r>
              <a:rPr spc="-265" dirty="0"/>
              <a:t> </a:t>
            </a:r>
            <a:r>
              <a:rPr spc="-80" dirty="0"/>
              <a:t>Programming</a:t>
            </a:r>
          </a:p>
          <a:p>
            <a:pPr marL="8255" marR="3175" algn="ctr">
              <a:lnSpc>
                <a:spcPct val="100000"/>
              </a:lnSpc>
              <a:spcBef>
                <a:spcPts val="1025"/>
              </a:spcBef>
            </a:pPr>
            <a:r>
              <a:rPr sz="2200" b="0" spc="-30" dirty="0">
                <a:solidFill>
                  <a:srgbClr val="000000"/>
                </a:solidFill>
                <a:latin typeface="Calibri"/>
                <a:cs typeface="Calibri"/>
              </a:rPr>
              <a:t>Talking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directly </a:t>
            </a:r>
            <a:r>
              <a:rPr sz="2200" b="0" spc="-20" dirty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200" b="0" spc="-15" dirty="0">
                <a:solidFill>
                  <a:srgbClr val="000000"/>
                </a:solidFill>
                <a:latin typeface="Calibri"/>
                <a:cs typeface="Calibri"/>
              </a:rPr>
              <a:t>kernel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and C</a:t>
            </a:r>
            <a:r>
              <a:rPr sz="2200" b="0" spc="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library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1066801" y="4534027"/>
            <a:ext cx="1005839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4000" spc="-15" dirty="0">
                <a:latin typeface="Calibri"/>
                <a:cs typeface="Calibri"/>
              </a:rPr>
              <a:t>Chapter 1 – </a:t>
            </a:r>
            <a:r>
              <a:rPr sz="4000" spc="-15" dirty="0">
                <a:latin typeface="Calibri"/>
                <a:cs typeface="Calibri"/>
              </a:rPr>
              <a:t>Introduction</a:t>
            </a:r>
            <a:r>
              <a:rPr lang="en-US" sz="4000" spc="-15" dirty="0">
                <a:latin typeface="Calibri"/>
                <a:cs typeface="Calibri"/>
              </a:rPr>
              <a:t> and Essential Concepts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920357-D484-F27A-9B2E-976EBF1DCF7B}"/>
              </a:ext>
            </a:extLst>
          </p:cNvPr>
          <p:cNvSpPr txBox="1"/>
          <p:nvPr/>
        </p:nvSpPr>
        <p:spPr>
          <a:xfrm>
            <a:off x="2776854" y="6019800"/>
            <a:ext cx="663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Adapted from slides of </a:t>
            </a:r>
            <a:r>
              <a:rPr lang="en-US" b="1" dirty="0"/>
              <a:t>Professor Yongqing Xiang </a:t>
            </a:r>
            <a:r>
              <a:rPr lang="en-US" dirty="0"/>
              <a:t>of Brooklyn College.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433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Why </a:t>
            </a:r>
            <a:r>
              <a:rPr spc="-20" dirty="0"/>
              <a:t>this</a:t>
            </a:r>
            <a:r>
              <a:rPr spc="-155" dirty="0"/>
              <a:t> </a:t>
            </a:r>
            <a:r>
              <a:rPr spc="-30" dirty="0"/>
              <a:t>book?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56565"/>
            <a:ext cx="10132061" cy="423513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5" dirty="0">
                <a:latin typeface="Calibri"/>
                <a:cs typeface="Calibri"/>
              </a:rPr>
              <a:t>is the </a:t>
            </a:r>
            <a:r>
              <a:rPr sz="2800" spc="-10" dirty="0">
                <a:latin typeface="Calibri"/>
                <a:cs typeface="Calibri"/>
              </a:rPr>
              <a:t>most </a:t>
            </a:r>
            <a:r>
              <a:rPr sz="2800" spc="-15" dirty="0">
                <a:latin typeface="Calibri"/>
                <a:cs typeface="Calibri"/>
              </a:rPr>
              <a:t>flexible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powerful </a:t>
            </a:r>
            <a:r>
              <a:rPr sz="2800" spc="-5" dirty="0">
                <a:latin typeface="Calibri"/>
                <a:cs typeface="Calibri"/>
              </a:rPr>
              <a:t>OS </a:t>
            </a:r>
            <a:r>
              <a:rPr sz="2800" spc="-10" dirty="0">
                <a:latin typeface="Calibri"/>
                <a:cs typeface="Calibri"/>
              </a:rPr>
              <a:t>ever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created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Running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cell </a:t>
            </a:r>
            <a:r>
              <a:rPr sz="2400" spc="-5" dirty="0">
                <a:latin typeface="Calibri"/>
                <a:cs typeface="Calibri"/>
              </a:rPr>
              <a:t>phones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&gt; 90%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30" dirty="0">
                <a:latin typeface="Calibri"/>
                <a:cs typeface="Calibri"/>
              </a:rPr>
              <a:t>world’s </a:t>
            </a:r>
            <a:r>
              <a:rPr sz="2400" spc="-15" dirty="0">
                <a:latin typeface="Calibri"/>
                <a:cs typeface="Calibri"/>
              </a:rPr>
              <a:t>top </a:t>
            </a:r>
            <a:r>
              <a:rPr sz="2400" spc="-5" dirty="0">
                <a:latin typeface="Calibri"/>
                <a:cs typeface="Calibri"/>
              </a:rPr>
              <a:t>500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supercomputers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No </a:t>
            </a:r>
            <a:r>
              <a:rPr sz="2400" spc="-5" dirty="0">
                <a:latin typeface="Calibri"/>
                <a:cs typeface="Calibri"/>
              </a:rPr>
              <a:t>other OS scales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10" dirty="0">
                <a:latin typeface="Calibri"/>
                <a:cs typeface="Calibri"/>
              </a:rPr>
              <a:t>well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accommodates </a:t>
            </a:r>
            <a:r>
              <a:rPr sz="2400" spc="-5" dirty="0">
                <a:latin typeface="Calibri"/>
                <a:cs typeface="Calibri"/>
              </a:rPr>
              <a:t>so </a:t>
            </a:r>
            <a:r>
              <a:rPr sz="2400" spc="-15" dirty="0">
                <a:latin typeface="Calibri"/>
                <a:cs typeface="Calibri"/>
              </a:rPr>
              <a:t>many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hardware</a:t>
            </a:r>
            <a:r>
              <a:rPr sz="2400" spc="-20" dirty="0">
                <a:latin typeface="Calibri"/>
                <a:cs typeface="Calibri"/>
              </a:rPr>
              <a:t>/env</a:t>
            </a:r>
            <a:r>
              <a:rPr lang="en-US" sz="2400" spc="-20" dirty="0">
                <a:latin typeface="Calibri"/>
                <a:cs typeface="Calibri"/>
              </a:rPr>
              <a:t>ironments.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Code running in </a:t>
            </a:r>
            <a:r>
              <a:rPr sz="2800" spc="-10" dirty="0">
                <a:latin typeface="Calibri"/>
                <a:cs typeface="Calibri"/>
              </a:rPr>
              <a:t>Kernel </a:t>
            </a:r>
            <a:r>
              <a:rPr sz="2800" spc="-5" dirty="0">
                <a:latin typeface="Calibri"/>
                <a:cs typeface="Calibri"/>
              </a:rPr>
              <a:t>space and User space need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User space </a:t>
            </a:r>
            <a:r>
              <a:rPr sz="2400" spc="-10" dirty="0">
                <a:latin typeface="Calibri"/>
                <a:cs typeface="Calibri"/>
              </a:rPr>
              <a:t>code </a:t>
            </a:r>
            <a:r>
              <a:rPr sz="2400" spc="-5" dirty="0">
                <a:latin typeface="Calibri"/>
                <a:cs typeface="Calibri"/>
              </a:rPr>
              <a:t>need</a:t>
            </a:r>
            <a:r>
              <a:rPr lang="en-US" sz="2400" spc="-5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kernel’s </a:t>
            </a:r>
            <a:r>
              <a:rPr sz="2400" dirty="0">
                <a:latin typeface="Calibri"/>
                <a:cs typeface="Calibri"/>
              </a:rPr>
              <a:t>services via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5" dirty="0">
                <a:latin typeface="Calibri"/>
                <a:cs typeface="Calibri"/>
              </a:rPr>
              <a:t> calls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Kernel </a:t>
            </a:r>
            <a:r>
              <a:rPr sz="2400" spc="-5" dirty="0">
                <a:latin typeface="Calibri"/>
                <a:cs typeface="Calibri"/>
              </a:rPr>
              <a:t>need</a:t>
            </a:r>
            <a:r>
              <a:rPr lang="en-US" sz="2400" spc="-5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user space </a:t>
            </a:r>
            <a:r>
              <a:rPr sz="2400" spc="-10" dirty="0">
                <a:latin typeface="Calibri"/>
                <a:cs typeface="Calibri"/>
              </a:rPr>
              <a:t>code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useful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platform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This book is all about </a:t>
            </a:r>
            <a:r>
              <a:rPr sz="2800" spc="-30" dirty="0">
                <a:latin typeface="Calibri"/>
                <a:cs typeface="Calibri"/>
              </a:rPr>
              <a:t>system </a:t>
            </a:r>
            <a:r>
              <a:rPr sz="2800" spc="-10" dirty="0">
                <a:latin typeface="Calibri"/>
                <a:cs typeface="Calibri"/>
              </a:rPr>
              <a:t>calls </a:t>
            </a:r>
            <a:r>
              <a:rPr sz="2800" spc="-5" dirty="0">
                <a:latin typeface="Calibri"/>
                <a:cs typeface="Calibri"/>
              </a:rPr>
              <a:t>on a </a:t>
            </a:r>
            <a:r>
              <a:rPr sz="2800" spc="-10" dirty="0">
                <a:latin typeface="Calibri"/>
                <a:cs typeface="Calibri"/>
              </a:rPr>
              <a:t>Linux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lang="en-US" sz="2800" spc="-3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How </a:t>
            </a:r>
            <a:r>
              <a:rPr sz="2400" spc="-5" dirty="0">
                <a:latin typeface="Calibri"/>
                <a:cs typeface="Calibri"/>
              </a:rPr>
              <a:t>Linux </a:t>
            </a:r>
            <a:r>
              <a:rPr sz="2400" spc="-15" dirty="0">
                <a:latin typeface="Calibri"/>
                <a:cs typeface="Calibri"/>
              </a:rPr>
              <a:t>kernel works from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user-space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perspective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How </a:t>
            </a:r>
            <a:r>
              <a:rPr sz="2400" spc="-15" dirty="0">
                <a:latin typeface="Calibri"/>
                <a:cs typeface="Calibri"/>
              </a:rPr>
              <a:t>to create </a:t>
            </a:r>
            <a:r>
              <a:rPr sz="2400" spc="-10" dirty="0">
                <a:latin typeface="Calibri"/>
                <a:cs typeface="Calibri"/>
              </a:rPr>
              <a:t>code that </a:t>
            </a:r>
            <a:r>
              <a:rPr sz="2400" dirty="0">
                <a:latin typeface="Calibri"/>
                <a:cs typeface="Calibri"/>
              </a:rPr>
              <a:t>will run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20" dirty="0">
                <a:latin typeface="Calibri"/>
                <a:cs typeface="Calibri"/>
              </a:rPr>
              <a:t>different </a:t>
            </a:r>
            <a:r>
              <a:rPr sz="2400" spc="-5" dirty="0">
                <a:latin typeface="Calibri"/>
                <a:cs typeface="Calibri"/>
              </a:rPr>
              <a:t>Linux </a:t>
            </a:r>
            <a:r>
              <a:rPr sz="2400" spc="-15" dirty="0">
                <a:latin typeface="Calibri"/>
                <a:cs typeface="Calibri"/>
              </a:rPr>
              <a:t>distros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lang="en-US" sz="2400" spc="-30" dirty="0">
                <a:latin typeface="Calibri"/>
                <a:cs typeface="Calibri"/>
              </a:rPr>
              <a:t>hardware.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600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 </a:t>
            </a:r>
            <a:r>
              <a:rPr spc="-45" dirty="0"/>
              <a:t>Few </a:t>
            </a:r>
            <a:r>
              <a:rPr spc="-90" dirty="0"/>
              <a:t>Words </a:t>
            </a:r>
            <a:r>
              <a:rPr spc="-30" dirty="0"/>
              <a:t>about</a:t>
            </a:r>
            <a:r>
              <a:rPr spc="-270" dirty="0"/>
              <a:t> </a:t>
            </a:r>
            <a:r>
              <a:rPr spc="-25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547"/>
            <a:ext cx="10189845" cy="418337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modern </a:t>
            </a:r>
            <a:r>
              <a:rPr sz="2800" spc="-20" dirty="0">
                <a:latin typeface="Calibri"/>
                <a:cs typeface="Calibri"/>
              </a:rPr>
              <a:t>Unix-like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Written </a:t>
            </a:r>
            <a:r>
              <a:rPr sz="2800" spc="-10" dirty="0">
                <a:latin typeface="Calibri"/>
                <a:cs typeface="Calibri"/>
              </a:rPr>
              <a:t>originally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10" dirty="0">
                <a:latin typeface="Calibri"/>
                <a:cs typeface="Calibri"/>
              </a:rPr>
              <a:t>Linus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Torvalds</a:t>
            </a:r>
            <a:r>
              <a:rPr lang="en-US" sz="2800" spc="-40" dirty="0">
                <a:latin typeface="Calibri"/>
                <a:cs typeface="Calibri"/>
              </a:rPr>
              <a:t>; released in 1991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69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Later </a:t>
            </a:r>
            <a:r>
              <a:rPr sz="2800" spc="-10" dirty="0">
                <a:latin typeface="Calibri"/>
                <a:cs typeface="Calibri"/>
              </a:rPr>
              <a:t>contributed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loose-knit community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20" dirty="0">
                <a:latin typeface="Calibri"/>
                <a:cs typeface="Calibri"/>
              </a:rPr>
              <a:t>programmers </a:t>
            </a:r>
            <a:r>
              <a:rPr sz="2800" spc="-15" dirty="0">
                <a:latin typeface="Calibri"/>
                <a:cs typeface="Calibri"/>
              </a:rPr>
              <a:t>around 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globe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Shares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goals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philosophy </a:t>
            </a:r>
            <a:r>
              <a:rPr sz="2800" spc="-5" dirty="0">
                <a:latin typeface="Calibri"/>
                <a:cs typeface="Calibri"/>
              </a:rPr>
              <a:t>of Unix,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but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Unix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565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Linus </a:t>
            </a:r>
            <a:r>
              <a:rPr sz="2400" spc="-20" dirty="0">
                <a:latin typeface="Calibri"/>
                <a:cs typeface="Calibri"/>
              </a:rPr>
              <a:t>follows </a:t>
            </a:r>
            <a:r>
              <a:rPr sz="2400" spc="-5" dirty="0">
                <a:latin typeface="Calibri"/>
                <a:cs typeface="Calibri"/>
              </a:rPr>
              <a:t>its </a:t>
            </a:r>
            <a:r>
              <a:rPr sz="2400" spc="-10" dirty="0">
                <a:latin typeface="Calibri"/>
                <a:cs typeface="Calibri"/>
              </a:rPr>
              <a:t>own course, diverging where desired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5" dirty="0">
                <a:latin typeface="Calibri"/>
                <a:cs typeface="Calibri"/>
              </a:rPr>
              <a:t>converging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only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555"/>
              </a:lnSpc>
            </a:pPr>
            <a:r>
              <a:rPr sz="2400" spc="-10" dirty="0">
                <a:latin typeface="Calibri"/>
                <a:cs typeface="Calibri"/>
              </a:rPr>
              <a:t>where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practical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45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Linux supports additional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spc="-5" dirty="0">
                <a:latin typeface="Calibri"/>
                <a:cs typeface="Calibri"/>
              </a:rPr>
              <a:t>calls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25" dirty="0">
                <a:latin typeface="Calibri"/>
                <a:cs typeface="Calibri"/>
              </a:rPr>
              <a:t>offers </a:t>
            </a:r>
            <a:r>
              <a:rPr sz="2400" spc="-10" dirty="0">
                <a:latin typeface="Calibri"/>
                <a:cs typeface="Calibri"/>
              </a:rPr>
              <a:t>new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features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Many </a:t>
            </a:r>
            <a:r>
              <a:rPr sz="2800" spc="-10" dirty="0">
                <a:latin typeface="Calibri"/>
                <a:cs typeface="Calibri"/>
              </a:rPr>
              <a:t>distributions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available</a:t>
            </a:r>
            <a:r>
              <a:rPr lang="en-US" sz="2800" spc="-15" dirty="0">
                <a:latin typeface="Calibri"/>
                <a:cs typeface="Calibri"/>
              </a:rPr>
              <a:t>: Ubuntu, Debian, RedHat, CentOS ...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2050" name="Picture 2" descr="Tux the penguin, mascot of Linux">
            <a:extLst>
              <a:ext uri="{FF2B5EF4-FFF2-40B4-BE49-F238E27FC236}">
                <a16:creationId xmlns:a16="http://schemas.microsoft.com/office/drawing/2014/main" id="{8FDF98C5-3DE1-4270-BD36-4D05F8935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284" y="427941"/>
            <a:ext cx="142875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1529FC-A983-4CB4-BC7E-B8BC1C003182}"/>
              </a:ext>
            </a:extLst>
          </p:cNvPr>
          <p:cNvSpPr txBox="1"/>
          <p:nvPr/>
        </p:nvSpPr>
        <p:spPr>
          <a:xfrm>
            <a:off x="9632159" y="1905000"/>
            <a:ext cx="1904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Linux’s mascot: </a:t>
            </a:r>
            <a:r>
              <a:rPr lang="en-US" sz="2000" b="0" i="0" u="none" strike="noStrike" dirty="0">
                <a:solidFill>
                  <a:srgbClr val="0645A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3" tooltip="Tux (mascot)"/>
              </a:rPr>
              <a:t>Tux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the 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penguin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0961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Audience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284460" cy="4308231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Focus</a:t>
            </a:r>
            <a:r>
              <a:rPr sz="2800" spc="-15" dirty="0">
                <a:latin typeface="Calibri"/>
                <a:cs typeface="Calibri"/>
              </a:rPr>
              <a:t>: </a:t>
            </a:r>
            <a:r>
              <a:rPr sz="2800" spc="-5" dirty="0">
                <a:latin typeface="Calibri"/>
                <a:cs typeface="Calibri"/>
              </a:rPr>
              <a:t>writing </a:t>
            </a:r>
            <a:r>
              <a:rPr sz="2800" spc="-25" dirty="0">
                <a:latin typeface="Calibri"/>
                <a:cs typeface="Calibri"/>
              </a:rPr>
              <a:t>system </a:t>
            </a:r>
            <a:r>
              <a:rPr sz="2800" spc="-15" dirty="0">
                <a:latin typeface="Calibri"/>
                <a:cs typeface="Calibri"/>
              </a:rPr>
              <a:t>software, </a:t>
            </a:r>
            <a:r>
              <a:rPr sz="2800" spc="-10" dirty="0">
                <a:latin typeface="Calibri"/>
                <a:cs typeface="Calibri"/>
              </a:rPr>
              <a:t>code living </a:t>
            </a:r>
            <a:r>
              <a:rPr sz="2800" spc="-1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low level, talking  directly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kernel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libraries.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Serves as both a </a:t>
            </a:r>
            <a:r>
              <a:rPr sz="2800" spc="-10" dirty="0">
                <a:latin typeface="Calibri"/>
                <a:cs typeface="Calibri"/>
              </a:rPr>
              <a:t>tutorial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25" dirty="0">
                <a:latin typeface="Calibri"/>
                <a:cs typeface="Calibri"/>
              </a:rPr>
              <a:t>system </a:t>
            </a:r>
            <a:r>
              <a:rPr sz="2800" spc="-15" dirty="0">
                <a:latin typeface="Calibri"/>
                <a:cs typeface="Calibri"/>
              </a:rPr>
              <a:t>programming </a:t>
            </a:r>
            <a:r>
              <a:rPr sz="2800" spc="-5" dirty="0">
                <a:latin typeface="Calibri"/>
                <a:cs typeface="Calibri"/>
              </a:rPr>
              <a:t>and a  </a:t>
            </a:r>
            <a:r>
              <a:rPr sz="2800" spc="-25" dirty="0">
                <a:latin typeface="Calibri"/>
                <a:cs typeface="Calibri"/>
              </a:rPr>
              <a:t>reference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817244" indent="-228600">
              <a:lnSpc>
                <a:spcPts val="303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The book assumes the a</a:t>
            </a:r>
            <a:r>
              <a:rPr sz="2800" spc="-5" dirty="0">
                <a:latin typeface="Calibri"/>
                <a:cs typeface="Calibri"/>
              </a:rPr>
              <a:t>udience </a:t>
            </a:r>
            <a:r>
              <a:rPr lang="en-US"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familiar </a:t>
            </a:r>
            <a:r>
              <a:rPr sz="2800" spc="-5" dirty="0">
                <a:latin typeface="Calibri"/>
                <a:cs typeface="Calibri"/>
              </a:rPr>
              <a:t>with C and </a:t>
            </a:r>
            <a:r>
              <a:rPr lang="en-US" sz="2800" spc="-5" dirty="0">
                <a:latin typeface="Calibri"/>
                <a:cs typeface="Calibri"/>
              </a:rPr>
              <a:t>at least one </a:t>
            </a:r>
            <a:r>
              <a:rPr sz="2800" spc="-10" dirty="0">
                <a:latin typeface="Calibri"/>
                <a:cs typeface="Calibri"/>
              </a:rPr>
              <a:t>Linux </a:t>
            </a:r>
            <a:r>
              <a:rPr lang="en-US" sz="2800" spc="-15" dirty="0">
                <a:latin typeface="Calibri"/>
                <a:cs typeface="Calibri"/>
              </a:rPr>
              <a:t>text editor </a:t>
            </a:r>
            <a:r>
              <a:rPr sz="2800" spc="-20" dirty="0">
                <a:latin typeface="Calibri"/>
                <a:cs typeface="Calibri"/>
              </a:rPr>
              <a:t>(</a:t>
            </a:r>
            <a:r>
              <a:rPr sz="28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vim</a:t>
            </a:r>
            <a:r>
              <a:rPr sz="2800" spc="-20" dirty="0">
                <a:latin typeface="Calibri"/>
                <a:cs typeface="Calibri"/>
              </a:rPr>
              <a:t>/</a:t>
            </a:r>
            <a:r>
              <a:rPr sz="28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emacs</a:t>
            </a:r>
            <a:r>
              <a:rPr sz="2800" spc="-20" dirty="0">
                <a:latin typeface="Calibri"/>
                <a:cs typeface="Calibri"/>
              </a:rPr>
              <a:t>/</a:t>
            </a:r>
            <a:r>
              <a:rPr sz="28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sz="2800" spc="-20" dirty="0">
                <a:latin typeface="Calibri"/>
                <a:cs typeface="Calibri"/>
              </a:rPr>
              <a:t>/</a:t>
            </a:r>
            <a:r>
              <a:rPr sz="28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gdb</a:t>
            </a:r>
            <a:r>
              <a:rPr sz="2800" spc="-20" dirty="0">
                <a:latin typeface="Calibri"/>
                <a:cs typeface="Calibri"/>
              </a:rPr>
              <a:t>/</a:t>
            </a:r>
            <a:r>
              <a:rPr sz="28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…)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Engineers </a:t>
            </a:r>
            <a:r>
              <a:rPr sz="2400" dirty="0">
                <a:latin typeface="Calibri"/>
                <a:cs typeface="Calibri"/>
              </a:rPr>
              <a:t>wishing </a:t>
            </a:r>
            <a:r>
              <a:rPr sz="2400" spc="-15" dirty="0">
                <a:latin typeface="Calibri"/>
                <a:cs typeface="Calibri"/>
              </a:rPr>
              <a:t>to program better at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Higher-level </a:t>
            </a:r>
            <a:r>
              <a:rPr sz="2400" spc="-15" dirty="0">
                <a:latin typeface="Calibri"/>
                <a:cs typeface="Calibri"/>
              </a:rPr>
              <a:t>programmers </a:t>
            </a:r>
            <a:r>
              <a:rPr sz="2400" spc="-5" dirty="0">
                <a:latin typeface="Calibri"/>
                <a:cs typeface="Calibri"/>
              </a:rPr>
              <a:t>looking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stronger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foundation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Curious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hackers</a:t>
            </a:r>
            <a:endParaRPr lang="en-US" sz="2400" spc="-20" dirty="0">
              <a:latin typeface="Calibri"/>
              <a:cs typeface="Calibri"/>
            </a:endParaRPr>
          </a:p>
          <a:p>
            <a:pPr marL="241300" indent="-229235"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800" dirty="0">
                <a:latin typeface="Calibri"/>
                <a:cs typeface="Calibri"/>
              </a:rPr>
              <a:t>That’s why we devote next week to reviewing C and 3 text editors!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2176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35" dirty="0"/>
              <a:t>About the Author – Robert Love</a:t>
            </a:r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916938" y="1793189"/>
            <a:ext cx="10894062" cy="4097788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Contributor to the Linux kernel since its earliest days</a:t>
            </a:r>
          </a:p>
          <a:p>
            <a:pPr marL="698500" marR="5080" lvl="1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Implemented some </a:t>
            </a:r>
            <a:r>
              <a:rPr lang="en-US" sz="2800" spc="-5" dirty="0">
                <a:latin typeface="Calibri"/>
                <a:cs typeface="Calibri"/>
              </a:rPr>
              <a:t>of the </a:t>
            </a:r>
            <a:r>
              <a:rPr lang="en-US" sz="2800" spc="-30" dirty="0">
                <a:latin typeface="Calibri"/>
                <a:cs typeface="Calibri"/>
              </a:rPr>
              <a:t>system</a:t>
            </a:r>
            <a:r>
              <a:rPr lang="en-US" sz="2800" spc="18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calls, so he’s an insider.</a:t>
            </a:r>
          </a:p>
          <a:p>
            <a:pPr marL="698500" marR="5080" lvl="1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  <a:hlinkClick r:id="rId2"/>
              </a:rPr>
              <a:t>GNOME desktop environment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Director of Engineering at Google</a:t>
            </a:r>
            <a:endParaRPr sz="2800" dirty="0">
              <a:latin typeface="Calibri"/>
              <a:cs typeface="Calibri"/>
            </a:endParaRPr>
          </a:p>
          <a:p>
            <a:pPr marL="698500" marR="1252855" lvl="1" indent="-228600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His team designed and shipped the 1</a:t>
            </a:r>
            <a:r>
              <a:rPr lang="en-US" sz="2800" spc="-5" baseline="30000" dirty="0">
                <a:latin typeface="Calibri"/>
                <a:cs typeface="Calibri"/>
              </a:rPr>
              <a:t>st</a:t>
            </a:r>
            <a:r>
              <a:rPr lang="en-US" sz="2800" spc="-5" dirty="0">
                <a:latin typeface="Calibri"/>
                <a:cs typeface="Calibri"/>
              </a:rPr>
              <a:t> Android version.</a:t>
            </a:r>
          </a:p>
          <a:p>
            <a:pPr marL="241300" marR="1252855" indent="-228600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B.S. in CS and B.A. in Math from the University of Florida in 2004</a:t>
            </a:r>
          </a:p>
          <a:p>
            <a:pPr marL="241300" marR="1252855" indent="-228600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Authored 3 books on Linux, including our textbook.</a:t>
            </a:r>
          </a:p>
          <a:p>
            <a:pPr marL="12700" marR="1252855" algn="r">
              <a:lnSpc>
                <a:spcPct val="150000"/>
              </a:lnSpc>
              <a:spcBef>
                <a:spcPts val="1035"/>
              </a:spcBef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[Taken from Love’s </a:t>
            </a:r>
            <a:r>
              <a:rPr lang="en-US" sz="2800" spc="-5" dirty="0">
                <a:latin typeface="Calibri"/>
                <a:cs typeface="Calibri"/>
                <a:hlinkClick r:id="rId3"/>
              </a:rPr>
              <a:t>Homepage</a:t>
            </a:r>
            <a:r>
              <a:rPr lang="en-US" sz="2800" spc="-5" dirty="0">
                <a:latin typeface="Calibri"/>
                <a:cs typeface="Calibri"/>
              </a:rPr>
              <a:t> and </a:t>
            </a:r>
            <a:r>
              <a:rPr lang="en-US" sz="2800" spc="-5" dirty="0">
                <a:latin typeface="Calibri"/>
                <a:cs typeface="Calibri"/>
                <a:hlinkClick r:id="rId4"/>
              </a:rPr>
              <a:t>LinkedIn</a:t>
            </a:r>
            <a:r>
              <a:rPr lang="en-US" sz="2800" spc="-5" dirty="0">
                <a:latin typeface="Calibri"/>
                <a:cs typeface="Calibri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41135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1310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Chapters</a:t>
            </a:r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527685" marR="830580" indent="-515620">
              <a:lnSpc>
                <a:spcPts val="3030"/>
              </a:lnSpc>
              <a:spcBef>
                <a:spcPts val="4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pc="-10" dirty="0"/>
              <a:t>Introduction </a:t>
            </a:r>
            <a:r>
              <a:rPr spc="-5" dirty="0"/>
              <a:t>and </a:t>
            </a:r>
            <a:r>
              <a:rPr spc="-10" dirty="0"/>
              <a:t>essential  concepts</a:t>
            </a:r>
          </a:p>
          <a:p>
            <a:pPr marL="527685" indent="-51562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pc="-10" dirty="0"/>
              <a:t>File</a:t>
            </a:r>
            <a:r>
              <a:rPr spc="-5" dirty="0"/>
              <a:t> I/O</a:t>
            </a: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pc="-20" dirty="0"/>
              <a:t>Buffered</a:t>
            </a:r>
            <a:r>
              <a:rPr dirty="0"/>
              <a:t> </a:t>
            </a:r>
            <a:r>
              <a:rPr spc="-5" dirty="0"/>
              <a:t>I/O</a:t>
            </a:r>
          </a:p>
          <a:p>
            <a:pPr marL="527685" indent="-515620">
              <a:lnSpc>
                <a:spcPct val="100000"/>
              </a:lnSpc>
              <a:spcBef>
                <a:spcPts val="66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pc="-10" dirty="0"/>
              <a:t>Advanced File</a:t>
            </a:r>
            <a:r>
              <a:rPr spc="30" dirty="0"/>
              <a:t> </a:t>
            </a:r>
            <a:r>
              <a:rPr spc="-5" dirty="0"/>
              <a:t>I/O</a:t>
            </a:r>
          </a:p>
          <a:p>
            <a:pPr marL="5276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pc="-15" dirty="0"/>
              <a:t>Process</a:t>
            </a:r>
            <a:r>
              <a:rPr spc="15" dirty="0"/>
              <a:t> </a:t>
            </a:r>
            <a:r>
              <a:rPr spc="-10" dirty="0"/>
              <a:t>management</a:t>
            </a:r>
          </a:p>
          <a:p>
            <a:pPr marL="527685" indent="-515620">
              <a:lnSpc>
                <a:spcPct val="100000"/>
              </a:lnSpc>
              <a:spcBef>
                <a:spcPts val="66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pc="-10" dirty="0"/>
              <a:t>Advanced </a:t>
            </a:r>
            <a:r>
              <a:rPr spc="-15" dirty="0"/>
              <a:t>process</a:t>
            </a:r>
            <a:r>
              <a:rPr spc="25" dirty="0"/>
              <a:t> </a:t>
            </a:r>
            <a:r>
              <a:rPr spc="-10" dirty="0"/>
              <a:t>management</a:t>
            </a: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pc="-10" dirty="0"/>
              <a:t>Threading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83934" y="1706841"/>
            <a:ext cx="5046345" cy="10509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775"/>
              </a:spcBef>
              <a:buAutoNum type="arabicPeriod" startAt="8"/>
              <a:tabLst>
                <a:tab pos="527685" algn="l"/>
                <a:tab pos="528320" algn="l"/>
              </a:tabLst>
            </a:pP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directory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 startAt="8"/>
              <a:tabLst>
                <a:tab pos="527685" algn="l"/>
                <a:tab pos="528320" algn="l"/>
              </a:tabLst>
            </a:pPr>
            <a:r>
              <a:rPr sz="2800" spc="-5" dirty="0">
                <a:latin typeface="Calibri"/>
                <a:cs typeface="Calibri"/>
              </a:rPr>
              <a:t>Memory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83934" y="2731795"/>
            <a:ext cx="6108066" cy="104900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760"/>
              </a:spcBef>
              <a:buAutoNum type="arabicPeriod" startAt="10"/>
              <a:tabLst>
                <a:tab pos="528320" algn="l"/>
              </a:tabLst>
            </a:pPr>
            <a:r>
              <a:rPr sz="2800" spc="-10" dirty="0">
                <a:latin typeface="Calibri"/>
                <a:cs typeface="Calibri"/>
              </a:rPr>
              <a:t>Signals</a:t>
            </a:r>
            <a:endParaRPr sz="2800" dirty="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665"/>
              </a:spcBef>
              <a:buAutoNum type="arabicPeriod" startAt="10"/>
              <a:tabLst>
                <a:tab pos="528320" algn="l"/>
              </a:tabLst>
            </a:pPr>
            <a:r>
              <a:rPr sz="2800" spc="-10" dirty="0">
                <a:latin typeface="Calibri"/>
                <a:cs typeface="Calibri"/>
              </a:rPr>
              <a:t>Time</a:t>
            </a:r>
            <a:r>
              <a:rPr lang="en-US" sz="2800" spc="-10" dirty="0">
                <a:latin typeface="Calibri"/>
                <a:cs typeface="Calibri"/>
              </a:rPr>
              <a:t> [ </a:t>
            </a:r>
            <a:r>
              <a:rPr lang="en-US" sz="2800" spc="-10" dirty="0">
                <a:latin typeface="Calibri"/>
                <a:cs typeface="Calibri"/>
                <a:sym typeface="Wingdings" panose="05000000000000000000" pitchFamily="2" charset="2"/>
              </a:rPr>
              <a:t> </a:t>
            </a:r>
            <a:r>
              <a:rPr lang="en-US" sz="2800" spc="-10" dirty="0">
                <a:latin typeface="Calibri"/>
                <a:cs typeface="Calibri"/>
              </a:rPr>
              <a:t>We won’t study this one.]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305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Ch1 </a:t>
            </a:r>
            <a:r>
              <a:rPr dirty="0"/>
              <a:t>– </a:t>
            </a:r>
            <a:r>
              <a:rPr spc="-45" dirty="0"/>
              <a:t>Introduction </a:t>
            </a:r>
            <a:r>
              <a:rPr spc="-25" dirty="0"/>
              <a:t>and </a:t>
            </a:r>
            <a:r>
              <a:rPr spc="-35" dirty="0"/>
              <a:t>Essential</a:t>
            </a:r>
            <a:r>
              <a:rPr spc="-355" dirty="0"/>
              <a:t> </a:t>
            </a:r>
            <a:r>
              <a:rPr spc="-4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5757"/>
            <a:ext cx="9692640" cy="4297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311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20" dirty="0">
                <a:latin typeface="Calibri"/>
                <a:cs typeface="Calibri"/>
              </a:rPr>
              <a:t>System </a:t>
            </a:r>
            <a:r>
              <a:rPr sz="2600" b="1" spc="-5" dirty="0">
                <a:latin typeface="Calibri"/>
                <a:cs typeface="Calibri"/>
              </a:rPr>
              <a:t>Programming </a:t>
            </a:r>
            <a:r>
              <a:rPr sz="2600" dirty="0">
                <a:latin typeface="Calibri"/>
                <a:cs typeface="Calibri"/>
              </a:rPr>
              <a:t>is the </a:t>
            </a:r>
            <a:r>
              <a:rPr sz="2600" spc="-5" dirty="0">
                <a:latin typeface="Calibri"/>
                <a:cs typeface="Calibri"/>
              </a:rPr>
              <a:t>practice </a:t>
            </a:r>
            <a:r>
              <a:rPr sz="2600" dirty="0">
                <a:latin typeface="Calibri"/>
                <a:cs typeface="Calibri"/>
              </a:rPr>
              <a:t>of writing </a:t>
            </a:r>
            <a:r>
              <a:rPr sz="2600" spc="-20" dirty="0">
                <a:latin typeface="Calibri"/>
                <a:cs typeface="Calibri"/>
              </a:rPr>
              <a:t>system </a:t>
            </a:r>
            <a:r>
              <a:rPr sz="2600" spc="-10" dirty="0">
                <a:latin typeface="Calibri"/>
                <a:cs typeface="Calibri"/>
              </a:rPr>
              <a:t>software,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</a:p>
          <a:p>
            <a:pPr marL="698500" lvl="1" indent="-229235">
              <a:lnSpc>
                <a:spcPts val="262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Lives </a:t>
            </a:r>
            <a:r>
              <a:rPr sz="2200" spc="-15" dirty="0">
                <a:latin typeface="Calibri"/>
                <a:cs typeface="Calibri"/>
              </a:rPr>
              <a:t>at </a:t>
            </a:r>
            <a:r>
              <a:rPr sz="2200" spc="-5" dirty="0">
                <a:latin typeface="Calibri"/>
                <a:cs typeface="Calibri"/>
              </a:rPr>
              <a:t>a low </a:t>
            </a:r>
            <a:r>
              <a:rPr sz="2200" spc="-10" dirty="0">
                <a:latin typeface="Calibri"/>
                <a:cs typeface="Calibri"/>
              </a:rPr>
              <a:t>level,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Interfaces </a:t>
            </a:r>
            <a:r>
              <a:rPr sz="2200" spc="-10" dirty="0">
                <a:latin typeface="Calibri"/>
                <a:cs typeface="Calibri"/>
              </a:rPr>
              <a:t>directly </a:t>
            </a:r>
            <a:r>
              <a:rPr sz="2200" spc="-5" dirty="0">
                <a:latin typeface="Calibri"/>
                <a:cs typeface="Calibri"/>
              </a:rPr>
              <a:t>with the </a:t>
            </a:r>
            <a:r>
              <a:rPr sz="2200" spc="-15" dirty="0">
                <a:latin typeface="Calibri"/>
                <a:cs typeface="Calibri"/>
              </a:rPr>
              <a:t>kernel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20" dirty="0">
                <a:latin typeface="Calibri"/>
                <a:cs typeface="Calibri"/>
              </a:rPr>
              <a:t>core system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libraries</a:t>
            </a:r>
            <a:r>
              <a:rPr lang="en-US" sz="2200" spc="-10" dirty="0">
                <a:latin typeface="Calibri"/>
                <a:cs typeface="Calibri"/>
              </a:rPr>
              <a:t> (like the C lib).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311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Examples of </a:t>
            </a:r>
            <a:r>
              <a:rPr sz="2600" spc="-20" dirty="0">
                <a:latin typeface="Calibri"/>
                <a:cs typeface="Calibri"/>
              </a:rPr>
              <a:t>system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programming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Shell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60" dirty="0">
                <a:latin typeface="Calibri"/>
                <a:cs typeface="Calibri"/>
              </a:rPr>
              <a:t>Text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editor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Compiler/debugger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10" dirty="0">
                <a:latin typeface="Calibri"/>
                <a:cs typeface="Calibri"/>
              </a:rPr>
              <a:t>Basic commands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System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daemons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Network/web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server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Database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25" dirty="0">
                <a:latin typeface="Calibri"/>
                <a:cs typeface="Calibri"/>
              </a:rPr>
              <a:t>Traditionally, </a:t>
            </a:r>
            <a:r>
              <a:rPr sz="2600" dirty="0">
                <a:latin typeface="Calibri"/>
                <a:cs typeface="Calibri"/>
              </a:rPr>
              <a:t>all Unix </a:t>
            </a:r>
            <a:r>
              <a:rPr sz="2600" spc="-10" dirty="0">
                <a:latin typeface="Calibri"/>
                <a:cs typeface="Calibri"/>
              </a:rPr>
              <a:t>programming was </a:t>
            </a:r>
            <a:r>
              <a:rPr sz="2600" spc="-15" dirty="0">
                <a:latin typeface="Calibri"/>
                <a:cs typeface="Calibri"/>
              </a:rPr>
              <a:t>system-level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programming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1030" name="Picture 6" descr="Image result for daemons">
            <a:extLst>
              <a:ext uri="{FF2B5EF4-FFF2-40B4-BE49-F238E27FC236}">
                <a16:creationId xmlns:a16="http://schemas.microsoft.com/office/drawing/2014/main" id="{050304EB-ED92-4BC1-9EBA-A3CB4CEE8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438" y="3943985"/>
            <a:ext cx="2699557" cy="159543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1DE61B-E7BB-458A-A1F8-5FB7B4E169C5}"/>
              </a:ext>
            </a:extLst>
          </p:cNvPr>
          <p:cNvSpPr txBox="1"/>
          <p:nvPr/>
        </p:nvSpPr>
        <p:spPr>
          <a:xfrm>
            <a:off x="5097584" y="3603438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6FA0-6DBA-49AB-A443-D9D5A9A40AF7}"/>
              </a:ext>
            </a:extLst>
          </p:cNvPr>
          <p:cNvSpPr txBox="1"/>
          <p:nvPr/>
        </p:nvSpPr>
        <p:spPr>
          <a:xfrm>
            <a:off x="6830977" y="4236437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8AB7D-092C-4B75-9646-E496E1E2FD62}"/>
              </a:ext>
            </a:extLst>
          </p:cNvPr>
          <p:cNvSpPr txBox="1"/>
          <p:nvPr/>
        </p:nvSpPr>
        <p:spPr>
          <a:xfrm>
            <a:off x="6768898" y="4793633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4F303-E7AC-4224-B564-1510FB62B949}"/>
              </a:ext>
            </a:extLst>
          </p:cNvPr>
          <p:cNvSpPr txBox="1"/>
          <p:nvPr/>
        </p:nvSpPr>
        <p:spPr>
          <a:xfrm>
            <a:off x="4246172" y="3991608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17A94A-F40F-4129-A9F4-EFC0B3FF2261}"/>
              </a:ext>
            </a:extLst>
          </p:cNvPr>
          <p:cNvSpPr txBox="1"/>
          <p:nvPr/>
        </p:nvSpPr>
        <p:spPr>
          <a:xfrm>
            <a:off x="4102771" y="4840876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78CA20-7329-49F9-9BE4-FA6FFD3CA19C}"/>
              </a:ext>
            </a:extLst>
          </p:cNvPr>
          <p:cNvSpPr txBox="1"/>
          <p:nvPr/>
        </p:nvSpPr>
        <p:spPr>
          <a:xfrm>
            <a:off x="6310999" y="5246742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8CF5DA-8515-4168-BA2C-70395540515E}"/>
              </a:ext>
            </a:extLst>
          </p:cNvPr>
          <p:cNvSpPr txBox="1"/>
          <p:nvPr/>
        </p:nvSpPr>
        <p:spPr>
          <a:xfrm>
            <a:off x="6348110" y="3760776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A1BDB6-05A6-4EAF-9B23-7F8D0BE627EB}"/>
              </a:ext>
            </a:extLst>
          </p:cNvPr>
          <p:cNvSpPr txBox="1"/>
          <p:nvPr/>
        </p:nvSpPr>
        <p:spPr>
          <a:xfrm>
            <a:off x="4566917" y="5269028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pic>
        <p:nvPicPr>
          <p:cNvPr id="1034" name="Picture 10" descr="Image result for linux shell icon">
            <a:extLst>
              <a:ext uri="{FF2B5EF4-FFF2-40B4-BE49-F238E27FC236}">
                <a16:creationId xmlns:a16="http://schemas.microsoft.com/office/drawing/2014/main" id="{671E2CF2-917A-4E2F-96CB-6973731DC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841" y="2778351"/>
            <a:ext cx="1150209" cy="115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text editor icon">
            <a:extLst>
              <a:ext uri="{FF2B5EF4-FFF2-40B4-BE49-F238E27FC236}">
                <a16:creationId xmlns:a16="http://schemas.microsoft.com/office/drawing/2014/main" id="{055ABA34-EBEA-4527-916C-0BFBF9556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4738" y="3126784"/>
            <a:ext cx="1257096" cy="125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B86725-F2EA-4022-A435-28A6C0ED9F43}"/>
              </a:ext>
            </a:extLst>
          </p:cNvPr>
          <p:cNvSpPr txBox="1"/>
          <p:nvPr/>
        </p:nvSpPr>
        <p:spPr>
          <a:xfrm>
            <a:off x="9662119" y="2641004"/>
            <a:ext cx="1612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sz="2400" b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2400" b="1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gdb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9FDDDA-657F-4B7B-B2C5-074D2593CF1F}"/>
              </a:ext>
            </a:extLst>
          </p:cNvPr>
          <p:cNvSpPr txBox="1"/>
          <p:nvPr/>
        </p:nvSpPr>
        <p:spPr>
          <a:xfrm>
            <a:off x="10260231" y="3294842"/>
            <a:ext cx="11063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pic>
        <p:nvPicPr>
          <p:cNvPr id="1042" name="Picture 18" descr="Image result for database icon">
            <a:extLst>
              <a:ext uri="{FF2B5EF4-FFF2-40B4-BE49-F238E27FC236}">
                <a16:creationId xmlns:a16="http://schemas.microsoft.com/office/drawing/2014/main" id="{070C7471-3AA0-4B71-8ABB-CD932F2B8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0709" y="4435009"/>
            <a:ext cx="1273398" cy="127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F6E1E1-4812-4ADF-96F7-11412B8873C3}"/>
                  </a:ext>
                </a:extLst>
              </p:cNvPr>
              <p:cNvSpPr txBox="1"/>
              <p:nvPr/>
            </p:nvSpPr>
            <p:spPr>
              <a:xfrm>
                <a:off x="3358854" y="4495100"/>
                <a:ext cx="11063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F6E1E1-4812-4ADF-96F7-11412B887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854" y="4495100"/>
                <a:ext cx="110639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CA6C9DC-318C-45A0-8653-4089870523B9}"/>
              </a:ext>
            </a:extLst>
          </p:cNvPr>
          <p:cNvSpPr txBox="1"/>
          <p:nvPr/>
        </p:nvSpPr>
        <p:spPr>
          <a:xfrm>
            <a:off x="4496328" y="3877209"/>
            <a:ext cx="221915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A kind of a program that runs in the background</a:t>
            </a:r>
          </a:p>
        </p:txBody>
      </p:sp>
      <p:pic>
        <p:nvPicPr>
          <p:cNvPr id="1044" name="Picture 20" descr="Image result for Apache Web Server">
            <a:extLst>
              <a:ext uri="{FF2B5EF4-FFF2-40B4-BE49-F238E27FC236}">
                <a16:creationId xmlns:a16="http://schemas.microsoft.com/office/drawing/2014/main" id="{937F9A35-87C5-4AD2-85DD-A0C5F6D37C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5" t="24598" r="16225" b="27077"/>
          <a:stretch/>
        </p:blipFill>
        <p:spPr bwMode="auto">
          <a:xfrm>
            <a:off x="7168234" y="4354975"/>
            <a:ext cx="1544774" cy="860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6" grpId="0"/>
      <p:bldP spid="20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173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Difference </a:t>
            </a:r>
            <a:r>
              <a:rPr spc="-40" dirty="0"/>
              <a:t>from Application</a:t>
            </a:r>
            <a:r>
              <a:rPr spc="-235" dirty="0"/>
              <a:t> </a:t>
            </a:r>
            <a:r>
              <a:rPr spc="-60" dirty="0"/>
              <a:t>Programming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37895" y="1676400"/>
            <a:ext cx="10316210" cy="422783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System </a:t>
            </a:r>
            <a:r>
              <a:rPr sz="2600" spc="-10" dirty="0">
                <a:latin typeface="Calibri"/>
                <a:cs typeface="Calibri"/>
              </a:rPr>
              <a:t>programmers </a:t>
            </a:r>
            <a:r>
              <a:rPr sz="2600" spc="-5" dirty="0">
                <a:latin typeface="Calibri"/>
                <a:cs typeface="Calibri"/>
              </a:rPr>
              <a:t>must </a:t>
            </a:r>
            <a:r>
              <a:rPr sz="2600" dirty="0">
                <a:latin typeface="Calibri"/>
                <a:cs typeface="Calibri"/>
              </a:rPr>
              <a:t>be </a:t>
            </a:r>
            <a:r>
              <a:rPr sz="2600" spc="-10" dirty="0">
                <a:latin typeface="Calibri"/>
                <a:cs typeface="Calibri"/>
              </a:rPr>
              <a:t>more </a:t>
            </a:r>
            <a:r>
              <a:rPr sz="2600" spc="-15" dirty="0">
                <a:latin typeface="Calibri"/>
                <a:cs typeface="Calibri"/>
              </a:rPr>
              <a:t>aware </a:t>
            </a:r>
            <a:r>
              <a:rPr sz="2600" dirty="0">
                <a:latin typeface="Calibri"/>
                <a:cs typeface="Calibri"/>
              </a:rPr>
              <a:t>of the </a:t>
            </a:r>
            <a:r>
              <a:rPr sz="2600" spc="-10" dirty="0">
                <a:latin typeface="Calibri"/>
                <a:cs typeface="Calibri"/>
              </a:rPr>
              <a:t>hardware </a:t>
            </a:r>
            <a:r>
              <a:rPr sz="2600" dirty="0">
                <a:latin typeface="Calibri"/>
                <a:cs typeface="Calibri"/>
              </a:rPr>
              <a:t>and the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OS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System </a:t>
            </a:r>
            <a:r>
              <a:rPr sz="2600" spc="-10" dirty="0">
                <a:latin typeface="Calibri"/>
                <a:cs typeface="Calibri"/>
              </a:rPr>
              <a:t>programs interface </a:t>
            </a:r>
            <a:r>
              <a:rPr sz="2600" dirty="0">
                <a:latin typeface="Calibri"/>
                <a:cs typeface="Calibri"/>
              </a:rPr>
              <a:t>mainly with </a:t>
            </a:r>
            <a:r>
              <a:rPr sz="2600" spc="-10" dirty="0">
                <a:latin typeface="Calibri"/>
                <a:cs typeface="Calibri"/>
              </a:rPr>
              <a:t>kernel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20" dirty="0">
                <a:latin typeface="Calibri"/>
                <a:cs typeface="Calibri"/>
              </a:rPr>
              <a:t>system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libraries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Application </a:t>
            </a:r>
            <a:r>
              <a:rPr sz="2600" spc="-10" dirty="0">
                <a:latin typeface="Calibri"/>
                <a:cs typeface="Calibri"/>
              </a:rPr>
              <a:t>programs </a:t>
            </a:r>
            <a:r>
              <a:rPr sz="2600" dirty="0">
                <a:latin typeface="Calibri"/>
                <a:cs typeface="Calibri"/>
              </a:rPr>
              <a:t>also </a:t>
            </a:r>
            <a:r>
              <a:rPr sz="2600" spc="-10" dirty="0">
                <a:latin typeface="Calibri"/>
                <a:cs typeface="Calibri"/>
              </a:rPr>
              <a:t>interface </a:t>
            </a:r>
            <a:r>
              <a:rPr sz="2600" dirty="0">
                <a:latin typeface="Calibri"/>
                <a:cs typeface="Calibri"/>
              </a:rPr>
              <a:t>with </a:t>
            </a:r>
            <a:r>
              <a:rPr sz="2600" spc="-10" dirty="0">
                <a:latin typeface="Calibri"/>
                <a:cs typeface="Calibri"/>
              </a:rPr>
              <a:t>high-level </a:t>
            </a:r>
            <a:r>
              <a:rPr sz="2600" spc="-5" dirty="0">
                <a:latin typeface="Calibri"/>
                <a:cs typeface="Calibri"/>
              </a:rPr>
              <a:t>libraries, </a:t>
            </a:r>
            <a:r>
              <a:rPr sz="2600" dirty="0">
                <a:latin typeface="Calibri"/>
                <a:cs typeface="Calibri"/>
              </a:rPr>
              <a:t>which </a:t>
            </a:r>
            <a:r>
              <a:rPr sz="2600" spc="-10" dirty="0">
                <a:latin typeface="Calibri"/>
                <a:cs typeface="Calibri"/>
              </a:rPr>
              <a:t>abstract  </a:t>
            </a:r>
            <a:r>
              <a:rPr sz="2600" spc="-25" dirty="0">
                <a:latin typeface="Calibri"/>
                <a:cs typeface="Calibri"/>
              </a:rPr>
              <a:t>away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details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lang="en-US" sz="2600" spc="-5" dirty="0">
                <a:latin typeface="Calibri"/>
                <a:cs typeface="Calibri"/>
              </a:rPr>
              <a:t>hardware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OS.</a:t>
            </a:r>
          </a:p>
          <a:p>
            <a:pPr marL="241300" marR="314325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But </a:t>
            </a:r>
            <a:r>
              <a:rPr sz="2600" spc="-10" dirty="0">
                <a:latin typeface="Calibri"/>
                <a:cs typeface="Calibri"/>
              </a:rPr>
              <a:t>even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5" dirty="0">
                <a:latin typeface="Calibri"/>
                <a:cs typeface="Calibri"/>
              </a:rPr>
              <a:t>creating </a:t>
            </a:r>
            <a:r>
              <a:rPr sz="2600" spc="-10" dirty="0">
                <a:latin typeface="Calibri"/>
                <a:cs typeface="Calibri"/>
              </a:rPr>
              <a:t>high-level </a:t>
            </a:r>
            <a:r>
              <a:rPr sz="2600" spc="-5" dirty="0">
                <a:latin typeface="Calibri"/>
                <a:cs typeface="Calibri"/>
              </a:rPr>
              <a:t>applications </a:t>
            </a:r>
            <a:r>
              <a:rPr sz="2600" dirty="0">
                <a:latin typeface="Calibri"/>
                <a:cs typeface="Calibri"/>
              </a:rPr>
              <a:t>with </a:t>
            </a:r>
            <a:r>
              <a:rPr sz="2600" spc="-5" dirty="0">
                <a:latin typeface="Calibri"/>
                <a:cs typeface="Calibri"/>
              </a:rPr>
              <a:t>(javascript/java/python  </a:t>
            </a:r>
            <a:r>
              <a:rPr sz="2600" spc="-10" dirty="0">
                <a:latin typeface="Calibri"/>
                <a:cs typeface="Calibri"/>
              </a:rPr>
              <a:t>etc), </a:t>
            </a:r>
            <a:r>
              <a:rPr sz="2600" u="sng" spc="-15" dirty="0">
                <a:latin typeface="Calibri"/>
                <a:cs typeface="Calibri"/>
              </a:rPr>
              <a:t>programmers </a:t>
            </a:r>
            <a:r>
              <a:rPr sz="2600" u="sng" spc="-10" dirty="0">
                <a:latin typeface="Calibri"/>
                <a:cs typeface="Calibri"/>
              </a:rPr>
              <a:t>would benefit from </a:t>
            </a:r>
            <a:r>
              <a:rPr sz="2600" u="sng" dirty="0">
                <a:latin typeface="Calibri"/>
                <a:cs typeface="Calibri"/>
              </a:rPr>
              <a:t>the </a:t>
            </a:r>
            <a:r>
              <a:rPr sz="2600" u="sng" spc="-5" dirty="0">
                <a:latin typeface="Calibri"/>
                <a:cs typeface="Calibri"/>
              </a:rPr>
              <a:t>knowledge of </a:t>
            </a:r>
            <a:r>
              <a:rPr sz="2600" u="sng" spc="-20" dirty="0">
                <a:latin typeface="Calibri"/>
                <a:cs typeface="Calibri"/>
              </a:rPr>
              <a:t>system  </a:t>
            </a:r>
            <a:r>
              <a:rPr sz="2600" u="sng" spc="-10" dirty="0">
                <a:latin typeface="Calibri"/>
                <a:cs typeface="Calibri"/>
              </a:rPr>
              <a:t>programming</a:t>
            </a:r>
            <a:r>
              <a:rPr lang="en-US" sz="2600" u="sng" spc="-10" dirty="0">
                <a:latin typeface="Calibri"/>
                <a:cs typeface="Calibri"/>
              </a:rPr>
              <a:t>.</a:t>
            </a:r>
            <a:endParaRPr sz="2600" u="sng" dirty="0">
              <a:latin typeface="Calibri"/>
              <a:cs typeface="Calibri"/>
            </a:endParaRPr>
          </a:p>
          <a:p>
            <a:pPr marL="241300" marR="495934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While </a:t>
            </a:r>
            <a:r>
              <a:rPr sz="2600" spc="-20" dirty="0">
                <a:latin typeface="Calibri"/>
                <a:cs typeface="Calibri"/>
              </a:rPr>
              <a:t>system </a:t>
            </a:r>
            <a:r>
              <a:rPr sz="2600" spc="-10" dirty="0">
                <a:latin typeface="Calibri"/>
                <a:cs typeface="Calibri"/>
              </a:rPr>
              <a:t>programming often </a:t>
            </a:r>
            <a:r>
              <a:rPr sz="2600" dirty="0">
                <a:latin typeface="Calibri"/>
                <a:cs typeface="Calibri"/>
              </a:rPr>
              <a:t>includes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5" dirty="0">
                <a:latin typeface="Calibri"/>
                <a:cs typeface="Calibri"/>
              </a:rPr>
              <a:t>development </a:t>
            </a:r>
            <a:r>
              <a:rPr sz="2600" spc="-10" dirty="0">
                <a:latin typeface="Calibri"/>
                <a:cs typeface="Calibri"/>
              </a:rPr>
              <a:t>(at </a:t>
            </a:r>
            <a:r>
              <a:rPr sz="2600" spc="-5" dirty="0">
                <a:latin typeface="Calibri"/>
                <a:cs typeface="Calibri"/>
              </a:rPr>
              <a:t>least  device driver </a:t>
            </a:r>
            <a:r>
              <a:rPr sz="2600" dirty="0">
                <a:latin typeface="Calibri"/>
                <a:cs typeface="Calibri"/>
              </a:rPr>
              <a:t>writing), this </a:t>
            </a:r>
            <a:r>
              <a:rPr sz="2600" spc="-5" dirty="0">
                <a:latin typeface="Calibri"/>
                <a:cs typeface="Calibri"/>
              </a:rPr>
              <a:t>book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15" dirty="0">
                <a:latin typeface="Calibri"/>
                <a:cs typeface="Calibri"/>
              </a:rPr>
              <a:t>focused </a:t>
            </a:r>
            <a:r>
              <a:rPr sz="2600" spc="-5" dirty="0">
                <a:latin typeface="Calibri"/>
                <a:cs typeface="Calibri"/>
              </a:rPr>
              <a:t>on user-space </a:t>
            </a:r>
            <a:r>
              <a:rPr sz="2600" spc="-15" dirty="0">
                <a:latin typeface="Calibri"/>
                <a:cs typeface="Calibri"/>
              </a:rPr>
              <a:t>system-level  </a:t>
            </a:r>
            <a:r>
              <a:rPr sz="2600" spc="-5" dirty="0">
                <a:latin typeface="Calibri"/>
                <a:cs typeface="Calibri"/>
              </a:rPr>
              <a:t>programming, </a:t>
            </a:r>
            <a:r>
              <a:rPr lang="en-US" sz="2600" dirty="0">
                <a:latin typeface="Calibri"/>
                <a:cs typeface="Calibri"/>
              </a:rPr>
              <a:t>i.e.,</a:t>
            </a:r>
            <a:r>
              <a:rPr sz="2600" dirty="0">
                <a:latin typeface="Calibri"/>
                <a:cs typeface="Calibri"/>
              </a:rPr>
              <a:t> everything </a:t>
            </a:r>
            <a:r>
              <a:rPr sz="2600" spc="-5" dirty="0">
                <a:latin typeface="Calibri"/>
                <a:cs typeface="Calibri"/>
              </a:rPr>
              <a:t>above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kernel.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7656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Key </a:t>
            </a:r>
            <a:r>
              <a:rPr spc="-40" dirty="0"/>
              <a:t>Questions </a:t>
            </a:r>
            <a:r>
              <a:rPr spc="-15" dirty="0"/>
              <a:t>of </a:t>
            </a:r>
            <a:r>
              <a:rPr spc="-25" dirty="0"/>
              <a:t>Linux </a:t>
            </a:r>
            <a:r>
              <a:rPr spc="-60" dirty="0"/>
              <a:t>System</a:t>
            </a:r>
            <a:r>
              <a:rPr spc="-370" dirty="0"/>
              <a:t> </a:t>
            </a:r>
            <a:r>
              <a:rPr spc="-55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0360025" cy="3646383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20" dirty="0">
                <a:latin typeface="Calibri"/>
                <a:cs typeface="Calibri"/>
              </a:rPr>
              <a:t>system-level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interface?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exactly </a:t>
            </a:r>
            <a:r>
              <a:rPr sz="2800" spc="-5" dirty="0">
                <a:latin typeface="Calibri"/>
                <a:cs typeface="Calibri"/>
              </a:rPr>
              <a:t>do the </a:t>
            </a:r>
            <a:r>
              <a:rPr sz="2800" spc="-15" dirty="0">
                <a:latin typeface="Calibri"/>
                <a:cs typeface="Calibri"/>
              </a:rPr>
              <a:t>kernel </a:t>
            </a:r>
            <a:r>
              <a:rPr sz="2800" spc="-5" dirty="0">
                <a:latin typeface="Calibri"/>
                <a:cs typeface="Calibri"/>
              </a:rPr>
              <a:t>and the C </a:t>
            </a:r>
            <a:r>
              <a:rPr sz="2800" spc="-15" dirty="0">
                <a:latin typeface="Calibri"/>
                <a:cs typeface="Calibri"/>
              </a:rPr>
              <a:t>library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provide?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How </a:t>
            </a:r>
            <a:r>
              <a:rPr sz="2800" spc="-5" dirty="0">
                <a:latin typeface="Calibri"/>
                <a:cs typeface="Calibri"/>
              </a:rPr>
              <a:t>do I </a:t>
            </a:r>
            <a:r>
              <a:rPr sz="2800" spc="-10" dirty="0">
                <a:latin typeface="Calibri"/>
                <a:cs typeface="Calibri"/>
              </a:rPr>
              <a:t>write </a:t>
            </a:r>
            <a:r>
              <a:rPr sz="2800" spc="-5" dirty="0">
                <a:latin typeface="Calibri"/>
                <a:cs typeface="Calibri"/>
              </a:rPr>
              <a:t>optimal </a:t>
            </a:r>
            <a:r>
              <a:rPr sz="2800" spc="-10" dirty="0">
                <a:latin typeface="Calibri"/>
                <a:cs typeface="Calibri"/>
              </a:rPr>
              <a:t>code,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5" dirty="0">
                <a:latin typeface="Calibri"/>
                <a:cs typeface="Calibri"/>
              </a:rPr>
              <a:t>tricks </a:t>
            </a:r>
            <a:r>
              <a:rPr sz="2800" spc="-10" dirty="0">
                <a:latin typeface="Calibri"/>
                <a:cs typeface="Calibri"/>
              </a:rPr>
              <a:t>does Linux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provide?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interesting </a:t>
            </a:r>
            <a:r>
              <a:rPr sz="2800" spc="-30" dirty="0">
                <a:latin typeface="Calibri"/>
                <a:cs typeface="Calibri"/>
              </a:rPr>
              <a:t>system </a:t>
            </a:r>
            <a:r>
              <a:rPr sz="2800" spc="-10" dirty="0">
                <a:latin typeface="Calibri"/>
                <a:cs typeface="Calibri"/>
              </a:rPr>
              <a:t>calls </a:t>
            </a:r>
            <a:r>
              <a:rPr sz="2800" spc="-15" dirty="0">
                <a:latin typeface="Calibri"/>
                <a:cs typeface="Calibri"/>
              </a:rPr>
              <a:t>are provided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15" dirty="0">
                <a:latin typeface="Calibri"/>
                <a:cs typeface="Calibri"/>
              </a:rPr>
              <a:t>compared to </a:t>
            </a:r>
            <a:r>
              <a:rPr sz="2800" spc="-10" dirty="0">
                <a:latin typeface="Calibri"/>
                <a:cs typeface="Calibri"/>
              </a:rPr>
              <a:t>other  </a:t>
            </a:r>
            <a:r>
              <a:rPr sz="2800" spc="-5" dirty="0">
                <a:latin typeface="Calibri"/>
                <a:cs typeface="Calibri"/>
              </a:rPr>
              <a:t>Unix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variants?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How </a:t>
            </a:r>
            <a:r>
              <a:rPr sz="2800" spc="-5" dirty="0">
                <a:latin typeface="Calibri"/>
                <a:cs typeface="Calibri"/>
              </a:rPr>
              <a:t>does it all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work?</a:t>
            </a:r>
            <a:endParaRPr lang="en-US" sz="2800" spc="-10" dirty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  <a:spcBef>
                <a:spcPts val="630"/>
              </a:spcBef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This course addresses these questions!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7223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3 </a:t>
            </a:r>
            <a:r>
              <a:rPr spc="-50" dirty="0"/>
              <a:t>Cornerstones </a:t>
            </a:r>
            <a:r>
              <a:rPr spc="-15" dirty="0"/>
              <a:t>of </a:t>
            </a:r>
            <a:r>
              <a:rPr spc="-60" dirty="0"/>
              <a:t>System</a:t>
            </a:r>
            <a:r>
              <a:rPr spc="-320" dirty="0"/>
              <a:t> </a:t>
            </a:r>
            <a:r>
              <a:rPr spc="-55" dirty="0"/>
              <a:t>Programming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752600"/>
            <a:ext cx="9915525" cy="4309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97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System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Calls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syscalls are </a:t>
            </a:r>
            <a:r>
              <a:rPr sz="2200" spc="-10" dirty="0">
                <a:latin typeface="Calibri"/>
                <a:cs typeface="Calibri"/>
              </a:rPr>
              <a:t>function calls </a:t>
            </a:r>
            <a:r>
              <a:rPr sz="2200" spc="-5" dirty="0">
                <a:latin typeface="Calibri"/>
                <a:cs typeface="Calibri"/>
              </a:rPr>
              <a:t>made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spc="-5" dirty="0">
                <a:latin typeface="Calibri"/>
                <a:cs typeface="Calibri"/>
              </a:rPr>
              <a:t>user space </a:t>
            </a:r>
            <a:r>
              <a:rPr sz="2200" spc="-20" dirty="0">
                <a:latin typeface="Calibri"/>
                <a:cs typeface="Calibri"/>
              </a:rPr>
              <a:t>into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kernel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They request </a:t>
            </a:r>
            <a:r>
              <a:rPr sz="2200" spc="-5" dirty="0">
                <a:latin typeface="Calibri"/>
                <a:cs typeface="Calibri"/>
              </a:rPr>
              <a:t>service/resource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OS.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About 90% of them </a:t>
            </a:r>
            <a:r>
              <a:rPr sz="2200" spc="-10" dirty="0">
                <a:latin typeface="Calibri"/>
                <a:cs typeface="Calibri"/>
              </a:rPr>
              <a:t>are shared by </a:t>
            </a:r>
            <a:r>
              <a:rPr sz="2200" spc="-5" dirty="0">
                <a:latin typeface="Calibri"/>
                <a:cs typeface="Calibri"/>
              </a:rPr>
              <a:t>all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lang="en-US" sz="2200" spc="40" dirty="0">
                <a:latin typeface="Calibri"/>
                <a:cs typeface="Calibri"/>
              </a:rPr>
              <a:t>Linux </a:t>
            </a:r>
            <a:r>
              <a:rPr sz="2200" spc="-15" dirty="0">
                <a:latin typeface="Calibri"/>
                <a:cs typeface="Calibri"/>
              </a:rPr>
              <a:t>architectures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5" dirty="0">
                <a:latin typeface="Calibri"/>
                <a:cs typeface="Calibri"/>
              </a:rPr>
              <a:t>Far fewer </a:t>
            </a:r>
            <a:r>
              <a:rPr sz="2200" spc="-5" dirty="0">
                <a:latin typeface="Calibri"/>
                <a:cs typeface="Calibri"/>
              </a:rPr>
              <a:t>(~300) than </a:t>
            </a:r>
            <a:r>
              <a:rPr sz="2200" spc="-10" dirty="0">
                <a:latin typeface="Calibri"/>
                <a:cs typeface="Calibri"/>
              </a:rPr>
              <a:t>other </a:t>
            </a:r>
            <a:r>
              <a:rPr sz="2200" spc="-40" dirty="0">
                <a:latin typeface="Calibri"/>
                <a:cs typeface="Calibri"/>
              </a:rPr>
              <a:t>OS</a:t>
            </a:r>
            <a:r>
              <a:rPr lang="en-US" sz="2200" spc="-40" dirty="0">
                <a:latin typeface="Calibri"/>
                <a:cs typeface="Calibri"/>
              </a:rPr>
              <a:t>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such as </a:t>
            </a:r>
            <a:r>
              <a:rPr sz="2200" spc="-10" dirty="0">
                <a:latin typeface="Calibri"/>
                <a:cs typeface="Calibri"/>
              </a:rPr>
              <a:t>MS Windows (</a:t>
            </a:r>
            <a:r>
              <a:rPr lang="en-US" sz="2200" spc="-10" dirty="0">
                <a:latin typeface="Calibri"/>
                <a:cs typeface="Calibri"/>
              </a:rPr>
              <a:t>~1000s</a:t>
            </a:r>
            <a:r>
              <a:rPr sz="2200" spc="-5" dirty="0">
                <a:latin typeface="Calibri"/>
                <a:cs typeface="Calibri"/>
              </a:rPr>
              <a:t>)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C </a:t>
            </a:r>
            <a:r>
              <a:rPr sz="2600" spc="-5" dirty="0">
                <a:latin typeface="Calibri"/>
                <a:cs typeface="Calibri"/>
              </a:rPr>
              <a:t>Library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(</a:t>
            </a:r>
            <a:r>
              <a:rPr sz="2600" i="1" spc="-5" dirty="0">
                <a:latin typeface="Times New Roman"/>
                <a:cs typeface="Times New Roman"/>
              </a:rPr>
              <a:t>libc</a:t>
            </a:r>
            <a:r>
              <a:rPr sz="2600" spc="-5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In </a:t>
            </a:r>
            <a:r>
              <a:rPr lang="en-US" sz="2200" spc="-15" dirty="0">
                <a:latin typeface="Calibri"/>
                <a:cs typeface="Calibri"/>
              </a:rPr>
              <a:t>action</a:t>
            </a:r>
            <a:r>
              <a:rPr sz="2200" spc="-15" dirty="0">
                <a:latin typeface="Calibri"/>
                <a:cs typeface="Calibri"/>
              </a:rPr>
              <a:t> even </a:t>
            </a:r>
            <a:r>
              <a:rPr sz="2200" spc="-5" dirty="0">
                <a:latin typeface="Calibri"/>
                <a:cs typeface="Calibri"/>
              </a:rPr>
              <a:t>when </a:t>
            </a:r>
            <a:r>
              <a:rPr sz="2200" spc="-15" dirty="0">
                <a:latin typeface="Calibri"/>
                <a:cs typeface="Calibri"/>
              </a:rPr>
              <a:t>programming </a:t>
            </a:r>
            <a:r>
              <a:rPr sz="2200" spc="-5" dirty="0">
                <a:latin typeface="Calibri"/>
                <a:cs typeface="Calibri"/>
              </a:rPr>
              <a:t>in another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language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Facilitating </a:t>
            </a:r>
            <a:r>
              <a:rPr sz="2200" spc="-25" dirty="0">
                <a:latin typeface="Calibri"/>
                <a:cs typeface="Calibri"/>
              </a:rPr>
              <a:t>system </a:t>
            </a:r>
            <a:r>
              <a:rPr sz="2200" spc="-10" dirty="0">
                <a:latin typeface="Calibri"/>
                <a:cs typeface="Calibri"/>
              </a:rPr>
              <a:t>call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invocation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On modern </a:t>
            </a:r>
            <a:r>
              <a:rPr sz="2200" spc="-10" dirty="0">
                <a:latin typeface="Calibri"/>
                <a:cs typeface="Calibri"/>
              </a:rPr>
              <a:t>Linux,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provided by </a:t>
            </a:r>
            <a:r>
              <a:rPr sz="2200" spc="-5" dirty="0">
                <a:latin typeface="Calibri"/>
                <a:cs typeface="Calibri"/>
              </a:rPr>
              <a:t>GNU libc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</a:t>
            </a:r>
            <a:r>
              <a:rPr sz="22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glibc</a:t>
            </a:r>
            <a:r>
              <a:rPr sz="2200" spc="-5" dirty="0">
                <a:latin typeface="Calibri"/>
                <a:cs typeface="Calibri"/>
              </a:rPr>
              <a:t>)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C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Compiler</a:t>
            </a:r>
            <a:endParaRPr sz="2600" dirty="0">
              <a:latin typeface="Calibri"/>
              <a:cs typeface="Calibri"/>
            </a:endParaRPr>
          </a:p>
          <a:p>
            <a:pPr marL="698500" marR="55880" lvl="1" indent="-228600">
              <a:lnSpc>
                <a:spcPct val="70000"/>
              </a:lnSpc>
              <a:spcBef>
                <a:spcPts val="65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Linux,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5" dirty="0">
                <a:latin typeface="Calibri"/>
                <a:cs typeface="Calibri"/>
              </a:rPr>
              <a:t>provided </a:t>
            </a:r>
            <a:r>
              <a:rPr sz="2200" spc="-10" dirty="0">
                <a:latin typeface="Calibri"/>
                <a:cs typeface="Calibri"/>
              </a:rPr>
              <a:t>by GNU </a:t>
            </a:r>
            <a:r>
              <a:rPr sz="2200" spc="-5" dirty="0">
                <a:latin typeface="Calibri"/>
                <a:cs typeface="Calibri"/>
              </a:rPr>
              <a:t>Compiler Collection (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sz="2200" spc="-5" dirty="0">
                <a:latin typeface="Calibri"/>
                <a:cs typeface="Calibri"/>
              </a:rPr>
              <a:t>, originally </a:t>
            </a:r>
            <a:r>
              <a:rPr sz="2200" spc="-15" dirty="0">
                <a:latin typeface="Calibri"/>
                <a:cs typeface="Calibri"/>
              </a:rPr>
              <a:t>stands </a:t>
            </a:r>
            <a:r>
              <a:rPr lang="en-US" sz="2200" spc="-15" dirty="0">
                <a:latin typeface="Calibri"/>
                <a:cs typeface="Calibri"/>
              </a:rPr>
              <a:t>            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alibri"/>
                <a:cs typeface="Calibri"/>
              </a:rPr>
              <a:t>GNU </a:t>
            </a:r>
            <a:r>
              <a:rPr sz="2200" spc="-5" dirty="0">
                <a:latin typeface="Calibri"/>
                <a:cs typeface="Calibri"/>
              </a:rPr>
              <a:t>C Compiler)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Helps implement </a:t>
            </a:r>
            <a:r>
              <a:rPr sz="2200" spc="-5" dirty="0">
                <a:latin typeface="Calibri"/>
                <a:cs typeface="Calibri"/>
              </a:rPr>
              <a:t>the C </a:t>
            </a:r>
            <a:r>
              <a:rPr sz="2200" spc="-15" dirty="0">
                <a:latin typeface="Calibri"/>
                <a:cs typeface="Calibri"/>
              </a:rPr>
              <a:t>standard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20" dirty="0">
                <a:latin typeface="Calibri"/>
                <a:cs typeface="Calibri"/>
              </a:rPr>
              <a:t>system </a:t>
            </a:r>
            <a:r>
              <a:rPr sz="2200" spc="-5" dirty="0">
                <a:latin typeface="Calibri"/>
                <a:cs typeface="Calibri"/>
              </a:rPr>
              <a:t>ABI </a:t>
            </a:r>
            <a:r>
              <a:rPr sz="2200" spc="-10" dirty="0">
                <a:latin typeface="Calibri"/>
                <a:cs typeface="Calibri"/>
              </a:rPr>
              <a:t>(application </a:t>
            </a:r>
            <a:r>
              <a:rPr sz="2200" spc="-5" dirty="0">
                <a:latin typeface="Calibri"/>
                <a:cs typeface="Calibri"/>
              </a:rPr>
              <a:t>binary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interface)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3074" name="Picture 2" descr="Image result for c language icon">
            <a:extLst>
              <a:ext uri="{FF2B5EF4-FFF2-40B4-BE49-F238E27FC236}">
                <a16:creationId xmlns:a16="http://schemas.microsoft.com/office/drawing/2014/main" id="{6D66BF1B-7517-42D8-ABE9-891B40176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0916" y="3505200"/>
            <a:ext cx="1282298" cy="143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gnu compiler icon">
            <a:extLst>
              <a:ext uri="{FF2B5EF4-FFF2-40B4-BE49-F238E27FC236}">
                <a16:creationId xmlns:a16="http://schemas.microsoft.com/office/drawing/2014/main" id="{84B2FE64-56E3-4304-8555-7294CD0C7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6" y="3907485"/>
            <a:ext cx="16192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C21489-DD40-4008-9CA4-8A39C6BF2F41}"/>
              </a:ext>
            </a:extLst>
          </p:cNvPr>
          <p:cNvSpPr txBox="1"/>
          <p:nvPr/>
        </p:nvSpPr>
        <p:spPr>
          <a:xfrm>
            <a:off x="8810625" y="2488850"/>
            <a:ext cx="3274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GNU = </a:t>
            </a:r>
            <a:r>
              <a:rPr lang="en-US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NU's </a:t>
            </a:r>
            <a:r>
              <a:rPr lang="en-US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ot </a:t>
            </a:r>
            <a:r>
              <a:rPr lang="en-US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US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nix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619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Invoking</a:t>
            </a:r>
            <a:r>
              <a:rPr spc="-180" dirty="0"/>
              <a:t> </a:t>
            </a:r>
            <a:r>
              <a:rPr spc="-45" dirty="0"/>
              <a:t>Syscalls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745945"/>
            <a:ext cx="10333990" cy="4110164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marR="1442085" indent="-228600">
              <a:lnSpc>
                <a:spcPct val="7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U</a:t>
            </a:r>
            <a:r>
              <a:rPr sz="2400" spc="-5" dirty="0">
                <a:latin typeface="Calibri"/>
                <a:cs typeface="Calibri"/>
              </a:rPr>
              <a:t>ser-space </a:t>
            </a:r>
            <a:r>
              <a:rPr sz="2400" spc="-10" dirty="0">
                <a:latin typeface="Calibri"/>
                <a:cs typeface="Calibri"/>
              </a:rPr>
              <a:t>code </a:t>
            </a:r>
            <a:r>
              <a:rPr lang="en-US" sz="2400" spc="-15" dirty="0">
                <a:latin typeface="Calibri"/>
                <a:cs typeface="Calibri"/>
              </a:rPr>
              <a:t>mustn’t directly execute</a:t>
            </a:r>
            <a:r>
              <a:rPr sz="2400" spc="-15" dirty="0">
                <a:latin typeface="Calibri"/>
                <a:cs typeface="Calibri"/>
              </a:rPr>
              <a:t> kernel </a:t>
            </a:r>
            <a:r>
              <a:rPr lang="en-US" sz="2400" spc="-5" dirty="0">
                <a:latin typeface="Calibri"/>
                <a:cs typeface="Calibri"/>
              </a:rPr>
              <a:t>code because that endangers </a:t>
            </a:r>
            <a:r>
              <a:rPr sz="2400" spc="-5" dirty="0">
                <a:latin typeface="Calibri"/>
                <a:cs typeface="Calibri"/>
              </a:rPr>
              <a:t>security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reliability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63245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 err="1">
                <a:latin typeface="Calibri"/>
                <a:cs typeface="Calibri"/>
              </a:rPr>
              <a:t>Syscalls</a:t>
            </a:r>
            <a:r>
              <a:rPr sz="2400" spc="-10" dirty="0">
                <a:latin typeface="Calibri"/>
                <a:cs typeface="Calibri"/>
              </a:rPr>
              <a:t> provide </a:t>
            </a:r>
            <a:r>
              <a:rPr sz="2400" dirty="0">
                <a:latin typeface="Calibri"/>
                <a:cs typeface="Calibri"/>
              </a:rPr>
              <a:t>the mechanism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allow applications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0" dirty="0">
                <a:latin typeface="Calibri"/>
                <a:cs typeface="Calibri"/>
              </a:rPr>
              <a:t>execute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code </a:t>
            </a:r>
            <a:r>
              <a:rPr sz="2400" dirty="0">
                <a:latin typeface="Calibri"/>
                <a:cs typeface="Calibri"/>
              </a:rPr>
              <a:t>the  </a:t>
            </a:r>
            <a:r>
              <a:rPr sz="2400" spc="-10" dirty="0">
                <a:latin typeface="Calibri"/>
                <a:cs typeface="Calibri"/>
              </a:rPr>
              <a:t>kernel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allows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mechanism </a:t>
            </a:r>
            <a:r>
              <a:rPr sz="2400" spc="-10" dirty="0">
                <a:latin typeface="Calibri"/>
                <a:cs typeface="Calibri"/>
              </a:rPr>
              <a:t>varies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20" dirty="0">
                <a:latin typeface="Calibri"/>
                <a:cs typeface="Calibri"/>
              </a:rPr>
              <a:t>different </a:t>
            </a:r>
            <a:r>
              <a:rPr sz="2400" spc="-10" dirty="0">
                <a:latin typeface="Calibri"/>
                <a:cs typeface="Calibri"/>
              </a:rPr>
              <a:t>architectures </a:t>
            </a:r>
            <a:r>
              <a:rPr sz="2400" spc="-5" dirty="0">
                <a:latin typeface="Calibri"/>
                <a:cs typeface="Calibri"/>
              </a:rPr>
              <a:t>(on i386, </a:t>
            </a:r>
            <a:r>
              <a:rPr sz="2400" spc="-20" dirty="0">
                <a:latin typeface="Calibri"/>
                <a:cs typeface="Calibri"/>
              </a:rPr>
              <a:t>it’s </a:t>
            </a:r>
            <a:r>
              <a:rPr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0x80</a:t>
            </a:r>
            <a:r>
              <a:rPr sz="2400" spc="-5" dirty="0">
                <a:latin typeface="Calibri"/>
                <a:cs typeface="Calibri"/>
              </a:rPr>
              <a:t>)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syscall</a:t>
            </a:r>
            <a:r>
              <a:rPr lang="en-US" sz="2400" spc="-15" dirty="0">
                <a:latin typeface="Calibri"/>
                <a:cs typeface="Calibri"/>
              </a:rPr>
              <a:t> number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and function’s </a:t>
            </a:r>
            <a:r>
              <a:rPr sz="2400" spc="-15" dirty="0">
                <a:latin typeface="Calibri"/>
                <a:cs typeface="Calibri"/>
              </a:rPr>
              <a:t>parameters </a:t>
            </a:r>
            <a:r>
              <a:rPr lang="en-US" sz="2400" spc="-15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re </a:t>
            </a:r>
            <a:r>
              <a:rPr sz="2400" spc="-5" dirty="0">
                <a:latin typeface="Calibri"/>
                <a:cs typeface="Calibri"/>
              </a:rPr>
              <a:t>passed </a:t>
            </a:r>
            <a:r>
              <a:rPr sz="2400" dirty="0">
                <a:latin typeface="Calibri"/>
                <a:cs typeface="Calibri"/>
              </a:rPr>
              <a:t>via </a:t>
            </a:r>
            <a:r>
              <a:rPr sz="2400" i="1" dirty="0">
                <a:latin typeface="Calibri"/>
                <a:cs typeface="Calibri"/>
              </a:rPr>
              <a:t>machine </a:t>
            </a:r>
            <a:r>
              <a:rPr sz="2400" i="1" spc="-5" dirty="0">
                <a:latin typeface="Calibri"/>
                <a:cs typeface="Calibri"/>
              </a:rPr>
              <a:t>registers</a:t>
            </a:r>
            <a:r>
              <a:rPr lang="en-US" sz="2400" i="1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spc="5" dirty="0">
                <a:latin typeface="Calibri"/>
                <a:cs typeface="Calibri"/>
              </a:rPr>
              <a:t>e.g.,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#5, </a:t>
            </a:r>
            <a:r>
              <a:rPr sz="2000" spc="-20" dirty="0">
                <a:latin typeface="Calibri"/>
                <a:cs typeface="Calibri"/>
              </a:rPr>
              <a:t>for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number </a:t>
            </a:r>
            <a:r>
              <a:rPr sz="2000" dirty="0">
                <a:latin typeface="Calibri"/>
                <a:cs typeface="Calibri"/>
              </a:rPr>
              <a:t>5 is </a:t>
            </a:r>
            <a:r>
              <a:rPr sz="2000" spc="-15" dirty="0">
                <a:latin typeface="Calibri"/>
                <a:cs typeface="Calibri"/>
              </a:rPr>
              <a:t>stored </a:t>
            </a:r>
            <a:r>
              <a:rPr sz="2000" dirty="0">
                <a:latin typeface="Calibri"/>
                <a:cs typeface="Calibri"/>
              </a:rPr>
              <a:t>in </a:t>
            </a:r>
            <a:r>
              <a:rPr sz="2000" spc="-10" dirty="0">
                <a:latin typeface="Calibri"/>
                <a:cs typeface="Calibri"/>
              </a:rPr>
              <a:t>register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sz="2000" i="1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i386)</a:t>
            </a:r>
            <a:r>
              <a:rPr lang="en-US" sz="200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Parameters </a:t>
            </a:r>
            <a:r>
              <a:rPr lang="en-US" sz="2000" spc="-15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re </a:t>
            </a:r>
            <a:r>
              <a:rPr sz="2000" spc="-5" dirty="0">
                <a:latin typeface="Calibri"/>
                <a:cs typeface="Calibri"/>
              </a:rPr>
              <a:t>passed </a:t>
            </a:r>
            <a:r>
              <a:rPr sz="2000" dirty="0">
                <a:latin typeface="Calibri"/>
                <a:cs typeface="Calibri"/>
              </a:rPr>
              <a:t>in 5 </a:t>
            </a:r>
            <a:r>
              <a:rPr sz="2000" spc="-15" dirty="0">
                <a:latin typeface="Calibri"/>
                <a:cs typeface="Calibri"/>
              </a:rPr>
              <a:t>registers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ebx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esi</a:t>
            </a:r>
            <a:r>
              <a:rPr sz="2000" dirty="0">
                <a:latin typeface="Calibri"/>
                <a:cs typeface="Calibri"/>
              </a:rPr>
              <a:t>, and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edi</a:t>
            </a:r>
            <a:r>
              <a:rPr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193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If </a:t>
            </a:r>
            <a:r>
              <a:rPr sz="2000" spc="-10" dirty="0">
                <a:latin typeface="Calibri"/>
                <a:cs typeface="Calibri"/>
              </a:rPr>
              <a:t>more </a:t>
            </a:r>
            <a:r>
              <a:rPr sz="2000" dirty="0">
                <a:latin typeface="Calibri"/>
                <a:cs typeface="Calibri"/>
              </a:rPr>
              <a:t>than 5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spc="-5" dirty="0">
                <a:latin typeface="Calibri"/>
                <a:cs typeface="Calibri"/>
              </a:rPr>
              <a:t>needed,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single </a:t>
            </a:r>
            <a:r>
              <a:rPr sz="2000" spc="-10" dirty="0">
                <a:latin typeface="Calibri"/>
                <a:cs typeface="Calibri"/>
              </a:rPr>
              <a:t>register </a:t>
            </a:r>
            <a:r>
              <a:rPr lang="en-US" sz="2000" dirty="0">
                <a:latin typeface="Calibri"/>
                <a:cs typeface="Calibri"/>
              </a:rPr>
              <a:t>points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5" dirty="0">
                <a:latin typeface="Calibri"/>
                <a:cs typeface="Calibri"/>
              </a:rPr>
              <a:t>buffer </a:t>
            </a:r>
            <a:r>
              <a:rPr sz="2000" spc="-5" dirty="0">
                <a:latin typeface="Calibri"/>
                <a:cs typeface="Calibri"/>
              </a:rPr>
              <a:t>in user space </a:t>
            </a:r>
            <a:r>
              <a:rPr lang="en-US" sz="2000" spc="-5" dirty="0">
                <a:latin typeface="Calibri"/>
                <a:cs typeface="Calibri"/>
              </a:rPr>
              <a:t>that stores 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parameter</a:t>
            </a:r>
            <a:r>
              <a:rPr lang="en-US" sz="2000" spc="-15" dirty="0">
                <a:latin typeface="Calibri"/>
                <a:cs typeface="Calibri"/>
              </a:rPr>
              <a:t> values</a:t>
            </a:r>
            <a:r>
              <a:rPr sz="2000" spc="-1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alibri"/>
                <a:cs typeface="Calibri"/>
              </a:rPr>
              <a:t>Most syscalls </a:t>
            </a:r>
            <a:r>
              <a:rPr sz="2000" spc="-20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only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couple of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parameters</a:t>
            </a:r>
            <a:r>
              <a:rPr lang="en-US" sz="2000" spc="-1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marR="73533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As a </a:t>
            </a:r>
            <a:r>
              <a:rPr sz="2400" spc="-20" dirty="0">
                <a:latin typeface="Calibri"/>
                <a:cs typeface="Calibri"/>
              </a:rPr>
              <a:t>system </a:t>
            </a:r>
            <a:r>
              <a:rPr sz="2400" spc="-30" dirty="0">
                <a:latin typeface="Calibri"/>
                <a:cs typeface="Calibri"/>
              </a:rPr>
              <a:t>programmer, </a:t>
            </a:r>
            <a:r>
              <a:rPr sz="2400" spc="-10" dirty="0">
                <a:latin typeface="Calibri"/>
                <a:cs typeface="Calibri"/>
              </a:rPr>
              <a:t>you </a:t>
            </a:r>
            <a:r>
              <a:rPr sz="2400" spc="-5" dirty="0">
                <a:latin typeface="Calibri"/>
                <a:cs typeface="Calibri"/>
              </a:rPr>
              <a:t>usually don’t need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know </a:t>
            </a:r>
            <a:r>
              <a:rPr sz="2400" spc="-10" dirty="0">
                <a:latin typeface="Calibri"/>
                <a:cs typeface="Calibri"/>
              </a:rPr>
              <a:t>how </a:t>
            </a:r>
            <a:r>
              <a:rPr sz="2400" spc="-15" dirty="0">
                <a:latin typeface="Calibri"/>
                <a:cs typeface="Calibri"/>
              </a:rPr>
              <a:t>kernel syscall  invocation </a:t>
            </a:r>
            <a:r>
              <a:rPr sz="2400" spc="-10" dirty="0">
                <a:latin typeface="Calibri"/>
                <a:cs typeface="Calibri"/>
              </a:rPr>
              <a:t>works, </a:t>
            </a:r>
            <a:r>
              <a:rPr sz="2400" spc="-15" dirty="0">
                <a:latin typeface="Calibri"/>
                <a:cs typeface="Calibri"/>
              </a:rPr>
              <a:t>rather </a:t>
            </a:r>
            <a:r>
              <a:rPr sz="2400" dirty="0">
                <a:latin typeface="Calibri"/>
                <a:cs typeface="Calibri"/>
              </a:rPr>
              <a:t>it is </a:t>
            </a:r>
            <a:r>
              <a:rPr sz="2400" spc="-5" dirty="0">
                <a:latin typeface="Calibri"/>
                <a:cs typeface="Calibri"/>
              </a:rPr>
              <a:t>handled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compiler </a:t>
            </a:r>
            <a:r>
              <a:rPr sz="2400" dirty="0">
                <a:latin typeface="Calibri"/>
                <a:cs typeface="Calibri"/>
              </a:rPr>
              <a:t>and the C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library.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9946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APIs and</a:t>
            </a:r>
            <a:r>
              <a:rPr spc="-229" dirty="0"/>
              <a:t> </a:t>
            </a:r>
            <a:r>
              <a:rPr spc="-20" dirty="0"/>
              <a:t>ABIs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16939" y="1765757"/>
            <a:ext cx="9686290" cy="43638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311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Application </a:t>
            </a:r>
            <a:r>
              <a:rPr sz="2600" spc="-10" dirty="0">
                <a:latin typeface="Calibri"/>
                <a:cs typeface="Calibri"/>
              </a:rPr>
              <a:t>programming interface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(API)</a:t>
            </a:r>
          </a:p>
          <a:p>
            <a:pPr marL="698500" lvl="1" indent="-229235">
              <a:lnSpc>
                <a:spcPts val="262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Defines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compatibility </a:t>
            </a:r>
            <a:r>
              <a:rPr sz="2200" spc="-15" dirty="0">
                <a:latin typeface="Calibri"/>
                <a:cs typeface="Calibri"/>
              </a:rPr>
              <a:t>at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u="sng" spc="-10" dirty="0">
                <a:latin typeface="Calibri"/>
                <a:cs typeface="Calibri"/>
              </a:rPr>
              <a:t>source</a:t>
            </a:r>
            <a:r>
              <a:rPr lang="en-US" sz="2200" u="sng" spc="-10" dirty="0">
                <a:latin typeface="Calibri"/>
                <a:cs typeface="Calibri"/>
              </a:rPr>
              <a:t> code</a:t>
            </a:r>
            <a:r>
              <a:rPr sz="2200" u="sng" spc="-10" dirty="0">
                <a:latin typeface="Calibri"/>
                <a:cs typeface="Calibri"/>
              </a:rPr>
              <a:t> level</a:t>
            </a:r>
            <a:r>
              <a:rPr sz="2200" spc="-10" dirty="0">
                <a:latin typeface="Calibri"/>
                <a:cs typeface="Calibri"/>
              </a:rPr>
              <a:t> (</a:t>
            </a:r>
            <a:r>
              <a:rPr sz="2200" i="1" spc="-10" dirty="0">
                <a:latin typeface="Calibri"/>
                <a:cs typeface="Calibri"/>
              </a:rPr>
              <a:t>source</a:t>
            </a:r>
            <a:r>
              <a:rPr sz="2200" i="1" spc="8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compatibility</a:t>
            </a:r>
            <a:r>
              <a:rPr sz="2200" spc="-10" dirty="0">
                <a:latin typeface="Calibri"/>
                <a:cs typeface="Calibri"/>
              </a:rPr>
              <a:t>)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Standard set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5" dirty="0">
                <a:latin typeface="Calibri"/>
                <a:cs typeface="Calibri"/>
              </a:rPr>
              <a:t>interfaces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5" dirty="0">
                <a:latin typeface="Calibri"/>
                <a:cs typeface="Calibri"/>
              </a:rPr>
              <a:t>one </a:t>
            </a:r>
            <a:r>
              <a:rPr sz="2200" spc="-10" dirty="0">
                <a:latin typeface="Calibri"/>
                <a:cs typeface="Calibri"/>
              </a:rPr>
              <a:t>piece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software </a:t>
            </a:r>
            <a:r>
              <a:rPr sz="2200" spc="-5" dirty="0">
                <a:latin typeface="Calibri"/>
                <a:cs typeface="Calibri"/>
              </a:rPr>
              <a:t>(usually higher-level)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call  </a:t>
            </a:r>
            <a:r>
              <a:rPr sz="2200" spc="-5" dirty="0">
                <a:latin typeface="Calibri"/>
                <a:cs typeface="Calibri"/>
              </a:rPr>
              <a:t>another </a:t>
            </a:r>
            <a:r>
              <a:rPr sz="2200" spc="-10" dirty="0">
                <a:latin typeface="Calibri"/>
                <a:cs typeface="Calibri"/>
              </a:rPr>
              <a:t>(usually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lower-level)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API itself is the </a:t>
            </a:r>
            <a:r>
              <a:rPr sz="2200" spc="-10" dirty="0">
                <a:latin typeface="Calibri"/>
                <a:cs typeface="Calibri"/>
              </a:rPr>
              <a:t>documentation</a:t>
            </a:r>
            <a:r>
              <a:rPr lang="en-US" sz="2200" spc="-10" dirty="0">
                <a:latin typeface="Calibri"/>
                <a:cs typeface="Calibri"/>
              </a:rPr>
              <a:t>;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software </a:t>
            </a:r>
            <a:r>
              <a:rPr lang="en-US" sz="2200" spc="-10" dirty="0">
                <a:latin typeface="Calibri"/>
                <a:cs typeface="Calibri"/>
              </a:rPr>
              <a:t>providing </a:t>
            </a:r>
            <a:r>
              <a:rPr sz="2200" spc="-5" dirty="0">
                <a:latin typeface="Calibri"/>
                <a:cs typeface="Calibri"/>
              </a:rPr>
              <a:t>the API is called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375"/>
              </a:lnSpc>
            </a:pPr>
            <a:r>
              <a:rPr sz="2200" i="1" spc="-10" dirty="0">
                <a:latin typeface="Calibri"/>
                <a:cs typeface="Calibri"/>
              </a:rPr>
              <a:t>implementation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 the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API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Application </a:t>
            </a:r>
            <a:r>
              <a:rPr sz="2600" dirty="0">
                <a:latin typeface="Calibri"/>
                <a:cs typeface="Calibri"/>
              </a:rPr>
              <a:t>binary </a:t>
            </a:r>
            <a:r>
              <a:rPr sz="2600" spc="-10" dirty="0">
                <a:latin typeface="Calibri"/>
                <a:cs typeface="Calibri"/>
              </a:rPr>
              <a:t>interface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(ABI)</a:t>
            </a:r>
          </a:p>
          <a:p>
            <a:pPr marL="698500" lvl="1" indent="-229235">
              <a:lnSpc>
                <a:spcPts val="262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Defines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compatibility </a:t>
            </a:r>
            <a:r>
              <a:rPr sz="2200" spc="-15" dirty="0">
                <a:latin typeface="Calibri"/>
                <a:cs typeface="Calibri"/>
              </a:rPr>
              <a:t>at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u="sng" spc="-5" dirty="0">
                <a:latin typeface="Calibri"/>
                <a:cs typeface="Calibri"/>
              </a:rPr>
              <a:t>binary</a:t>
            </a:r>
            <a:r>
              <a:rPr lang="en-US" sz="2200" u="sng" spc="-5" dirty="0">
                <a:latin typeface="Calibri"/>
                <a:cs typeface="Calibri"/>
              </a:rPr>
              <a:t> (executable)</a:t>
            </a:r>
            <a:r>
              <a:rPr sz="2200" u="sng" spc="-5" dirty="0">
                <a:latin typeface="Calibri"/>
                <a:cs typeface="Calibri"/>
              </a:rPr>
              <a:t> </a:t>
            </a:r>
            <a:r>
              <a:rPr sz="2200" u="sng" spc="-10" dirty="0">
                <a:latin typeface="Calibri"/>
                <a:cs typeface="Calibri"/>
              </a:rPr>
              <a:t>level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</a:t>
            </a:r>
            <a:r>
              <a:rPr sz="2200" i="1" spc="-5" dirty="0">
                <a:latin typeface="Calibri"/>
                <a:cs typeface="Calibri"/>
              </a:rPr>
              <a:t>binary</a:t>
            </a:r>
            <a:r>
              <a:rPr sz="2200" i="1" spc="7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compatibility</a:t>
            </a:r>
            <a:r>
              <a:rPr sz="2200" spc="-10" dirty="0">
                <a:latin typeface="Calibri"/>
                <a:cs typeface="Calibri"/>
              </a:rPr>
              <a:t>)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6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So </a:t>
            </a:r>
            <a:r>
              <a:rPr sz="2200" spc="-10" dirty="0">
                <a:latin typeface="Calibri"/>
                <a:cs typeface="Calibri"/>
              </a:rPr>
              <a:t>that </a:t>
            </a:r>
            <a:r>
              <a:rPr sz="2200" spc="-5" dirty="0">
                <a:latin typeface="Calibri"/>
                <a:cs typeface="Calibri"/>
              </a:rPr>
              <a:t>object </a:t>
            </a:r>
            <a:r>
              <a:rPr sz="2200" spc="-15" dirty="0">
                <a:latin typeface="Calibri"/>
                <a:cs typeface="Calibri"/>
              </a:rPr>
              <a:t>code </a:t>
            </a:r>
            <a:r>
              <a:rPr sz="2200" spc="-5" dirty="0">
                <a:latin typeface="Calibri"/>
                <a:cs typeface="Calibri"/>
              </a:rPr>
              <a:t>will function on </a:t>
            </a:r>
            <a:r>
              <a:rPr sz="2200" spc="-15" dirty="0">
                <a:latin typeface="Calibri"/>
                <a:cs typeface="Calibri"/>
              </a:rPr>
              <a:t>any </a:t>
            </a:r>
            <a:r>
              <a:rPr sz="2200" spc="-20" dirty="0">
                <a:latin typeface="Calibri"/>
                <a:cs typeface="Calibri"/>
              </a:rPr>
              <a:t>system </a:t>
            </a:r>
            <a:r>
              <a:rPr sz="2200" spc="-5" dirty="0">
                <a:latin typeface="Calibri"/>
                <a:cs typeface="Calibri"/>
              </a:rPr>
              <a:t>(with the </a:t>
            </a:r>
            <a:r>
              <a:rPr sz="2200" dirty="0">
                <a:latin typeface="Calibri"/>
                <a:cs typeface="Calibri"/>
              </a:rPr>
              <a:t>same </a:t>
            </a:r>
            <a:r>
              <a:rPr sz="2200" spc="-5" dirty="0">
                <a:latin typeface="Calibri"/>
                <a:cs typeface="Calibri"/>
              </a:rPr>
              <a:t>ABI)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without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360"/>
              </a:lnSpc>
            </a:pPr>
            <a:r>
              <a:rPr lang="en-US" sz="2200" spc="-10" dirty="0">
                <a:latin typeface="Calibri"/>
                <a:cs typeface="Calibri"/>
              </a:rPr>
              <a:t>r</a:t>
            </a:r>
            <a:r>
              <a:rPr sz="2200" spc="-10" dirty="0">
                <a:latin typeface="Calibri"/>
                <a:cs typeface="Calibri"/>
              </a:rPr>
              <a:t>ecompilation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Concerned with </a:t>
            </a:r>
            <a:r>
              <a:rPr sz="2200" spc="-10" dirty="0">
                <a:latin typeface="Calibri"/>
                <a:cs typeface="Calibri"/>
              </a:rPr>
              <a:t>calling </a:t>
            </a:r>
            <a:r>
              <a:rPr sz="2200" spc="-15" dirty="0">
                <a:latin typeface="Calibri"/>
                <a:cs typeface="Calibri"/>
              </a:rPr>
              <a:t>conventions, byte </a:t>
            </a:r>
            <a:r>
              <a:rPr sz="2200" spc="-10" dirty="0">
                <a:latin typeface="Calibri"/>
                <a:cs typeface="Calibri"/>
              </a:rPr>
              <a:t>ordering, </a:t>
            </a:r>
            <a:r>
              <a:rPr sz="2200" spc="-15" dirty="0">
                <a:latin typeface="Calibri"/>
                <a:cs typeface="Calibri"/>
              </a:rPr>
              <a:t>register </a:t>
            </a:r>
            <a:r>
              <a:rPr sz="2200" spc="-10" dirty="0">
                <a:latin typeface="Calibri"/>
                <a:cs typeface="Calibri"/>
              </a:rPr>
              <a:t>use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etc.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5" dirty="0">
                <a:latin typeface="Calibri"/>
                <a:cs typeface="Calibri"/>
              </a:rPr>
              <a:t>Specific to each </a:t>
            </a:r>
            <a:r>
              <a:rPr sz="2200" spc="-5" dirty="0">
                <a:latin typeface="Calibri"/>
                <a:cs typeface="Calibri"/>
              </a:rPr>
              <a:t>OS and </a:t>
            </a:r>
            <a:r>
              <a:rPr sz="2200" spc="-15" dirty="0">
                <a:latin typeface="Calibri"/>
                <a:cs typeface="Calibri"/>
              </a:rPr>
              <a:t>architecture</a:t>
            </a:r>
            <a:r>
              <a:rPr lang="en-US" sz="2200" spc="-15" dirty="0">
                <a:latin typeface="Calibri"/>
                <a:cs typeface="Calibri"/>
              </a:rPr>
              <a:t>; efforts to reach a single ABI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failed.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3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Enforced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toolchain </a:t>
            </a:r>
            <a:r>
              <a:rPr sz="2200" spc="-30" dirty="0">
                <a:latin typeface="Calibri"/>
                <a:cs typeface="Calibri"/>
              </a:rPr>
              <a:t>(compiler, </a:t>
            </a:r>
            <a:r>
              <a:rPr sz="2200" spc="-45" dirty="0">
                <a:latin typeface="Calibri"/>
                <a:cs typeface="Calibri"/>
              </a:rPr>
              <a:t>linker,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etc.)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219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S</a:t>
            </a:r>
            <a:r>
              <a:rPr spc="-85" dirty="0"/>
              <a:t>t</a:t>
            </a:r>
            <a:r>
              <a:rPr spc="-30" dirty="0"/>
              <a:t>a</a:t>
            </a:r>
            <a:r>
              <a:rPr spc="-45" dirty="0"/>
              <a:t>nda</a:t>
            </a:r>
            <a:r>
              <a:rPr spc="-95" dirty="0"/>
              <a:t>r</a:t>
            </a:r>
            <a:r>
              <a:rPr spc="-60" dirty="0"/>
              <a:t>d</a:t>
            </a:r>
            <a:r>
              <a:rPr dirty="0"/>
              <a:t>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16939" y="1745945"/>
            <a:ext cx="9984740" cy="4088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While Unix </a:t>
            </a:r>
            <a:r>
              <a:rPr sz="2400" spc="-20" dirty="0">
                <a:latin typeface="Calibri"/>
                <a:cs typeface="Calibri"/>
              </a:rPr>
              <a:t>systems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dynamic, </a:t>
            </a: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basics of </a:t>
            </a:r>
            <a:r>
              <a:rPr sz="2400" dirty="0">
                <a:latin typeface="Calibri"/>
                <a:cs typeface="Calibri"/>
              </a:rPr>
              <a:t>Unix </a:t>
            </a:r>
            <a:r>
              <a:rPr sz="2400" spc="-10" dirty="0">
                <a:latin typeface="Calibri"/>
                <a:cs typeface="Calibri"/>
              </a:rPr>
              <a:t>programming </a:t>
            </a:r>
            <a:r>
              <a:rPr lang="en-US"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stable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Linux doesn’t </a:t>
            </a:r>
            <a:r>
              <a:rPr sz="2400" i="1" spc="-5" dirty="0">
                <a:latin typeface="Calibri"/>
                <a:cs typeface="Calibri"/>
              </a:rPr>
              <a:t>officially </a:t>
            </a:r>
            <a:r>
              <a:rPr sz="2400" spc="-10" dirty="0">
                <a:latin typeface="Calibri"/>
                <a:cs typeface="Calibri"/>
              </a:rPr>
              <a:t>comply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spc="-20" dirty="0">
                <a:latin typeface="Calibri"/>
                <a:cs typeface="Calibri"/>
              </a:rPr>
              <a:t>any </a:t>
            </a:r>
            <a:r>
              <a:rPr sz="2400" dirty="0">
                <a:latin typeface="Calibri"/>
                <a:cs typeface="Calibri"/>
              </a:rPr>
              <a:t>Unix </a:t>
            </a:r>
            <a:r>
              <a:rPr sz="2400" spc="-10" dirty="0">
                <a:latin typeface="Calibri"/>
                <a:cs typeface="Calibri"/>
              </a:rPr>
              <a:t>standards. Instead,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i="1" spc="-5" dirty="0">
                <a:latin typeface="Calibri"/>
                <a:cs typeface="Calibri"/>
              </a:rPr>
              <a:t>aims </a:t>
            </a:r>
            <a:r>
              <a:rPr sz="2400" spc="-20" dirty="0">
                <a:latin typeface="Calibri"/>
                <a:cs typeface="Calibri"/>
              </a:rPr>
              <a:t>toward  </a:t>
            </a:r>
            <a:r>
              <a:rPr sz="2400" spc="-5" dirty="0">
                <a:latin typeface="Calibri"/>
                <a:cs typeface="Calibri"/>
              </a:rPr>
              <a:t>compliance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spc="-10" dirty="0">
                <a:latin typeface="Calibri"/>
                <a:cs typeface="Calibri"/>
              </a:rPr>
              <a:t>two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them </a:t>
            </a:r>
            <a:r>
              <a:rPr sz="2400" spc="-5" dirty="0">
                <a:latin typeface="Calibri"/>
                <a:cs typeface="Calibri"/>
              </a:rPr>
              <a:t>(both </a:t>
            </a:r>
            <a:r>
              <a:rPr sz="2400" spc="-10" dirty="0">
                <a:latin typeface="Calibri"/>
                <a:cs typeface="Calibri"/>
              </a:rPr>
              <a:t>define </a:t>
            </a:r>
            <a:r>
              <a:rPr sz="2400" dirty="0">
                <a:latin typeface="Calibri"/>
                <a:cs typeface="Calibri"/>
              </a:rPr>
              <a:t>the C API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15" dirty="0">
                <a:latin typeface="Calibri"/>
                <a:cs typeface="Calibri"/>
              </a:rPr>
              <a:t>Unix-like </a:t>
            </a:r>
            <a:r>
              <a:rPr sz="2400" spc="-5" dirty="0">
                <a:latin typeface="Calibri"/>
                <a:cs typeface="Calibri"/>
              </a:rPr>
              <a:t>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interface):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13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POSIX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1700" spc="-10" dirty="0">
                <a:latin typeface="Calibri"/>
                <a:cs typeface="Calibri"/>
              </a:rPr>
              <a:t>Portable Operating </a:t>
            </a:r>
            <a:r>
              <a:rPr sz="1700" spc="-15" dirty="0">
                <a:latin typeface="Calibri"/>
                <a:cs typeface="Calibri"/>
              </a:rPr>
              <a:t>System </a:t>
            </a:r>
            <a:r>
              <a:rPr sz="1700" spc="-5" dirty="0">
                <a:latin typeface="Calibri"/>
                <a:cs typeface="Calibri"/>
              </a:rPr>
              <a:t>Interface, </a:t>
            </a:r>
            <a:r>
              <a:rPr sz="1700" dirty="0">
                <a:latin typeface="Calibri"/>
                <a:cs typeface="Calibri"/>
              </a:rPr>
              <a:t>named </a:t>
            </a:r>
            <a:r>
              <a:rPr sz="1700" spc="-5" dirty="0">
                <a:latin typeface="Calibri"/>
                <a:cs typeface="Calibri"/>
              </a:rPr>
              <a:t>by Richard</a:t>
            </a:r>
            <a:r>
              <a:rPr sz="1700" spc="-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Stallman</a:t>
            </a:r>
            <a:r>
              <a:rPr sz="2000" dirty="0">
                <a:latin typeface="Calibri"/>
                <a:cs typeface="Calibri"/>
              </a:rPr>
              <a:t>):</a:t>
            </a:r>
          </a:p>
          <a:p>
            <a:pPr marL="1155700" lvl="2" indent="-229235">
              <a:lnSpc>
                <a:spcPts val="193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700" spc="-5" dirty="0">
                <a:latin typeface="Calibri"/>
                <a:cs typeface="Calibri"/>
              </a:rPr>
              <a:t>Proposed </a:t>
            </a:r>
            <a:r>
              <a:rPr sz="1700" dirty="0">
                <a:latin typeface="Calibri"/>
                <a:cs typeface="Calibri"/>
              </a:rPr>
              <a:t>in mid-1980s </a:t>
            </a:r>
            <a:r>
              <a:rPr sz="1700" spc="-5" dirty="0">
                <a:latin typeface="Calibri"/>
                <a:cs typeface="Calibri"/>
              </a:rPr>
              <a:t>by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IEEE</a:t>
            </a:r>
            <a:endParaRPr sz="1700" dirty="0">
              <a:latin typeface="Calibri"/>
              <a:cs typeface="Calibri"/>
            </a:endParaRPr>
          </a:p>
          <a:p>
            <a:pPr marL="1155700" lvl="2" indent="-229235">
              <a:lnSpc>
                <a:spcPts val="1925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700" spc="-5" dirty="0">
                <a:latin typeface="Calibri"/>
                <a:cs typeface="Calibri"/>
              </a:rPr>
              <a:t>Defines </a:t>
            </a:r>
            <a:r>
              <a:rPr sz="1700" dirty="0">
                <a:latin typeface="Calibri"/>
                <a:cs typeface="Calibri"/>
              </a:rPr>
              <a:t>API/Shells/Utilities – </a:t>
            </a:r>
            <a:r>
              <a:rPr sz="1700" spc="-10" dirty="0">
                <a:latin typeface="Calibri"/>
                <a:cs typeface="Calibri"/>
              </a:rPr>
              <a:t>latest </a:t>
            </a:r>
            <a:r>
              <a:rPr sz="1700" dirty="0">
                <a:latin typeface="Calibri"/>
                <a:cs typeface="Calibri"/>
              </a:rPr>
              <a:t>is IEEE </a:t>
            </a:r>
            <a:r>
              <a:rPr sz="1700" spc="-10" dirty="0">
                <a:latin typeface="Calibri"/>
                <a:cs typeface="Calibri"/>
              </a:rPr>
              <a:t>Std</a:t>
            </a:r>
            <a:r>
              <a:rPr sz="1700" spc="-9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1003.1-2017</a:t>
            </a:r>
            <a:endParaRPr sz="1700" dirty="0">
              <a:latin typeface="Calibri"/>
              <a:cs typeface="Calibri"/>
            </a:endParaRPr>
          </a:p>
          <a:p>
            <a:pPr marL="1155700" lvl="2" indent="-229235">
              <a:lnSpc>
                <a:spcPts val="1875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700" spc="-5" dirty="0">
                <a:latin typeface="Calibri"/>
                <a:cs typeface="Calibri"/>
              </a:rPr>
              <a:t>Expensive (annual </a:t>
            </a:r>
            <a:r>
              <a:rPr sz="1700" spc="-10" dirty="0">
                <a:latin typeface="Calibri"/>
                <a:cs typeface="Calibri"/>
              </a:rPr>
              <a:t>fees) </a:t>
            </a:r>
            <a:r>
              <a:rPr sz="1700" spc="-20" dirty="0">
                <a:latin typeface="Calibri"/>
                <a:cs typeface="Calibri"/>
              </a:rPr>
              <a:t>for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licensing</a:t>
            </a:r>
          </a:p>
          <a:p>
            <a:pPr marL="698500" lvl="1" indent="-229235">
              <a:lnSpc>
                <a:spcPts val="224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SUS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1700" dirty="0">
                <a:latin typeface="Calibri"/>
                <a:cs typeface="Calibri"/>
              </a:rPr>
              <a:t>Single Unix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Specification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ts val="1925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700" spc="-5" dirty="0">
                <a:latin typeface="Calibri"/>
                <a:cs typeface="Calibri"/>
              </a:rPr>
              <a:t>Proposed </a:t>
            </a:r>
            <a:r>
              <a:rPr sz="1700" dirty="0">
                <a:latin typeface="Calibri"/>
                <a:cs typeface="Calibri"/>
              </a:rPr>
              <a:t>in early-1990s </a:t>
            </a:r>
            <a:r>
              <a:rPr sz="1700" spc="-5" dirty="0">
                <a:latin typeface="Calibri"/>
                <a:cs typeface="Calibri"/>
              </a:rPr>
              <a:t>by </a:t>
            </a:r>
            <a:r>
              <a:rPr sz="1700" dirty="0">
                <a:latin typeface="Calibri"/>
                <a:cs typeface="Calibri"/>
              </a:rPr>
              <a:t>the Open </a:t>
            </a:r>
            <a:r>
              <a:rPr sz="1700" spc="-5" dirty="0">
                <a:latin typeface="Calibri"/>
                <a:cs typeface="Calibri"/>
              </a:rPr>
              <a:t>Group </a:t>
            </a:r>
            <a:r>
              <a:rPr sz="1700" spc="-10" dirty="0">
                <a:latin typeface="Calibri"/>
                <a:cs typeface="Calibri"/>
              </a:rPr>
              <a:t>(from </a:t>
            </a:r>
            <a:r>
              <a:rPr sz="1700" spc="-5" dirty="0">
                <a:latin typeface="Calibri"/>
                <a:cs typeface="Calibri"/>
              </a:rPr>
              <a:t>merging of </a:t>
            </a:r>
            <a:r>
              <a:rPr sz="1700" dirty="0">
                <a:latin typeface="Calibri"/>
                <a:cs typeface="Calibri"/>
              </a:rPr>
              <a:t>the </a:t>
            </a:r>
            <a:r>
              <a:rPr sz="1700" spc="-5" dirty="0">
                <a:latin typeface="Calibri"/>
                <a:cs typeface="Calibri"/>
              </a:rPr>
              <a:t>OSF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1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X/Open)</a:t>
            </a:r>
          </a:p>
          <a:p>
            <a:pPr marL="1155700" lvl="2" indent="-229235">
              <a:lnSpc>
                <a:spcPts val="198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700" spc="-10" dirty="0">
                <a:latin typeface="Calibri"/>
                <a:cs typeface="Calibri"/>
              </a:rPr>
              <a:t>Free </a:t>
            </a:r>
            <a:r>
              <a:rPr sz="1700" dirty="0">
                <a:latin typeface="Calibri"/>
                <a:cs typeface="Calibri"/>
              </a:rPr>
              <a:t>and </a:t>
            </a:r>
            <a:r>
              <a:rPr sz="1700" spc="-10" dirty="0">
                <a:latin typeface="Calibri"/>
                <a:cs typeface="Calibri"/>
              </a:rPr>
              <a:t>incorporates </a:t>
            </a:r>
            <a:r>
              <a:rPr sz="1700" dirty="0">
                <a:latin typeface="Calibri"/>
                <a:cs typeface="Calibri"/>
              </a:rPr>
              <a:t>the </a:t>
            </a:r>
            <a:r>
              <a:rPr sz="1700" spc="-10" dirty="0">
                <a:latin typeface="Calibri"/>
                <a:cs typeface="Calibri"/>
              </a:rPr>
              <a:t>latest </a:t>
            </a:r>
            <a:r>
              <a:rPr sz="1700" spc="-5" dirty="0">
                <a:latin typeface="Calibri"/>
                <a:cs typeface="Calibri"/>
              </a:rPr>
              <a:t>POSIX </a:t>
            </a:r>
            <a:r>
              <a:rPr sz="1700" spc="-10" dirty="0">
                <a:latin typeface="Calibri"/>
                <a:cs typeface="Calibri"/>
              </a:rPr>
              <a:t>standard </a:t>
            </a:r>
            <a:r>
              <a:rPr sz="1700" dirty="0">
                <a:latin typeface="Calibri"/>
                <a:cs typeface="Calibri"/>
              </a:rPr>
              <a:t>– </a:t>
            </a:r>
            <a:r>
              <a:rPr sz="1700" spc="-10" dirty="0">
                <a:latin typeface="Calibri"/>
                <a:cs typeface="Calibri"/>
              </a:rPr>
              <a:t>latest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SUSv4-2018</a:t>
            </a:r>
            <a:endParaRPr sz="1700" dirty="0">
              <a:latin typeface="Calibri"/>
              <a:cs typeface="Calibri"/>
            </a:endParaRPr>
          </a:p>
          <a:p>
            <a:pPr marL="241300" marR="372110" indent="-228600" algn="just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Linux </a:t>
            </a:r>
            <a:r>
              <a:rPr sz="2400" spc="-10" dirty="0">
                <a:latin typeface="Calibri"/>
                <a:cs typeface="Calibri"/>
              </a:rPr>
              <a:t>Standard </a:t>
            </a:r>
            <a:r>
              <a:rPr sz="2400" dirty="0">
                <a:latin typeface="Calibri"/>
                <a:cs typeface="Calibri"/>
              </a:rPr>
              <a:t>Base (LSB) is a </a:t>
            </a:r>
            <a:r>
              <a:rPr sz="2400" spc="-10" dirty="0">
                <a:latin typeface="Calibri"/>
                <a:cs typeface="Calibri"/>
              </a:rPr>
              <a:t>joint project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5" dirty="0">
                <a:latin typeface="Calibri"/>
                <a:cs typeface="Calibri"/>
              </a:rPr>
              <a:t>several </a:t>
            </a:r>
            <a:r>
              <a:rPr sz="2400" spc="-5" dirty="0">
                <a:latin typeface="Calibri"/>
                <a:cs typeface="Calibri"/>
              </a:rPr>
              <a:t>Linux distributions  under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Linux </a:t>
            </a:r>
            <a:r>
              <a:rPr sz="2400" spc="-10" dirty="0">
                <a:latin typeface="Calibri"/>
                <a:cs typeface="Calibri"/>
              </a:rPr>
              <a:t>Foundation, </a:t>
            </a:r>
            <a:r>
              <a:rPr sz="2400" dirty="0">
                <a:latin typeface="Calibri"/>
                <a:cs typeface="Calibri"/>
              </a:rPr>
              <a:t>which </a:t>
            </a:r>
            <a:r>
              <a:rPr sz="2400" spc="-10" dirty="0">
                <a:latin typeface="Calibri"/>
                <a:cs typeface="Calibri"/>
              </a:rPr>
              <a:t>extends </a:t>
            </a:r>
            <a:r>
              <a:rPr sz="2400" dirty="0">
                <a:latin typeface="Calibri"/>
                <a:cs typeface="Calibri"/>
              </a:rPr>
              <a:t>POSIX and SUS and </a:t>
            </a:r>
            <a:r>
              <a:rPr sz="2400" spc="-15" dirty="0">
                <a:latin typeface="Calibri"/>
                <a:cs typeface="Calibri"/>
              </a:rPr>
              <a:t>attempts to  </a:t>
            </a:r>
            <a:r>
              <a:rPr sz="2400" spc="-10" dirty="0">
                <a:latin typeface="Calibri"/>
                <a:cs typeface="Calibri"/>
              </a:rPr>
              <a:t>provide </a:t>
            </a:r>
            <a:r>
              <a:rPr sz="2400" dirty="0">
                <a:latin typeface="Calibri"/>
                <a:cs typeface="Calibri"/>
              </a:rPr>
              <a:t>a binary </a:t>
            </a:r>
            <a:r>
              <a:rPr sz="2400" spc="-15" dirty="0">
                <a:latin typeface="Calibri"/>
                <a:cs typeface="Calibri"/>
              </a:rPr>
              <a:t>standard </a:t>
            </a:r>
            <a:r>
              <a:rPr sz="2400" spc="-5" dirty="0">
                <a:latin typeface="Calibri"/>
                <a:cs typeface="Calibri"/>
              </a:rPr>
              <a:t>(now </a:t>
            </a:r>
            <a:r>
              <a:rPr sz="2400" dirty="0">
                <a:latin typeface="Calibri"/>
                <a:cs typeface="Calibri"/>
              </a:rPr>
              <a:t>with a </a:t>
            </a:r>
            <a:r>
              <a:rPr sz="2400" spc="-5" dirty="0">
                <a:latin typeface="Calibri"/>
                <a:cs typeface="Calibri"/>
              </a:rPr>
              <a:t>varying </a:t>
            </a:r>
            <a:r>
              <a:rPr sz="2400" spc="-10" dirty="0">
                <a:latin typeface="Calibri"/>
                <a:cs typeface="Calibri"/>
              </a:rPr>
              <a:t>level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compliance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u="sng" dirty="0">
                <a:latin typeface="Calibri"/>
                <a:cs typeface="Calibri"/>
              </a:rPr>
              <a:t>Bottom line</a:t>
            </a:r>
            <a:r>
              <a:rPr sz="2400" spc="-20" dirty="0">
                <a:latin typeface="Calibri"/>
                <a:cs typeface="Calibri"/>
              </a:rPr>
              <a:t>: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Linux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10" dirty="0">
                <a:latin typeface="Calibri"/>
                <a:cs typeface="Calibri"/>
              </a:rPr>
              <a:t>guarantees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stability of </a:t>
            </a:r>
            <a:r>
              <a:rPr sz="2400" spc="-20" dirty="0">
                <a:latin typeface="Calibri"/>
                <a:cs typeface="Calibri"/>
              </a:rPr>
              <a:t>system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calls.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4452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Versions </a:t>
            </a:r>
            <a:r>
              <a:rPr spc="-50" dirty="0"/>
              <a:t>Covered </a:t>
            </a:r>
            <a:r>
              <a:rPr spc="-10" dirty="0"/>
              <a:t>in </a:t>
            </a:r>
            <a:r>
              <a:rPr spc="-20" dirty="0"/>
              <a:t>the</a:t>
            </a:r>
            <a:r>
              <a:rPr spc="-245" dirty="0"/>
              <a:t> </a:t>
            </a:r>
            <a:r>
              <a:rPr spc="-25" dirty="0"/>
              <a:t>Book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756565"/>
            <a:ext cx="10360661" cy="436753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25" dirty="0">
                <a:latin typeface="Calibri"/>
                <a:cs typeface="Calibri"/>
              </a:rPr>
              <a:t>system </a:t>
            </a:r>
            <a:r>
              <a:rPr sz="2800" spc="-15" dirty="0">
                <a:latin typeface="Calibri"/>
                <a:cs typeface="Calibri"/>
              </a:rPr>
              <a:t>interface </a:t>
            </a:r>
            <a:r>
              <a:rPr sz="2800" spc="-10" dirty="0">
                <a:latin typeface="Calibri"/>
                <a:cs typeface="Calibri"/>
              </a:rPr>
              <a:t>is </a:t>
            </a:r>
            <a:r>
              <a:rPr sz="2800" spc="-5" dirty="0">
                <a:latin typeface="Calibri"/>
                <a:cs typeface="Calibri"/>
              </a:rPr>
              <a:t>both ABI and API </a:t>
            </a:r>
            <a:r>
              <a:rPr sz="2800" spc="-15" dirty="0">
                <a:latin typeface="Calibri"/>
                <a:cs typeface="Calibri"/>
              </a:rPr>
              <a:t>provided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Linux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5" dirty="0">
                <a:latin typeface="Calibri"/>
                <a:cs typeface="Calibri"/>
              </a:rPr>
              <a:t>(the heart 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OS) </a:t>
            </a:r>
            <a:r>
              <a:rPr sz="2400" spc="-15" dirty="0">
                <a:latin typeface="Calibri"/>
                <a:cs typeface="Calibri"/>
              </a:rPr>
              <a:t>version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3.9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GNU C </a:t>
            </a:r>
            <a:r>
              <a:rPr sz="2400" spc="-5" dirty="0">
                <a:latin typeface="Calibri"/>
                <a:cs typeface="Calibri"/>
              </a:rPr>
              <a:t>library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glibc</a:t>
            </a:r>
            <a:r>
              <a:rPr sz="2400" dirty="0">
                <a:latin typeface="Calibri"/>
                <a:cs typeface="Calibri"/>
              </a:rPr>
              <a:t>) </a:t>
            </a:r>
            <a:r>
              <a:rPr sz="2400" spc="-15" dirty="0">
                <a:latin typeface="Calibri"/>
                <a:cs typeface="Calibri"/>
              </a:rPr>
              <a:t>version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2.17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GNU </a:t>
            </a:r>
            <a:r>
              <a:rPr sz="2400" dirty="0">
                <a:latin typeface="Calibri"/>
                <a:cs typeface="Calibri"/>
              </a:rPr>
              <a:t>C </a:t>
            </a:r>
            <a:r>
              <a:rPr sz="2400" spc="-5" dirty="0">
                <a:latin typeface="Calibri"/>
                <a:cs typeface="Calibri"/>
              </a:rPr>
              <a:t>Compiler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sz="2400" dirty="0">
                <a:latin typeface="Calibri"/>
                <a:cs typeface="Calibri"/>
              </a:rPr>
              <a:t>) </a:t>
            </a:r>
            <a:r>
              <a:rPr sz="2400" spc="-15" dirty="0">
                <a:latin typeface="Calibri"/>
                <a:cs typeface="Calibri"/>
              </a:rPr>
              <a:t>version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4.8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Will be </a:t>
            </a:r>
            <a:r>
              <a:rPr sz="2800" spc="-20" dirty="0">
                <a:latin typeface="Calibri"/>
                <a:cs typeface="Calibri"/>
              </a:rPr>
              <a:t>forward </a:t>
            </a:r>
            <a:r>
              <a:rPr sz="2800" spc="-10" dirty="0">
                <a:latin typeface="Calibri"/>
                <a:cs typeface="Calibri"/>
              </a:rPr>
              <a:t>compatible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5" dirty="0">
                <a:latin typeface="Calibri"/>
                <a:cs typeface="Calibri"/>
              </a:rPr>
              <a:t>newer </a:t>
            </a:r>
            <a:r>
              <a:rPr sz="2800" spc="-20" dirty="0">
                <a:latin typeface="Calibri"/>
                <a:cs typeface="Calibri"/>
              </a:rPr>
              <a:t>versions </a:t>
            </a:r>
            <a:r>
              <a:rPr sz="2800" spc="-5" dirty="0">
                <a:latin typeface="Calibri"/>
                <a:cs typeface="Calibri"/>
              </a:rPr>
              <a:t>of the </a:t>
            </a:r>
            <a:r>
              <a:rPr sz="2800" spc="-20" dirty="0">
                <a:latin typeface="Calibri"/>
                <a:cs typeface="Calibri"/>
              </a:rPr>
              <a:t>kernel,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glibc</a:t>
            </a:r>
            <a:r>
              <a:rPr sz="2800" spc="-5" dirty="0">
                <a:latin typeface="Calibri"/>
                <a:cs typeface="Calibri"/>
              </a:rPr>
              <a:t>, and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sz="2800" spc="-5" dirty="0">
                <a:latin typeface="Calibri"/>
                <a:cs typeface="Calibri"/>
              </a:rPr>
              <a:t>; </a:t>
            </a:r>
            <a:r>
              <a:rPr sz="2800" spc="-15" dirty="0">
                <a:latin typeface="Calibri"/>
                <a:cs typeface="Calibri"/>
              </a:rPr>
              <a:t>many </a:t>
            </a:r>
            <a:r>
              <a:rPr sz="2800" spc="-20" dirty="0">
                <a:latin typeface="Calibri"/>
                <a:cs typeface="Calibri"/>
              </a:rPr>
              <a:t>are </a:t>
            </a:r>
            <a:r>
              <a:rPr sz="2800" spc="-15" dirty="0">
                <a:latin typeface="Calibri"/>
                <a:cs typeface="Calibri"/>
              </a:rPr>
              <a:t>backward </a:t>
            </a:r>
            <a:r>
              <a:rPr sz="2800" spc="-10" dirty="0">
                <a:latin typeface="Calibri"/>
                <a:cs typeface="Calibri"/>
              </a:rPr>
              <a:t>compatible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well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658495" indent="-228600">
              <a:lnSpc>
                <a:spcPts val="303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While the </a:t>
            </a:r>
            <a:r>
              <a:rPr lang="en-US" sz="2800" spc="-5" dirty="0">
                <a:latin typeface="Calibri"/>
                <a:cs typeface="Calibri"/>
              </a:rPr>
              <a:t>operating system</a:t>
            </a:r>
            <a:r>
              <a:rPr sz="2800" spc="-5" dirty="0">
                <a:latin typeface="Calibri"/>
                <a:cs typeface="Calibri"/>
              </a:rPr>
              <a:t> is </a:t>
            </a:r>
            <a:r>
              <a:rPr sz="2800" spc="-15" dirty="0">
                <a:latin typeface="Calibri"/>
                <a:cs typeface="Calibri"/>
              </a:rPr>
              <a:t>constantly </a:t>
            </a:r>
            <a:r>
              <a:rPr sz="2800" spc="-10" dirty="0">
                <a:latin typeface="Calibri"/>
                <a:cs typeface="Calibri"/>
              </a:rPr>
              <a:t>evolving,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environment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25" dirty="0">
                <a:latin typeface="Calibri"/>
                <a:cs typeface="Calibri"/>
              </a:rPr>
              <a:t>system </a:t>
            </a:r>
            <a:r>
              <a:rPr sz="2800" spc="-15" dirty="0">
                <a:latin typeface="Calibri"/>
                <a:cs typeface="Calibri"/>
              </a:rPr>
              <a:t>programming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lang="en-US" sz="2800" spc="-20" dirty="0">
                <a:latin typeface="Calibri"/>
                <a:cs typeface="Calibri"/>
              </a:rPr>
              <a:t>stable</a:t>
            </a:r>
            <a:r>
              <a:rPr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Command </a:t>
            </a:r>
            <a:r>
              <a:rPr sz="2800" spc="-10" dirty="0">
                <a:latin typeface="Calibri"/>
                <a:cs typeface="Calibri"/>
              </a:rPr>
              <a:t>line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compiling </a:t>
            </a:r>
            <a:r>
              <a:rPr sz="2800" spc="-15" dirty="0">
                <a:latin typeface="Calibri"/>
                <a:cs typeface="Calibri"/>
              </a:rPr>
              <a:t>source </a:t>
            </a:r>
            <a:r>
              <a:rPr sz="2800" spc="-10" dirty="0">
                <a:latin typeface="Calibri"/>
                <a:cs typeface="Calibri"/>
              </a:rPr>
              <a:t>code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book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54"/>
              </a:spcBef>
            </a:pP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$</a:t>
            </a:r>
            <a:r>
              <a:rPr lang="en-US" sz="24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400" dirty="0" err="1">
                <a:solidFill>
                  <a:srgbClr val="0070C0"/>
                </a:solidFill>
                <a:latin typeface="Consolas"/>
                <a:cs typeface="Consolas"/>
              </a:rPr>
              <a:t>gcc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400" spc="5" dirty="0">
                <a:solidFill>
                  <a:srgbClr val="0070C0"/>
                </a:solidFill>
                <a:latin typeface="Consolas"/>
                <a:cs typeface="Consolas"/>
              </a:rPr>
              <a:t>-</a:t>
            </a:r>
            <a:r>
              <a:rPr sz="2400" spc="5" dirty="0">
                <a:solidFill>
                  <a:srgbClr val="0070C0"/>
                </a:solidFill>
                <a:latin typeface="Consolas"/>
                <a:cs typeface="Consolas"/>
              </a:rPr>
              <a:t>Wall </a:t>
            </a:r>
            <a:r>
              <a:rPr lang="en-US" sz="2400" dirty="0">
                <a:solidFill>
                  <a:srgbClr val="0070C0"/>
                </a:solidFill>
                <a:latin typeface="Consolas"/>
                <a:cs typeface="Consolas"/>
              </a:rPr>
              <a:t>-</a:t>
            </a:r>
            <a:r>
              <a:rPr sz="2400" dirty="0" err="1">
                <a:solidFill>
                  <a:srgbClr val="0070C0"/>
                </a:solidFill>
                <a:latin typeface="Consolas"/>
                <a:cs typeface="Consolas"/>
              </a:rPr>
              <a:t>Wextra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Consolas"/>
                <a:cs typeface="Consolas"/>
              </a:rPr>
              <a:t>-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O2 </a:t>
            </a:r>
            <a:r>
              <a:rPr lang="en-US" sz="2400" spc="5" dirty="0">
                <a:solidFill>
                  <a:srgbClr val="0070C0"/>
                </a:solidFill>
                <a:latin typeface="Consolas"/>
                <a:cs typeface="Consolas"/>
              </a:rPr>
              <a:t>-</a:t>
            </a:r>
            <a:r>
              <a:rPr sz="2400" spc="5" dirty="0">
                <a:solidFill>
                  <a:srgbClr val="0070C0"/>
                </a:solidFill>
                <a:latin typeface="Consolas"/>
                <a:cs typeface="Consolas"/>
              </a:rPr>
              <a:t>g </a:t>
            </a:r>
            <a:r>
              <a:rPr lang="en-US" sz="2400" spc="5" dirty="0">
                <a:solidFill>
                  <a:srgbClr val="0070C0"/>
                </a:solidFill>
                <a:latin typeface="Consolas"/>
                <a:cs typeface="Consolas"/>
              </a:rPr>
              <a:t>-</a:t>
            </a:r>
            <a:r>
              <a:rPr sz="2400" spc="5" dirty="0">
                <a:solidFill>
                  <a:srgbClr val="0070C0"/>
                </a:solidFill>
                <a:latin typeface="Consolas"/>
                <a:cs typeface="Consolas"/>
              </a:rPr>
              <a:t>o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snippet</a:t>
            </a:r>
            <a:r>
              <a:rPr sz="2400" spc="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snippet.c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84203-7831-461C-A27D-054C7AFA6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8570" y="3183151"/>
            <a:ext cx="9674861" cy="830997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Consolas"/>
                <a:cs typeface="Consolas"/>
              </a:rPr>
              <a:t>$ </a:t>
            </a:r>
            <a:r>
              <a:rPr lang="en-US" sz="2800" dirty="0" err="1">
                <a:solidFill>
                  <a:srgbClr val="0070C0"/>
                </a:solidFill>
                <a:latin typeface="Consolas"/>
                <a:cs typeface="Consolas"/>
              </a:rPr>
              <a:t>gcc</a:t>
            </a:r>
            <a:r>
              <a:rPr lang="en-US" sz="28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800" spc="5" dirty="0">
                <a:solidFill>
                  <a:srgbClr val="0070C0"/>
                </a:solidFill>
                <a:latin typeface="Consolas"/>
                <a:cs typeface="Consolas"/>
              </a:rPr>
              <a:t>-Wall </a:t>
            </a:r>
            <a:r>
              <a:rPr lang="en-US" sz="2800" dirty="0">
                <a:solidFill>
                  <a:srgbClr val="0070C0"/>
                </a:solidFill>
                <a:latin typeface="Consolas"/>
                <a:cs typeface="Consolas"/>
              </a:rPr>
              <a:t>-</a:t>
            </a:r>
            <a:r>
              <a:rPr lang="en-US" sz="2800" dirty="0" err="1">
                <a:solidFill>
                  <a:srgbClr val="0070C0"/>
                </a:solidFill>
                <a:latin typeface="Consolas"/>
                <a:cs typeface="Consolas"/>
              </a:rPr>
              <a:t>Wextra</a:t>
            </a:r>
            <a:r>
              <a:rPr lang="en-US" sz="2800" dirty="0">
                <a:solidFill>
                  <a:srgbClr val="0070C0"/>
                </a:solidFill>
                <a:latin typeface="Consolas"/>
                <a:cs typeface="Consolas"/>
              </a:rPr>
              <a:t> -O2 </a:t>
            </a:r>
            <a:r>
              <a:rPr lang="en-US" sz="2800" spc="5" dirty="0">
                <a:solidFill>
                  <a:srgbClr val="0070C0"/>
                </a:solidFill>
                <a:latin typeface="Consolas"/>
                <a:cs typeface="Consolas"/>
              </a:rPr>
              <a:t>-g -o </a:t>
            </a:r>
            <a:r>
              <a:rPr lang="en-US" sz="2800" dirty="0">
                <a:solidFill>
                  <a:srgbClr val="0070C0"/>
                </a:solidFill>
                <a:latin typeface="Consolas"/>
                <a:cs typeface="Consolas"/>
              </a:rPr>
              <a:t>snippet</a:t>
            </a:r>
            <a:r>
              <a:rPr lang="en-US" sz="2800" spc="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Consolas"/>
                <a:cs typeface="Consolas"/>
              </a:rPr>
              <a:t>snippet.c</a:t>
            </a:r>
            <a:endParaRPr lang="en-US" sz="2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03545-0F45-4764-9DBA-FCAD9DABC8E3}"/>
              </a:ext>
            </a:extLst>
          </p:cNvPr>
          <p:cNvSpPr txBox="1"/>
          <p:nvPr/>
        </p:nvSpPr>
        <p:spPr>
          <a:xfrm>
            <a:off x="533400" y="4343400"/>
            <a:ext cx="1904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Terminal’s Command prompt symbol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9B749EF-04AC-4240-9B37-27C84D865EEF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485900" y="3657600"/>
            <a:ext cx="114300" cy="685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9432AB-2F03-4B66-8B91-26BA567B5BA1}"/>
              </a:ext>
            </a:extLst>
          </p:cNvPr>
          <p:cNvSpPr txBox="1"/>
          <p:nvPr/>
        </p:nvSpPr>
        <p:spPr>
          <a:xfrm>
            <a:off x="1143000" y="1464286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call to the GNU C Compiler 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sz="2400" dirty="0"/>
              <a:t>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66DBD4-2C6A-4F1D-BAFE-A21099DC35BD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2133602" y="2664615"/>
            <a:ext cx="76198" cy="6111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240CBD5-3985-436E-9D82-471B65CFF8DE}"/>
              </a:ext>
            </a:extLst>
          </p:cNvPr>
          <p:cNvSpPr txBox="1"/>
          <p:nvPr/>
        </p:nvSpPr>
        <p:spPr>
          <a:xfrm>
            <a:off x="2556124" y="4304084"/>
            <a:ext cx="1904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Option asking to include </a:t>
            </a:r>
            <a:r>
              <a:rPr lang="en-US" sz="2400" b="1" dirty="0"/>
              <a:t>all</a:t>
            </a:r>
            <a:r>
              <a:rPr lang="en-US" sz="2400" dirty="0"/>
              <a:t> types of </a:t>
            </a:r>
            <a:r>
              <a:rPr lang="en-US" sz="2400" b="1" dirty="0"/>
              <a:t>W</a:t>
            </a:r>
            <a:r>
              <a:rPr lang="en-US" sz="2400" dirty="0"/>
              <a:t>arnings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318E6CC-990E-4DF4-9EEB-D61EEC5B02C9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3276600" y="3598649"/>
            <a:ext cx="232024" cy="7054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76E0ACE-70ED-4A9A-AF90-7A81010F9A30}"/>
              </a:ext>
            </a:extLst>
          </p:cNvPr>
          <p:cNvSpPr txBox="1"/>
          <p:nvPr/>
        </p:nvSpPr>
        <p:spPr>
          <a:xfrm>
            <a:off x="3508624" y="1362698"/>
            <a:ext cx="21856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Option asking to include </a:t>
            </a:r>
            <a:r>
              <a:rPr lang="en-US" sz="2400" b="1" dirty="0"/>
              <a:t>extra</a:t>
            </a:r>
            <a:r>
              <a:rPr lang="en-US" sz="2400" dirty="0"/>
              <a:t> </a:t>
            </a:r>
            <a:r>
              <a:rPr lang="en-US" sz="2400" b="1" dirty="0"/>
              <a:t>W</a:t>
            </a:r>
            <a:r>
              <a:rPr lang="en-US" sz="2400" dirty="0"/>
              <a:t>arning notifications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D04DC1-9998-4362-B4E0-3FB08BD5705A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4601431" y="2932358"/>
            <a:ext cx="0" cy="3434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65E50B5-C69B-4F3F-9FAC-5A5024F815D1}"/>
              </a:ext>
            </a:extLst>
          </p:cNvPr>
          <p:cNvSpPr txBox="1"/>
          <p:nvPr/>
        </p:nvSpPr>
        <p:spPr>
          <a:xfrm>
            <a:off x="4825696" y="4304084"/>
            <a:ext cx="2540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Asks for </a:t>
            </a:r>
            <a:r>
              <a:rPr lang="en-US" sz="2400" b="1" dirty="0"/>
              <a:t>O</a:t>
            </a:r>
            <a:r>
              <a:rPr lang="en-US" sz="2400" dirty="0"/>
              <a:t>ptimization of level </a:t>
            </a:r>
            <a:r>
              <a:rPr lang="en-US" sz="2400" b="1" dirty="0"/>
              <a:t>2</a:t>
            </a:r>
            <a:r>
              <a:rPr lang="en-US" sz="2400" dirty="0"/>
              <a:t> (“</a:t>
            </a:r>
            <a:r>
              <a:rPr lang="en-US" sz="24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significant but sane</a:t>
            </a:r>
            <a:r>
              <a:rPr lang="en-US" sz="1800" b="0" i="0" u="none" strike="noStrike" baseline="0" dirty="0">
                <a:latin typeface="MinionPro-Regular"/>
              </a:rPr>
              <a:t>”</a:t>
            </a:r>
            <a:r>
              <a:rPr lang="en-US" sz="2400" dirty="0"/>
              <a:t>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E5A1B0-303C-4C7D-96AF-2FD3564DDB06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5791200" y="3657600"/>
            <a:ext cx="304800" cy="6464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5D4C119-75D1-4D76-9CE5-6D6EE5CAF732}"/>
              </a:ext>
            </a:extLst>
          </p:cNvPr>
          <p:cNvSpPr txBox="1"/>
          <p:nvPr/>
        </p:nvSpPr>
        <p:spPr>
          <a:xfrm>
            <a:off x="5997325" y="1333453"/>
            <a:ext cx="2384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Allow debugger activity if we call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afterwards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A8DA3F5-0A6F-4F8A-A335-BBC9EA40D52C}"/>
              </a:ext>
            </a:extLst>
          </p:cNvPr>
          <p:cNvCxnSpPr>
            <a:cxnSpLocks/>
          </p:cNvCxnSpPr>
          <p:nvPr/>
        </p:nvCxnSpPr>
        <p:spPr>
          <a:xfrm flipH="1">
            <a:off x="6477001" y="2499964"/>
            <a:ext cx="331019" cy="7758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E2BA204-BD2D-4606-8F6F-FC419FB32D7A}"/>
              </a:ext>
            </a:extLst>
          </p:cNvPr>
          <p:cNvSpPr txBox="1"/>
          <p:nvPr/>
        </p:nvSpPr>
        <p:spPr>
          <a:xfrm>
            <a:off x="7366303" y="4267200"/>
            <a:ext cx="25406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Call the </a:t>
            </a:r>
            <a:r>
              <a:rPr lang="en-US" sz="2400" b="1" dirty="0"/>
              <a:t>o</a:t>
            </a:r>
            <a:r>
              <a:rPr lang="en-US" sz="2400" dirty="0"/>
              <a:t>utput executable “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snippet</a:t>
            </a:r>
            <a:r>
              <a:rPr lang="en-US" sz="2400" dirty="0"/>
              <a:t>” (instead of default name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a.out</a:t>
            </a:r>
            <a:r>
              <a:rPr lang="en-US" sz="2400" dirty="0"/>
              <a:t>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463831E-3B5B-4557-9FB7-CFEF979B621F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7189663" y="3598650"/>
            <a:ext cx="1446944" cy="6685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7BFA9E4-3C21-43BD-A221-8F422267E71C}"/>
              </a:ext>
            </a:extLst>
          </p:cNvPr>
          <p:cNvCxnSpPr>
            <a:cxnSpLocks/>
          </p:cNvCxnSpPr>
          <p:nvPr/>
        </p:nvCxnSpPr>
        <p:spPr>
          <a:xfrm flipH="1" flipV="1">
            <a:off x="8001000" y="3657600"/>
            <a:ext cx="639458" cy="6280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7D407E5-6DB7-4EC2-BE69-45C416E39D58}"/>
              </a:ext>
            </a:extLst>
          </p:cNvPr>
          <p:cNvSpPr txBox="1"/>
          <p:nvPr/>
        </p:nvSpPr>
        <p:spPr>
          <a:xfrm>
            <a:off x="8662613" y="1390471"/>
            <a:ext cx="2540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Your C source code is in the file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snippet.c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B116347-5FFF-476A-BDD3-2C2C22FDCDDC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9753600" y="2590800"/>
            <a:ext cx="179317" cy="6493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bject 5">
            <a:extLst>
              <a:ext uri="{FF2B5EF4-FFF2-40B4-BE49-F238E27FC236}">
                <a16:creationId xmlns:a16="http://schemas.microsoft.com/office/drawing/2014/main" id="{BDDC7F17-BBB4-4A3F-A55D-A0235B8F46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46506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70" dirty="0"/>
              <a:t>What Does this Command Mean?</a:t>
            </a:r>
            <a:endParaRPr spc="-25" dirty="0"/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A1830BD8-2AE1-4DF6-BB07-CC60A67AF5B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266438" y="6464985"/>
            <a:ext cx="36607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  <p:extLst>
      <p:ext uri="{BB962C8B-B14F-4D97-AF65-F5344CB8AC3E}">
        <p14:creationId xmlns:p14="http://schemas.microsoft.com/office/powerpoint/2010/main" val="1607158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Concepts </a:t>
            </a:r>
            <a:r>
              <a:rPr spc="-15" dirty="0"/>
              <a:t>of </a:t>
            </a:r>
            <a:r>
              <a:rPr spc="-25" dirty="0"/>
              <a:t>Linux</a:t>
            </a:r>
            <a:r>
              <a:rPr spc="-229" dirty="0"/>
              <a:t> </a:t>
            </a:r>
            <a:r>
              <a:rPr spc="-6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023365"/>
            <a:ext cx="9051290" cy="4801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10" dirty="0">
                <a:solidFill>
                  <a:srgbClr val="001F5F"/>
                </a:solidFill>
                <a:latin typeface="Calibri Light"/>
                <a:cs typeface="Calibri Light"/>
              </a:rPr>
              <a:t>(An </a:t>
            </a:r>
            <a:r>
              <a:rPr sz="3200" b="0" spc="-25" dirty="0">
                <a:solidFill>
                  <a:srgbClr val="001F5F"/>
                </a:solidFill>
                <a:latin typeface="Calibri Light"/>
                <a:cs typeface="Calibri Light"/>
              </a:rPr>
              <a:t>overview </a:t>
            </a:r>
            <a:r>
              <a:rPr sz="3200" b="0" spc="-10" dirty="0">
                <a:solidFill>
                  <a:srgbClr val="001F5F"/>
                </a:solidFill>
                <a:latin typeface="Calibri Light"/>
                <a:cs typeface="Calibri Light"/>
              </a:rPr>
              <a:t>of the </a:t>
            </a:r>
            <a:r>
              <a:rPr sz="3200" b="0" spc="-15" dirty="0">
                <a:solidFill>
                  <a:srgbClr val="001F5F"/>
                </a:solidFill>
                <a:latin typeface="Calibri Light"/>
                <a:cs typeface="Calibri Light"/>
              </a:rPr>
              <a:t>services </a:t>
            </a:r>
            <a:r>
              <a:rPr sz="3200" b="0" spc="-30" dirty="0">
                <a:solidFill>
                  <a:srgbClr val="001F5F"/>
                </a:solidFill>
                <a:latin typeface="Calibri Light"/>
                <a:cs typeface="Calibri Light"/>
              </a:rPr>
              <a:t>provided </a:t>
            </a:r>
            <a:r>
              <a:rPr sz="3200" b="0" spc="-20" dirty="0">
                <a:solidFill>
                  <a:srgbClr val="001F5F"/>
                </a:solidFill>
                <a:latin typeface="Calibri Light"/>
                <a:cs typeface="Calibri Light"/>
              </a:rPr>
              <a:t>by </a:t>
            </a:r>
            <a:r>
              <a:rPr sz="3200" b="0" dirty="0">
                <a:solidFill>
                  <a:srgbClr val="001F5F"/>
                </a:solidFill>
                <a:latin typeface="Calibri Light"/>
                <a:cs typeface="Calibri Light"/>
              </a:rPr>
              <a:t>a </a:t>
            </a:r>
            <a:r>
              <a:rPr sz="3200" b="0" spc="-15" dirty="0">
                <a:solidFill>
                  <a:srgbClr val="001F5F"/>
                </a:solidFill>
                <a:latin typeface="Calibri Light"/>
                <a:cs typeface="Calibri Light"/>
              </a:rPr>
              <a:t>Linux</a:t>
            </a:r>
            <a:r>
              <a:rPr sz="3200" b="0" spc="-450" dirty="0">
                <a:solidFill>
                  <a:srgbClr val="001F5F"/>
                </a:solidFill>
                <a:latin typeface="Calibri Light"/>
                <a:cs typeface="Calibri Light"/>
              </a:rPr>
              <a:t> </a:t>
            </a:r>
            <a:r>
              <a:rPr sz="3200" b="0" spc="-45" dirty="0">
                <a:solidFill>
                  <a:srgbClr val="001F5F"/>
                </a:solidFill>
                <a:latin typeface="Calibri Light"/>
                <a:cs typeface="Calibri Light"/>
              </a:rPr>
              <a:t>system)</a:t>
            </a:r>
            <a:endParaRPr sz="3200" dirty="0">
              <a:latin typeface="Calibri Light"/>
              <a:cs typeface="Calibri Light"/>
            </a:endParaRPr>
          </a:p>
          <a:p>
            <a:pPr marL="241300" indent="-228600">
              <a:lnSpc>
                <a:spcPct val="100000"/>
              </a:lnSpc>
              <a:spcBef>
                <a:spcPts val="22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Files </a:t>
            </a:r>
            <a:r>
              <a:rPr sz="2800" spc="-5" dirty="0">
                <a:latin typeface="Calibri"/>
                <a:cs typeface="Calibri"/>
              </a:rPr>
              <a:t>and the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Filesystem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Processes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Users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Groups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Permissions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Signals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Interprocess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Communication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Headers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Error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Handling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122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File </a:t>
            </a:r>
            <a:r>
              <a:rPr spc="-20" dirty="0"/>
              <a:t>and the </a:t>
            </a:r>
            <a:r>
              <a:rPr spc="-50" dirty="0"/>
              <a:t>Filesystem </a:t>
            </a:r>
            <a:r>
              <a:rPr dirty="0"/>
              <a:t>– </a:t>
            </a:r>
            <a:r>
              <a:rPr spc="-35" dirty="0"/>
              <a:t>regular</a:t>
            </a:r>
            <a:r>
              <a:rPr spc="-484" dirty="0"/>
              <a:t> </a:t>
            </a:r>
            <a:r>
              <a:rPr spc="-15" dirty="0"/>
              <a:t>files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736801"/>
            <a:ext cx="10360661" cy="4316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u="sng" dirty="0">
                <a:latin typeface="Calibri"/>
                <a:cs typeface="Calibri"/>
              </a:rPr>
              <a:t>In </a:t>
            </a:r>
            <a:r>
              <a:rPr sz="2600" u="sng" spc="-5" dirty="0">
                <a:latin typeface="Calibri"/>
                <a:cs typeface="Calibri"/>
              </a:rPr>
              <a:t>Linux, </a:t>
            </a:r>
            <a:r>
              <a:rPr sz="2600" u="sng" dirty="0">
                <a:latin typeface="Calibri"/>
                <a:cs typeface="Calibri"/>
              </a:rPr>
              <a:t>everything is a </a:t>
            </a:r>
            <a:r>
              <a:rPr sz="2600" u="sng" spc="-5" dirty="0">
                <a:latin typeface="Calibri"/>
                <a:cs typeface="Calibri"/>
              </a:rPr>
              <a:t>file</a:t>
            </a:r>
            <a:r>
              <a:rPr sz="2600" spc="-5" dirty="0">
                <a:latin typeface="Calibri"/>
                <a:cs typeface="Calibri"/>
              </a:rPr>
              <a:t>, </a:t>
            </a:r>
            <a:r>
              <a:rPr sz="2600" spc="-10" dirty="0">
                <a:latin typeface="Calibri"/>
                <a:cs typeface="Calibri"/>
              </a:rPr>
              <a:t>even </a:t>
            </a:r>
            <a:r>
              <a:rPr sz="2600" dirty="0">
                <a:latin typeface="Calibri"/>
                <a:cs typeface="Calibri"/>
              </a:rPr>
              <a:t>it doesn’t look </a:t>
            </a:r>
            <a:r>
              <a:rPr sz="2600" spc="-20" dirty="0">
                <a:latin typeface="Calibri"/>
                <a:cs typeface="Calibri"/>
              </a:rPr>
              <a:t>like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one</a:t>
            </a:r>
            <a:r>
              <a:rPr lang="en-US" sz="2600" spc="-5" dirty="0">
                <a:latin typeface="Calibri"/>
                <a:cs typeface="Calibri"/>
              </a:rPr>
              <a:t> (directory, disk …).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dirty="0">
                <a:latin typeface="Calibri"/>
                <a:cs typeface="Calibri"/>
              </a:rPr>
              <a:t>To access it, a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file must be opened </a:t>
            </a:r>
            <a:r>
              <a:rPr sz="2600" spc="-25" dirty="0">
                <a:latin typeface="Calibri"/>
                <a:cs typeface="Calibri"/>
              </a:rPr>
              <a:t>for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reading/writing</a:t>
            </a:r>
            <a:r>
              <a:rPr lang="en-US" sz="2600" spc="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An </a:t>
            </a:r>
            <a:r>
              <a:rPr sz="2600" i="1" spc="-5" dirty="0">
                <a:latin typeface="Calibri"/>
                <a:cs typeface="Calibri"/>
              </a:rPr>
              <a:t>open </a:t>
            </a:r>
            <a:r>
              <a:rPr sz="2600" spc="-5" dirty="0">
                <a:latin typeface="Calibri"/>
                <a:cs typeface="Calibri"/>
              </a:rPr>
              <a:t>file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20" dirty="0">
                <a:latin typeface="Calibri"/>
                <a:cs typeface="Calibri"/>
              </a:rPr>
              <a:t>referenced </a:t>
            </a:r>
            <a:r>
              <a:rPr sz="2600" dirty="0">
                <a:latin typeface="Calibri"/>
                <a:cs typeface="Calibri"/>
              </a:rPr>
              <a:t>via a </a:t>
            </a:r>
            <a:r>
              <a:rPr sz="2600" spc="-5" dirty="0">
                <a:latin typeface="Calibri"/>
                <a:cs typeface="Calibri"/>
              </a:rPr>
              <a:t>unique </a:t>
            </a:r>
            <a:r>
              <a:rPr sz="2600" spc="-10" dirty="0">
                <a:latin typeface="Calibri"/>
                <a:cs typeface="Calibri"/>
              </a:rPr>
              <a:t>descriptor </a:t>
            </a:r>
            <a:r>
              <a:rPr sz="2600" spc="5" dirty="0">
                <a:latin typeface="Calibri"/>
                <a:cs typeface="Calibri"/>
              </a:rPr>
              <a:t>(</a:t>
            </a:r>
            <a:r>
              <a:rPr sz="2400" spc="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400" spc="-1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400" spc="-5" dirty="0" err="1">
                <a:solidFill>
                  <a:srgbClr val="0070C0"/>
                </a:solidFill>
                <a:latin typeface="Consolas"/>
                <a:cs typeface="Consolas"/>
              </a:rPr>
              <a:t>fd</a:t>
            </a:r>
            <a:r>
              <a:rPr sz="2600" spc="-5" dirty="0">
                <a:latin typeface="Calibri"/>
                <a:cs typeface="Calibri"/>
              </a:rPr>
              <a:t>)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75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Regular files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spc="-15" dirty="0">
                <a:latin typeface="Calibri"/>
                <a:cs typeface="Calibri"/>
              </a:rPr>
              <a:t>organized </a:t>
            </a:r>
            <a:r>
              <a:rPr sz="2600" dirty="0">
                <a:latin typeface="Calibri"/>
                <a:cs typeface="Calibri"/>
              </a:rPr>
              <a:t>linearly as </a:t>
            </a:r>
            <a:r>
              <a:rPr sz="2600" spc="-10" dirty="0">
                <a:latin typeface="Calibri"/>
                <a:cs typeface="Calibri"/>
              </a:rPr>
              <a:t>byte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streams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No </a:t>
            </a:r>
            <a:r>
              <a:rPr sz="2200" spc="-15" dirty="0">
                <a:latin typeface="Calibri"/>
                <a:cs typeface="Calibri"/>
              </a:rPr>
              <a:t>concept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lang="en-US" sz="2200" spc="-20" dirty="0">
                <a:latin typeface="Calibri"/>
                <a:cs typeface="Calibri"/>
              </a:rPr>
              <a:t>‘</a:t>
            </a:r>
            <a:r>
              <a:rPr sz="2200" spc="-20" dirty="0">
                <a:latin typeface="Calibri"/>
                <a:cs typeface="Calibri"/>
              </a:rPr>
              <a:t>record</a:t>
            </a:r>
            <a:r>
              <a:rPr lang="en-US" sz="2200" spc="-20" dirty="0">
                <a:latin typeface="Calibri"/>
                <a:cs typeface="Calibri"/>
              </a:rPr>
              <a:t>s’ (‘rows’).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Read/written at </a:t>
            </a:r>
            <a:r>
              <a:rPr sz="2200" spc="-5" dirty="0">
                <a:latin typeface="Calibri"/>
                <a:cs typeface="Calibri"/>
              </a:rPr>
              <a:t>file position </a:t>
            </a:r>
            <a:r>
              <a:rPr sz="2200" spc="-15" dirty="0">
                <a:latin typeface="Calibri"/>
                <a:cs typeface="Calibri"/>
              </a:rPr>
              <a:t>(offset), </a:t>
            </a:r>
            <a:r>
              <a:rPr sz="2200" spc="-5" dirty="0">
                <a:latin typeface="Calibri"/>
                <a:cs typeface="Calibri"/>
              </a:rPr>
              <a:t>which is </a:t>
            </a:r>
            <a:r>
              <a:rPr sz="2200" spc="-10" dirty="0">
                <a:latin typeface="Calibri"/>
                <a:cs typeface="Calibri"/>
              </a:rPr>
              <a:t>bound by </a:t>
            </a:r>
            <a:r>
              <a:rPr sz="2200" spc="-5" dirty="0">
                <a:latin typeface="Calibri"/>
                <a:cs typeface="Calibri"/>
              </a:rPr>
              <a:t>a 64-bit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-40" dirty="0">
                <a:latin typeface="Calibri"/>
                <a:cs typeface="Calibri"/>
              </a:rPr>
              <a:t>integer.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Writing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5" dirty="0">
                <a:latin typeface="Calibri"/>
                <a:cs typeface="Calibri"/>
              </a:rPr>
              <a:t>byte beyond </a:t>
            </a: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end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the file </a:t>
            </a:r>
            <a:r>
              <a:rPr sz="2200" spc="-15" dirty="0">
                <a:latin typeface="Calibri"/>
                <a:cs typeface="Calibri"/>
              </a:rPr>
              <a:t>(</a:t>
            </a:r>
            <a:r>
              <a:rPr sz="22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sz="2200" spc="-15" dirty="0">
                <a:latin typeface="Calibri"/>
                <a:cs typeface="Calibri"/>
              </a:rPr>
              <a:t>) </a:t>
            </a:r>
            <a:r>
              <a:rPr sz="2200" spc="-5" dirty="0">
                <a:latin typeface="Calibri"/>
                <a:cs typeface="Calibri"/>
              </a:rPr>
              <a:t>will be </a:t>
            </a:r>
            <a:r>
              <a:rPr sz="2200" spc="-10" dirty="0">
                <a:latin typeface="Calibri"/>
                <a:cs typeface="Calibri"/>
              </a:rPr>
              <a:t>padded </a:t>
            </a:r>
            <a:r>
              <a:rPr sz="2200" spc="-5" dirty="0">
                <a:latin typeface="Calibri"/>
                <a:cs typeface="Calibri"/>
              </a:rPr>
              <a:t>with </a:t>
            </a:r>
            <a:r>
              <a:rPr sz="2200" spc="-10" dirty="0">
                <a:latin typeface="Calibri"/>
                <a:cs typeface="Calibri"/>
              </a:rPr>
              <a:t>intervening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zeros</a:t>
            </a:r>
            <a:r>
              <a:rPr lang="en-US" sz="2200" spc="-2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Can’t </a:t>
            </a:r>
            <a:r>
              <a:rPr sz="2200" spc="-10" dirty="0">
                <a:latin typeface="Calibri"/>
                <a:cs typeface="Calibri"/>
              </a:rPr>
              <a:t>write bytes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a position </a:t>
            </a:r>
            <a:r>
              <a:rPr sz="2200" spc="-25" dirty="0">
                <a:latin typeface="Calibri"/>
                <a:cs typeface="Calibri"/>
              </a:rPr>
              <a:t>before </a:t>
            </a:r>
            <a:r>
              <a:rPr sz="2200" spc="-5" dirty="0">
                <a:latin typeface="Calibri"/>
                <a:cs typeface="Calibri"/>
              </a:rPr>
              <a:t>the 0 position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(negative)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Writing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 middle of </a:t>
            </a: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file </a:t>
            </a:r>
            <a:r>
              <a:rPr lang="en-US" sz="2200" spc="-5" dirty="0">
                <a:latin typeface="Calibri"/>
                <a:cs typeface="Calibri"/>
              </a:rPr>
              <a:t>will </a:t>
            </a:r>
            <a:r>
              <a:rPr sz="2200" spc="-10" dirty="0">
                <a:latin typeface="Calibri"/>
                <a:cs typeface="Calibri"/>
              </a:rPr>
              <a:t>overwrit</a:t>
            </a:r>
            <a:r>
              <a:rPr lang="en-US" sz="2200" spc="-10" dirty="0">
                <a:latin typeface="Calibri"/>
                <a:cs typeface="Calibri"/>
              </a:rPr>
              <a:t>e what’s currently there.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Can be </a:t>
            </a:r>
            <a:r>
              <a:rPr sz="2200" spc="-10" dirty="0">
                <a:latin typeface="Calibri"/>
                <a:cs typeface="Calibri"/>
              </a:rPr>
              <a:t>opened more </a:t>
            </a:r>
            <a:r>
              <a:rPr sz="2200" spc="-5" dirty="0">
                <a:latin typeface="Calibri"/>
                <a:cs typeface="Calibri"/>
              </a:rPr>
              <a:t>than </a:t>
            </a:r>
            <a:r>
              <a:rPr sz="2200" spc="-10" dirty="0">
                <a:latin typeface="Calibri"/>
                <a:cs typeface="Calibri"/>
              </a:rPr>
              <a:t>once </a:t>
            </a:r>
            <a:r>
              <a:rPr sz="2200" spc="-5" dirty="0">
                <a:latin typeface="Calibri"/>
                <a:cs typeface="Calibri"/>
              </a:rPr>
              <a:t>with </a:t>
            </a:r>
            <a:r>
              <a:rPr sz="2200" spc="-20" dirty="0">
                <a:latin typeface="Calibri"/>
                <a:cs typeface="Calibri"/>
              </a:rPr>
              <a:t>different </a:t>
            </a:r>
            <a:r>
              <a:rPr sz="2200" spc="-45" dirty="0">
                <a:latin typeface="Calibri"/>
                <a:cs typeface="Calibri"/>
              </a:rPr>
              <a:t>fd’s,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or</a:t>
            </a:r>
            <a:endParaRPr sz="2200" dirty="0">
              <a:latin typeface="Calibri"/>
              <a:cs typeface="Calibri"/>
            </a:endParaRPr>
          </a:p>
          <a:p>
            <a:pPr marL="698500" marR="645795" lvl="1" indent="-228600">
              <a:lnSpc>
                <a:spcPct val="70000"/>
              </a:lnSpc>
              <a:spcBef>
                <a:spcPts val="6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single </a:t>
            </a:r>
            <a:r>
              <a:rPr sz="22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fd</a:t>
            </a:r>
            <a:r>
              <a:rPr sz="2200" i="1" spc="-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5" dirty="0">
                <a:latin typeface="Calibri"/>
                <a:cs typeface="Calibri"/>
              </a:rPr>
              <a:t>be used </a:t>
            </a:r>
            <a:r>
              <a:rPr sz="2200" spc="-10" dirty="0">
                <a:latin typeface="Calibri"/>
                <a:cs typeface="Calibri"/>
              </a:rPr>
              <a:t>by more </a:t>
            </a:r>
            <a:r>
              <a:rPr sz="2200" spc="-5" dirty="0">
                <a:latin typeface="Calibri"/>
                <a:cs typeface="Calibri"/>
              </a:rPr>
              <a:t>than one </a:t>
            </a:r>
            <a:r>
              <a:rPr sz="2200" spc="-10" dirty="0">
                <a:latin typeface="Calibri"/>
                <a:cs typeface="Calibri"/>
              </a:rPr>
              <a:t>process</a:t>
            </a:r>
            <a:r>
              <a:rPr lang="en-US" sz="2200" spc="-10" dirty="0">
                <a:latin typeface="Calibri"/>
                <a:cs typeface="Calibri"/>
              </a:rPr>
              <a:t> = program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(concurrent </a:t>
            </a:r>
            <a:r>
              <a:rPr sz="2200" spc="-5" dirty="0">
                <a:latin typeface="Calibri"/>
                <a:cs typeface="Calibri"/>
              </a:rPr>
              <a:t>access </a:t>
            </a:r>
            <a:r>
              <a:rPr sz="2200" spc="-10" dirty="0">
                <a:latin typeface="Calibri"/>
                <a:cs typeface="Calibri"/>
              </a:rPr>
              <a:t>should be  properly </a:t>
            </a:r>
            <a:r>
              <a:rPr sz="2200" spc="-15" dirty="0">
                <a:latin typeface="Calibri"/>
                <a:cs typeface="Calibri"/>
              </a:rPr>
              <a:t>synchronized)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file </a:t>
            </a:r>
            <a:r>
              <a:rPr sz="2200" spc="-5" dirty="0">
                <a:latin typeface="Calibri"/>
                <a:cs typeface="Calibri"/>
              </a:rPr>
              <a:t>is accessed via its filename but </a:t>
            </a:r>
            <a:r>
              <a:rPr lang="en-US" sz="2200" spc="-5" dirty="0">
                <a:latin typeface="Calibri"/>
                <a:cs typeface="Calibri"/>
              </a:rPr>
              <a:t>is </a:t>
            </a:r>
            <a:r>
              <a:rPr sz="2200" spc="-20" dirty="0">
                <a:latin typeface="Calibri"/>
                <a:cs typeface="Calibri"/>
              </a:rPr>
              <a:t>referenced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an </a:t>
            </a:r>
            <a:r>
              <a:rPr sz="2200" i="1" spc="-5" dirty="0">
                <a:latin typeface="Calibri"/>
                <a:cs typeface="Calibri"/>
              </a:rPr>
              <a:t>inode </a:t>
            </a:r>
            <a:r>
              <a:rPr sz="2200" spc="-15" dirty="0">
                <a:latin typeface="Calibri"/>
                <a:cs typeface="Calibri"/>
              </a:rPr>
              <a:t>(information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node)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8194" name="Picture 2" descr="Image result for files">
            <a:extLst>
              <a:ext uri="{FF2B5EF4-FFF2-40B4-BE49-F238E27FC236}">
                <a16:creationId xmlns:a16="http://schemas.microsoft.com/office/drawing/2014/main" id="{D2992204-843C-4FF8-9705-5E462912B5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1111"/>
          <a:stretch/>
        </p:blipFill>
        <p:spPr bwMode="auto">
          <a:xfrm>
            <a:off x="9753600" y="580735"/>
            <a:ext cx="1754504" cy="1267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8215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File </a:t>
            </a:r>
            <a:r>
              <a:rPr spc="-20" dirty="0"/>
              <a:t>and the </a:t>
            </a:r>
            <a:r>
              <a:rPr spc="-50" dirty="0"/>
              <a:t>Filesystem </a:t>
            </a:r>
            <a:r>
              <a:rPr dirty="0"/>
              <a:t>– </a:t>
            </a:r>
            <a:r>
              <a:rPr spc="-35" dirty="0"/>
              <a:t>regular </a:t>
            </a:r>
            <a:r>
              <a:rPr spc="-15" dirty="0"/>
              <a:t>files</a:t>
            </a:r>
            <a:r>
              <a:rPr spc="-530" dirty="0"/>
              <a:t> </a:t>
            </a:r>
            <a:r>
              <a:rPr spc="-30" dirty="0"/>
              <a:t>(inode)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5757"/>
            <a:ext cx="10161905" cy="118364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5080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i="1" dirty="0">
                <a:latin typeface="Calibri"/>
                <a:cs typeface="Calibri"/>
              </a:rPr>
              <a:t>inode </a:t>
            </a:r>
            <a:r>
              <a:rPr sz="2600" dirty="0">
                <a:latin typeface="Calibri"/>
                <a:cs typeface="Calibri"/>
              </a:rPr>
              <a:t>is assigned an </a:t>
            </a:r>
            <a:r>
              <a:rPr sz="2600" spc="-10" dirty="0">
                <a:latin typeface="Calibri"/>
                <a:cs typeface="Calibri"/>
              </a:rPr>
              <a:t>integer value </a:t>
            </a:r>
            <a:r>
              <a:rPr sz="2600" spc="-5" dirty="0">
                <a:latin typeface="Calibri"/>
                <a:cs typeface="Calibri"/>
              </a:rPr>
              <a:t>unique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filesystem </a:t>
            </a:r>
            <a:r>
              <a:rPr sz="2600" spc="-5" dirty="0">
                <a:latin typeface="Calibri"/>
                <a:cs typeface="Calibri"/>
              </a:rPr>
              <a:t>(inode </a:t>
            </a:r>
            <a:r>
              <a:rPr sz="2600" spc="-35" dirty="0">
                <a:latin typeface="Calibri"/>
                <a:cs typeface="Calibri"/>
              </a:rPr>
              <a:t>number,  </a:t>
            </a:r>
            <a:r>
              <a:rPr sz="2600" spc="-5" dirty="0">
                <a:latin typeface="Calibri"/>
                <a:cs typeface="Calibri"/>
              </a:rPr>
              <a:t>or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i="1" spc="-5" dirty="0" err="1">
                <a:latin typeface="Calibri"/>
                <a:cs typeface="Calibri"/>
              </a:rPr>
              <a:t>i</a:t>
            </a:r>
            <a:r>
              <a:rPr sz="2600" i="1" spc="-5" dirty="0">
                <a:latin typeface="Calibri"/>
                <a:cs typeface="Calibri"/>
              </a:rPr>
              <a:t>-number</a:t>
            </a:r>
            <a:r>
              <a:rPr sz="2600" spc="-5" dirty="0">
                <a:latin typeface="Calibri"/>
                <a:cs typeface="Calibri"/>
              </a:rPr>
              <a:t>)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An inode </a:t>
            </a:r>
            <a:r>
              <a:rPr sz="2600" spc="-15" dirty="0">
                <a:latin typeface="Calibri"/>
                <a:cs typeface="Calibri"/>
              </a:rPr>
              <a:t>stores metadata </a:t>
            </a:r>
            <a:r>
              <a:rPr sz="2600" spc="-5" dirty="0">
                <a:latin typeface="Calibri"/>
                <a:cs typeface="Calibri"/>
              </a:rPr>
              <a:t>associated </a:t>
            </a:r>
            <a:r>
              <a:rPr sz="2600" dirty="0">
                <a:latin typeface="Calibri"/>
                <a:cs typeface="Calibri"/>
              </a:rPr>
              <a:t>with 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file: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923158"/>
            <a:ext cx="4972050" cy="2794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0" indent="-229235">
              <a:lnSpc>
                <a:spcPts val="2630"/>
              </a:lnSpc>
              <a:spcBef>
                <a:spcPts val="9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modification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timestamp</a:t>
            </a:r>
            <a:endParaRPr sz="2200" dirty="0">
              <a:latin typeface="Calibri"/>
              <a:cs typeface="Calibri"/>
            </a:endParaRPr>
          </a:p>
          <a:p>
            <a:pPr marL="698500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owner</a:t>
            </a:r>
            <a:endParaRPr sz="2200" dirty="0">
              <a:latin typeface="Calibri"/>
              <a:cs typeface="Calibri"/>
            </a:endParaRPr>
          </a:p>
          <a:p>
            <a:pPr marL="698500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type </a:t>
            </a:r>
            <a:r>
              <a:rPr sz="2200" spc="-10" dirty="0">
                <a:latin typeface="Calibri"/>
                <a:cs typeface="Calibri"/>
              </a:rPr>
              <a:t>(file, </a:t>
            </a:r>
            <a:r>
              <a:rPr sz="2200" spc="-55" dirty="0">
                <a:latin typeface="Calibri"/>
                <a:cs typeface="Calibri"/>
              </a:rPr>
              <a:t>dir,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pipe)</a:t>
            </a:r>
            <a:endParaRPr sz="2200" dirty="0">
              <a:latin typeface="Calibri"/>
              <a:cs typeface="Calibri"/>
            </a:endParaRPr>
          </a:p>
          <a:p>
            <a:pPr marL="698500" indent="-229235">
              <a:lnSpc>
                <a:spcPts val="261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length</a:t>
            </a:r>
            <a:endParaRPr sz="2200" dirty="0">
              <a:latin typeface="Calibri"/>
              <a:cs typeface="Calibri"/>
            </a:endParaRPr>
          </a:p>
          <a:p>
            <a:pPr marL="698500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location </a:t>
            </a:r>
            <a:r>
              <a:rPr sz="2200" spc="-5" dirty="0">
                <a:latin typeface="Calibri"/>
                <a:cs typeface="Calibri"/>
              </a:rPr>
              <a:t>of </a:t>
            </a:r>
            <a:r>
              <a:rPr sz="2200" spc="-30" dirty="0">
                <a:latin typeface="Calibri"/>
                <a:cs typeface="Calibri"/>
              </a:rPr>
              <a:t>file’s </a:t>
            </a:r>
            <a:r>
              <a:rPr sz="2200" spc="-15" dirty="0">
                <a:latin typeface="Calibri"/>
                <a:cs typeface="Calibri"/>
              </a:rPr>
              <a:t>data,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etc</a:t>
            </a:r>
            <a:endParaRPr sz="2200" dirty="0">
              <a:latin typeface="Calibri"/>
              <a:cs typeface="Calibri"/>
            </a:endParaRPr>
          </a:p>
          <a:p>
            <a:pPr marL="698500" indent="-229235">
              <a:lnSpc>
                <a:spcPts val="262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b="1" spc="-5" dirty="0">
                <a:latin typeface="Calibri"/>
                <a:cs typeface="Calibri"/>
              </a:rPr>
              <a:t>but no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filename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3110"/>
              </a:lnSpc>
              <a:spcBef>
                <a:spcPts val="3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inode 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both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3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u="sng" spc="-15" dirty="0">
                <a:latin typeface="Calibri"/>
                <a:cs typeface="Calibri"/>
              </a:rPr>
              <a:t>physical </a:t>
            </a:r>
            <a:r>
              <a:rPr sz="2200" u="sng" spc="-5" dirty="0">
                <a:latin typeface="Calibri"/>
                <a:cs typeface="Calibri"/>
              </a:rPr>
              <a:t>object</a:t>
            </a:r>
            <a:r>
              <a:rPr sz="2200" spc="-5" dirty="0">
                <a:latin typeface="Calibri"/>
                <a:cs typeface="Calibri"/>
              </a:rPr>
              <a:t>, </a:t>
            </a:r>
            <a:r>
              <a:rPr sz="2200" spc="-15" dirty="0">
                <a:latin typeface="Calibri"/>
                <a:cs typeface="Calibri"/>
              </a:rPr>
              <a:t>located </a:t>
            </a:r>
            <a:r>
              <a:rPr sz="2200" spc="-5" dirty="0">
                <a:latin typeface="Calibri"/>
                <a:cs typeface="Calibri"/>
              </a:rPr>
              <a:t>on </a:t>
            </a:r>
            <a:r>
              <a:rPr sz="2200" spc="-10" dirty="0">
                <a:latin typeface="Calibri"/>
                <a:cs typeface="Calibri"/>
              </a:rPr>
              <a:t>disk,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4394" y="5689498"/>
            <a:ext cx="82486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u="sng" spc="-10" dirty="0">
                <a:latin typeface="Calibri"/>
                <a:cs typeface="Calibri"/>
              </a:rPr>
              <a:t>conceptual </a:t>
            </a:r>
            <a:r>
              <a:rPr sz="2200" u="sng" spc="-30" dirty="0">
                <a:latin typeface="Calibri"/>
                <a:cs typeface="Calibri"/>
              </a:rPr>
              <a:t>entity</a:t>
            </a:r>
            <a:r>
              <a:rPr sz="2200" spc="-30" dirty="0">
                <a:latin typeface="Calibri"/>
                <a:cs typeface="Calibri"/>
              </a:rPr>
              <a:t>, </a:t>
            </a:r>
            <a:r>
              <a:rPr sz="2200" spc="-15" dirty="0">
                <a:latin typeface="Calibri"/>
                <a:cs typeface="Calibri"/>
              </a:rPr>
              <a:t>represented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u="sng" spc="-20" dirty="0">
                <a:latin typeface="Calibri"/>
                <a:cs typeface="Calibri"/>
              </a:rPr>
              <a:t>data </a:t>
            </a:r>
            <a:r>
              <a:rPr sz="2200" u="sng" spc="-10" dirty="0">
                <a:latin typeface="Calibri"/>
                <a:cs typeface="Calibri"/>
              </a:rPr>
              <a:t>structure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Linux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kernel</a:t>
            </a:r>
            <a:r>
              <a:rPr lang="en-US" sz="2200" spc="-2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47957" y="3546746"/>
            <a:ext cx="3996657" cy="19319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43770" y="3021838"/>
            <a:ext cx="1732914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libri"/>
                <a:cs typeface="Calibri"/>
              </a:rPr>
              <a:t>Kernel-maintained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in-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alibri"/>
                <a:cs typeface="Calibri"/>
              </a:rPr>
              <a:t>memory </a:t>
            </a:r>
            <a:r>
              <a:rPr sz="1400" b="1" spc="-5" dirty="0">
                <a:latin typeface="Calibri"/>
                <a:cs typeface="Calibri"/>
              </a:rPr>
              <a:t>data</a:t>
            </a:r>
            <a:r>
              <a:rPr sz="1400" b="1" spc="-1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structure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01053" y="3237357"/>
            <a:ext cx="15875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Per </a:t>
            </a:r>
            <a:r>
              <a:rPr sz="1400" b="1" dirty="0">
                <a:latin typeface="Calibri"/>
                <a:cs typeface="Calibri"/>
              </a:rPr>
              <a:t>process</a:t>
            </a:r>
            <a:r>
              <a:rPr sz="1400" b="1" spc="-8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allocated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30208" y="5255717"/>
            <a:ext cx="10953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(From</a:t>
            </a:r>
            <a:r>
              <a:rPr sz="1200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Wikipedia)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32809" y="4154881"/>
            <a:ext cx="16510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(From</a:t>
            </a:r>
            <a:r>
              <a:rPr sz="12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geeksforgeeks.com)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4830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File </a:t>
            </a:r>
            <a:r>
              <a:rPr spc="-20" dirty="0"/>
              <a:t>and the </a:t>
            </a:r>
            <a:r>
              <a:rPr spc="-50" dirty="0"/>
              <a:t>Filesystem </a:t>
            </a:r>
            <a:r>
              <a:rPr dirty="0"/>
              <a:t>– </a:t>
            </a:r>
            <a:r>
              <a:rPr spc="-40" dirty="0"/>
              <a:t>directories </a:t>
            </a:r>
            <a:r>
              <a:rPr dirty="0"/>
              <a:t>&amp;</a:t>
            </a:r>
            <a:r>
              <a:rPr spc="-480" dirty="0"/>
              <a:t> </a:t>
            </a:r>
            <a:r>
              <a:rPr spc="-30" dirty="0"/>
              <a:t>links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17547"/>
            <a:ext cx="10513061" cy="45593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Files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25" dirty="0">
                <a:latin typeface="Calibri"/>
                <a:cs typeface="Calibri"/>
              </a:rPr>
              <a:t>always </a:t>
            </a:r>
            <a:r>
              <a:rPr sz="2800" spc="-5" dirty="0">
                <a:latin typeface="Calibri"/>
                <a:cs typeface="Calibri"/>
              </a:rPr>
              <a:t>opened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user space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5" dirty="0">
                <a:latin typeface="Calibri"/>
                <a:cs typeface="Calibri"/>
              </a:rPr>
              <a:t>a name, not an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inode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directory </a:t>
            </a:r>
            <a:r>
              <a:rPr sz="2800" spc="-5" dirty="0">
                <a:latin typeface="Calibri"/>
                <a:cs typeface="Calibri"/>
              </a:rPr>
              <a:t>maps a </a:t>
            </a:r>
            <a:r>
              <a:rPr sz="2800" spc="-10" dirty="0">
                <a:latin typeface="Calibri"/>
                <a:cs typeface="Calibri"/>
              </a:rPr>
              <a:t>human-readable name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inode number </a:t>
            </a:r>
            <a:r>
              <a:rPr sz="2800" spc="-5" dirty="0">
                <a:latin typeface="Calibri"/>
                <a:cs typeface="Calibri"/>
              </a:rPr>
              <a:t>(a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link)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directory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30" dirty="0">
                <a:latin typeface="Calibri"/>
                <a:cs typeface="Calibri"/>
              </a:rPr>
              <a:t>like </a:t>
            </a:r>
            <a:r>
              <a:rPr sz="2800" spc="-20" dirty="0">
                <a:latin typeface="Calibri"/>
                <a:cs typeface="Calibri"/>
              </a:rPr>
              <a:t>any </a:t>
            </a:r>
            <a:r>
              <a:rPr sz="2800" spc="-10" dirty="0">
                <a:latin typeface="Calibri"/>
                <a:cs typeface="Calibri"/>
              </a:rPr>
              <a:t>normal file, but only </a:t>
            </a:r>
            <a:r>
              <a:rPr sz="2800" spc="-15" dirty="0">
                <a:latin typeface="Calibri"/>
                <a:cs typeface="Calibri"/>
              </a:rPr>
              <a:t>contains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mappings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kernel </a:t>
            </a:r>
            <a:r>
              <a:rPr sz="2800" spc="-5" dirty="0">
                <a:latin typeface="Calibri"/>
                <a:cs typeface="Calibri"/>
              </a:rPr>
              <a:t>opens the </a:t>
            </a:r>
            <a:r>
              <a:rPr sz="2800" spc="-10" dirty="0">
                <a:latin typeface="Calibri"/>
                <a:cs typeface="Calibri"/>
              </a:rPr>
              <a:t>directory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obtains inode </a:t>
            </a:r>
            <a:r>
              <a:rPr lang="en-US" sz="2800" b="0" i="0" dirty="0">
                <a:solidFill>
                  <a:srgbClr val="202124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№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filename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Nested directories </a:t>
            </a:r>
            <a:r>
              <a:rPr sz="2800" spc="-25" dirty="0">
                <a:latin typeface="Calibri"/>
                <a:cs typeface="Calibri"/>
              </a:rPr>
              <a:t>make </a:t>
            </a:r>
            <a:r>
              <a:rPr sz="2800" spc="-5" dirty="0">
                <a:latin typeface="Calibri"/>
                <a:cs typeface="Calibri"/>
              </a:rPr>
              <a:t>up “pathnames” </a:t>
            </a:r>
            <a:r>
              <a:rPr sz="2800" dirty="0">
                <a:latin typeface="Calibri"/>
                <a:cs typeface="Calibri"/>
              </a:rPr>
              <a:t>(each </a:t>
            </a:r>
            <a:r>
              <a:rPr sz="2800" spc="-10" dirty="0">
                <a:latin typeface="Calibri"/>
                <a:cs typeface="Calibri"/>
              </a:rPr>
              <a:t>part </a:t>
            </a:r>
            <a:r>
              <a:rPr sz="2800" spc="-5" dirty="0">
                <a:latin typeface="Calibri"/>
                <a:cs typeface="Calibri"/>
              </a:rPr>
              <a:t>is a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dentry</a:t>
            </a:r>
            <a:r>
              <a:rPr lang="en-US" sz="2800" i="1" spc="-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= </a:t>
            </a:r>
            <a:r>
              <a:rPr lang="en-US" sz="2800" b="1" spc="-10" dirty="0">
                <a:latin typeface="Calibri"/>
                <a:cs typeface="Calibri"/>
              </a:rPr>
              <a:t>d</a:t>
            </a:r>
            <a:r>
              <a:rPr lang="en-US" sz="2800" spc="-10" dirty="0">
                <a:latin typeface="Calibri"/>
                <a:cs typeface="Calibri"/>
              </a:rPr>
              <a:t>irectory </a:t>
            </a:r>
            <a:r>
              <a:rPr lang="en-US" sz="2800" b="1" spc="-10" dirty="0">
                <a:latin typeface="Calibri"/>
                <a:cs typeface="Calibri"/>
              </a:rPr>
              <a:t>entry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lang="en-US"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A “fully </a:t>
            </a:r>
            <a:r>
              <a:rPr lang="en-US" sz="2800" spc="-10" dirty="0">
                <a:latin typeface="Calibri"/>
                <a:cs typeface="Calibri"/>
              </a:rPr>
              <a:t>qualified” </a:t>
            </a:r>
            <a:r>
              <a:rPr lang="en-US" sz="2800" spc="-5" dirty="0">
                <a:latin typeface="Calibri"/>
                <a:cs typeface="Calibri"/>
              </a:rPr>
              <a:t>pathname </a:t>
            </a:r>
            <a:r>
              <a:rPr lang="en-US" sz="2800" spc="-15" dirty="0">
                <a:latin typeface="Calibri"/>
                <a:cs typeface="Calibri"/>
              </a:rPr>
              <a:t>starts at </a:t>
            </a:r>
            <a:r>
              <a:rPr lang="en-US" sz="2800" spc="-70" dirty="0">
                <a:latin typeface="Calibri"/>
                <a:cs typeface="Calibri"/>
              </a:rPr>
              <a:t>“/”, </a:t>
            </a:r>
            <a:r>
              <a:rPr lang="en-US" sz="2800" spc="-10" dirty="0">
                <a:latin typeface="Calibri"/>
                <a:cs typeface="Calibri"/>
              </a:rPr>
              <a:t>called </a:t>
            </a:r>
            <a:r>
              <a:rPr lang="en-US" sz="2800" spc="-5" dirty="0">
                <a:latin typeface="Calibri"/>
                <a:cs typeface="Calibri"/>
              </a:rPr>
              <a:t>an </a:t>
            </a:r>
            <a:r>
              <a:rPr lang="en-US" sz="2800" spc="-10" dirty="0">
                <a:latin typeface="Calibri"/>
                <a:cs typeface="Calibri"/>
              </a:rPr>
              <a:t>absolute</a:t>
            </a:r>
            <a:r>
              <a:rPr lang="en-US" sz="2800" spc="29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pathname.</a:t>
            </a:r>
            <a:endParaRPr lang="en-US"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Otherwise, </a:t>
            </a:r>
            <a:r>
              <a:rPr sz="2800" spc="-25" dirty="0">
                <a:latin typeface="Calibri"/>
                <a:cs typeface="Calibri"/>
              </a:rPr>
              <a:t>it’s </a:t>
            </a:r>
            <a:r>
              <a:rPr sz="2800" spc="-5" dirty="0">
                <a:latin typeface="Calibri"/>
                <a:cs typeface="Calibri"/>
              </a:rPr>
              <a:t>called </a:t>
            </a:r>
            <a:r>
              <a:rPr sz="2800" spc="-15" dirty="0">
                <a:latin typeface="Calibri"/>
                <a:cs typeface="Calibri"/>
              </a:rPr>
              <a:t>relative </a:t>
            </a:r>
            <a:r>
              <a:rPr sz="2800" spc="-10" dirty="0">
                <a:latin typeface="Calibri"/>
                <a:cs typeface="Calibri"/>
              </a:rPr>
              <a:t>pathname </a:t>
            </a:r>
            <a:r>
              <a:rPr sz="2800" spc="-15" dirty="0">
                <a:latin typeface="Calibri"/>
                <a:cs typeface="Calibri"/>
              </a:rPr>
              <a:t>(starts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5" dirty="0">
                <a:latin typeface="Calibri"/>
                <a:cs typeface="Calibri"/>
              </a:rPr>
              <a:t>current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directory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marR="107696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Kernel </a:t>
            </a:r>
            <a:r>
              <a:rPr sz="2800" spc="-10" dirty="0">
                <a:latin typeface="Calibri"/>
                <a:cs typeface="Calibri"/>
              </a:rPr>
              <a:t>only allows certain </a:t>
            </a:r>
            <a:r>
              <a:rPr sz="2800" spc="-20" dirty="0">
                <a:latin typeface="Calibri"/>
                <a:cs typeface="Calibri"/>
              </a:rPr>
              <a:t>syscalls to </a:t>
            </a:r>
            <a:r>
              <a:rPr sz="2800" spc="-15" dirty="0">
                <a:latin typeface="Calibri"/>
                <a:cs typeface="Calibri"/>
              </a:rPr>
              <a:t>directories </a:t>
            </a:r>
            <a:r>
              <a:rPr sz="2800" spc="-20" dirty="0">
                <a:latin typeface="Calibri"/>
                <a:cs typeface="Calibri"/>
              </a:rPr>
              <a:t>(for </a:t>
            </a:r>
            <a:r>
              <a:rPr sz="2800" spc="-5" dirty="0">
                <a:latin typeface="Calibri"/>
                <a:cs typeface="Calibri"/>
              </a:rPr>
              <a:t>adding and  </a:t>
            </a:r>
            <a:r>
              <a:rPr sz="2800" spc="-10" dirty="0">
                <a:latin typeface="Calibri"/>
                <a:cs typeface="Calibri"/>
              </a:rPr>
              <a:t>removing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links</a:t>
            </a:r>
            <a:r>
              <a:rPr lang="en-US" sz="2800" spc="-15" dirty="0">
                <a:cs typeface="Calibri"/>
              </a:rPr>
              <a:t>.</a:t>
            </a:r>
            <a:r>
              <a:rPr sz="2800" spc="-1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653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File </a:t>
            </a:r>
            <a:r>
              <a:rPr spc="-20" dirty="0"/>
              <a:t>and the </a:t>
            </a:r>
            <a:r>
              <a:rPr spc="-50" dirty="0"/>
              <a:t>Filesystem </a:t>
            </a:r>
            <a:r>
              <a:rPr dirty="0"/>
              <a:t>– </a:t>
            </a:r>
            <a:r>
              <a:rPr spc="-35" dirty="0"/>
              <a:t>hard</a:t>
            </a:r>
            <a:r>
              <a:rPr spc="-525" dirty="0"/>
              <a:t> </a:t>
            </a:r>
            <a:r>
              <a:rPr spc="-25" dirty="0"/>
              <a:t>links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1706841"/>
            <a:ext cx="10022840" cy="33604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Multiple names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15" dirty="0">
                <a:latin typeface="Calibri"/>
                <a:cs typeface="Calibri"/>
              </a:rPr>
              <a:t>resolve to </a:t>
            </a:r>
            <a:r>
              <a:rPr sz="2800" spc="-5" dirty="0">
                <a:latin typeface="Calibri"/>
                <a:cs typeface="Calibri"/>
              </a:rPr>
              <a:t>the same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inode!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They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called </a:t>
            </a:r>
            <a:r>
              <a:rPr sz="2800" i="1" spc="-15" dirty="0">
                <a:latin typeface="Calibri"/>
                <a:cs typeface="Calibri"/>
              </a:rPr>
              <a:t>hard links </a:t>
            </a:r>
            <a:r>
              <a:rPr sz="2800" dirty="0">
                <a:latin typeface="Calibri"/>
                <a:cs typeface="Calibri"/>
              </a:rPr>
              <a:t>(each </a:t>
            </a:r>
            <a:r>
              <a:rPr sz="2800" spc="-10" dirty="0">
                <a:latin typeface="Calibri"/>
                <a:cs typeface="Calibri"/>
              </a:rPr>
              <a:t>one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equal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r>
              <a:rPr sz="2800" spc="-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Example: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$</a:t>
            </a:r>
            <a:r>
              <a:rPr lang="en-US" sz="24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ln file1</a:t>
            </a:r>
            <a:r>
              <a:rPr sz="2400" spc="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hardlink</a:t>
            </a:r>
            <a:r>
              <a:rPr lang="en-US" sz="2400" dirty="0">
                <a:solidFill>
                  <a:srgbClr val="0070C0"/>
                </a:solidFill>
                <a:latin typeface="Consolas"/>
                <a:cs typeface="Consolas"/>
              </a:rPr>
              <a:t>F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or</a:t>
            </a:r>
            <a:r>
              <a:rPr lang="en-US" sz="2400" dirty="0">
                <a:solidFill>
                  <a:srgbClr val="0070C0"/>
                </a:solidFill>
                <a:latin typeface="Consolas"/>
                <a:cs typeface="Consolas"/>
              </a:rPr>
              <a:t>F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ile1</a:t>
            </a: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Deleting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20" dirty="0">
                <a:latin typeface="Calibri"/>
                <a:cs typeface="Calibri"/>
              </a:rPr>
              <a:t>involves </a:t>
            </a:r>
            <a:r>
              <a:rPr sz="2800" spc="-10" dirty="0">
                <a:latin typeface="Calibri"/>
                <a:cs typeface="Calibri"/>
              </a:rPr>
              <a:t>unlinking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(removing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name/inode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pair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link </a:t>
            </a:r>
            <a:r>
              <a:rPr sz="2800" spc="-15" dirty="0">
                <a:latin typeface="Calibri"/>
                <a:cs typeface="Calibri"/>
              </a:rPr>
              <a:t>count </a:t>
            </a:r>
            <a:r>
              <a:rPr sz="2800" spc="-20" dirty="0">
                <a:latin typeface="Calibri"/>
                <a:cs typeface="Calibri"/>
              </a:rPr>
              <a:t>keeps </a:t>
            </a:r>
            <a:r>
              <a:rPr sz="2800" spc="-15" dirty="0">
                <a:latin typeface="Calibri"/>
                <a:cs typeface="Calibri"/>
              </a:rPr>
              <a:t>track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number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links </a:t>
            </a:r>
            <a:r>
              <a:rPr sz="2800" spc="-5" dirty="0">
                <a:latin typeface="Calibri"/>
                <a:cs typeface="Calibri"/>
              </a:rPr>
              <a:t>within the </a:t>
            </a:r>
            <a:r>
              <a:rPr sz="2800" spc="-20" dirty="0">
                <a:latin typeface="Calibri"/>
                <a:cs typeface="Calibri"/>
              </a:rPr>
              <a:t>filesystem 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15" dirty="0">
                <a:latin typeface="Calibri"/>
                <a:cs typeface="Calibri"/>
              </a:rPr>
              <a:t>point to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inode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only </a:t>
            </a:r>
            <a:r>
              <a:rPr sz="2800" spc="-25" dirty="0">
                <a:latin typeface="Calibri"/>
                <a:cs typeface="Calibri"/>
              </a:rPr>
              <a:t>destroyed </a:t>
            </a:r>
            <a:r>
              <a:rPr sz="2800" spc="-5" dirty="0">
                <a:latin typeface="Calibri"/>
                <a:cs typeface="Calibri"/>
              </a:rPr>
              <a:t>when all </a:t>
            </a:r>
            <a:r>
              <a:rPr sz="2800" spc="-15" dirty="0">
                <a:latin typeface="Calibri"/>
                <a:cs typeface="Calibri"/>
              </a:rPr>
              <a:t>links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removed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567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File </a:t>
            </a:r>
            <a:r>
              <a:rPr spc="-20" dirty="0"/>
              <a:t>and the </a:t>
            </a:r>
            <a:r>
              <a:rPr spc="-50" dirty="0"/>
              <a:t>Filesystem </a:t>
            </a:r>
            <a:r>
              <a:rPr dirty="0"/>
              <a:t>– </a:t>
            </a:r>
            <a:r>
              <a:rPr spc="-45" dirty="0"/>
              <a:t>symbolic</a:t>
            </a:r>
            <a:r>
              <a:rPr spc="-459" dirty="0"/>
              <a:t> </a:t>
            </a:r>
            <a:r>
              <a:rPr spc="-30" dirty="0"/>
              <a:t>links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706841"/>
            <a:ext cx="10186035" cy="374459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Hard links </a:t>
            </a:r>
            <a:r>
              <a:rPr sz="2800" spc="-5" dirty="0">
                <a:latin typeface="Calibri"/>
                <a:cs typeface="Calibri"/>
              </a:rPr>
              <a:t>can’t span </a:t>
            </a:r>
            <a:r>
              <a:rPr sz="2800" spc="-20" dirty="0">
                <a:latin typeface="Calibri"/>
                <a:cs typeface="Calibri"/>
              </a:rPr>
              <a:t>filesystems </a:t>
            </a:r>
            <a:r>
              <a:rPr sz="2800" spc="-15" dirty="0">
                <a:latin typeface="Calibri"/>
                <a:cs typeface="Calibri"/>
              </a:rPr>
              <a:t>just </a:t>
            </a:r>
            <a:r>
              <a:rPr sz="2800" spc="-30" dirty="0">
                <a:latin typeface="Calibri"/>
                <a:cs typeface="Calibri"/>
              </a:rPr>
              <a:t>like </a:t>
            </a:r>
            <a:r>
              <a:rPr sz="2800" spc="-10" dirty="0">
                <a:latin typeface="Calibri"/>
                <a:cs typeface="Calibri"/>
              </a:rPr>
              <a:t>inode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numbers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Symbolic </a:t>
            </a:r>
            <a:r>
              <a:rPr sz="2800" spc="-15" dirty="0">
                <a:latin typeface="Calibri"/>
                <a:cs typeface="Calibri"/>
              </a:rPr>
              <a:t>links </a:t>
            </a:r>
            <a:r>
              <a:rPr sz="2800" spc="-20" dirty="0">
                <a:latin typeface="Calibri"/>
                <a:cs typeface="Calibri"/>
              </a:rPr>
              <a:t>(</a:t>
            </a:r>
            <a:r>
              <a:rPr lang="en-US" sz="2800" spc="-20" dirty="0">
                <a:latin typeface="Calibri"/>
                <a:cs typeface="Calibri"/>
              </a:rPr>
              <a:t>‘ </a:t>
            </a:r>
            <a:r>
              <a:rPr sz="2800" spc="-20" dirty="0">
                <a:latin typeface="Calibri"/>
                <a:cs typeface="Calibri"/>
              </a:rPr>
              <a:t>symlinks</a:t>
            </a:r>
            <a:r>
              <a:rPr lang="en-US" sz="2800" spc="-20" dirty="0">
                <a:latin typeface="Calibri"/>
                <a:cs typeface="Calibri"/>
              </a:rPr>
              <a:t> ’ or ‘junctions’</a:t>
            </a:r>
            <a:r>
              <a:rPr sz="2800" spc="-20" dirty="0">
                <a:latin typeface="Calibri"/>
                <a:cs typeface="Calibri"/>
              </a:rPr>
              <a:t>)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i="1" spc="-15" dirty="0">
                <a:latin typeface="Calibri"/>
                <a:cs typeface="Calibri"/>
              </a:rPr>
              <a:t>symlink </a:t>
            </a:r>
            <a:r>
              <a:rPr sz="2800" i="1" spc="-10" dirty="0">
                <a:latin typeface="Calibri"/>
                <a:cs typeface="Calibri"/>
              </a:rPr>
              <a:t>looks </a:t>
            </a:r>
            <a:r>
              <a:rPr sz="2800" spc="-30" dirty="0">
                <a:latin typeface="Calibri"/>
                <a:cs typeface="Calibri"/>
              </a:rPr>
              <a:t>like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regular file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has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spc="-10" dirty="0">
                <a:latin typeface="Calibri"/>
                <a:cs typeface="Calibri"/>
              </a:rPr>
              <a:t>own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inode!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Example: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$</a:t>
            </a:r>
            <a:r>
              <a:rPr lang="en-US" sz="24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ln -s file1</a:t>
            </a:r>
            <a:r>
              <a:rPr sz="2400" spc="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softlink</a:t>
            </a:r>
            <a:r>
              <a:rPr lang="en-US" sz="2400" dirty="0">
                <a:solidFill>
                  <a:srgbClr val="0070C0"/>
                </a:solidFill>
                <a:latin typeface="Consolas"/>
                <a:cs typeface="Consolas"/>
              </a:rPr>
              <a:t>F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or</a:t>
            </a:r>
            <a:r>
              <a:rPr lang="en-US" sz="2400" dirty="0">
                <a:solidFill>
                  <a:srgbClr val="0070C0"/>
                </a:solidFill>
                <a:latin typeface="Consolas"/>
                <a:cs typeface="Consolas"/>
              </a:rPr>
              <a:t>F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ile1</a:t>
            </a:r>
          </a:p>
          <a:p>
            <a:pPr marL="241300" marR="36576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35" dirty="0">
                <a:latin typeface="Calibri"/>
                <a:cs typeface="Calibri"/>
              </a:rPr>
              <a:t>symlink’s </a:t>
            </a:r>
            <a:r>
              <a:rPr sz="2800" spc="-20" dirty="0">
                <a:latin typeface="Calibri"/>
                <a:cs typeface="Calibri"/>
              </a:rPr>
              <a:t>data </a:t>
            </a:r>
            <a:r>
              <a:rPr sz="2800" spc="-15" dirty="0">
                <a:latin typeface="Calibri"/>
                <a:cs typeface="Calibri"/>
              </a:rPr>
              <a:t>contains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pathname </a:t>
            </a:r>
            <a:r>
              <a:rPr sz="2800" spc="-5" dirty="0">
                <a:latin typeface="Calibri"/>
                <a:cs typeface="Calibri"/>
              </a:rPr>
              <a:t>of the </a:t>
            </a:r>
            <a:r>
              <a:rPr sz="2800" spc="-20" dirty="0">
                <a:latin typeface="Calibri"/>
                <a:cs typeface="Calibri"/>
              </a:rPr>
              <a:t>linked-to </a:t>
            </a:r>
            <a:r>
              <a:rPr sz="2800" spc="-10" dirty="0">
                <a:latin typeface="Calibri"/>
                <a:cs typeface="Calibri"/>
              </a:rPr>
              <a:t>file, </a:t>
            </a:r>
            <a:r>
              <a:rPr sz="2800" spc="-5" dirty="0">
                <a:latin typeface="Calibri"/>
                <a:cs typeface="Calibri"/>
              </a:rPr>
              <a:t>which  </a:t>
            </a:r>
            <a:r>
              <a:rPr sz="2800" spc="-10" dirty="0">
                <a:latin typeface="Calibri"/>
                <a:cs typeface="Calibri"/>
              </a:rPr>
              <a:t>could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across </a:t>
            </a:r>
            <a:r>
              <a:rPr sz="2800" spc="-20" dirty="0">
                <a:latin typeface="Calibri"/>
                <a:cs typeface="Calibri"/>
              </a:rPr>
              <a:t>filesystems,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20" dirty="0">
                <a:latin typeface="Calibri"/>
                <a:cs typeface="Calibri"/>
              </a:rPr>
              <a:t>nonexistent </a:t>
            </a:r>
            <a:r>
              <a:rPr sz="2800" spc="-25" dirty="0">
                <a:latin typeface="Calibri"/>
                <a:cs typeface="Calibri"/>
              </a:rPr>
              <a:t>(broken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link)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Resolving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symlink </a:t>
            </a:r>
            <a:r>
              <a:rPr sz="2800" spc="-20" dirty="0">
                <a:latin typeface="Calibri"/>
                <a:cs typeface="Calibri"/>
              </a:rPr>
              <a:t>involves </a:t>
            </a:r>
            <a:r>
              <a:rPr sz="2800" spc="-10" dirty="0">
                <a:latin typeface="Calibri"/>
                <a:cs typeface="Calibri"/>
              </a:rPr>
              <a:t>resolving two files: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symbolic </a:t>
            </a:r>
            <a:r>
              <a:rPr sz="2800" spc="-10" dirty="0">
                <a:latin typeface="Calibri"/>
                <a:cs typeface="Calibri"/>
              </a:rPr>
              <a:t>link </a:t>
            </a:r>
            <a:r>
              <a:rPr sz="2800" spc="-5" dirty="0">
                <a:latin typeface="Calibri"/>
                <a:cs typeface="Calibri"/>
              </a:rPr>
              <a:t>and  the </a:t>
            </a:r>
            <a:r>
              <a:rPr sz="2800" spc="-20" dirty="0">
                <a:latin typeface="Calibri"/>
                <a:cs typeface="Calibri"/>
              </a:rPr>
              <a:t>linked-to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0625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File </a:t>
            </a:r>
            <a:r>
              <a:rPr spc="-20" dirty="0"/>
              <a:t>and the </a:t>
            </a:r>
            <a:r>
              <a:rPr spc="-50" dirty="0"/>
              <a:t>Filesystem </a:t>
            </a:r>
            <a:r>
              <a:rPr dirty="0"/>
              <a:t>– </a:t>
            </a:r>
            <a:r>
              <a:rPr spc="-25" dirty="0"/>
              <a:t>special</a:t>
            </a:r>
            <a:r>
              <a:rPr spc="-475" dirty="0"/>
              <a:t> </a:t>
            </a:r>
            <a:r>
              <a:rPr spc="-15" dirty="0"/>
              <a:t>files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8" y="1736801"/>
            <a:ext cx="9446261" cy="45659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97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Special </a:t>
            </a:r>
            <a:r>
              <a:rPr sz="2600" spc="-5" dirty="0">
                <a:latin typeface="Calibri"/>
                <a:cs typeface="Calibri"/>
              </a:rPr>
              <a:t>files: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5" dirty="0">
                <a:latin typeface="Calibri"/>
                <a:cs typeface="Calibri"/>
              </a:rPr>
              <a:t>objects </a:t>
            </a:r>
            <a:r>
              <a:rPr sz="2600" spc="-10" dirty="0">
                <a:latin typeface="Calibri"/>
                <a:cs typeface="Calibri"/>
              </a:rPr>
              <a:t>represented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files</a:t>
            </a:r>
          </a:p>
          <a:p>
            <a:pPr marL="698500" lvl="1" indent="-229235">
              <a:lnSpc>
                <a:spcPts val="240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Block </a:t>
            </a:r>
            <a:r>
              <a:rPr sz="2200" spc="-10" dirty="0">
                <a:latin typeface="Calibri"/>
                <a:cs typeface="Calibri"/>
              </a:rPr>
              <a:t>device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files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ts val="21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10" dirty="0">
                <a:latin typeface="Calibri"/>
                <a:cs typeface="Calibri"/>
              </a:rPr>
              <a:t>An </a:t>
            </a:r>
            <a:r>
              <a:rPr sz="1900" spc="-20" dirty="0">
                <a:latin typeface="Calibri"/>
                <a:cs typeface="Calibri"/>
              </a:rPr>
              <a:t>array </a:t>
            </a:r>
            <a:r>
              <a:rPr sz="1900" spc="-5" dirty="0">
                <a:latin typeface="Calibri"/>
                <a:cs typeface="Calibri"/>
              </a:rPr>
              <a:t>of </a:t>
            </a:r>
            <a:r>
              <a:rPr sz="1900" spc="-10" dirty="0">
                <a:latin typeface="Calibri"/>
                <a:cs typeface="Calibri"/>
              </a:rPr>
              <a:t>bytes, random </a:t>
            </a:r>
            <a:r>
              <a:rPr sz="1900" spc="-5" dirty="0">
                <a:latin typeface="Calibri"/>
                <a:cs typeface="Calibri"/>
              </a:rPr>
              <a:t>access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within</a:t>
            </a:r>
            <a:r>
              <a:rPr lang="en-US" sz="1900" spc="-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1155700" lvl="2" indent="-229235">
              <a:lnSpc>
                <a:spcPts val="2039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10" dirty="0">
                <a:latin typeface="Calibri"/>
                <a:cs typeface="Calibri"/>
              </a:rPr>
              <a:t>Example: </a:t>
            </a:r>
            <a:r>
              <a:rPr sz="1900" spc="-15" dirty="0">
                <a:latin typeface="Calibri"/>
                <a:cs typeface="Calibri"/>
              </a:rPr>
              <a:t>hard </a:t>
            </a:r>
            <a:r>
              <a:rPr sz="1900" spc="-10" dirty="0">
                <a:latin typeface="Calibri"/>
                <a:cs typeface="Calibri"/>
              </a:rPr>
              <a:t>disks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</a:t>
            </a:r>
            <a:r>
              <a:rPr sz="19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sz="19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sda</a:t>
            </a:r>
            <a:r>
              <a:rPr sz="1900" spc="-10" dirty="0">
                <a:latin typeface="Calibri"/>
                <a:cs typeface="Calibri"/>
              </a:rPr>
              <a:t>)</a:t>
            </a:r>
            <a:r>
              <a:rPr lang="en-US" sz="1900" spc="-10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698500" lvl="1" indent="-229235">
              <a:lnSpc>
                <a:spcPts val="240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Character </a:t>
            </a:r>
            <a:r>
              <a:rPr sz="2200" spc="-10" dirty="0">
                <a:latin typeface="Calibri"/>
                <a:cs typeface="Calibri"/>
              </a:rPr>
              <a:t>device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files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ts val="21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Linear queue of </a:t>
            </a:r>
            <a:r>
              <a:rPr sz="1900" spc="-10" dirty="0">
                <a:latin typeface="Calibri"/>
                <a:cs typeface="Calibri"/>
              </a:rPr>
              <a:t>bytes, </a:t>
            </a:r>
            <a:r>
              <a:rPr sz="1900" spc="-5" dirty="0">
                <a:latin typeface="Calibri"/>
                <a:cs typeface="Calibri"/>
              </a:rPr>
              <a:t>sequential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access</a:t>
            </a:r>
            <a:r>
              <a:rPr lang="en-US" sz="1900" spc="-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1155700" lvl="2" indent="-229235">
              <a:lnSpc>
                <a:spcPts val="2039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10" dirty="0">
                <a:latin typeface="Calibri"/>
                <a:cs typeface="Calibri"/>
              </a:rPr>
              <a:t>Example: </a:t>
            </a:r>
            <a:r>
              <a:rPr sz="1900" spc="-5" dirty="0">
                <a:latin typeface="Calibri"/>
                <a:cs typeface="Calibri"/>
              </a:rPr>
              <a:t>terminal input</a:t>
            </a:r>
            <a:r>
              <a:rPr sz="1900" spc="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</a:t>
            </a:r>
            <a:r>
              <a:rPr sz="19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sz="19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tty</a:t>
            </a:r>
            <a:r>
              <a:rPr sz="1900" spc="-10" dirty="0">
                <a:latin typeface="Calibri"/>
                <a:cs typeface="Calibri"/>
              </a:rPr>
              <a:t>)</a:t>
            </a:r>
            <a:r>
              <a:rPr lang="en-US" sz="1900" spc="-10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698500" lvl="1" indent="-229235">
              <a:lnSpc>
                <a:spcPts val="240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Named </a:t>
            </a:r>
            <a:r>
              <a:rPr sz="2200" spc="-10" dirty="0">
                <a:latin typeface="Calibri"/>
                <a:cs typeface="Calibri"/>
              </a:rPr>
              <a:t>pipes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(FIFOs)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ts val="21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10" dirty="0">
                <a:latin typeface="Calibri"/>
                <a:cs typeface="Calibri"/>
              </a:rPr>
              <a:t>Interprocess communication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mechanism</a:t>
            </a:r>
            <a:r>
              <a:rPr lang="en-US" sz="1900" spc="-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1155700" lvl="2" indent="-229235">
              <a:lnSpc>
                <a:spcPts val="2095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10" dirty="0">
                <a:latin typeface="Calibri"/>
                <a:cs typeface="Calibri"/>
              </a:rPr>
              <a:t>Regular </a:t>
            </a:r>
            <a:r>
              <a:rPr sz="1900" spc="-5" dirty="0">
                <a:latin typeface="Calibri"/>
                <a:cs typeface="Calibri"/>
              </a:rPr>
              <a:t>pipes </a:t>
            </a:r>
            <a:r>
              <a:rPr sz="1900" spc="-10" dirty="0">
                <a:latin typeface="Calibri"/>
                <a:cs typeface="Calibri"/>
              </a:rPr>
              <a:t>are created </a:t>
            </a:r>
            <a:r>
              <a:rPr sz="1900" spc="-5" dirty="0">
                <a:latin typeface="Calibri"/>
                <a:cs typeface="Calibri"/>
              </a:rPr>
              <a:t>in memory via a</a:t>
            </a:r>
            <a:r>
              <a:rPr sz="1900" spc="8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syscall</a:t>
            </a:r>
            <a:r>
              <a:rPr lang="en-US" sz="1900" spc="-10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1155700" lvl="2" indent="-229235">
              <a:lnSpc>
                <a:spcPts val="2039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Named </a:t>
            </a:r>
            <a:r>
              <a:rPr sz="1900" spc="-10" dirty="0">
                <a:latin typeface="Calibri"/>
                <a:cs typeface="Calibri"/>
              </a:rPr>
              <a:t>pipes </a:t>
            </a:r>
            <a:r>
              <a:rPr sz="1900" spc="-15" dirty="0">
                <a:latin typeface="Calibri"/>
                <a:cs typeface="Calibri"/>
              </a:rPr>
              <a:t>are </a:t>
            </a:r>
            <a:r>
              <a:rPr sz="1900" spc="-5" dirty="0">
                <a:latin typeface="Calibri"/>
                <a:cs typeface="Calibri"/>
              </a:rPr>
              <a:t>accessed via a file, allowing </a:t>
            </a:r>
            <a:r>
              <a:rPr sz="1900" spc="-15" dirty="0">
                <a:latin typeface="Calibri"/>
                <a:cs typeface="Calibri"/>
              </a:rPr>
              <a:t>unrelated </a:t>
            </a:r>
            <a:r>
              <a:rPr sz="1900" spc="-10" dirty="0">
                <a:latin typeface="Calibri"/>
                <a:cs typeface="Calibri"/>
              </a:rPr>
              <a:t>processes </a:t>
            </a:r>
            <a:r>
              <a:rPr sz="1900" spc="-15" dirty="0">
                <a:latin typeface="Calibri"/>
                <a:cs typeface="Calibri"/>
              </a:rPr>
              <a:t>to</a:t>
            </a:r>
            <a:r>
              <a:rPr sz="1900" spc="17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communicate</a:t>
            </a:r>
            <a:r>
              <a:rPr lang="en-US" sz="1900" spc="-10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698500" lvl="1" indent="-229235">
              <a:lnSpc>
                <a:spcPts val="240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Unix domain </a:t>
            </a:r>
            <a:r>
              <a:rPr sz="2200" spc="-20" dirty="0">
                <a:latin typeface="Calibri"/>
                <a:cs typeface="Calibri"/>
              </a:rPr>
              <a:t>sockets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ts val="2095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15" dirty="0">
                <a:latin typeface="Calibri"/>
                <a:cs typeface="Calibri"/>
              </a:rPr>
              <a:t>Sockets </a:t>
            </a:r>
            <a:r>
              <a:rPr sz="1900" spc="-10" dirty="0">
                <a:latin typeface="Calibri"/>
                <a:cs typeface="Calibri"/>
              </a:rPr>
              <a:t>allow </a:t>
            </a:r>
            <a:r>
              <a:rPr sz="1900" spc="-5" dirty="0">
                <a:latin typeface="Calibri"/>
                <a:cs typeface="Calibri"/>
              </a:rPr>
              <a:t>IPC </a:t>
            </a:r>
            <a:r>
              <a:rPr lang="en-US" sz="1900" spc="-5" dirty="0">
                <a:latin typeface="Calibri"/>
                <a:cs typeface="Calibri"/>
              </a:rPr>
              <a:t>(Inter-Process Communication) </a:t>
            </a:r>
            <a:r>
              <a:rPr sz="1900" spc="-5" dirty="0">
                <a:latin typeface="Calibri"/>
                <a:cs typeface="Calibri"/>
              </a:rPr>
              <a:t>on </a:t>
            </a:r>
            <a:r>
              <a:rPr sz="1900" spc="-20" dirty="0">
                <a:latin typeface="Calibri"/>
                <a:cs typeface="Calibri"/>
              </a:rPr>
              <a:t>different </a:t>
            </a:r>
            <a:r>
              <a:rPr sz="1900" spc="-5" dirty="0">
                <a:latin typeface="Calibri"/>
                <a:cs typeface="Calibri"/>
              </a:rPr>
              <a:t>machines or </a:t>
            </a:r>
            <a:r>
              <a:rPr sz="1900" spc="-15" dirty="0">
                <a:latin typeface="Calibri"/>
                <a:cs typeface="Calibri"/>
              </a:rPr>
              <a:t>even </a:t>
            </a:r>
            <a:r>
              <a:rPr sz="1900" spc="-20" dirty="0">
                <a:latin typeface="Calibri"/>
                <a:cs typeface="Calibri"/>
              </a:rPr>
              <a:t>from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spc="1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Internet</a:t>
            </a:r>
            <a:r>
              <a:rPr lang="en-US" sz="1900" spc="-10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1155700" lvl="2" indent="-229235">
              <a:lnSpc>
                <a:spcPts val="2095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Unix </a:t>
            </a:r>
            <a:r>
              <a:rPr sz="1900" spc="-10" dirty="0">
                <a:latin typeface="Calibri"/>
                <a:cs typeface="Calibri"/>
              </a:rPr>
              <a:t>domain </a:t>
            </a:r>
            <a:r>
              <a:rPr sz="1900" spc="-15" dirty="0">
                <a:latin typeface="Calibri"/>
                <a:cs typeface="Calibri"/>
              </a:rPr>
              <a:t>sockets are </a:t>
            </a:r>
            <a:r>
              <a:rPr sz="1900" spc="-10" dirty="0">
                <a:latin typeface="Calibri"/>
                <a:cs typeface="Calibri"/>
              </a:rPr>
              <a:t>used </a:t>
            </a:r>
            <a:r>
              <a:rPr sz="1900" spc="-20" dirty="0">
                <a:latin typeface="Calibri"/>
                <a:cs typeface="Calibri"/>
              </a:rPr>
              <a:t>for </a:t>
            </a:r>
            <a:r>
              <a:rPr sz="1900" spc="-10" dirty="0">
                <a:latin typeface="Calibri"/>
                <a:cs typeface="Calibri"/>
              </a:rPr>
              <a:t>communication </a:t>
            </a:r>
            <a:r>
              <a:rPr sz="1900" spc="-5" dirty="0">
                <a:latin typeface="Calibri"/>
                <a:cs typeface="Calibri"/>
              </a:rPr>
              <a:t>within the </a:t>
            </a:r>
            <a:r>
              <a:rPr sz="1900" spc="-10" dirty="0">
                <a:latin typeface="Calibri"/>
                <a:cs typeface="Calibri"/>
              </a:rPr>
              <a:t>local</a:t>
            </a:r>
            <a:r>
              <a:rPr sz="1900" spc="14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machine</a:t>
            </a:r>
            <a:r>
              <a:rPr lang="en-US" sz="1900" spc="-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1155700" lvl="2" indent="-229235">
              <a:lnSpc>
                <a:spcPts val="219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15" dirty="0">
                <a:latin typeface="Calibri"/>
                <a:cs typeface="Calibri"/>
              </a:rPr>
              <a:t>Socket </a:t>
            </a:r>
            <a:r>
              <a:rPr sz="1900" spc="-5" dirty="0">
                <a:latin typeface="Calibri"/>
                <a:cs typeface="Calibri"/>
              </a:rPr>
              <a:t>file: a special file residing on a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filesystem</a:t>
            </a:r>
            <a:r>
              <a:rPr lang="en-US" sz="1900" spc="-1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059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File </a:t>
            </a:r>
            <a:r>
              <a:rPr spc="-20" dirty="0"/>
              <a:t>and the </a:t>
            </a:r>
            <a:r>
              <a:rPr spc="-50" dirty="0"/>
              <a:t>Filesystem </a:t>
            </a:r>
            <a:r>
              <a:rPr dirty="0"/>
              <a:t>– </a:t>
            </a:r>
            <a:r>
              <a:rPr sz="3200" spc="-35" dirty="0"/>
              <a:t>filesystems </a:t>
            </a:r>
            <a:r>
              <a:rPr sz="3200" spc="-15" dirty="0"/>
              <a:t>and</a:t>
            </a:r>
            <a:r>
              <a:rPr sz="3200" spc="-480" dirty="0"/>
              <a:t> </a:t>
            </a:r>
            <a:r>
              <a:rPr sz="3200" spc="-30" dirty="0"/>
              <a:t>namespaces</a:t>
            </a:r>
            <a:endParaRPr sz="32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8" y="1756565"/>
            <a:ext cx="10436862" cy="397352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15" dirty="0">
                <a:latin typeface="Calibri"/>
                <a:cs typeface="Calibri"/>
              </a:rPr>
              <a:t>provides </a:t>
            </a:r>
            <a:r>
              <a:rPr sz="2800" spc="-5" dirty="0">
                <a:latin typeface="Calibri"/>
                <a:cs typeface="Calibri"/>
              </a:rPr>
              <a:t>a global and </a:t>
            </a:r>
            <a:r>
              <a:rPr sz="2800" spc="-10" dirty="0">
                <a:latin typeface="Calibri"/>
                <a:cs typeface="Calibri"/>
              </a:rPr>
              <a:t>unified </a:t>
            </a:r>
            <a:r>
              <a:rPr sz="2800" spc="-5" dirty="0">
                <a:latin typeface="Calibri"/>
                <a:cs typeface="Calibri"/>
              </a:rPr>
              <a:t>namespace of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files/directories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In </a:t>
            </a:r>
            <a:r>
              <a:rPr sz="2400" spc="-20" dirty="0">
                <a:latin typeface="Calibri"/>
                <a:cs typeface="Calibri"/>
              </a:rPr>
              <a:t>contrast, </a:t>
            </a:r>
            <a:r>
              <a:rPr sz="2400" spc="-10" dirty="0">
                <a:latin typeface="Calibri"/>
                <a:cs typeface="Calibri"/>
              </a:rPr>
              <a:t>Windows </a:t>
            </a:r>
            <a:r>
              <a:rPr sz="2400" spc="-5" dirty="0">
                <a:latin typeface="Calibri"/>
                <a:cs typeface="Calibri"/>
              </a:rPr>
              <a:t>doesn’t (thus </a:t>
            </a:r>
            <a:r>
              <a:rPr sz="2400" spc="-10" dirty="0">
                <a:latin typeface="Calibri"/>
                <a:cs typeface="Calibri"/>
              </a:rPr>
              <a:t>there are </a:t>
            </a:r>
            <a:r>
              <a:rPr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C:\myfile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D:\myfile</a:t>
            </a:r>
            <a:r>
              <a:rPr sz="2400" spc="-10" dirty="0">
                <a:latin typeface="Calibri"/>
                <a:cs typeface="Calibri"/>
              </a:rPr>
              <a:t>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Compared to: </a:t>
            </a:r>
            <a:r>
              <a:rPr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/media/myfile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/home/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smith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Filesystems may </a:t>
            </a:r>
            <a:r>
              <a:rPr sz="2800" spc="-1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added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5" dirty="0">
                <a:latin typeface="Calibri"/>
                <a:cs typeface="Calibri"/>
              </a:rPr>
              <a:t>removed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the global </a:t>
            </a:r>
            <a:r>
              <a:rPr sz="2800" spc="-10" dirty="0">
                <a:latin typeface="Calibri"/>
                <a:cs typeface="Calibri"/>
              </a:rPr>
              <a:t>namespace  </a:t>
            </a:r>
            <a:r>
              <a:rPr sz="2800" spc="-5" dirty="0">
                <a:latin typeface="Calibri"/>
                <a:cs typeface="Calibri"/>
              </a:rPr>
              <a:t>via </a:t>
            </a:r>
            <a:r>
              <a:rPr sz="2800" spc="-10" dirty="0">
                <a:latin typeface="Calibri"/>
                <a:cs typeface="Calibri"/>
              </a:rPr>
              <a:t>mounting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unmounting </a:t>
            </a:r>
            <a:r>
              <a:rPr sz="2800" spc="-15" dirty="0">
                <a:latin typeface="Calibri"/>
                <a:cs typeface="Calibri"/>
              </a:rPr>
              <a:t>(to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i="1" spc="-10" dirty="0">
                <a:latin typeface="Calibri"/>
                <a:cs typeface="Calibri"/>
              </a:rPr>
              <a:t>mount</a:t>
            </a:r>
            <a:r>
              <a:rPr sz="2800" i="1" spc="15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point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Linux supports </a:t>
            </a:r>
            <a:r>
              <a:rPr sz="2800" spc="-5" dirty="0">
                <a:latin typeface="Calibri"/>
                <a:cs typeface="Calibri"/>
              </a:rPr>
              <a:t>a wide </a:t>
            </a:r>
            <a:r>
              <a:rPr sz="2800" spc="-20" dirty="0">
                <a:latin typeface="Calibri"/>
                <a:cs typeface="Calibri"/>
              </a:rPr>
              <a:t>range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filesystems: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ISO9660, </a:t>
            </a:r>
            <a:r>
              <a:rPr sz="2400" spc="-15" dirty="0">
                <a:latin typeface="Calibri"/>
                <a:cs typeface="Calibri"/>
              </a:rPr>
              <a:t>NFS, </a:t>
            </a:r>
            <a:r>
              <a:rPr sz="2400" spc="-5" dirty="0">
                <a:latin typeface="Calibri"/>
                <a:cs typeface="Calibri"/>
              </a:rPr>
              <a:t>ext4, </a:t>
            </a:r>
            <a:r>
              <a:rPr sz="2400" spc="-15" dirty="0">
                <a:latin typeface="Calibri"/>
                <a:cs typeface="Calibri"/>
              </a:rPr>
              <a:t>XFS, </a:t>
            </a:r>
            <a:r>
              <a:rPr sz="2400" spc="-145" dirty="0">
                <a:latin typeface="Calibri"/>
                <a:cs typeface="Calibri"/>
              </a:rPr>
              <a:t>FAT, </a:t>
            </a:r>
            <a:r>
              <a:rPr sz="2400" spc="-105" dirty="0">
                <a:latin typeface="Calibri"/>
                <a:cs typeface="Calibri"/>
              </a:rPr>
              <a:t>exFAT,</a:t>
            </a:r>
            <a:r>
              <a:rPr sz="2400" spc="-295" dirty="0">
                <a:latin typeface="Calibri"/>
                <a:cs typeface="Calibri"/>
              </a:rPr>
              <a:t> </a:t>
            </a:r>
            <a:r>
              <a:rPr lang="en-US" sz="2400" spc="-295" dirty="0">
                <a:latin typeface="Calibri"/>
                <a:cs typeface="Calibri"/>
              </a:rPr>
              <a:t> </a:t>
            </a:r>
            <a:r>
              <a:rPr sz="2400" spc="-15" dirty="0" err="1">
                <a:latin typeface="Calibri"/>
                <a:cs typeface="Calibri"/>
              </a:rPr>
              <a:t>etc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smallest </a:t>
            </a:r>
            <a:r>
              <a:rPr sz="2800" spc="-5" dirty="0">
                <a:latin typeface="Calibri"/>
                <a:cs typeface="Calibri"/>
              </a:rPr>
              <a:t>logically </a:t>
            </a:r>
            <a:r>
              <a:rPr sz="2800" spc="-10" dirty="0">
                <a:latin typeface="Calibri"/>
                <a:cs typeface="Calibri"/>
              </a:rPr>
              <a:t>addressable unit </a:t>
            </a:r>
            <a:r>
              <a:rPr sz="2800" spc="-5" dirty="0">
                <a:latin typeface="Calibri"/>
                <a:cs typeface="Calibri"/>
              </a:rPr>
              <a:t>on a </a:t>
            </a:r>
            <a:r>
              <a:rPr sz="2800" spc="-20" dirty="0">
                <a:latin typeface="Calibri"/>
                <a:cs typeface="Calibri"/>
              </a:rPr>
              <a:t>filesystem </a:t>
            </a:r>
            <a:r>
              <a:rPr sz="2800" spc="-5" dirty="0">
                <a:latin typeface="Calibri"/>
                <a:cs typeface="Calibri"/>
              </a:rPr>
              <a:t>is the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block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i="1" spc="-5" dirty="0">
                <a:latin typeface="Calibri"/>
                <a:cs typeface="Calibri"/>
              </a:rPr>
              <a:t>block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usually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power-of-two </a:t>
            </a:r>
            <a:r>
              <a:rPr sz="2400" dirty="0">
                <a:latin typeface="Calibri"/>
                <a:cs typeface="Calibri"/>
              </a:rPr>
              <a:t>multiple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sector </a:t>
            </a:r>
            <a:r>
              <a:rPr sz="2400" spc="-20" dirty="0">
                <a:latin typeface="Calibri"/>
                <a:cs typeface="Calibri"/>
              </a:rPr>
              <a:t>size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(512B)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186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Processes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916939" y="1736801"/>
            <a:ext cx="8191500" cy="37061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dirty="0"/>
              <a:t>= </a:t>
            </a:r>
            <a:r>
              <a:rPr dirty="0"/>
              <a:t>Active, running</a:t>
            </a:r>
            <a:r>
              <a:rPr spc="-55" dirty="0"/>
              <a:t> </a:t>
            </a:r>
            <a:r>
              <a:rPr spc="-10" dirty="0"/>
              <a:t>programs</a:t>
            </a:r>
          </a:p>
          <a:p>
            <a:pPr marL="241300" marR="87503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pc="-5" dirty="0"/>
              <a:t>Most </a:t>
            </a:r>
            <a:r>
              <a:rPr spc="-10" dirty="0"/>
              <a:t>common </a:t>
            </a:r>
            <a:r>
              <a:rPr spc="-15" dirty="0"/>
              <a:t>format </a:t>
            </a:r>
            <a:r>
              <a:rPr dirty="0"/>
              <a:t>in </a:t>
            </a:r>
            <a:r>
              <a:rPr spc="-5" dirty="0"/>
              <a:t>Linux </a:t>
            </a:r>
            <a:r>
              <a:rPr dirty="0"/>
              <a:t>is </a:t>
            </a:r>
            <a:r>
              <a:rPr spc="-5" dirty="0"/>
              <a:t>ELF </a:t>
            </a:r>
            <a:r>
              <a:rPr spc="-10" dirty="0"/>
              <a:t>(Executable </a:t>
            </a:r>
            <a:r>
              <a:rPr dirty="0"/>
              <a:t>and  </a:t>
            </a:r>
            <a:r>
              <a:rPr spc="-10" dirty="0"/>
              <a:t>Linkable</a:t>
            </a:r>
            <a:r>
              <a:rPr spc="-25" dirty="0"/>
              <a:t> </a:t>
            </a:r>
            <a:r>
              <a:rPr spc="-10" dirty="0"/>
              <a:t>Format)</a:t>
            </a:r>
            <a:r>
              <a:rPr lang="en-US" spc="-10" dirty="0"/>
              <a:t>.</a:t>
            </a:r>
            <a:endParaRPr spc="-10" dirty="0"/>
          </a:p>
          <a:p>
            <a:pPr marL="241300" indent="-228600">
              <a:lnSpc>
                <a:spcPts val="298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pc="-10" dirty="0"/>
              <a:t>Contain metadata </a:t>
            </a:r>
            <a:r>
              <a:rPr dirty="0"/>
              <a:t>and multiple sections </a:t>
            </a:r>
            <a:r>
              <a:rPr spc="-5" dirty="0"/>
              <a:t>of</a:t>
            </a:r>
            <a:r>
              <a:rPr spc="-45" dirty="0"/>
              <a:t> </a:t>
            </a:r>
            <a:r>
              <a:rPr spc="-10" dirty="0"/>
              <a:t>code/data:</a:t>
            </a:r>
          </a:p>
          <a:p>
            <a:pPr marL="698500" lvl="1" indent="-229235">
              <a:lnSpc>
                <a:spcPts val="235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i="1" spc="-25" dirty="0">
                <a:latin typeface="Calibri"/>
                <a:cs typeface="Calibri"/>
              </a:rPr>
              <a:t>text </a:t>
            </a:r>
            <a:r>
              <a:rPr sz="2200" i="1" spc="-5" dirty="0">
                <a:latin typeface="Calibri"/>
                <a:cs typeface="Calibri"/>
              </a:rPr>
              <a:t>section</a:t>
            </a:r>
            <a:r>
              <a:rPr sz="2200" spc="-5" dirty="0">
                <a:latin typeface="Calibri"/>
                <a:cs typeface="Calibri"/>
              </a:rPr>
              <a:t>: </a:t>
            </a:r>
            <a:r>
              <a:rPr sz="2200" spc="-20" dirty="0">
                <a:latin typeface="Calibri"/>
                <a:cs typeface="Calibri"/>
              </a:rPr>
              <a:t>executable </a:t>
            </a:r>
            <a:r>
              <a:rPr sz="2200" spc="-15" dirty="0">
                <a:latin typeface="Calibri"/>
                <a:cs typeface="Calibri"/>
              </a:rPr>
              <a:t>code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read-only </a:t>
            </a:r>
            <a:r>
              <a:rPr sz="2200" spc="-20" dirty="0">
                <a:latin typeface="Calibri"/>
                <a:cs typeface="Calibri"/>
              </a:rPr>
              <a:t>data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(constants)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i="1" spc="-15" dirty="0">
                <a:latin typeface="Calibri"/>
                <a:cs typeface="Calibri"/>
              </a:rPr>
              <a:t>data </a:t>
            </a:r>
            <a:r>
              <a:rPr sz="2200" i="1" spc="-10" dirty="0">
                <a:latin typeface="Calibri"/>
                <a:cs typeface="Calibri"/>
              </a:rPr>
              <a:t>section</a:t>
            </a:r>
            <a:r>
              <a:rPr sz="2200" spc="-10" dirty="0">
                <a:latin typeface="Calibri"/>
                <a:cs typeface="Calibri"/>
              </a:rPr>
              <a:t>: initialized </a:t>
            </a:r>
            <a:r>
              <a:rPr sz="2200" spc="-20" dirty="0">
                <a:latin typeface="Calibri"/>
                <a:cs typeface="Calibri"/>
              </a:rPr>
              <a:t>data</a:t>
            </a:r>
            <a:endParaRPr sz="2200" dirty="0">
              <a:latin typeface="Calibri"/>
              <a:cs typeface="Calibri"/>
            </a:endParaRPr>
          </a:p>
          <a:p>
            <a:pPr marL="698500" marR="509905" lvl="1" indent="-228600">
              <a:lnSpc>
                <a:spcPct val="70000"/>
              </a:lnSpc>
              <a:spcBef>
                <a:spcPts val="640"/>
              </a:spcBef>
              <a:spcAft>
                <a:spcPts val="600"/>
              </a:spcAft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i="1" spc="-10" dirty="0">
                <a:latin typeface="Calibri"/>
                <a:cs typeface="Calibri"/>
              </a:rPr>
              <a:t>bss section </a:t>
            </a:r>
            <a:r>
              <a:rPr sz="2200" spc="-5" dirty="0">
                <a:latin typeface="Calibri"/>
                <a:cs typeface="Calibri"/>
              </a:rPr>
              <a:t>(</a:t>
            </a:r>
            <a:r>
              <a:rPr sz="2200" b="1" spc="-5" dirty="0">
                <a:latin typeface="Calibri"/>
                <a:cs typeface="Calibri"/>
              </a:rPr>
              <a:t>b</a:t>
            </a:r>
            <a:r>
              <a:rPr sz="2200" spc="-5" dirty="0">
                <a:latin typeface="Calibri"/>
                <a:cs typeface="Calibri"/>
              </a:rPr>
              <a:t>lock </a:t>
            </a:r>
            <a:r>
              <a:rPr sz="2200" b="1" spc="-10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tarted by </a:t>
            </a:r>
            <a:r>
              <a:rPr sz="2200" b="1" spc="-5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ymbol): </a:t>
            </a:r>
            <a:r>
              <a:rPr sz="2200" spc="-10" dirty="0">
                <a:latin typeface="Calibri"/>
                <a:cs typeface="Calibri"/>
              </a:rPr>
              <a:t>uninitialized </a:t>
            </a:r>
            <a:r>
              <a:rPr sz="2200" spc="-5" dirty="0">
                <a:latin typeface="Calibri"/>
                <a:cs typeface="Calibri"/>
              </a:rPr>
              <a:t>global </a:t>
            </a:r>
            <a:r>
              <a:rPr sz="2200" spc="-20" dirty="0">
                <a:latin typeface="Calibri"/>
                <a:cs typeface="Calibri"/>
              </a:rPr>
              <a:t>data  </a:t>
            </a:r>
            <a:r>
              <a:rPr sz="2200" spc="-10" dirty="0">
                <a:latin typeface="Calibri"/>
                <a:cs typeface="Calibri"/>
              </a:rPr>
              <a:t>(usually set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0, </a:t>
            </a:r>
            <a:r>
              <a:rPr sz="2200" spc="-10" dirty="0">
                <a:latin typeface="Calibri"/>
                <a:cs typeface="Calibri"/>
              </a:rPr>
              <a:t>listed, but </a:t>
            </a:r>
            <a:r>
              <a:rPr sz="2200" spc="-5" dirty="0">
                <a:latin typeface="Calibri"/>
                <a:cs typeface="Calibri"/>
              </a:rPr>
              <a:t>doesn’t </a:t>
            </a:r>
            <a:r>
              <a:rPr sz="2200" spc="-30" dirty="0">
                <a:latin typeface="Calibri"/>
                <a:cs typeface="Calibri"/>
              </a:rPr>
              <a:t>take </a:t>
            </a:r>
            <a:r>
              <a:rPr sz="2200" spc="-15" dirty="0">
                <a:latin typeface="Calibri"/>
                <a:cs typeface="Calibri"/>
              </a:rPr>
              <a:t>any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space)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20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pc="-10" dirty="0"/>
              <a:t>Each process </a:t>
            </a:r>
            <a:r>
              <a:rPr dirty="0"/>
              <a:t>is </a:t>
            </a:r>
            <a:r>
              <a:rPr spc="-5" dirty="0"/>
              <a:t>provided </a:t>
            </a:r>
            <a:r>
              <a:rPr dirty="0"/>
              <a:t>with </a:t>
            </a:r>
            <a:r>
              <a:rPr spc="-5" dirty="0"/>
              <a:t>both </a:t>
            </a:r>
            <a:r>
              <a:rPr dirty="0"/>
              <a:t>a </a:t>
            </a:r>
            <a:r>
              <a:rPr spc="-5" dirty="0"/>
              <a:t>virtualized</a:t>
            </a:r>
            <a:r>
              <a:rPr spc="-45" dirty="0"/>
              <a:t> </a:t>
            </a:r>
            <a:r>
              <a:rPr spc="-5" dirty="0"/>
              <a:t>processor</a:t>
            </a:r>
            <a:r>
              <a:rPr lang="en-US" spc="-5" dirty="0"/>
              <a:t> </a:t>
            </a:r>
            <a:r>
              <a:rPr dirty="0"/>
              <a:t>and a </a:t>
            </a:r>
            <a:r>
              <a:rPr spc="-5" dirty="0"/>
              <a:t>virtualized view of </a:t>
            </a:r>
            <a:r>
              <a:rPr spc="-25" dirty="0"/>
              <a:t>memory, </a:t>
            </a:r>
            <a:r>
              <a:rPr dirty="0"/>
              <a:t>as if it has </a:t>
            </a:r>
            <a:r>
              <a:rPr spc="-5" dirty="0"/>
              <a:t>sole </a:t>
            </a:r>
            <a:r>
              <a:rPr spc="-10" dirty="0"/>
              <a:t>control </a:t>
            </a:r>
            <a:r>
              <a:rPr spc="-5" dirty="0"/>
              <a:t>of  </a:t>
            </a:r>
            <a:r>
              <a:rPr dirty="0"/>
              <a:t>the</a:t>
            </a:r>
            <a:r>
              <a:rPr spc="-15" dirty="0"/>
              <a:t> </a:t>
            </a:r>
            <a:r>
              <a:rPr spc="-20" dirty="0"/>
              <a:t>system</a:t>
            </a:r>
            <a:r>
              <a:rPr lang="en-US" spc="-20" dirty="0"/>
              <a:t>.</a:t>
            </a:r>
            <a:endParaRPr spc="-20" dirty="0"/>
          </a:p>
        </p:txBody>
      </p:sp>
      <p:sp>
        <p:nvSpPr>
          <p:cNvPr id="9" name="object 9"/>
          <p:cNvSpPr txBox="1"/>
          <p:nvPr/>
        </p:nvSpPr>
        <p:spPr>
          <a:xfrm>
            <a:off x="916939" y="5316423"/>
            <a:ext cx="6885940" cy="711477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kernel, </a:t>
            </a:r>
            <a:r>
              <a:rPr sz="2600" dirty="0">
                <a:latin typeface="Calibri"/>
                <a:cs typeface="Calibri"/>
              </a:rPr>
              <a:t>in support, </a:t>
            </a:r>
            <a:r>
              <a:rPr sz="2600" spc="-5" dirty="0">
                <a:latin typeface="Calibri"/>
                <a:cs typeface="Calibri"/>
              </a:rPr>
              <a:t>manages both preemptive  </a:t>
            </a:r>
            <a:r>
              <a:rPr sz="2600" dirty="0">
                <a:latin typeface="Calibri"/>
                <a:cs typeface="Calibri"/>
              </a:rPr>
              <a:t>multitasking and virtual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61526" y="980276"/>
            <a:ext cx="1715144" cy="4642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858882" y="5580989"/>
            <a:ext cx="147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Typical </a:t>
            </a:r>
            <a:r>
              <a:rPr sz="1400" b="1" spc="-5" dirty="0">
                <a:latin typeface="Calibri"/>
                <a:cs typeface="Calibri"/>
              </a:rPr>
              <a:t>memory  layout </a:t>
            </a:r>
            <a:r>
              <a:rPr sz="1400" b="1" dirty="0">
                <a:latin typeface="Calibri"/>
                <a:cs typeface="Calibri"/>
              </a:rPr>
              <a:t>of a</a:t>
            </a:r>
            <a:r>
              <a:rPr sz="1400" b="1" spc="-14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program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761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Threads </a:t>
            </a:r>
            <a:r>
              <a:rPr spc="-20" dirty="0"/>
              <a:t>and </a:t>
            </a:r>
            <a:r>
              <a:rPr spc="-50" dirty="0"/>
              <a:t>Process</a:t>
            </a:r>
            <a:r>
              <a:rPr spc="-245" dirty="0"/>
              <a:t> </a:t>
            </a:r>
            <a:r>
              <a:rPr spc="-55" dirty="0"/>
              <a:t>Hierarchy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6939" y="1956176"/>
            <a:ext cx="9982835" cy="38350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97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Threads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Each </a:t>
            </a:r>
            <a:r>
              <a:rPr sz="2200" spc="-10" dirty="0">
                <a:latin typeface="Calibri"/>
                <a:cs typeface="Calibri"/>
              </a:rPr>
              <a:t>process consists </a:t>
            </a:r>
            <a:r>
              <a:rPr sz="2200" spc="-5" dirty="0">
                <a:latin typeface="Calibri"/>
                <a:cs typeface="Calibri"/>
              </a:rPr>
              <a:t>of one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spc="-10" dirty="0">
                <a:latin typeface="Calibri"/>
                <a:cs typeface="Calibri"/>
              </a:rPr>
              <a:t>more </a:t>
            </a:r>
            <a:r>
              <a:rPr sz="2200" i="1" spc="-5" dirty="0">
                <a:latin typeface="Calibri"/>
                <a:cs typeface="Calibri"/>
              </a:rPr>
              <a:t>threads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lang="en-US" sz="2200" spc="-5" dirty="0">
                <a:latin typeface="Calibri"/>
                <a:cs typeface="Calibri"/>
              </a:rPr>
              <a:t>(= units)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execution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thread has </a:t>
            </a:r>
            <a:r>
              <a:rPr sz="2200" spc="-5" dirty="0">
                <a:latin typeface="Calibri"/>
                <a:cs typeface="Calibri"/>
              </a:rPr>
              <a:t>its </a:t>
            </a:r>
            <a:r>
              <a:rPr sz="2200" spc="-10" dirty="0">
                <a:latin typeface="Calibri"/>
                <a:cs typeface="Calibri"/>
              </a:rPr>
              <a:t>own stack, processor </a:t>
            </a:r>
            <a:r>
              <a:rPr sz="2200" spc="-20" dirty="0">
                <a:latin typeface="Calibri"/>
                <a:cs typeface="Calibri"/>
              </a:rPr>
              <a:t>state, </a:t>
            </a:r>
            <a:r>
              <a:rPr sz="2200" spc="-5" dirty="0">
                <a:latin typeface="Calibri"/>
                <a:cs typeface="Calibri"/>
              </a:rPr>
              <a:t>and instruction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pointer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Most </a:t>
            </a:r>
            <a:r>
              <a:rPr sz="2200" spc="-5" dirty="0">
                <a:latin typeface="Calibri"/>
                <a:cs typeface="Calibri"/>
              </a:rPr>
              <a:t>parts of a </a:t>
            </a:r>
            <a:r>
              <a:rPr sz="2200" spc="-15" dirty="0">
                <a:latin typeface="Calibri"/>
                <a:cs typeface="Calibri"/>
              </a:rPr>
              <a:t>process </a:t>
            </a:r>
            <a:r>
              <a:rPr sz="2200" spc="-10" dirty="0">
                <a:latin typeface="Calibri"/>
                <a:cs typeface="Calibri"/>
              </a:rPr>
              <a:t>are shared, </a:t>
            </a:r>
            <a:r>
              <a:rPr sz="2200" spc="-5" dirty="0">
                <a:latin typeface="Calibri"/>
                <a:cs typeface="Calibri"/>
              </a:rPr>
              <a:t>including its </a:t>
            </a:r>
            <a:r>
              <a:rPr sz="2200" spc="-10" dirty="0">
                <a:latin typeface="Calibri"/>
                <a:cs typeface="Calibri"/>
              </a:rPr>
              <a:t>address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space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Kernel views threads </a:t>
            </a:r>
            <a:r>
              <a:rPr sz="2200" spc="-5" dirty="0">
                <a:latin typeface="Calibri"/>
                <a:cs typeface="Calibri"/>
              </a:rPr>
              <a:t>as normal </a:t>
            </a:r>
            <a:r>
              <a:rPr sz="2200" spc="-10" dirty="0">
                <a:latin typeface="Calibri"/>
                <a:cs typeface="Calibri"/>
              </a:rPr>
              <a:t>processes </a:t>
            </a:r>
            <a:r>
              <a:rPr sz="2200" spc="-5" dirty="0">
                <a:latin typeface="Calibri"/>
                <a:cs typeface="Calibri"/>
              </a:rPr>
              <a:t>sharing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resources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Process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Hierarchy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Each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5" dirty="0">
                <a:latin typeface="Calibri"/>
                <a:cs typeface="Calibri"/>
              </a:rPr>
              <a:t>is identified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unique positive </a:t>
            </a:r>
            <a:r>
              <a:rPr sz="2200" spc="-20" dirty="0">
                <a:latin typeface="Calibri"/>
                <a:cs typeface="Calibri"/>
              </a:rPr>
              <a:t>integer </a:t>
            </a:r>
            <a:r>
              <a:rPr sz="2200" spc="-5" dirty="0">
                <a:latin typeface="Calibri"/>
                <a:cs typeface="Calibri"/>
              </a:rPr>
              <a:t>-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5" dirty="0">
                <a:latin typeface="Calibri"/>
                <a:cs typeface="Calibri"/>
              </a:rPr>
              <a:t>ID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</a:t>
            </a:r>
            <a:r>
              <a:rPr sz="2200" spc="-5" dirty="0" err="1">
                <a:latin typeface="Calibri"/>
                <a:cs typeface="Calibri"/>
              </a:rPr>
              <a:t>pid</a:t>
            </a:r>
            <a:r>
              <a:rPr sz="2200" spc="-5" dirty="0">
                <a:latin typeface="Calibri"/>
                <a:cs typeface="Calibri"/>
              </a:rPr>
              <a:t>)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i="1" spc="-5" dirty="0">
                <a:latin typeface="Calibri"/>
                <a:cs typeface="Calibri"/>
              </a:rPr>
              <a:t>init </a:t>
            </a:r>
            <a:r>
              <a:rPr sz="2200" spc="-5" dirty="0">
                <a:latin typeface="Calibri"/>
                <a:cs typeface="Calibri"/>
              </a:rPr>
              <a:t>is the </a:t>
            </a:r>
            <a:r>
              <a:rPr sz="2200" spc="-15" dirty="0">
                <a:latin typeface="Calibri"/>
                <a:cs typeface="Calibri"/>
              </a:rPr>
              <a:t>first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5" dirty="0">
                <a:latin typeface="Calibri"/>
                <a:cs typeface="Calibri"/>
              </a:rPr>
              <a:t>(pid=1), which is </a:t>
            </a:r>
            <a:r>
              <a:rPr sz="2200" spc="-10" dirty="0">
                <a:latin typeface="Calibri"/>
                <a:cs typeface="Calibri"/>
              </a:rPr>
              <a:t>the root </a:t>
            </a:r>
            <a:r>
              <a:rPr sz="2200" spc="-5" dirty="0">
                <a:latin typeface="Calibri"/>
                <a:cs typeface="Calibri"/>
              </a:rPr>
              <a:t>of the </a:t>
            </a:r>
            <a:r>
              <a:rPr sz="2200" spc="-10" dirty="0">
                <a:latin typeface="Calibri"/>
                <a:cs typeface="Calibri"/>
              </a:rPr>
              <a:t>process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tree.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New processes are </a:t>
            </a:r>
            <a:r>
              <a:rPr sz="2200" spc="-20" dirty="0">
                <a:latin typeface="Calibri"/>
                <a:cs typeface="Calibri"/>
              </a:rPr>
              <a:t>created </a:t>
            </a:r>
            <a:r>
              <a:rPr sz="2200" spc="-5" dirty="0">
                <a:latin typeface="Calibri"/>
                <a:cs typeface="Calibri"/>
              </a:rPr>
              <a:t>via the </a:t>
            </a:r>
            <a:r>
              <a:rPr sz="22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fork</a:t>
            </a:r>
            <a:r>
              <a:rPr sz="2200" spc="-15" dirty="0">
                <a:latin typeface="Calibri"/>
                <a:cs typeface="Calibri"/>
              </a:rPr>
              <a:t>() syscall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(parent-&gt;child)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If a </a:t>
            </a:r>
            <a:r>
              <a:rPr sz="2200" spc="-15" dirty="0">
                <a:latin typeface="Calibri"/>
                <a:cs typeface="Calibri"/>
              </a:rPr>
              <a:t>parent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15" dirty="0">
                <a:latin typeface="Calibri"/>
                <a:cs typeface="Calibri"/>
              </a:rPr>
              <a:t>terminates </a:t>
            </a:r>
            <a:r>
              <a:rPr sz="2200" spc="-25" dirty="0">
                <a:latin typeface="Calibri"/>
                <a:cs typeface="Calibri"/>
              </a:rPr>
              <a:t>before </a:t>
            </a:r>
            <a:r>
              <a:rPr sz="2200" spc="-5" dirty="0">
                <a:latin typeface="Calibri"/>
                <a:cs typeface="Calibri"/>
              </a:rPr>
              <a:t>its child, </a:t>
            </a:r>
            <a:r>
              <a:rPr sz="2200" i="1" spc="-5" dirty="0">
                <a:latin typeface="Calibri"/>
                <a:cs typeface="Calibri"/>
              </a:rPr>
              <a:t>init </a:t>
            </a:r>
            <a:r>
              <a:rPr sz="2200" spc="-5" dirty="0">
                <a:latin typeface="Calibri"/>
                <a:cs typeface="Calibri"/>
              </a:rPr>
              <a:t>will </a:t>
            </a:r>
            <a:r>
              <a:rPr sz="2200" spc="-10" dirty="0">
                <a:latin typeface="Calibri"/>
                <a:cs typeface="Calibri"/>
              </a:rPr>
              <a:t>become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parent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Parent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5" dirty="0">
                <a:latin typeface="Calibri"/>
                <a:cs typeface="Calibri"/>
              </a:rPr>
              <a:t>will </a:t>
            </a:r>
            <a:r>
              <a:rPr sz="2200" i="1" spc="-5" dirty="0">
                <a:latin typeface="Calibri"/>
                <a:cs typeface="Calibri"/>
              </a:rPr>
              <a:t>wait on </a:t>
            </a:r>
            <a:r>
              <a:rPr sz="2200" spc="-10" dirty="0">
                <a:latin typeface="Calibri"/>
                <a:cs typeface="Calibri"/>
              </a:rPr>
              <a:t>terminating </a:t>
            </a:r>
            <a:r>
              <a:rPr sz="2200" spc="-5" dirty="0">
                <a:latin typeface="Calibri"/>
                <a:cs typeface="Calibri"/>
              </a:rPr>
              <a:t>child, which </a:t>
            </a:r>
            <a:r>
              <a:rPr sz="2200" spc="-10" dirty="0">
                <a:latin typeface="Calibri"/>
                <a:cs typeface="Calibri"/>
              </a:rPr>
              <a:t>allows </a:t>
            </a: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be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destroyed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5" dirty="0">
                <a:latin typeface="Calibri"/>
                <a:cs typeface="Calibri"/>
              </a:rPr>
              <a:t>Terminating </a:t>
            </a:r>
            <a:r>
              <a:rPr sz="2200" spc="-10" dirty="0">
                <a:latin typeface="Calibri"/>
                <a:cs typeface="Calibri"/>
              </a:rPr>
              <a:t>process </a:t>
            </a:r>
            <a:r>
              <a:rPr sz="2200" spc="-5" dirty="0">
                <a:latin typeface="Calibri"/>
                <a:cs typeface="Calibri"/>
              </a:rPr>
              <a:t>not </a:t>
            </a:r>
            <a:r>
              <a:rPr sz="2200" spc="-10" dirty="0">
                <a:latin typeface="Calibri"/>
                <a:cs typeface="Calibri"/>
              </a:rPr>
              <a:t>being waited </a:t>
            </a:r>
            <a:r>
              <a:rPr sz="2200" spc="-5" dirty="0">
                <a:latin typeface="Calibri"/>
                <a:cs typeface="Calibri"/>
              </a:rPr>
              <a:t>on is a </a:t>
            </a:r>
            <a:r>
              <a:rPr sz="2200" i="1" spc="-15" dirty="0">
                <a:latin typeface="Calibri"/>
                <a:cs typeface="Calibri"/>
              </a:rPr>
              <a:t>zombie </a:t>
            </a:r>
            <a:r>
              <a:rPr sz="2200" spc="-10" dirty="0">
                <a:latin typeface="Calibri"/>
                <a:cs typeface="Calibri"/>
              </a:rPr>
              <a:t>(eventually waited </a:t>
            </a:r>
            <a:r>
              <a:rPr sz="2200" spc="-5" dirty="0">
                <a:latin typeface="Calibri"/>
                <a:cs typeface="Calibri"/>
              </a:rPr>
              <a:t>on </a:t>
            </a:r>
            <a:r>
              <a:rPr sz="2200" spc="-10" dirty="0">
                <a:latin typeface="Calibri"/>
                <a:cs typeface="Calibri"/>
              </a:rPr>
              <a:t>by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i="1" spc="-10" dirty="0" err="1">
                <a:latin typeface="Calibri"/>
                <a:cs typeface="Calibri"/>
              </a:rPr>
              <a:t>init</a:t>
            </a:r>
            <a:r>
              <a:rPr sz="2200" spc="-10" dirty="0">
                <a:latin typeface="Calibri"/>
                <a:cs typeface="Calibri"/>
              </a:rPr>
              <a:t>)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098" name="Picture 2" descr="Image result for zombie cartoon">
            <a:extLst>
              <a:ext uri="{FF2B5EF4-FFF2-40B4-BE49-F238E27FC236}">
                <a16:creationId xmlns:a16="http://schemas.microsoft.com/office/drawing/2014/main" id="{9D8AA05C-DCD1-4825-B724-361C8B658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9918" y="4871821"/>
            <a:ext cx="890286" cy="143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fork devil">
            <a:extLst>
              <a:ext uri="{FF2B5EF4-FFF2-40B4-BE49-F238E27FC236}">
                <a16:creationId xmlns:a16="http://schemas.microsoft.com/office/drawing/2014/main" id="{0239D315-A2AF-408B-B4F5-2988C0281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523032">
            <a:off x="9738076" y="4237652"/>
            <a:ext cx="1043479" cy="104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result for threads">
            <a:extLst>
              <a:ext uri="{FF2B5EF4-FFF2-40B4-BE49-F238E27FC236}">
                <a16:creationId xmlns:a16="http://schemas.microsoft.com/office/drawing/2014/main" id="{40FF9414-8E87-44A7-BF23-CD5C2AC47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1754" y="623888"/>
            <a:ext cx="2374446" cy="166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9223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Users </a:t>
            </a:r>
            <a:r>
              <a:rPr spc="-20" dirty="0"/>
              <a:t>and</a:t>
            </a:r>
            <a:r>
              <a:rPr spc="-204" dirty="0"/>
              <a:t> </a:t>
            </a:r>
            <a:r>
              <a:rPr spc="-50" dirty="0"/>
              <a:t>Groups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8" y="1756565"/>
            <a:ext cx="10513061" cy="404020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Each </a:t>
            </a:r>
            <a:r>
              <a:rPr sz="2800" spc="-5" dirty="0">
                <a:latin typeface="Calibri"/>
                <a:cs typeface="Calibri"/>
              </a:rPr>
              <a:t>user has a </a:t>
            </a:r>
            <a:r>
              <a:rPr sz="2800" spc="-10" dirty="0">
                <a:latin typeface="Calibri"/>
                <a:cs typeface="Calibri"/>
              </a:rPr>
              <a:t>unique positive </a:t>
            </a:r>
            <a:r>
              <a:rPr lang="en-US" sz="2800" spc="-25" dirty="0">
                <a:latin typeface="Calibri"/>
                <a:cs typeface="Calibri"/>
              </a:rPr>
              <a:t>integer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 </a:t>
            </a:r>
            <a:r>
              <a:rPr sz="2800" spc="-10" dirty="0">
                <a:latin typeface="Calibri"/>
                <a:cs typeface="Calibri"/>
              </a:rPr>
              <a:t>user </a:t>
            </a:r>
            <a:r>
              <a:rPr sz="2800" spc="-5" dirty="0">
                <a:latin typeface="Calibri"/>
                <a:cs typeface="Calibri"/>
              </a:rPr>
              <a:t>ID (</a:t>
            </a:r>
            <a:r>
              <a:rPr sz="2800" i="1" spc="-5" dirty="0">
                <a:latin typeface="Calibri"/>
                <a:cs typeface="Calibri"/>
              </a:rPr>
              <a:t>uid</a:t>
            </a:r>
            <a:r>
              <a:rPr sz="2800" spc="-5" dirty="0">
                <a:latin typeface="Calibri"/>
                <a:cs typeface="Calibri"/>
              </a:rPr>
              <a:t>, 0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root</a:t>
            </a:r>
            <a:r>
              <a:rPr sz="2800" spc="-5" dirty="0">
                <a:latin typeface="Calibri"/>
                <a:cs typeface="Calibri"/>
              </a:rPr>
              <a:t>)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Each process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associated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spc="-5" dirty="0">
                <a:latin typeface="Calibri"/>
                <a:cs typeface="Calibri"/>
              </a:rPr>
              <a:t>one uid,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5" dirty="0">
                <a:latin typeface="Calibri"/>
                <a:cs typeface="Calibri"/>
              </a:rPr>
              <a:t>process’s </a:t>
            </a:r>
            <a:r>
              <a:rPr sz="2400" i="1" dirty="0">
                <a:latin typeface="Calibri"/>
                <a:cs typeface="Calibri"/>
              </a:rPr>
              <a:t>real </a:t>
            </a:r>
            <a:r>
              <a:rPr sz="2400" i="1" spc="-5" dirty="0">
                <a:latin typeface="Calibri"/>
                <a:cs typeface="Calibri"/>
              </a:rPr>
              <a:t>uid </a:t>
            </a:r>
            <a:r>
              <a:rPr sz="2400" spc="-5" dirty="0">
                <a:latin typeface="Calibri"/>
                <a:cs typeface="Calibri"/>
              </a:rPr>
              <a:t>(who </a:t>
            </a:r>
            <a:r>
              <a:rPr sz="2400" spc="-10" dirty="0">
                <a:latin typeface="Calibri"/>
                <a:cs typeface="Calibri"/>
              </a:rPr>
              <a:t>starts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it)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There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5" dirty="0">
                <a:latin typeface="Calibri"/>
                <a:cs typeface="Calibri"/>
              </a:rPr>
              <a:t>also </a:t>
            </a:r>
            <a:r>
              <a:rPr sz="2000" dirty="0">
                <a:latin typeface="Calibri"/>
                <a:cs typeface="Calibri"/>
              </a:rPr>
              <a:t>an </a:t>
            </a:r>
            <a:r>
              <a:rPr sz="2000" i="1" spc="-5" dirty="0">
                <a:latin typeface="Calibri"/>
                <a:cs typeface="Calibri"/>
              </a:rPr>
              <a:t>effective uid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i="1" spc="-5" dirty="0">
                <a:latin typeface="Calibri"/>
                <a:cs typeface="Calibri"/>
              </a:rPr>
              <a:t>saved uid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z="2000" dirty="0">
                <a:latin typeface="Calibri"/>
                <a:cs typeface="Calibri"/>
              </a:rPr>
              <a:t>and a </a:t>
            </a:r>
            <a:r>
              <a:rPr sz="2000" i="1" spc="-10" dirty="0">
                <a:latin typeface="Calibri"/>
                <a:cs typeface="Calibri"/>
              </a:rPr>
              <a:t>filesystem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spc="-5" dirty="0" err="1">
                <a:latin typeface="Calibri"/>
                <a:cs typeface="Calibri"/>
              </a:rPr>
              <a:t>uid</a:t>
            </a:r>
            <a:r>
              <a:rPr lang="en-US" sz="2000" i="1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Usernames and their </a:t>
            </a:r>
            <a:r>
              <a:rPr sz="2400" spc="-35" dirty="0">
                <a:latin typeface="Calibri"/>
                <a:cs typeface="Calibri"/>
              </a:rPr>
              <a:t>uid’s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20" dirty="0">
                <a:latin typeface="Calibri"/>
                <a:cs typeface="Calibri"/>
              </a:rPr>
              <a:t>stored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/etc/passwd</a:t>
            </a:r>
            <a:r>
              <a:rPr lang="en-US" sz="2400" spc="-20" dirty="0">
                <a:latin typeface="Calibri"/>
                <a:cs typeface="Calibri"/>
              </a:rPr>
              <a:t>.</a:t>
            </a:r>
            <a:endParaRPr sz="2400" spc="-2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During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successfully login,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shell specified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/etc/passwd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launched with the </a:t>
            </a:r>
            <a:r>
              <a:rPr sz="2400" spc="-5" dirty="0">
                <a:latin typeface="Calibri"/>
                <a:cs typeface="Calibri"/>
              </a:rPr>
              <a:t>same uid </a:t>
            </a:r>
            <a:r>
              <a:rPr sz="2400" dirty="0">
                <a:latin typeface="Calibri"/>
                <a:cs typeface="Calibri"/>
              </a:rPr>
              <a:t>as 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user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All child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dirty="0">
                <a:latin typeface="Calibri"/>
                <a:cs typeface="Calibri"/>
              </a:rPr>
              <a:t>inherit the </a:t>
            </a:r>
            <a:r>
              <a:rPr sz="2400" spc="-35" dirty="0">
                <a:latin typeface="Calibri"/>
                <a:cs typeface="Calibri"/>
              </a:rPr>
              <a:t>uid’s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10" dirty="0">
                <a:latin typeface="Calibri"/>
                <a:cs typeface="Calibri"/>
              </a:rPr>
              <a:t> parents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user belongs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i="1" spc="-5" dirty="0">
                <a:latin typeface="Calibri"/>
                <a:cs typeface="Calibri"/>
              </a:rPr>
              <a:t>primary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i="1" spc="-5" dirty="0">
                <a:latin typeface="Calibri"/>
                <a:cs typeface="Calibri"/>
              </a:rPr>
              <a:t>login group </a:t>
            </a:r>
            <a:r>
              <a:rPr sz="2800" spc="-5" dirty="0">
                <a:latin typeface="Calibri"/>
                <a:cs typeface="Calibri"/>
              </a:rPr>
              <a:t>– with a </a:t>
            </a:r>
            <a:r>
              <a:rPr sz="2800" spc="-15" dirty="0">
                <a:latin typeface="Calibri"/>
                <a:cs typeface="Calibri"/>
              </a:rPr>
              <a:t>group </a:t>
            </a:r>
            <a:r>
              <a:rPr sz="2800" spc="-5" dirty="0">
                <a:latin typeface="Calibri"/>
                <a:cs typeface="Calibri"/>
              </a:rPr>
              <a:t>ID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2800" i="1" spc="-5" dirty="0">
                <a:latin typeface="Calibri"/>
                <a:cs typeface="Calibri"/>
              </a:rPr>
              <a:t>gid</a:t>
            </a:r>
            <a:r>
              <a:rPr sz="2800" spc="-5" dirty="0">
                <a:latin typeface="Calibri"/>
                <a:cs typeface="Calibri"/>
              </a:rPr>
              <a:t>)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It </a:t>
            </a:r>
            <a:r>
              <a:rPr sz="2400" spc="-15" dirty="0">
                <a:latin typeface="Calibri"/>
                <a:cs typeface="Calibri"/>
              </a:rPr>
              <a:t>may </a:t>
            </a:r>
            <a:r>
              <a:rPr sz="2400" dirty="0">
                <a:latin typeface="Calibri"/>
                <a:cs typeface="Calibri"/>
              </a:rPr>
              <a:t>also </a:t>
            </a:r>
            <a:r>
              <a:rPr sz="2400" spc="-5" dirty="0">
                <a:latin typeface="Calibri"/>
                <a:cs typeface="Calibri"/>
              </a:rPr>
              <a:t>belong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lang="en-US" sz="2400" dirty="0">
                <a:latin typeface="Calibri"/>
                <a:cs typeface="Calibri"/>
              </a:rPr>
              <a:t>a few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supplemental </a:t>
            </a:r>
            <a:r>
              <a:rPr sz="2400" spc="-15" dirty="0">
                <a:latin typeface="Calibri"/>
                <a:cs typeface="Calibri"/>
              </a:rPr>
              <a:t>groups, </a:t>
            </a:r>
            <a:r>
              <a:rPr sz="2400" spc="-10" dirty="0">
                <a:latin typeface="Calibri"/>
                <a:cs typeface="Calibri"/>
              </a:rPr>
              <a:t>listed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/etc/group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Each process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i="1" dirty="0">
                <a:latin typeface="Calibri"/>
                <a:cs typeface="Calibri"/>
              </a:rPr>
              <a:t>real </a:t>
            </a:r>
            <a:r>
              <a:rPr sz="2400" i="1" spc="-5" dirty="0">
                <a:latin typeface="Calibri"/>
                <a:cs typeface="Calibri"/>
              </a:rPr>
              <a:t>gid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i="1" spc="-5" dirty="0">
                <a:latin typeface="Calibri"/>
                <a:cs typeface="Calibri"/>
              </a:rPr>
              <a:t>effective gid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i="1" spc="-5" dirty="0">
                <a:latin typeface="Calibri"/>
                <a:cs typeface="Calibri"/>
              </a:rPr>
              <a:t>saved gid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and a </a:t>
            </a:r>
            <a:r>
              <a:rPr sz="2400" i="1" spc="-15" dirty="0">
                <a:latin typeface="Calibri"/>
                <a:cs typeface="Calibri"/>
              </a:rPr>
              <a:t>filesystem</a:t>
            </a:r>
            <a:r>
              <a:rPr sz="2400" i="1" spc="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gid</a:t>
            </a:r>
            <a:r>
              <a:rPr lang="en-US" sz="2400" i="1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122" name="Picture 2" descr="Image result for identification card">
            <a:extLst>
              <a:ext uri="{FF2B5EF4-FFF2-40B4-BE49-F238E27FC236}">
                <a16:creationId xmlns:a16="http://schemas.microsoft.com/office/drawing/2014/main" id="{829D126B-B5B6-4C40-9892-741032F34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9209" y="609676"/>
            <a:ext cx="1697430" cy="107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644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Permissions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661"/>
            <a:ext cx="10217785" cy="41948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231775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Each file </a:t>
            </a:r>
            <a:r>
              <a:rPr sz="2800" spc="-5" dirty="0">
                <a:latin typeface="Calibri"/>
                <a:cs typeface="Calibri"/>
              </a:rPr>
              <a:t>is associated with an </a:t>
            </a:r>
            <a:r>
              <a:rPr sz="2800" spc="-10" dirty="0">
                <a:latin typeface="Calibri"/>
                <a:cs typeface="Calibri"/>
              </a:rPr>
              <a:t>owning </a:t>
            </a:r>
            <a:r>
              <a:rPr sz="2800" spc="-55" dirty="0">
                <a:latin typeface="Calibri"/>
                <a:cs typeface="Calibri"/>
              </a:rPr>
              <a:t>user, </a:t>
            </a:r>
            <a:r>
              <a:rPr sz="2800" spc="-10" dirty="0">
                <a:latin typeface="Calibri"/>
                <a:cs typeface="Calibri"/>
              </a:rPr>
              <a:t>owning </a:t>
            </a:r>
            <a:r>
              <a:rPr sz="2800" spc="-15" dirty="0">
                <a:latin typeface="Calibri"/>
                <a:cs typeface="Calibri"/>
              </a:rPr>
              <a:t>group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three  sets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permission </a:t>
            </a:r>
            <a:r>
              <a:rPr sz="2800" spc="-5" dirty="0">
                <a:latin typeface="Calibri"/>
                <a:cs typeface="Calibri"/>
              </a:rPr>
              <a:t>bits, all </a:t>
            </a:r>
            <a:r>
              <a:rPr sz="2800" spc="-20" dirty="0">
                <a:latin typeface="Calibri"/>
                <a:cs typeface="Calibri"/>
              </a:rPr>
              <a:t>stored </a:t>
            </a:r>
            <a:r>
              <a:rPr sz="2800" spc="-5" dirty="0">
                <a:latin typeface="Calibri"/>
                <a:cs typeface="Calibri"/>
              </a:rPr>
              <a:t>in the </a:t>
            </a:r>
            <a:r>
              <a:rPr sz="2800" spc="-35" dirty="0">
                <a:latin typeface="Calibri"/>
                <a:cs typeface="Calibri"/>
              </a:rPr>
              <a:t>file’s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inode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(r)ead, </a:t>
            </a:r>
            <a:r>
              <a:rPr sz="2800" spc="-10" dirty="0">
                <a:latin typeface="Calibri"/>
                <a:cs typeface="Calibri"/>
              </a:rPr>
              <a:t>(w)right, </a:t>
            </a:r>
            <a:r>
              <a:rPr sz="2800" spc="-5" dirty="0">
                <a:latin typeface="Calibri"/>
                <a:cs typeface="Calibri"/>
              </a:rPr>
              <a:t>e(x)ecute: x </a:t>
            </a:r>
            <a:r>
              <a:rPr sz="2800" spc="-10" dirty="0">
                <a:latin typeface="Calibri"/>
                <a:cs typeface="Calibri"/>
              </a:rPr>
              <a:t>permissions </a:t>
            </a:r>
            <a:r>
              <a:rPr sz="2800" spc="-20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ignored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0" dirty="0">
                <a:latin typeface="Calibri"/>
                <a:cs typeface="Calibri"/>
              </a:rPr>
              <a:t>special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25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For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directories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read </a:t>
            </a:r>
            <a:r>
              <a:rPr sz="2400" dirty="0">
                <a:latin typeface="Calibri"/>
                <a:cs typeface="Calibri"/>
              </a:rPr>
              <a:t>means </a:t>
            </a:r>
            <a:r>
              <a:rPr sz="2400" spc="-5" dirty="0">
                <a:latin typeface="Calibri"/>
                <a:cs typeface="Calibri"/>
              </a:rPr>
              <a:t>listing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directory’s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contents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write </a:t>
            </a:r>
            <a:r>
              <a:rPr sz="2400" dirty="0">
                <a:latin typeface="Calibri"/>
                <a:cs typeface="Calibri"/>
              </a:rPr>
              <a:t>means </a:t>
            </a:r>
            <a:r>
              <a:rPr sz="2400" spc="-5" dirty="0">
                <a:latin typeface="Calibri"/>
                <a:cs typeface="Calibri"/>
              </a:rPr>
              <a:t>new </a:t>
            </a:r>
            <a:r>
              <a:rPr sz="2400" spc="-10" dirty="0">
                <a:latin typeface="Calibri"/>
                <a:cs typeface="Calibri"/>
              </a:rPr>
              <a:t>links </a:t>
            </a:r>
            <a:r>
              <a:rPr sz="2400" spc="-5" dirty="0">
                <a:latin typeface="Calibri"/>
                <a:cs typeface="Calibri"/>
              </a:rPr>
              <a:t>being added/deleted </a:t>
            </a:r>
            <a:r>
              <a:rPr sz="2400" dirty="0">
                <a:latin typeface="Calibri"/>
                <a:cs typeface="Calibri"/>
              </a:rPr>
              <a:t>inside 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directory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100"/>
              </a:lnSpc>
              <a:spcBef>
                <a:spcPts val="53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20" dirty="0">
                <a:latin typeface="Calibri"/>
                <a:cs typeface="Calibri"/>
              </a:rPr>
              <a:t>execute </a:t>
            </a:r>
            <a:r>
              <a:rPr sz="2400" spc="-10" dirty="0">
                <a:latin typeface="Calibri"/>
                <a:cs typeface="Calibri"/>
              </a:rPr>
              <a:t>allows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directory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entered/used </a:t>
            </a:r>
            <a:r>
              <a:rPr sz="2400" dirty="0">
                <a:latin typeface="Calibri"/>
                <a:cs typeface="Calibri"/>
              </a:rPr>
              <a:t>in a </a:t>
            </a:r>
            <a:r>
              <a:rPr sz="2400" spc="-5" dirty="0">
                <a:latin typeface="Calibri"/>
                <a:cs typeface="Calibri"/>
              </a:rPr>
              <a:t>pathname (so</a:t>
            </a:r>
            <a:r>
              <a:rPr lang="en-US" sz="2400" spc="-5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e.g.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sz="2400" dirty="0">
                <a:latin typeface="Calibri"/>
                <a:cs typeface="Calibri"/>
              </a:rPr>
              <a:t> if </a:t>
            </a:r>
            <a:r>
              <a:rPr sz="2400" spc="-10" dirty="0">
                <a:latin typeface="Calibri"/>
                <a:cs typeface="Calibri"/>
              </a:rPr>
              <a:t>you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rw-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permission,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sz="2400" dirty="0">
                <a:latin typeface="Calibri"/>
                <a:cs typeface="Calibri"/>
              </a:rPr>
              <a:t> will </a:t>
            </a:r>
            <a:r>
              <a:rPr sz="2400" spc="-15" dirty="0">
                <a:latin typeface="Calibri"/>
                <a:cs typeface="Calibri"/>
              </a:rPr>
              <a:t>fail </a:t>
            </a:r>
            <a:r>
              <a:rPr sz="2400" spc="-10" dirty="0">
                <a:latin typeface="Calibri"/>
                <a:cs typeface="Calibri"/>
              </a:rPr>
              <a:t>on </a:t>
            </a:r>
            <a:r>
              <a:rPr sz="2400" spc="-5" dirty="0">
                <a:latin typeface="Calibri"/>
                <a:cs typeface="Calibri"/>
              </a:rPr>
              <a:t>non-empty </a:t>
            </a:r>
            <a:r>
              <a:rPr sz="2400" spc="-25" dirty="0">
                <a:latin typeface="Calibri"/>
                <a:cs typeface="Calibri"/>
              </a:rPr>
              <a:t>directory, </a:t>
            </a:r>
            <a:r>
              <a:rPr sz="2400" dirty="0">
                <a:latin typeface="Calibri"/>
                <a:cs typeface="Calibri"/>
              </a:rPr>
              <a:t>as the </a:t>
            </a:r>
            <a:r>
              <a:rPr sz="2400" spc="-10" dirty="0">
                <a:latin typeface="Calibri"/>
                <a:cs typeface="Calibri"/>
              </a:rPr>
              <a:t>directory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dirty="0">
                <a:latin typeface="Calibri"/>
                <a:cs typeface="Calibri"/>
              </a:rPr>
              <a:t>as a </a:t>
            </a:r>
            <a:r>
              <a:rPr sz="2400" spc="-5" dirty="0">
                <a:latin typeface="Calibri"/>
                <a:cs typeface="Calibri"/>
              </a:rPr>
              <a:t>pathname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listing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contents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r>
              <a:rPr sz="2400" spc="-1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41300" marR="989965" indent="-228600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5" dirty="0">
                <a:latin typeface="Calibri"/>
                <a:cs typeface="Calibri"/>
              </a:rPr>
              <a:t>also </a:t>
            </a:r>
            <a:r>
              <a:rPr sz="2800" spc="-10" dirty="0">
                <a:latin typeface="Calibri"/>
                <a:cs typeface="Calibri"/>
              </a:rPr>
              <a:t>supports </a:t>
            </a:r>
            <a:r>
              <a:rPr sz="2800" spc="-5" dirty="0">
                <a:latin typeface="Calibri"/>
                <a:cs typeface="Calibri"/>
              </a:rPr>
              <a:t>access </a:t>
            </a:r>
            <a:r>
              <a:rPr sz="2800" spc="-20" dirty="0">
                <a:latin typeface="Calibri"/>
                <a:cs typeface="Calibri"/>
              </a:rPr>
              <a:t>control </a:t>
            </a:r>
            <a:r>
              <a:rPr sz="2800" spc="-15" dirty="0">
                <a:latin typeface="Calibri"/>
                <a:cs typeface="Calibri"/>
              </a:rPr>
              <a:t>lists </a:t>
            </a:r>
            <a:r>
              <a:rPr sz="2800" spc="-10" dirty="0">
                <a:latin typeface="Calibri"/>
                <a:cs typeface="Calibri"/>
              </a:rPr>
              <a:t>(ACLs) that </a:t>
            </a:r>
            <a:r>
              <a:rPr lang="en-US" sz="2800" spc="-25" dirty="0">
                <a:latin typeface="Calibri"/>
                <a:cs typeface="Calibri"/>
              </a:rPr>
              <a:t>provide a greater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more </a:t>
            </a:r>
            <a:r>
              <a:rPr sz="2800" spc="-10" dirty="0">
                <a:latin typeface="Calibri"/>
                <a:cs typeface="Calibri"/>
              </a:rPr>
              <a:t>detailed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lang="en-US" sz="2800" spc="10" dirty="0">
                <a:latin typeface="Calibri"/>
                <a:cs typeface="Calibri"/>
              </a:rPr>
              <a:t>permissions </a:t>
            </a:r>
            <a:r>
              <a:rPr sz="2800" spc="-20" dirty="0">
                <a:latin typeface="Calibri"/>
                <a:cs typeface="Calibri"/>
              </a:rPr>
              <a:t>control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9218" name="Picture 2" descr="Image result for permission icon">
            <a:extLst>
              <a:ext uri="{FF2B5EF4-FFF2-40B4-BE49-F238E27FC236}">
                <a16:creationId xmlns:a16="http://schemas.microsoft.com/office/drawing/2014/main" id="{64F3D1D6-9328-45A5-855D-C4FB0AB1DB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11"/>
          <a:stretch/>
        </p:blipFill>
        <p:spPr bwMode="auto">
          <a:xfrm>
            <a:off x="10210800" y="525247"/>
            <a:ext cx="141349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537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S</a:t>
            </a:r>
            <a:r>
              <a:rPr spc="-15" dirty="0"/>
              <a:t>i</a:t>
            </a:r>
            <a:r>
              <a:rPr spc="-35" dirty="0"/>
              <a:t>g</a:t>
            </a:r>
            <a:r>
              <a:rPr spc="-45" dirty="0"/>
              <a:t>n</a:t>
            </a:r>
            <a:r>
              <a:rPr spc="-30" dirty="0"/>
              <a:t>al</a:t>
            </a:r>
            <a:r>
              <a:rPr dirty="0"/>
              <a:t>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745945"/>
            <a:ext cx="10106025" cy="431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Signals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a mechanism </a:t>
            </a:r>
            <a:r>
              <a:rPr sz="2400" spc="-20" dirty="0">
                <a:latin typeface="Calibri"/>
                <a:cs typeface="Calibri"/>
              </a:rPr>
              <a:t>for one-way </a:t>
            </a:r>
            <a:r>
              <a:rPr sz="2400" spc="-10" dirty="0">
                <a:latin typeface="Calibri"/>
                <a:cs typeface="Calibri"/>
              </a:rPr>
              <a:t>asynchronous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notifications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Sent: </a:t>
            </a:r>
            <a:r>
              <a:rPr sz="2400" spc="-10" dirty="0">
                <a:latin typeface="Calibri"/>
                <a:cs typeface="Calibri"/>
              </a:rPr>
              <a:t>kernel-&gt;process, </a:t>
            </a:r>
            <a:r>
              <a:rPr sz="2400" spc="-5" dirty="0">
                <a:latin typeface="Calibri"/>
                <a:cs typeface="Calibri"/>
              </a:rPr>
              <a:t>process-&gt;another </a:t>
            </a:r>
            <a:r>
              <a:rPr sz="2400" spc="-10" dirty="0">
                <a:latin typeface="Calibri"/>
                <a:cs typeface="Calibri"/>
              </a:rPr>
              <a:t>process,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process-&gt;self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5" dirty="0">
                <a:latin typeface="Calibri"/>
                <a:cs typeface="Calibri"/>
              </a:rPr>
              <a:t>Typically </a:t>
            </a:r>
            <a:r>
              <a:rPr sz="2400" dirty="0">
                <a:latin typeface="Calibri"/>
                <a:cs typeface="Calibri"/>
              </a:rPr>
              <a:t>alert 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some </a:t>
            </a:r>
            <a:r>
              <a:rPr sz="2400" spc="-10" dirty="0">
                <a:latin typeface="Calibri"/>
                <a:cs typeface="Calibri"/>
              </a:rPr>
              <a:t>event </a:t>
            </a:r>
            <a:r>
              <a:rPr sz="2400" dirty="0">
                <a:latin typeface="Calibri"/>
                <a:cs typeface="Calibri"/>
              </a:rPr>
              <a:t>(e.g.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segmentation falt, </a:t>
            </a:r>
            <a:r>
              <a:rPr lang="en-US"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Ctrl+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sz="2400" spc="-5" dirty="0">
                <a:latin typeface="Calibri"/>
                <a:cs typeface="Calibri"/>
              </a:rPr>
              <a:t>,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etc</a:t>
            </a:r>
            <a:r>
              <a:rPr sz="2400" spc="-10" dirty="0">
                <a:latin typeface="Calibri"/>
                <a:cs typeface="Calibri"/>
              </a:rPr>
              <a:t>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Linux </a:t>
            </a:r>
            <a:r>
              <a:rPr sz="2400" spc="-10" dirty="0">
                <a:latin typeface="Calibri"/>
                <a:cs typeface="Calibri"/>
              </a:rPr>
              <a:t>kernel </a:t>
            </a:r>
            <a:r>
              <a:rPr sz="2400" spc="-5" dirty="0">
                <a:latin typeface="Calibri"/>
                <a:cs typeface="Calibri"/>
              </a:rPr>
              <a:t>has ~30 signals (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№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architecture-dependent)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2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SIGHUP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1 </a:t>
            </a:r>
            <a:r>
              <a:rPr sz="2000" spc="-5" dirty="0">
                <a:latin typeface="Calibri"/>
                <a:cs typeface="Calibri"/>
              </a:rPr>
              <a:t>(on </a:t>
            </a:r>
            <a:r>
              <a:rPr sz="2000" dirty="0">
                <a:latin typeface="Calibri"/>
                <a:cs typeface="Calibri"/>
              </a:rPr>
              <a:t>x86-64), </a:t>
            </a:r>
            <a:r>
              <a:rPr sz="2000" spc="-5" dirty="0">
                <a:latin typeface="Calibri"/>
                <a:cs typeface="Calibri"/>
              </a:rPr>
              <a:t>signaling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terminal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hangup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spc="-15" dirty="0">
                <a:latin typeface="Calibri"/>
                <a:cs typeface="Calibri"/>
              </a:rPr>
              <a:t>control </a:t>
            </a:r>
            <a:r>
              <a:rPr sz="2400" spc="-5" dirty="0">
                <a:latin typeface="Calibri"/>
                <a:cs typeface="Calibri"/>
              </a:rPr>
              <a:t>what happens </a:t>
            </a:r>
            <a:r>
              <a:rPr sz="2400" dirty="0">
                <a:latin typeface="Calibri"/>
                <a:cs typeface="Calibri"/>
              </a:rPr>
              <a:t>when a </a:t>
            </a:r>
            <a:r>
              <a:rPr sz="2400" spc="-5" dirty="0">
                <a:latin typeface="Calibri"/>
                <a:cs typeface="Calibri"/>
              </a:rPr>
              <a:t>signal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received. </a:t>
            </a:r>
            <a:r>
              <a:rPr sz="2400" spc="-10" dirty="0">
                <a:latin typeface="Calibri"/>
                <a:cs typeface="Calibri"/>
              </a:rPr>
              <a:t>They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accept the </a:t>
            </a:r>
            <a:r>
              <a:rPr sz="2000" spc="-10" dirty="0">
                <a:latin typeface="Calibri"/>
                <a:cs typeface="Calibri"/>
              </a:rPr>
              <a:t>default </a:t>
            </a:r>
            <a:r>
              <a:rPr sz="2000" dirty="0">
                <a:latin typeface="Calibri"/>
                <a:cs typeface="Calibri"/>
              </a:rPr>
              <a:t>action </a:t>
            </a:r>
            <a:r>
              <a:rPr sz="2000" spc="-5" dirty="0">
                <a:latin typeface="Calibri"/>
                <a:cs typeface="Calibri"/>
              </a:rPr>
              <a:t>(usually </a:t>
            </a:r>
            <a:r>
              <a:rPr sz="2000" spc="-10" dirty="0">
                <a:latin typeface="Calibri"/>
                <a:cs typeface="Calibri"/>
              </a:rPr>
              <a:t>terminate/coredump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process)</a:t>
            </a:r>
            <a:r>
              <a:rPr lang="en-US" sz="2000" spc="-10" dirty="0">
                <a:latin typeface="Calibri"/>
                <a:cs typeface="Calibri"/>
              </a:rPr>
              <a:t>,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ignore </a:t>
            </a:r>
            <a:r>
              <a:rPr sz="2000" dirty="0">
                <a:latin typeface="Calibri"/>
                <a:cs typeface="Calibri"/>
              </a:rPr>
              <a:t>it </a:t>
            </a:r>
            <a:r>
              <a:rPr sz="2000" spc="-5" dirty="0">
                <a:latin typeface="Calibri"/>
                <a:cs typeface="Calibri"/>
              </a:rPr>
              <a:t>(silently </a:t>
            </a:r>
            <a:r>
              <a:rPr sz="2000" spc="-15" dirty="0">
                <a:latin typeface="Calibri"/>
                <a:cs typeface="Calibri"/>
              </a:rPr>
              <a:t>drop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it)</a:t>
            </a:r>
            <a:r>
              <a:rPr lang="en-US" sz="2000" spc="-5" dirty="0">
                <a:latin typeface="Calibri"/>
                <a:cs typeface="Calibri"/>
              </a:rPr>
              <a:t>, or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handle it with a </a:t>
            </a:r>
            <a:r>
              <a:rPr sz="2000" spc="-5" dirty="0">
                <a:latin typeface="Calibri"/>
                <a:cs typeface="Calibri"/>
              </a:rPr>
              <a:t>predetermined </a:t>
            </a:r>
            <a:r>
              <a:rPr sz="2000" dirty="0">
                <a:latin typeface="Calibri"/>
                <a:cs typeface="Calibri"/>
              </a:rPr>
              <a:t>action (signal handler), then </a:t>
            </a:r>
            <a:r>
              <a:rPr sz="2000" spc="-10" dirty="0">
                <a:latin typeface="Calibri"/>
                <a:cs typeface="Calibri"/>
              </a:rPr>
              <a:t>resume interrupted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lang="en-US" sz="200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45" dirty="0">
                <a:latin typeface="Calibri"/>
                <a:cs typeface="Calibri"/>
              </a:rPr>
              <a:t>Two </a:t>
            </a:r>
            <a:r>
              <a:rPr sz="2400" spc="-10" dirty="0">
                <a:latin typeface="Calibri"/>
                <a:cs typeface="Calibri"/>
              </a:rPr>
              <a:t>exceptions: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SIGKILL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(always </a:t>
            </a:r>
            <a:r>
              <a:rPr sz="2400" spc="-10" dirty="0">
                <a:latin typeface="Calibri"/>
                <a:cs typeface="Calibri"/>
              </a:rPr>
              <a:t>terminate processes)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SIGSTOP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(always stop </a:t>
            </a:r>
            <a:r>
              <a:rPr sz="2400" spc="-10" dirty="0">
                <a:latin typeface="Calibri"/>
                <a:cs typeface="Calibri"/>
              </a:rPr>
              <a:t>processes)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77025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Other </a:t>
            </a:r>
            <a:r>
              <a:rPr sz="2400" spc="-15" dirty="0">
                <a:latin typeface="Calibri"/>
                <a:cs typeface="Calibri"/>
              </a:rPr>
              <a:t>forms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Interprocess Communication </a:t>
            </a:r>
            <a:r>
              <a:rPr sz="2400" dirty="0">
                <a:latin typeface="Calibri"/>
                <a:cs typeface="Calibri"/>
              </a:rPr>
              <a:t>include </a:t>
            </a:r>
            <a:r>
              <a:rPr sz="2400" spc="-5" dirty="0">
                <a:latin typeface="Calibri"/>
                <a:cs typeface="Calibri"/>
              </a:rPr>
              <a:t>pipes, named pipes,  semaphores, message queues, </a:t>
            </a:r>
            <a:r>
              <a:rPr sz="2400" spc="-10" dirty="0">
                <a:latin typeface="Calibri"/>
                <a:cs typeface="Calibri"/>
              </a:rPr>
              <a:t>shared </a:t>
            </a:r>
            <a:r>
              <a:rPr sz="2400" spc="-20" dirty="0">
                <a:latin typeface="Calibri"/>
                <a:cs typeface="Calibri"/>
              </a:rPr>
              <a:t>memory, futexes,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sockets.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146" name="Picture 2" descr="Image result for signals">
            <a:extLst>
              <a:ext uri="{FF2B5EF4-FFF2-40B4-BE49-F238E27FC236}">
                <a16:creationId xmlns:a16="http://schemas.microsoft.com/office/drawing/2014/main" id="{CDEBCE9B-371E-4ED3-BEFB-DA2F5A4D2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74861" y="381000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2219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Error</a:t>
            </a:r>
            <a:r>
              <a:rPr spc="-170" dirty="0"/>
              <a:t> </a:t>
            </a:r>
            <a:r>
              <a:rPr spc="-30" dirty="0"/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661"/>
            <a:ext cx="10208261" cy="41087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33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error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signified via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25" dirty="0">
                <a:latin typeface="Calibri"/>
                <a:cs typeface="Calibri"/>
              </a:rPr>
              <a:t>function’s </a:t>
            </a:r>
            <a:r>
              <a:rPr sz="2800" spc="-10" dirty="0">
                <a:latin typeface="Calibri"/>
                <a:cs typeface="Calibri"/>
              </a:rPr>
              <a:t>return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ts val="2855"/>
              </a:lnSpc>
            </a:pPr>
            <a:r>
              <a:rPr sz="2400" dirty="0">
                <a:latin typeface="Calibri"/>
                <a:cs typeface="Calibri"/>
              </a:rPr>
              <a:t>0 </a:t>
            </a:r>
            <a:r>
              <a:rPr sz="2400" spc="-10" dirty="0">
                <a:latin typeface="Calibri"/>
                <a:cs typeface="Calibri"/>
              </a:rPr>
              <a:t>represents SUCCESS, </a:t>
            </a:r>
            <a:r>
              <a:rPr sz="2400" spc="-5" dirty="0">
                <a:latin typeface="Calibri"/>
                <a:cs typeface="Calibri"/>
              </a:rPr>
              <a:t>-1 </a:t>
            </a:r>
            <a:r>
              <a:rPr sz="2400" spc="-10" dirty="0">
                <a:latin typeface="Calibri"/>
                <a:cs typeface="Calibri"/>
              </a:rPr>
              <a:t>represents </a:t>
            </a:r>
            <a:r>
              <a:rPr sz="2400" spc="-30" dirty="0">
                <a:latin typeface="Calibri"/>
                <a:cs typeface="Calibri"/>
              </a:rPr>
              <a:t>FAILURE </a:t>
            </a:r>
            <a:r>
              <a:rPr sz="2400" spc="-5" dirty="0">
                <a:latin typeface="Calibri"/>
                <a:cs typeface="Calibri"/>
              </a:rPr>
              <a:t>(depends on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functions)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separate, </a:t>
            </a:r>
            <a:r>
              <a:rPr sz="2800" spc="-5" dirty="0">
                <a:latin typeface="Calibri"/>
                <a:cs typeface="Calibri"/>
              </a:rPr>
              <a:t>special </a:t>
            </a:r>
            <a:r>
              <a:rPr sz="2800" spc="-10" dirty="0">
                <a:latin typeface="Calibri"/>
                <a:cs typeface="Calibri"/>
              </a:rPr>
              <a:t>variable,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5" dirty="0">
                <a:latin typeface="Calibri"/>
                <a:cs typeface="Calibri"/>
              </a:rPr>
              <a:t>, </a:t>
            </a:r>
            <a:r>
              <a:rPr sz="2800" spc="-10" dirty="0">
                <a:latin typeface="Calibri"/>
                <a:cs typeface="Calibri"/>
              </a:rPr>
              <a:t>describes what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error.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ts val="2850"/>
              </a:lnSpc>
              <a:tabLst>
                <a:tab pos="2755900" algn="l"/>
              </a:tabLst>
            </a:pPr>
            <a:r>
              <a:rPr sz="2400" spc="-10" dirty="0">
                <a:solidFill>
                  <a:srgbClr val="0070C0"/>
                </a:solidFill>
                <a:latin typeface="Calibri"/>
                <a:cs typeface="Calibri"/>
              </a:rPr>
              <a:t>extern</a:t>
            </a:r>
            <a:r>
              <a:rPr sz="2400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Calibri"/>
                <a:cs typeface="Calibri"/>
              </a:rPr>
              <a:t>int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 errno;</a:t>
            </a: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	</a:t>
            </a:r>
            <a:r>
              <a:rPr sz="2400" spc="-5" dirty="0">
                <a:latin typeface="Calibri"/>
                <a:cs typeface="Calibri"/>
              </a:rPr>
              <a:t>// </a:t>
            </a:r>
            <a:r>
              <a:rPr sz="2400" i="1" dirty="0">
                <a:latin typeface="Calibri"/>
                <a:cs typeface="Calibri"/>
              </a:rPr>
              <a:t>in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&lt;errno.h&gt;</a:t>
            </a:r>
            <a:endParaRPr sz="2400" i="1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must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immediately </a:t>
            </a:r>
            <a:r>
              <a:rPr sz="2800" spc="-15" dirty="0">
                <a:latin typeface="Calibri"/>
                <a:cs typeface="Calibri"/>
              </a:rPr>
              <a:t>checked </a:t>
            </a:r>
            <a:r>
              <a:rPr sz="2800" spc="-10" dirty="0">
                <a:latin typeface="Calibri"/>
                <a:cs typeface="Calibri"/>
              </a:rPr>
              <a:t>after </a:t>
            </a:r>
            <a:r>
              <a:rPr sz="28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10" dirty="0">
                <a:latin typeface="Calibri"/>
                <a:cs typeface="Calibri"/>
              </a:rPr>
              <a:t>-setting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functions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588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value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5" dirty="0">
                <a:latin typeface="Calibri"/>
                <a:cs typeface="Calibri"/>
              </a:rPr>
              <a:t> is mapped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symbol </a:t>
            </a:r>
            <a:r>
              <a:rPr sz="2800" spc="-10" dirty="0">
                <a:latin typeface="Calibri"/>
                <a:cs typeface="Calibri"/>
              </a:rPr>
              <a:t>via </a:t>
            </a:r>
            <a:r>
              <a:rPr sz="28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#define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(constant definitions) </a:t>
            </a:r>
            <a:r>
              <a:rPr sz="2800" spc="-5" dirty="0">
                <a:latin typeface="Calibri"/>
                <a:cs typeface="Calibri"/>
              </a:rPr>
              <a:t>and further mapped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textual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description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25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400" spc="-5" dirty="0">
                <a:latin typeface="Calibri"/>
                <a:cs typeface="Calibri"/>
              </a:rPr>
              <a:t>=1, </a:t>
            </a:r>
            <a:r>
              <a:rPr sz="2400" spc="-10" dirty="0">
                <a:latin typeface="Calibri"/>
                <a:cs typeface="Calibri"/>
              </a:rPr>
              <a:t>EACCESS, “Permission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denied”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C </a:t>
            </a:r>
            <a:r>
              <a:rPr sz="2800" spc="-15" dirty="0">
                <a:latin typeface="Calibri"/>
                <a:cs typeface="Calibri"/>
              </a:rPr>
              <a:t>library provides </a:t>
            </a:r>
            <a:r>
              <a:rPr sz="2800" spc="-10" dirty="0">
                <a:latin typeface="Calibri"/>
                <a:cs typeface="Calibri"/>
              </a:rPr>
              <a:t>functions translating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description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5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solidFill>
                  <a:srgbClr val="0070C0"/>
                </a:solidFill>
                <a:latin typeface="Calibri"/>
                <a:cs typeface="Calibri"/>
              </a:rPr>
              <a:t>perror()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sz="2400" spc="-15" dirty="0">
                <a:solidFill>
                  <a:srgbClr val="0070C0"/>
                </a:solidFill>
                <a:latin typeface="Calibri"/>
                <a:cs typeface="Calibri"/>
              </a:rPr>
              <a:t>strerror()</a:t>
            </a:r>
            <a:r>
              <a:rPr sz="2400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(not </a:t>
            </a:r>
            <a:r>
              <a:rPr sz="2400" spc="-10" dirty="0">
                <a:latin typeface="Calibri"/>
                <a:cs typeface="Calibri"/>
              </a:rPr>
              <a:t>thread</a:t>
            </a:r>
            <a:r>
              <a:rPr lang="en-US" sz="2400" spc="-10" dirty="0">
                <a:latin typeface="Calibri"/>
                <a:cs typeface="Calibri"/>
              </a:rPr>
              <a:t>-</a:t>
            </a:r>
            <a:r>
              <a:rPr sz="2400" spc="-15" dirty="0">
                <a:latin typeface="Calibri"/>
                <a:cs typeface="Calibri"/>
              </a:rPr>
              <a:t>safe), </a:t>
            </a:r>
            <a:r>
              <a:rPr sz="2400" spc="-10" dirty="0">
                <a:solidFill>
                  <a:srgbClr val="0070C0"/>
                </a:solidFill>
                <a:latin typeface="Calibri"/>
                <a:cs typeface="Calibri"/>
              </a:rPr>
              <a:t>strerror_r() </a:t>
            </a:r>
            <a:r>
              <a:rPr sz="2400" spc="-10" dirty="0">
                <a:latin typeface="Calibri"/>
                <a:cs typeface="Calibri"/>
              </a:rPr>
              <a:t>(thread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safe)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7170" name="Picture 2" descr="Image result for errors">
            <a:extLst>
              <a:ext uri="{FF2B5EF4-FFF2-40B4-BE49-F238E27FC236}">
                <a16:creationId xmlns:a16="http://schemas.microsoft.com/office/drawing/2014/main" id="{07F985F4-7094-421C-87C5-BA70A897E7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36AC96"/>
              </a:clrFrom>
              <a:clrTo>
                <a:srgbClr val="36AC9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6" t="6507" r="24887"/>
          <a:stretch/>
        </p:blipFill>
        <p:spPr bwMode="auto">
          <a:xfrm>
            <a:off x="9753600" y="518091"/>
            <a:ext cx="1828800" cy="203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021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Examples </a:t>
            </a:r>
            <a:r>
              <a:rPr spc="-15" dirty="0"/>
              <a:t>of </a:t>
            </a:r>
            <a:r>
              <a:rPr spc="-40" dirty="0"/>
              <a:t>Error</a:t>
            </a:r>
            <a:r>
              <a:rPr spc="-240" dirty="0"/>
              <a:t> </a:t>
            </a:r>
            <a:r>
              <a:rPr spc="-35" dirty="0"/>
              <a:t>Checking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EBF5F6-1BEC-47BA-AB9E-9FCD2B68C72C}"/>
              </a:ext>
            </a:extLst>
          </p:cNvPr>
          <p:cNvGrpSpPr/>
          <p:nvPr/>
        </p:nvGrpSpPr>
        <p:grpSpPr>
          <a:xfrm>
            <a:off x="838200" y="1825751"/>
            <a:ext cx="10625329" cy="4052776"/>
            <a:chOff x="838200" y="1825751"/>
            <a:chExt cx="10625329" cy="4052776"/>
          </a:xfrm>
        </p:grpSpPr>
        <p:sp>
          <p:nvSpPr>
            <p:cNvPr id="3" name="object 3"/>
            <p:cNvSpPr txBox="1"/>
            <p:nvPr/>
          </p:nvSpPr>
          <p:spPr>
            <a:xfrm>
              <a:off x="838200" y="1825751"/>
              <a:ext cx="4250690" cy="4052776"/>
            </a:xfrm>
            <a:prstGeom prst="rect">
              <a:avLst/>
            </a:prstGeom>
            <a:ln w="9144">
              <a:solidFill>
                <a:srgbClr val="000000"/>
              </a:solidFill>
            </a:ln>
          </p:spPr>
          <p:txBody>
            <a:bodyPr vert="horz" wrap="square" lIns="0" tIns="4445" rIns="0" bIns="0" rtlCol="0">
              <a:spAutoFit/>
            </a:bodyPr>
            <a:lstStyle/>
            <a:p>
              <a:pPr marL="91440">
                <a:lnSpc>
                  <a:spcPct val="100000"/>
                </a:lnSpc>
                <a:spcBef>
                  <a:spcPts val="35"/>
                </a:spcBef>
              </a:pPr>
              <a:r>
                <a:rPr sz="1800" spc="-5" dirty="0">
                  <a:solidFill>
                    <a:srgbClr val="0070C0"/>
                  </a:solidFill>
                  <a:latin typeface="Consolas"/>
                  <a:cs typeface="Consolas"/>
                </a:rPr>
                <a:t>#include</a:t>
              </a:r>
              <a:r>
                <a:rPr sz="1800" spc="-10" dirty="0">
                  <a:solidFill>
                    <a:srgbClr val="0070C0"/>
                  </a:solidFill>
                  <a:latin typeface="Consolas"/>
                  <a:cs typeface="Consolas"/>
                </a:rPr>
                <a:t> </a:t>
              </a:r>
              <a:r>
                <a:rPr sz="1800" spc="-5" dirty="0">
                  <a:solidFill>
                    <a:srgbClr val="0070C0"/>
                  </a:solidFill>
                  <a:latin typeface="Consolas"/>
                  <a:cs typeface="Consolas"/>
                </a:rPr>
                <a:t>&lt;stdio.h&gt;</a:t>
              </a:r>
              <a:endParaRPr sz="1800" dirty="0">
                <a:solidFill>
                  <a:srgbClr val="0070C0"/>
                </a:solidFill>
                <a:latin typeface="Consolas"/>
                <a:cs typeface="Consolas"/>
              </a:endParaRPr>
            </a:p>
            <a:p>
              <a:pPr marL="91440">
                <a:lnSpc>
                  <a:spcPct val="100000"/>
                </a:lnSpc>
                <a:spcBef>
                  <a:spcPts val="795"/>
                </a:spcBef>
              </a:pPr>
              <a:r>
                <a:rPr sz="1800" spc="-10" dirty="0">
                  <a:solidFill>
                    <a:srgbClr val="0070C0"/>
                  </a:solidFill>
                  <a:latin typeface="Consolas"/>
                  <a:cs typeface="Consolas"/>
                </a:rPr>
                <a:t>void </a:t>
              </a:r>
              <a:r>
                <a:rPr sz="1800" spc="-5" dirty="0">
                  <a:solidFill>
                    <a:srgbClr val="0070C0"/>
                  </a:solidFill>
                  <a:latin typeface="Consolas"/>
                  <a:cs typeface="Consolas"/>
                </a:rPr>
                <a:t>perror (const char</a:t>
              </a:r>
              <a:r>
                <a:rPr sz="1800" spc="-35" dirty="0">
                  <a:solidFill>
                    <a:srgbClr val="0070C0"/>
                  </a:solidFill>
                  <a:latin typeface="Consolas"/>
                  <a:cs typeface="Consolas"/>
                </a:rPr>
                <a:t> </a:t>
              </a:r>
              <a:r>
                <a:rPr sz="1800" spc="-5" dirty="0">
                  <a:solidFill>
                    <a:srgbClr val="0070C0"/>
                  </a:solidFill>
                  <a:latin typeface="Consolas"/>
                  <a:cs typeface="Consolas"/>
                </a:rPr>
                <a:t>*str);</a:t>
              </a:r>
              <a:endParaRPr sz="1800" dirty="0">
                <a:solidFill>
                  <a:srgbClr val="0070C0"/>
                </a:solidFill>
                <a:latin typeface="Consolas"/>
                <a:cs typeface="Consolas"/>
              </a:endParaRPr>
            </a:p>
            <a:p>
              <a:pPr marL="91440">
                <a:lnSpc>
                  <a:spcPct val="100000"/>
                </a:lnSpc>
                <a:spcBef>
                  <a:spcPts val="780"/>
                </a:spcBef>
              </a:pPr>
              <a:r>
                <a:rPr sz="1800" dirty="0">
                  <a:solidFill>
                    <a:srgbClr val="0070C0"/>
                  </a:solidFill>
                  <a:latin typeface="Consolas"/>
                  <a:cs typeface="Consolas"/>
                </a:rPr>
                <a:t>…</a:t>
              </a:r>
            </a:p>
            <a:p>
              <a:pPr marL="91440">
                <a:lnSpc>
                  <a:spcPct val="100000"/>
                </a:lnSpc>
                <a:spcBef>
                  <a:spcPts val="780"/>
                </a:spcBef>
              </a:pPr>
              <a:r>
                <a:rPr sz="1800" spc="-5" dirty="0">
                  <a:solidFill>
                    <a:srgbClr val="0070C0"/>
                  </a:solidFill>
                  <a:latin typeface="Consolas"/>
                  <a:cs typeface="Consolas"/>
                </a:rPr>
                <a:t>if (close (fd) ==</a:t>
              </a:r>
              <a:r>
                <a:rPr sz="1800" spc="-45" dirty="0">
                  <a:solidFill>
                    <a:srgbClr val="0070C0"/>
                  </a:solidFill>
                  <a:latin typeface="Consolas"/>
                  <a:cs typeface="Consolas"/>
                </a:rPr>
                <a:t> </a:t>
              </a:r>
              <a:r>
                <a:rPr sz="1800" spc="-5" dirty="0">
                  <a:solidFill>
                    <a:srgbClr val="0070C0"/>
                  </a:solidFill>
                  <a:latin typeface="Consolas"/>
                  <a:cs typeface="Consolas"/>
                </a:rPr>
                <a:t>−1)</a:t>
              </a:r>
              <a:endParaRPr sz="1800" dirty="0">
                <a:solidFill>
                  <a:srgbClr val="0070C0"/>
                </a:solidFill>
                <a:latin typeface="Consolas"/>
                <a:cs typeface="Consolas"/>
              </a:endParaRPr>
            </a:p>
            <a:p>
              <a:pPr marL="340995">
                <a:lnSpc>
                  <a:spcPct val="100000"/>
                </a:lnSpc>
                <a:spcBef>
                  <a:spcPts val="795"/>
                </a:spcBef>
              </a:pPr>
              <a:r>
                <a:rPr sz="1800" spc="-5" dirty="0">
                  <a:solidFill>
                    <a:srgbClr val="0070C0"/>
                  </a:solidFill>
                  <a:latin typeface="Consolas"/>
                  <a:cs typeface="Consolas"/>
                </a:rPr>
                <a:t>perror</a:t>
              </a:r>
              <a:r>
                <a:rPr sz="1800" spc="-20" dirty="0">
                  <a:solidFill>
                    <a:srgbClr val="0070C0"/>
                  </a:solidFill>
                  <a:latin typeface="Consolas"/>
                  <a:cs typeface="Consolas"/>
                </a:rPr>
                <a:t> </a:t>
              </a:r>
              <a:r>
                <a:rPr sz="1800" spc="-5" dirty="0">
                  <a:solidFill>
                    <a:srgbClr val="0070C0"/>
                  </a:solidFill>
                  <a:latin typeface="Consolas"/>
                  <a:cs typeface="Consolas"/>
                </a:rPr>
                <a:t>("close");</a:t>
              </a:r>
              <a:endParaRPr sz="1800" dirty="0">
                <a:solidFill>
                  <a:srgbClr val="0070C0"/>
                </a:solidFill>
                <a:latin typeface="Consolas"/>
                <a:cs typeface="Consolas"/>
              </a:endParaRPr>
            </a:p>
            <a:p>
              <a:pPr marL="91440">
                <a:lnSpc>
                  <a:spcPct val="100000"/>
                </a:lnSpc>
                <a:spcBef>
                  <a:spcPts val="780"/>
                </a:spcBef>
              </a:pPr>
              <a:r>
                <a:rPr sz="1800" spc="-5" dirty="0">
                  <a:latin typeface="Consolas"/>
                  <a:cs typeface="Consolas"/>
                </a:rPr>
                <a:t>// </a:t>
              </a:r>
              <a:r>
                <a:rPr sz="1800" i="1" spc="-5" dirty="0">
                  <a:latin typeface="Consolas"/>
                  <a:cs typeface="Consolas"/>
                </a:rPr>
                <a:t>prints to stderr the</a:t>
              </a:r>
              <a:r>
                <a:rPr sz="1800" i="1" spc="-50" dirty="0">
                  <a:latin typeface="Consolas"/>
                  <a:cs typeface="Consolas"/>
                </a:rPr>
                <a:t> </a:t>
              </a:r>
              <a:r>
                <a:rPr sz="1800" i="1" spc="-5" dirty="0">
                  <a:latin typeface="Consolas"/>
                  <a:cs typeface="Consolas"/>
                </a:rPr>
                <a:t>string</a:t>
              </a:r>
              <a:endParaRPr sz="1800" i="1" dirty="0">
                <a:latin typeface="Consolas"/>
                <a:cs typeface="Consolas"/>
              </a:endParaRPr>
            </a:p>
            <a:p>
              <a:pPr marL="91440" marR="265430">
                <a:lnSpc>
                  <a:spcPct val="90000"/>
                </a:lnSpc>
                <a:spcBef>
                  <a:spcPts val="994"/>
                </a:spcBef>
              </a:pPr>
              <a:r>
                <a:rPr sz="1800" spc="-5" dirty="0">
                  <a:latin typeface="Consolas"/>
                  <a:cs typeface="Consolas"/>
                </a:rPr>
                <a:t>/</a:t>
              </a:r>
              <a:r>
                <a:rPr lang="en-US" sz="1800" spc="-5" dirty="0">
                  <a:latin typeface="Consolas"/>
                  <a:cs typeface="Consolas"/>
                </a:rPr>
                <a:t>*</a:t>
              </a:r>
              <a:r>
                <a:rPr sz="1800" spc="-5" dirty="0">
                  <a:latin typeface="Consolas"/>
                  <a:cs typeface="Consolas"/>
                </a:rPr>
                <a:t> </a:t>
              </a:r>
              <a:r>
                <a:rPr sz="1800" i="1" spc="-5" dirty="0">
                  <a:latin typeface="Consolas"/>
                  <a:cs typeface="Consolas"/>
                </a:rPr>
                <a:t>representation of the error  described by </a:t>
              </a:r>
              <a:r>
                <a:rPr sz="1800" i="1" spc="-5" dirty="0">
                  <a:solidFill>
                    <a:srgbClr val="0070C0"/>
                  </a:solidFill>
                  <a:latin typeface="Consolas"/>
                  <a:cs typeface="Consolas"/>
                </a:rPr>
                <a:t>errno</a:t>
              </a:r>
              <a:r>
                <a:rPr sz="1800" i="1" spc="-5" dirty="0">
                  <a:latin typeface="Consolas"/>
                  <a:cs typeface="Consolas"/>
                </a:rPr>
                <a:t>, prefixed</a:t>
              </a:r>
              <a:r>
                <a:rPr sz="1800" i="1" spc="-65" dirty="0">
                  <a:latin typeface="Consolas"/>
                  <a:cs typeface="Consolas"/>
                </a:rPr>
                <a:t> </a:t>
              </a:r>
              <a:r>
                <a:rPr sz="1800" i="1" spc="-5" dirty="0">
                  <a:latin typeface="Consolas"/>
                  <a:cs typeface="Consolas"/>
                </a:rPr>
                <a:t>by  </a:t>
              </a:r>
              <a:r>
                <a:rPr sz="1800" i="1" spc="-5" dirty="0">
                  <a:solidFill>
                    <a:srgbClr val="0070C0"/>
                  </a:solidFill>
                  <a:latin typeface="Consolas"/>
                  <a:cs typeface="Consolas"/>
                </a:rPr>
                <a:t>str</a:t>
              </a:r>
              <a:r>
                <a:rPr sz="1800" i="1" spc="-5" dirty="0">
                  <a:latin typeface="Consolas"/>
                  <a:cs typeface="Consolas"/>
                </a:rPr>
                <a:t>, followed by </a:t>
              </a:r>
              <a:r>
                <a:rPr sz="1800" i="1" dirty="0">
                  <a:latin typeface="Consolas"/>
                  <a:cs typeface="Consolas"/>
                </a:rPr>
                <a:t>a </a:t>
              </a:r>
              <a:r>
                <a:rPr sz="1800" i="1" spc="-5" dirty="0">
                  <a:latin typeface="Consolas"/>
                  <a:cs typeface="Consolas"/>
                </a:rPr>
                <a:t>colon. It’s  common </a:t>
              </a:r>
              <a:r>
                <a:rPr sz="1800" i="1" dirty="0">
                  <a:latin typeface="Consolas"/>
                  <a:cs typeface="Consolas"/>
                </a:rPr>
                <a:t>to </a:t>
              </a:r>
              <a:r>
                <a:rPr sz="1800" i="1" spc="-5" dirty="0">
                  <a:latin typeface="Consolas"/>
                  <a:cs typeface="Consolas"/>
                </a:rPr>
                <a:t>include the name of  the function in </a:t>
              </a:r>
              <a:r>
                <a:rPr sz="1800" i="1" spc="-5" dirty="0">
                  <a:solidFill>
                    <a:srgbClr val="0070C0"/>
                  </a:solidFill>
                  <a:latin typeface="Consolas"/>
                  <a:cs typeface="Consolas"/>
                </a:rPr>
                <a:t>str</a:t>
              </a:r>
              <a:r>
                <a:rPr sz="1800" i="1" spc="-5" dirty="0">
                  <a:latin typeface="Consolas"/>
                  <a:cs typeface="Consolas"/>
                </a:rPr>
                <a:t>, so it  reports which function failed  (here it is</a:t>
              </a:r>
              <a:r>
                <a:rPr sz="1800" i="1" spc="-20" dirty="0">
                  <a:latin typeface="Consolas"/>
                  <a:cs typeface="Consolas"/>
                </a:rPr>
                <a:t> </a:t>
              </a:r>
              <a:r>
                <a:rPr sz="1800" i="1" spc="-10" dirty="0">
                  <a:latin typeface="Consolas"/>
                  <a:cs typeface="Consolas"/>
                </a:rPr>
                <a:t>“</a:t>
              </a:r>
              <a:r>
                <a:rPr sz="1800" i="1" spc="-10" dirty="0">
                  <a:solidFill>
                    <a:srgbClr val="0070C0"/>
                  </a:solidFill>
                  <a:latin typeface="Consolas"/>
                  <a:cs typeface="Consolas"/>
                </a:rPr>
                <a:t>close</a:t>
              </a:r>
              <a:r>
                <a:rPr sz="1800" i="1" spc="-10" dirty="0">
                  <a:latin typeface="Consolas"/>
                  <a:cs typeface="Consolas"/>
                </a:rPr>
                <a:t>”)</a:t>
              </a:r>
              <a:r>
                <a:rPr lang="en-US" sz="1800" i="1" spc="-10" dirty="0">
                  <a:latin typeface="Consolas"/>
                  <a:cs typeface="Consolas"/>
                </a:rPr>
                <a:t> */</a:t>
              </a:r>
              <a:endParaRPr sz="1800" i="1" dirty="0">
                <a:latin typeface="Consolas"/>
                <a:cs typeface="Consolas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5334000" y="1898591"/>
              <a:ext cx="6129529" cy="3907095"/>
            </a:xfrm>
            <a:prstGeom prst="rect">
              <a:avLst/>
            </a:prstGeom>
            <a:ln w="9144">
              <a:solidFill>
                <a:srgbClr val="000000"/>
              </a:solidFill>
            </a:ln>
          </p:spPr>
          <p:txBody>
            <a:bodyPr vert="horz" wrap="square" lIns="0" tIns="4445" rIns="0" bIns="0" rtlCol="0">
              <a:spAutoFit/>
            </a:bodyPr>
            <a:lstStyle/>
            <a:p>
              <a:pPr marL="91440">
                <a:lnSpc>
                  <a:spcPct val="100000"/>
                </a:lnSpc>
                <a:spcBef>
                  <a:spcPts val="35"/>
                </a:spcBef>
              </a:pPr>
              <a:r>
                <a:rPr sz="1800" spc="-5" dirty="0">
                  <a:latin typeface="Consolas"/>
                  <a:cs typeface="Consolas"/>
                </a:rPr>
                <a:t>// </a:t>
              </a:r>
              <a:r>
                <a:rPr sz="1800" i="1" spc="-5" dirty="0">
                  <a:latin typeface="Consolas"/>
                  <a:cs typeface="Consolas"/>
                </a:rPr>
                <a:t>to obtain the string</a:t>
              </a:r>
              <a:r>
                <a:rPr sz="1800" i="1" spc="-30" dirty="0">
                  <a:latin typeface="Consolas"/>
                  <a:cs typeface="Consolas"/>
                </a:rPr>
                <a:t> </a:t>
              </a:r>
              <a:r>
                <a:rPr sz="1800" i="1" spc="-5" dirty="0">
                  <a:latin typeface="Consolas"/>
                  <a:cs typeface="Consolas"/>
                </a:rPr>
                <a:t>only</a:t>
              </a:r>
              <a:endParaRPr sz="1800" i="1" dirty="0">
                <a:latin typeface="Consolas"/>
                <a:cs typeface="Consolas"/>
              </a:endParaRPr>
            </a:p>
            <a:p>
              <a:pPr marL="91440">
                <a:lnSpc>
                  <a:spcPct val="100000"/>
                </a:lnSpc>
                <a:spcBef>
                  <a:spcPts val="795"/>
                </a:spcBef>
              </a:pPr>
              <a:r>
                <a:rPr sz="1800" spc="-5" dirty="0">
                  <a:solidFill>
                    <a:srgbClr val="0070C0"/>
                  </a:solidFill>
                  <a:latin typeface="Consolas"/>
                  <a:cs typeface="Consolas"/>
                </a:rPr>
                <a:t>#include</a:t>
              </a:r>
              <a:r>
                <a:rPr sz="1800" spc="-10" dirty="0">
                  <a:solidFill>
                    <a:srgbClr val="0070C0"/>
                  </a:solidFill>
                  <a:latin typeface="Consolas"/>
                  <a:cs typeface="Consolas"/>
                </a:rPr>
                <a:t> </a:t>
              </a:r>
              <a:r>
                <a:rPr sz="1800" spc="-5" dirty="0">
                  <a:solidFill>
                    <a:srgbClr val="0070C0"/>
                  </a:solidFill>
                  <a:latin typeface="Consolas"/>
                  <a:cs typeface="Consolas"/>
                </a:rPr>
                <a:t>&lt;string.h&gt;</a:t>
              </a:r>
              <a:endParaRPr sz="1800" dirty="0">
                <a:solidFill>
                  <a:srgbClr val="0070C0"/>
                </a:solidFill>
                <a:latin typeface="Consolas"/>
                <a:cs typeface="Consolas"/>
              </a:endParaRPr>
            </a:p>
            <a:p>
              <a:pPr marL="91440">
                <a:lnSpc>
                  <a:spcPct val="100000"/>
                </a:lnSpc>
                <a:spcBef>
                  <a:spcPts val="780"/>
                </a:spcBef>
              </a:pPr>
              <a:r>
                <a:rPr sz="1800" spc="-5" dirty="0">
                  <a:solidFill>
                    <a:srgbClr val="0070C0"/>
                  </a:solidFill>
                  <a:latin typeface="Consolas"/>
                  <a:cs typeface="Consolas"/>
                </a:rPr>
                <a:t>char *strerror (int</a:t>
              </a:r>
              <a:r>
                <a:rPr sz="1800" spc="-15" dirty="0">
                  <a:solidFill>
                    <a:srgbClr val="0070C0"/>
                  </a:solidFill>
                  <a:latin typeface="Consolas"/>
                  <a:cs typeface="Consolas"/>
                </a:rPr>
                <a:t> </a:t>
              </a:r>
              <a:r>
                <a:rPr sz="1800" spc="-10" dirty="0">
                  <a:solidFill>
                    <a:srgbClr val="0070C0"/>
                  </a:solidFill>
                  <a:latin typeface="Consolas"/>
                  <a:cs typeface="Consolas"/>
                </a:rPr>
                <a:t>errnum);</a:t>
              </a:r>
              <a:endParaRPr sz="1800" dirty="0">
                <a:solidFill>
                  <a:srgbClr val="0070C0"/>
                </a:solidFill>
                <a:latin typeface="Consolas"/>
                <a:cs typeface="Consolas"/>
              </a:endParaRPr>
            </a:p>
            <a:p>
              <a:pPr marL="91440">
                <a:lnSpc>
                  <a:spcPct val="100000"/>
                </a:lnSpc>
                <a:spcBef>
                  <a:spcPts val="780"/>
                </a:spcBef>
              </a:pPr>
              <a:r>
                <a:rPr sz="1800" spc="-5" dirty="0">
                  <a:latin typeface="Consolas"/>
                  <a:cs typeface="Consolas"/>
                </a:rPr>
                <a:t>//</a:t>
              </a:r>
              <a:r>
                <a:rPr sz="1800" spc="-20" dirty="0">
                  <a:latin typeface="Consolas"/>
                  <a:cs typeface="Consolas"/>
                </a:rPr>
                <a:t> </a:t>
              </a:r>
              <a:r>
                <a:rPr sz="1800" i="1" spc="-5" dirty="0">
                  <a:latin typeface="Consolas"/>
                  <a:cs typeface="Consolas"/>
                </a:rPr>
                <a:t>or</a:t>
              </a:r>
              <a:endParaRPr sz="1800" i="1" dirty="0">
                <a:latin typeface="Consolas"/>
                <a:cs typeface="Consolas"/>
              </a:endParaRPr>
            </a:p>
            <a:p>
              <a:pPr marL="91440">
                <a:lnSpc>
                  <a:spcPct val="100000"/>
                </a:lnSpc>
                <a:spcBef>
                  <a:spcPts val="795"/>
                </a:spcBef>
              </a:pPr>
              <a:r>
                <a:rPr sz="1800" spc="-10" dirty="0">
                  <a:solidFill>
                    <a:srgbClr val="0070C0"/>
                  </a:solidFill>
                  <a:latin typeface="Consolas"/>
                  <a:cs typeface="Consolas"/>
                </a:rPr>
                <a:t>#include</a:t>
              </a:r>
              <a:r>
                <a:rPr sz="1800" spc="-5" dirty="0">
                  <a:solidFill>
                    <a:srgbClr val="0070C0"/>
                  </a:solidFill>
                  <a:latin typeface="Consolas"/>
                  <a:cs typeface="Consolas"/>
                </a:rPr>
                <a:t> &lt;string.h&gt;</a:t>
              </a:r>
              <a:endParaRPr sz="1800" dirty="0">
                <a:solidFill>
                  <a:srgbClr val="0070C0"/>
                </a:solidFill>
                <a:latin typeface="Consolas"/>
                <a:cs typeface="Consolas"/>
              </a:endParaRPr>
            </a:p>
            <a:p>
              <a:pPr marL="1005840" marR="885190" indent="-914400">
                <a:lnSpc>
                  <a:spcPts val="1939"/>
                </a:lnSpc>
                <a:spcBef>
                  <a:spcPts val="1030"/>
                </a:spcBef>
              </a:pPr>
              <a:r>
                <a:rPr sz="1800" spc="-10" dirty="0">
                  <a:solidFill>
                    <a:srgbClr val="0070C0"/>
                  </a:solidFill>
                  <a:latin typeface="Consolas"/>
                  <a:cs typeface="Consolas"/>
                </a:rPr>
                <a:t>int </a:t>
              </a:r>
              <a:r>
                <a:rPr sz="1800" spc="-5" dirty="0">
                  <a:solidFill>
                    <a:srgbClr val="0070C0"/>
                  </a:solidFill>
                  <a:latin typeface="Consolas"/>
                  <a:cs typeface="Consolas"/>
                </a:rPr>
                <a:t>strerror_r (int errnum, char *buf,  size_t</a:t>
              </a:r>
              <a:r>
                <a:rPr sz="1800" spc="-25" dirty="0">
                  <a:solidFill>
                    <a:srgbClr val="0070C0"/>
                  </a:solidFill>
                  <a:latin typeface="Consolas"/>
                  <a:cs typeface="Consolas"/>
                </a:rPr>
                <a:t> </a:t>
              </a:r>
              <a:r>
                <a:rPr sz="1800" spc="-10" dirty="0">
                  <a:solidFill>
                    <a:srgbClr val="0070C0"/>
                  </a:solidFill>
                  <a:latin typeface="Consolas"/>
                  <a:cs typeface="Consolas"/>
                </a:rPr>
                <a:t>len);</a:t>
              </a:r>
              <a:endParaRPr sz="1800" dirty="0">
                <a:solidFill>
                  <a:srgbClr val="0070C0"/>
                </a:solidFill>
                <a:latin typeface="Consolas"/>
                <a:cs typeface="Consolas"/>
              </a:endParaRPr>
            </a:p>
            <a:p>
              <a:pPr marL="91440" marR="635000">
                <a:lnSpc>
                  <a:spcPct val="90100"/>
                </a:lnSpc>
                <a:spcBef>
                  <a:spcPts val="970"/>
                </a:spcBef>
              </a:pPr>
              <a:r>
                <a:rPr sz="1800" spc="-5" dirty="0">
                  <a:latin typeface="Consolas"/>
                  <a:cs typeface="Consolas"/>
                </a:rPr>
                <a:t>/</a:t>
              </a:r>
              <a:r>
                <a:rPr lang="en-US" sz="1800" spc="-5" dirty="0">
                  <a:latin typeface="Consolas"/>
                  <a:cs typeface="Consolas"/>
                </a:rPr>
                <a:t>*</a:t>
              </a:r>
              <a:r>
                <a:rPr sz="1800" spc="-5" dirty="0">
                  <a:latin typeface="Consolas"/>
                  <a:cs typeface="Consolas"/>
                </a:rPr>
                <a:t> </a:t>
              </a:r>
              <a:r>
                <a:rPr sz="1800" i="1" spc="-5" dirty="0">
                  <a:latin typeface="Consolas"/>
                  <a:cs typeface="Consolas"/>
                </a:rPr>
                <a:t>the former is not thread-safe, as</a:t>
              </a:r>
              <a:r>
                <a:rPr sz="1800" i="1" spc="-80" dirty="0">
                  <a:latin typeface="Consolas"/>
                  <a:cs typeface="Consolas"/>
                </a:rPr>
                <a:t> </a:t>
              </a:r>
              <a:r>
                <a:rPr sz="1800" i="1" spc="-5" dirty="0">
                  <a:latin typeface="Consolas"/>
                  <a:cs typeface="Consolas"/>
                </a:rPr>
                <a:t>the  </a:t>
              </a:r>
              <a:r>
                <a:rPr sz="1800" i="1" spc="-10" dirty="0">
                  <a:latin typeface="Consolas"/>
                  <a:cs typeface="Consolas"/>
                </a:rPr>
                <a:t>returned string </a:t>
              </a:r>
              <a:r>
                <a:rPr sz="1800" i="1" dirty="0">
                  <a:latin typeface="Consolas"/>
                  <a:cs typeface="Consolas"/>
                </a:rPr>
                <a:t>can be </a:t>
              </a:r>
              <a:r>
                <a:rPr sz="1800" i="1" spc="-5" dirty="0">
                  <a:latin typeface="Consolas"/>
                  <a:cs typeface="Consolas"/>
                </a:rPr>
                <a:t>modified </a:t>
              </a:r>
              <a:r>
                <a:rPr sz="1800" i="1" dirty="0">
                  <a:latin typeface="Consolas"/>
                  <a:cs typeface="Consolas"/>
                </a:rPr>
                <a:t>by  </a:t>
              </a:r>
              <a:r>
                <a:rPr sz="1800" i="1" spc="-5" dirty="0">
                  <a:latin typeface="Consolas"/>
                  <a:cs typeface="Consolas"/>
                </a:rPr>
                <a:t>subsequent </a:t>
              </a:r>
              <a:r>
                <a:rPr sz="1800" i="1" spc="-5" dirty="0">
                  <a:solidFill>
                    <a:srgbClr val="0070C0"/>
                  </a:solidFill>
                  <a:latin typeface="Consolas"/>
                  <a:cs typeface="Consolas"/>
                </a:rPr>
                <a:t>perror() </a:t>
              </a:r>
              <a:r>
                <a:rPr sz="1800" i="1" spc="-5" dirty="0">
                  <a:latin typeface="Consolas"/>
                  <a:cs typeface="Consolas"/>
                </a:rPr>
                <a:t>or </a:t>
              </a:r>
              <a:r>
                <a:rPr sz="1800" i="1" spc="-5" dirty="0" err="1">
                  <a:solidFill>
                    <a:srgbClr val="0070C0"/>
                  </a:solidFill>
                  <a:latin typeface="Consolas"/>
                  <a:cs typeface="Consolas"/>
                </a:rPr>
                <a:t>strerror</a:t>
              </a:r>
              <a:r>
                <a:rPr sz="1800" i="1" spc="-5" dirty="0">
                  <a:solidFill>
                    <a:srgbClr val="0070C0"/>
                  </a:solidFill>
                  <a:latin typeface="Consolas"/>
                  <a:cs typeface="Consolas"/>
                </a:rPr>
                <a:t>()</a:t>
              </a:r>
              <a:r>
                <a:rPr sz="1800" i="1" spc="-60" dirty="0">
                  <a:solidFill>
                    <a:srgbClr val="0070C0"/>
                  </a:solidFill>
                  <a:latin typeface="Consolas"/>
                  <a:cs typeface="Consolas"/>
                </a:rPr>
                <a:t> </a:t>
              </a:r>
              <a:r>
                <a:rPr sz="1800" i="1" spc="-5" dirty="0">
                  <a:latin typeface="Consolas"/>
                  <a:cs typeface="Consolas"/>
                </a:rPr>
                <a:t>calls.</a:t>
              </a:r>
              <a:r>
                <a:rPr lang="en-US" sz="1800" i="1" spc="-5" dirty="0">
                  <a:latin typeface="Consolas"/>
                  <a:cs typeface="Consolas"/>
                </a:rPr>
                <a:t> */</a:t>
              </a:r>
              <a:endParaRPr sz="1800" i="1" dirty="0">
                <a:latin typeface="Consolas"/>
                <a:cs typeface="Consolas"/>
              </a:endParaRPr>
            </a:p>
            <a:p>
              <a:pPr marL="91440" marR="384175">
                <a:lnSpc>
                  <a:spcPts val="1939"/>
                </a:lnSpc>
                <a:spcBef>
                  <a:spcPts val="1040"/>
                </a:spcBef>
              </a:pPr>
              <a:r>
                <a:rPr sz="1800" spc="-5" dirty="0">
                  <a:latin typeface="Consolas"/>
                  <a:cs typeface="Consolas"/>
                </a:rPr>
                <a:t>/</a:t>
              </a:r>
              <a:r>
                <a:rPr lang="en-US" sz="1800" spc="-5" dirty="0">
                  <a:latin typeface="Consolas"/>
                  <a:cs typeface="Consolas"/>
                </a:rPr>
                <a:t>*</a:t>
              </a:r>
              <a:r>
                <a:rPr sz="1800" spc="-5" dirty="0">
                  <a:latin typeface="Consolas"/>
                  <a:cs typeface="Consolas"/>
                </a:rPr>
                <a:t> </a:t>
              </a:r>
              <a:r>
                <a:rPr sz="1800" i="1" spc="-5" dirty="0">
                  <a:latin typeface="Consolas"/>
                  <a:cs typeface="Consolas"/>
                </a:rPr>
                <a:t>the latter is thread-safe, as each call  has separate buffer (</a:t>
              </a:r>
              <a:r>
                <a:rPr sz="1800" i="1" spc="-5" dirty="0">
                  <a:solidFill>
                    <a:srgbClr val="0070C0"/>
                  </a:solidFill>
                  <a:latin typeface="Consolas"/>
                  <a:cs typeface="Consolas"/>
                </a:rPr>
                <a:t>buf</a:t>
              </a:r>
              <a:r>
                <a:rPr sz="1800" i="1" spc="-5" dirty="0">
                  <a:latin typeface="Consolas"/>
                  <a:cs typeface="Consolas"/>
                </a:rPr>
                <a:t>) with length</a:t>
              </a:r>
              <a:r>
                <a:rPr sz="1800" i="1" spc="-70" dirty="0">
                  <a:latin typeface="Consolas"/>
                  <a:cs typeface="Consolas"/>
                </a:rPr>
                <a:t> </a:t>
              </a:r>
              <a:r>
                <a:rPr sz="1800" i="1" spc="-10" dirty="0" err="1">
                  <a:solidFill>
                    <a:srgbClr val="0070C0"/>
                  </a:solidFill>
                  <a:latin typeface="Consolas"/>
                  <a:cs typeface="Consolas"/>
                </a:rPr>
                <a:t>len</a:t>
              </a:r>
              <a:r>
                <a:rPr lang="en-US" sz="1800" i="1" spc="-10" dirty="0">
                  <a:solidFill>
                    <a:srgbClr val="0070C0"/>
                  </a:solidFill>
                  <a:latin typeface="Consolas"/>
                  <a:cs typeface="Consolas"/>
                </a:rPr>
                <a:t> </a:t>
              </a:r>
              <a:r>
                <a:rPr lang="en-US" sz="1800" i="1" spc="-10" dirty="0">
                  <a:latin typeface="Consolas"/>
                  <a:cs typeface="Consolas"/>
                </a:rPr>
                <a:t>*/</a:t>
              </a:r>
              <a:endParaRPr sz="1800" i="1" dirty="0">
                <a:latin typeface="Consolas"/>
                <a:cs typeface="Consolas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427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What </a:t>
            </a:r>
            <a:r>
              <a:rPr spc="-10" dirty="0"/>
              <a:t>if </a:t>
            </a:r>
            <a:r>
              <a:rPr spc="-50" dirty="0"/>
              <a:t>any </a:t>
            </a:r>
            <a:r>
              <a:rPr spc="-40" dirty="0"/>
              <a:t>returned </a:t>
            </a:r>
            <a:r>
              <a:rPr spc="-35" dirty="0"/>
              <a:t>value </a:t>
            </a:r>
            <a:r>
              <a:rPr spc="-10" dirty="0"/>
              <a:t>is </a:t>
            </a:r>
            <a:r>
              <a:rPr dirty="0"/>
              <a:t>a </a:t>
            </a:r>
            <a:r>
              <a:rPr spc="-40" dirty="0"/>
              <a:t>legal</a:t>
            </a:r>
            <a:r>
              <a:rPr spc="-475" dirty="0"/>
              <a:t> </a:t>
            </a:r>
            <a:r>
              <a:rPr spc="-40" dirty="0"/>
              <a:t>value?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30502"/>
            <a:ext cx="10184765" cy="47884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Then, you can’t </a:t>
            </a:r>
            <a:r>
              <a:rPr sz="2200" spc="-5" dirty="0">
                <a:latin typeface="Calibri"/>
                <a:cs typeface="Calibri"/>
              </a:rPr>
              <a:t>use 0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spc="-5" dirty="0">
                <a:latin typeface="Calibri"/>
                <a:cs typeface="Calibri"/>
              </a:rPr>
              <a:t>-1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5" dirty="0">
                <a:latin typeface="Calibri"/>
                <a:cs typeface="Calibri"/>
              </a:rPr>
              <a:t>indicate </a:t>
            </a:r>
            <a:r>
              <a:rPr sz="2200" spc="-5" dirty="0">
                <a:latin typeface="Calibri"/>
                <a:cs typeface="Calibri"/>
              </a:rPr>
              <a:t>success or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not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570"/>
              </a:lnSpc>
              <a:spcBef>
                <a:spcPts val="2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latin typeface="Calibri"/>
                <a:cs typeface="Calibri"/>
              </a:rPr>
              <a:t>Make </a:t>
            </a:r>
            <a:r>
              <a:rPr sz="2200" spc="-10" dirty="0">
                <a:latin typeface="Calibri"/>
                <a:cs typeface="Calibri"/>
              </a:rPr>
              <a:t>sure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200" spc="-5" dirty="0">
                <a:latin typeface="Calibri"/>
                <a:cs typeface="Calibri"/>
              </a:rPr>
              <a:t> is </a:t>
            </a:r>
            <a:r>
              <a:rPr sz="2200" spc="-20" dirty="0">
                <a:latin typeface="Calibri"/>
                <a:cs typeface="Calibri"/>
              </a:rPr>
              <a:t>zeroed </a:t>
            </a:r>
            <a:r>
              <a:rPr sz="2200" spc="-15" dirty="0">
                <a:latin typeface="Calibri"/>
                <a:cs typeface="Calibri"/>
              </a:rPr>
              <a:t>first, </a:t>
            </a:r>
            <a:r>
              <a:rPr sz="2200" spc="-5" dirty="0">
                <a:latin typeface="Calibri"/>
                <a:cs typeface="Calibri"/>
              </a:rPr>
              <a:t>so a </a:t>
            </a:r>
            <a:r>
              <a:rPr sz="2200" spc="-15" dirty="0">
                <a:latin typeface="Calibri"/>
                <a:cs typeface="Calibri"/>
              </a:rPr>
              <a:t>non-zero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indicates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error</a:t>
            </a:r>
            <a:r>
              <a:rPr lang="en-US" sz="2200" spc="-10" dirty="0">
                <a:latin typeface="Calibri"/>
                <a:cs typeface="Calibri"/>
              </a:rPr>
              <a:t>:</a:t>
            </a:r>
            <a:endParaRPr sz="2200" dirty="0">
              <a:latin typeface="Calibri"/>
              <a:cs typeface="Calibri"/>
            </a:endParaRPr>
          </a:p>
          <a:p>
            <a:pPr marL="469900">
              <a:lnSpc>
                <a:spcPts val="2014"/>
              </a:lnSpc>
            </a:pP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errno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0;</a:t>
            </a:r>
          </a:p>
          <a:p>
            <a:pPr marL="469900">
              <a:lnSpc>
                <a:spcPts val="2010"/>
              </a:lnSpc>
              <a:tabLst>
                <a:tab pos="4354830" algn="l"/>
              </a:tabLst>
            </a:pP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arg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strtoul (buf,</a:t>
            </a:r>
            <a:r>
              <a:rPr sz="1800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NULL, 0);	</a:t>
            </a:r>
            <a:r>
              <a:rPr sz="1800" dirty="0">
                <a:latin typeface="Consolas"/>
                <a:cs typeface="Consolas"/>
              </a:rPr>
              <a:t>// </a:t>
            </a:r>
            <a:r>
              <a:rPr sz="1800" i="1" spc="-5" dirty="0">
                <a:latin typeface="Consolas"/>
                <a:cs typeface="Consolas"/>
              </a:rPr>
              <a:t>converts string to unsigned long</a:t>
            </a:r>
            <a:r>
              <a:rPr sz="1800" i="1" spc="-75" dirty="0">
                <a:latin typeface="Consolas"/>
                <a:cs typeface="Consolas"/>
              </a:rPr>
              <a:t> </a:t>
            </a:r>
            <a:r>
              <a:rPr sz="1800" i="1" spc="-5" dirty="0">
                <a:latin typeface="Consolas"/>
                <a:cs typeface="Consolas"/>
              </a:rPr>
              <a:t>integer</a:t>
            </a:r>
            <a:endParaRPr sz="1800" i="1" dirty="0">
              <a:latin typeface="Consolas"/>
              <a:cs typeface="Consolas"/>
            </a:endParaRPr>
          </a:p>
          <a:p>
            <a:pPr marL="469900">
              <a:lnSpc>
                <a:spcPts val="2090"/>
              </a:lnSpc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(errno) </a:t>
            </a:r>
            <a:endParaRPr lang="en-US" sz="1800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090"/>
              </a:lnSpc>
            </a:pPr>
            <a:r>
              <a:rPr lang="en-US" spc="-5" dirty="0">
                <a:solidFill>
                  <a:srgbClr val="0070C0"/>
                </a:solidFill>
                <a:latin typeface="Consolas"/>
                <a:cs typeface="Consolas"/>
              </a:rPr>
              <a:t>    </a:t>
            </a:r>
            <a:r>
              <a:rPr sz="1800" spc="-5" dirty="0" err="1">
                <a:solidFill>
                  <a:srgbClr val="0070C0"/>
                </a:solidFill>
                <a:latin typeface="Consolas"/>
                <a:cs typeface="Consolas"/>
              </a:rPr>
              <a:t>perror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 ("strtoul"); </a:t>
            </a:r>
            <a:r>
              <a:rPr sz="1800" dirty="0">
                <a:latin typeface="Consolas"/>
                <a:cs typeface="Consolas"/>
              </a:rPr>
              <a:t>// </a:t>
            </a:r>
            <a:r>
              <a:rPr sz="1800" i="1" spc="-5" dirty="0">
                <a:latin typeface="Consolas"/>
                <a:cs typeface="Consolas"/>
              </a:rPr>
              <a:t>check for</a:t>
            </a:r>
            <a:r>
              <a:rPr sz="1800" i="1" spc="-65" dirty="0">
                <a:latin typeface="Consolas"/>
                <a:cs typeface="Consolas"/>
              </a:rPr>
              <a:t> </a:t>
            </a:r>
            <a:r>
              <a:rPr sz="1800" i="1" spc="-5" dirty="0">
                <a:latin typeface="Consolas"/>
                <a:cs typeface="Consolas"/>
              </a:rPr>
              <a:t>error</a:t>
            </a:r>
            <a:endParaRPr sz="1800" i="1" dirty="0">
              <a:latin typeface="Consolas"/>
              <a:cs typeface="Consolas"/>
            </a:endParaRPr>
          </a:p>
          <a:p>
            <a:pPr marL="241300" indent="-228600">
              <a:lnSpc>
                <a:spcPts val="2570"/>
              </a:lnSpc>
              <a:spcBef>
                <a:spcPts val="2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Notice </a:t>
            </a:r>
            <a:r>
              <a:rPr sz="2200" spc="-10" dirty="0">
                <a:latin typeface="Calibri"/>
                <a:cs typeface="Calibri"/>
              </a:rPr>
              <a:t>that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could </a:t>
            </a:r>
            <a:r>
              <a:rPr sz="2200" spc="-5" dirty="0">
                <a:latin typeface="Calibri"/>
                <a:cs typeface="Calibri"/>
              </a:rPr>
              <a:t>be set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spc="-15" dirty="0">
                <a:latin typeface="Calibri"/>
                <a:cs typeface="Calibri"/>
              </a:rPr>
              <a:t>any </a:t>
            </a:r>
            <a:r>
              <a:rPr sz="2200" spc="-10" dirty="0">
                <a:latin typeface="Calibri"/>
                <a:cs typeface="Calibri"/>
              </a:rPr>
              <a:t>library </a:t>
            </a:r>
            <a:r>
              <a:rPr sz="2200" spc="-5" dirty="0">
                <a:latin typeface="Calibri"/>
                <a:cs typeface="Calibri"/>
              </a:rPr>
              <a:t>or </a:t>
            </a:r>
            <a:r>
              <a:rPr sz="2200" spc="-15" dirty="0" err="1">
                <a:latin typeface="Calibri"/>
                <a:cs typeface="Calibri"/>
              </a:rPr>
              <a:t>syscall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W</a:t>
            </a:r>
            <a:r>
              <a:rPr sz="2200" spc="-10" dirty="0">
                <a:latin typeface="Calibri"/>
                <a:cs typeface="Calibri"/>
              </a:rPr>
              <a:t>hat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the problem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this:</a:t>
            </a:r>
            <a:endParaRPr sz="2200" dirty="0">
              <a:latin typeface="Calibri"/>
              <a:cs typeface="Calibri"/>
            </a:endParaRPr>
          </a:p>
          <a:p>
            <a:pPr marL="469900">
              <a:lnSpc>
                <a:spcPts val="2020"/>
              </a:lnSpc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(fsync (fd) == −1)</a:t>
            </a:r>
            <a:r>
              <a:rPr sz="1800" spc="-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</a:p>
          <a:p>
            <a:pPr marL="927100">
              <a:lnSpc>
                <a:spcPts val="2010"/>
              </a:lnSpc>
            </a:pP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fprintf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(stderr,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"fsync</a:t>
            </a:r>
            <a:r>
              <a:rPr sz="18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failed!</a:t>
            </a: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\n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");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>
              <a:lnSpc>
                <a:spcPts val="2010"/>
              </a:lnSpc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(errno ==</a:t>
            </a:r>
            <a:r>
              <a:rPr sz="18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EIO)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426845">
              <a:lnSpc>
                <a:spcPts val="2014"/>
              </a:lnSpc>
            </a:pP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fprintf (stderr, "I/O error on %d!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\n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",</a:t>
            </a:r>
            <a:r>
              <a:rPr sz="1800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fd);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090"/>
              </a:lnSpc>
            </a:pP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}</a:t>
            </a: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single-threaded </a:t>
            </a:r>
            <a:r>
              <a:rPr sz="2200" spc="-15" dirty="0">
                <a:latin typeface="Calibri"/>
                <a:cs typeface="Calibri"/>
              </a:rPr>
              <a:t>programs,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200" spc="-5" dirty="0">
                <a:latin typeface="Calibri"/>
                <a:cs typeface="Calibri"/>
              </a:rPr>
              <a:t> is a global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variable.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In multithreaded </a:t>
            </a:r>
            <a:r>
              <a:rPr sz="2200" spc="-10" dirty="0">
                <a:latin typeface="Calibri"/>
                <a:cs typeface="Calibri"/>
              </a:rPr>
              <a:t>programs,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200" spc="-5" dirty="0">
                <a:latin typeface="Calibri"/>
                <a:cs typeface="Calibri"/>
              </a:rPr>
              <a:t> is </a:t>
            </a:r>
            <a:r>
              <a:rPr sz="2200" spc="-15" dirty="0">
                <a:latin typeface="Calibri"/>
                <a:cs typeface="Calibri"/>
              </a:rPr>
              <a:t>stored </a:t>
            </a:r>
            <a:r>
              <a:rPr sz="2200" spc="-10" dirty="0">
                <a:latin typeface="Calibri"/>
                <a:cs typeface="Calibri"/>
              </a:rPr>
              <a:t>per-thread, </a:t>
            </a:r>
            <a:r>
              <a:rPr sz="2200" spc="-5" dirty="0">
                <a:latin typeface="Calibri"/>
                <a:cs typeface="Calibri"/>
              </a:rPr>
              <a:t>thus is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thread-safe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But the </a:t>
            </a:r>
            <a:r>
              <a:rPr sz="2200" spc="-10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message string (as </a:t>
            </a:r>
            <a:r>
              <a:rPr sz="2200" spc="-10" dirty="0">
                <a:latin typeface="Calibri"/>
                <a:cs typeface="Calibri"/>
              </a:rPr>
              <a:t>returned </a:t>
            </a:r>
            <a:r>
              <a:rPr sz="2200" spc="-15" dirty="0">
                <a:latin typeface="Calibri"/>
                <a:cs typeface="Calibri"/>
              </a:rPr>
              <a:t>by </a:t>
            </a:r>
            <a:r>
              <a:rPr sz="22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strerror</a:t>
            </a:r>
            <a:r>
              <a:rPr sz="2200" spc="-15" dirty="0">
                <a:latin typeface="Calibri"/>
                <a:cs typeface="Calibri"/>
              </a:rPr>
              <a:t>)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not thread </a:t>
            </a:r>
            <a:r>
              <a:rPr sz="2200" spc="-25" dirty="0">
                <a:latin typeface="Calibri"/>
                <a:cs typeface="Calibri"/>
              </a:rPr>
              <a:t>safe </a:t>
            </a:r>
            <a:r>
              <a:rPr sz="2200" spc="-5" dirty="0">
                <a:latin typeface="Calibri"/>
                <a:cs typeface="Calibri"/>
              </a:rPr>
              <a:t>(one </a:t>
            </a:r>
            <a:r>
              <a:rPr sz="2200" spc="-15" dirty="0">
                <a:latin typeface="Calibri"/>
                <a:cs typeface="Calibri"/>
              </a:rPr>
              <a:t>copy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5" dirty="0">
                <a:latin typeface="Calibri"/>
                <a:cs typeface="Calibri"/>
              </a:rPr>
              <a:t>all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threads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r>
              <a:rPr sz="2200" spc="-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</TotalTime>
  <Words>4036</Words>
  <Application>Microsoft Office PowerPoint</Application>
  <PresentationFormat>Widescreen</PresentationFormat>
  <Paragraphs>381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Aharoni</vt:lpstr>
      <vt:lpstr>Arial</vt:lpstr>
      <vt:lpstr>Calibri</vt:lpstr>
      <vt:lpstr>Calibri Light</vt:lpstr>
      <vt:lpstr>Cambria Math</vt:lpstr>
      <vt:lpstr>Consolas</vt:lpstr>
      <vt:lpstr>Courier New</vt:lpstr>
      <vt:lpstr>MinionPro-Regular</vt:lpstr>
      <vt:lpstr>Times New Roman</vt:lpstr>
      <vt:lpstr>Office Theme</vt:lpstr>
      <vt:lpstr>Linux System Programming Talking directly to the kernel and C library</vt:lpstr>
      <vt:lpstr>Why this book?</vt:lpstr>
      <vt:lpstr>A Few Words about Linux</vt:lpstr>
      <vt:lpstr>Audience</vt:lpstr>
      <vt:lpstr>About the Author – Robert Love</vt:lpstr>
      <vt:lpstr>Chapters</vt:lpstr>
      <vt:lpstr>Ch1 – Introduction and Essential Concepts</vt:lpstr>
      <vt:lpstr>Difference from Application Programming</vt:lpstr>
      <vt:lpstr>Key Questions of Linux System Programming</vt:lpstr>
      <vt:lpstr>3 Cornerstones of System Programming</vt:lpstr>
      <vt:lpstr>Invoking Syscalls</vt:lpstr>
      <vt:lpstr>APIs and ABIs</vt:lpstr>
      <vt:lpstr>Standards</vt:lpstr>
      <vt:lpstr>Versions Covered in the Book</vt:lpstr>
      <vt:lpstr>What Does this Command Mean?</vt:lpstr>
      <vt:lpstr>Concepts of Linux Programming</vt:lpstr>
      <vt:lpstr>File and the Filesystem – regular files</vt:lpstr>
      <vt:lpstr>File and the Filesystem – regular files (inode)</vt:lpstr>
      <vt:lpstr>PowerPoint Presentation</vt:lpstr>
      <vt:lpstr>File and the Filesystem – directories &amp; links</vt:lpstr>
      <vt:lpstr>File and the Filesystem – hard links</vt:lpstr>
      <vt:lpstr>File and the Filesystem – symbolic links</vt:lpstr>
      <vt:lpstr>File and the Filesystem – special files</vt:lpstr>
      <vt:lpstr>File and the Filesystem – filesystems and namespaces</vt:lpstr>
      <vt:lpstr>Processes</vt:lpstr>
      <vt:lpstr>Threads and Process Hierarchy</vt:lpstr>
      <vt:lpstr>Users and Groups</vt:lpstr>
      <vt:lpstr>Permissions</vt:lpstr>
      <vt:lpstr>Signals</vt:lpstr>
      <vt:lpstr>Error Handling</vt:lpstr>
      <vt:lpstr>Examples of Error Checking</vt:lpstr>
      <vt:lpstr>What if any returned value is a legal value?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Programming</dc:title>
  <dc:creator>xiang</dc:creator>
  <cp:lastModifiedBy>Miriam Briskman</cp:lastModifiedBy>
  <cp:revision>117</cp:revision>
  <dcterms:created xsi:type="dcterms:W3CDTF">2021-02-04T00:29:41Z</dcterms:created>
  <dcterms:modified xsi:type="dcterms:W3CDTF">2023-01-30T13:30:09Z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2020-01-28T00:00:00Z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2021-02-04T00:00:00Z</vt:filetime>
  </property>
</Properties>
</file>