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2.jpg" ContentType="image/jpg"/>
  <Override PartName="/ppt/media/image23.jpg" ContentType="image/jpg"/>
  <Override PartName="/ppt/media/image26.jpg" ContentType="image/jpg"/>
  <Override PartName="/ppt/media/image27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73" r:id="rId5"/>
    <p:sldId id="274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AA00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884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035175" y="2132428"/>
            <a:ext cx="8121649" cy="1762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rgbClr val="001F5F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3/8/2023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1F5F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3/8/2023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1F5F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3/8/2023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1F5F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3/8/2023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3/8/2023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609676"/>
            <a:ext cx="10358120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001F5F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745945"/>
            <a:ext cx="10252075" cy="23304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266438" y="6464985"/>
            <a:ext cx="3660775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3/8/2023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7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368935" rIns="0" bIns="0" rtlCol="0">
            <a:spAutoFit/>
          </a:bodyPr>
          <a:lstStyle/>
          <a:p>
            <a:pPr marL="8255" algn="ctr">
              <a:lnSpc>
                <a:spcPct val="100000"/>
              </a:lnSpc>
              <a:spcBef>
                <a:spcPts val="2905"/>
              </a:spcBef>
            </a:pPr>
            <a:r>
              <a:rPr spc="-35" dirty="0"/>
              <a:t>Linux </a:t>
            </a:r>
            <a:r>
              <a:rPr spc="-80" dirty="0"/>
              <a:t>System</a:t>
            </a:r>
            <a:r>
              <a:rPr spc="-265" dirty="0"/>
              <a:t> </a:t>
            </a:r>
            <a:r>
              <a:rPr spc="-80" dirty="0"/>
              <a:t>Programming</a:t>
            </a:r>
          </a:p>
          <a:p>
            <a:pPr marL="8255" marR="3175" algn="ctr">
              <a:lnSpc>
                <a:spcPct val="100000"/>
              </a:lnSpc>
              <a:spcBef>
                <a:spcPts val="1025"/>
              </a:spcBef>
            </a:pPr>
            <a:r>
              <a:rPr sz="2200" b="0" spc="-30" dirty="0">
                <a:solidFill>
                  <a:srgbClr val="000000"/>
                </a:solidFill>
                <a:latin typeface="Calibri"/>
                <a:cs typeface="Calibri"/>
              </a:rPr>
              <a:t>Talking </a:t>
            </a:r>
            <a:r>
              <a:rPr sz="2200" b="0" spc="-10" dirty="0">
                <a:solidFill>
                  <a:srgbClr val="000000"/>
                </a:solidFill>
                <a:latin typeface="Calibri"/>
                <a:cs typeface="Calibri"/>
              </a:rPr>
              <a:t>directly </a:t>
            </a:r>
            <a:r>
              <a:rPr sz="2200" b="0" spc="-20" dirty="0">
                <a:solidFill>
                  <a:srgbClr val="000000"/>
                </a:solidFill>
                <a:latin typeface="Calibri"/>
                <a:cs typeface="Calibri"/>
              </a:rPr>
              <a:t>to </a:t>
            </a:r>
            <a:r>
              <a:rPr sz="2200" b="0" spc="-5" dirty="0">
                <a:solidFill>
                  <a:srgbClr val="000000"/>
                </a:solidFill>
                <a:latin typeface="Calibri"/>
                <a:cs typeface="Calibri"/>
              </a:rPr>
              <a:t>the </a:t>
            </a:r>
            <a:r>
              <a:rPr sz="2200" b="0" spc="-15" dirty="0">
                <a:solidFill>
                  <a:srgbClr val="000000"/>
                </a:solidFill>
                <a:latin typeface="Calibri"/>
                <a:cs typeface="Calibri"/>
              </a:rPr>
              <a:t>kernel </a:t>
            </a:r>
            <a:r>
              <a:rPr sz="2200" b="0" spc="-5" dirty="0">
                <a:solidFill>
                  <a:srgbClr val="000000"/>
                </a:solidFill>
                <a:latin typeface="Calibri"/>
                <a:cs typeface="Calibri"/>
              </a:rPr>
              <a:t>and C</a:t>
            </a:r>
            <a:r>
              <a:rPr sz="2200" b="0" spc="9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b="0" spc="-10" dirty="0">
                <a:solidFill>
                  <a:srgbClr val="000000"/>
                </a:solidFill>
                <a:latin typeface="Calibri"/>
                <a:cs typeface="Calibri"/>
              </a:rPr>
              <a:t>library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67961" y="4534027"/>
            <a:ext cx="36569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latin typeface="Calibri"/>
                <a:cs typeface="Calibri"/>
              </a:rPr>
              <a:t>Advanced File</a:t>
            </a:r>
            <a:r>
              <a:rPr sz="4000" spc="-75" dirty="0">
                <a:latin typeface="Calibri"/>
                <a:cs typeface="Calibri"/>
              </a:rPr>
              <a:t> </a:t>
            </a:r>
            <a:r>
              <a:rPr sz="4000" spc="-5" dirty="0">
                <a:latin typeface="Calibri"/>
                <a:cs typeface="Calibri"/>
              </a:rPr>
              <a:t>I/O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2D07C2-6C3D-8FA1-064B-B4009F625833}"/>
              </a:ext>
            </a:extLst>
          </p:cNvPr>
          <p:cNvSpPr txBox="1"/>
          <p:nvPr/>
        </p:nvSpPr>
        <p:spPr>
          <a:xfrm>
            <a:off x="2776854" y="6019800"/>
            <a:ext cx="6638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Adapted from slides of </a:t>
            </a:r>
            <a:r>
              <a:rPr lang="en-US" b="1" dirty="0"/>
              <a:t>Professor Yongqing Xiang </a:t>
            </a:r>
            <a:r>
              <a:rPr lang="en-US" dirty="0"/>
              <a:t>of Brooklyn College.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52749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Ch4 </a:t>
            </a:r>
            <a:r>
              <a:rPr dirty="0"/>
              <a:t>– </a:t>
            </a:r>
            <a:r>
              <a:rPr spc="-45" dirty="0"/>
              <a:t>Advanced </a:t>
            </a:r>
            <a:r>
              <a:rPr spc="-15" dirty="0"/>
              <a:t>File</a:t>
            </a:r>
            <a:r>
              <a:rPr spc="-350" dirty="0"/>
              <a:t> </a:t>
            </a:r>
            <a:r>
              <a:rPr spc="-15" dirty="0"/>
              <a:t>I/O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486508"/>
            <a:ext cx="10255885" cy="483876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975"/>
              </a:lnSpc>
              <a:spcBef>
                <a:spcPts val="105"/>
              </a:spcBef>
              <a:spcAft>
                <a:spcPts val="1200"/>
              </a:spcAft>
              <a:tabLst>
                <a:tab pos="241300" algn="l"/>
              </a:tabLst>
            </a:pPr>
            <a:r>
              <a:rPr lang="en-US" sz="2600" spc="-15" dirty="0">
                <a:latin typeface="Calibri"/>
                <a:cs typeface="Calibri"/>
              </a:rPr>
              <a:t>In this chapter, we cover only the topics below that are NOT grayed-out:</a:t>
            </a:r>
          </a:p>
          <a:p>
            <a:pPr marL="241300" indent="-228600">
              <a:lnSpc>
                <a:spcPts val="2975"/>
              </a:lnSpc>
              <a:spcBef>
                <a:spcPts val="1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15" dirty="0">
                <a:latin typeface="Calibri"/>
                <a:cs typeface="Calibri"/>
              </a:rPr>
              <a:t>Scatter/gather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I/O</a:t>
            </a:r>
            <a:r>
              <a:rPr lang="en-US" sz="2600" dirty="0">
                <a:latin typeface="Calibri"/>
                <a:cs typeface="Calibri"/>
              </a:rPr>
              <a:t> [= Vectored I/O]</a:t>
            </a:r>
            <a:endParaRPr sz="2600" dirty="0">
              <a:latin typeface="Calibri"/>
              <a:cs typeface="Calibri"/>
            </a:endParaRPr>
          </a:p>
          <a:p>
            <a:pPr marL="698500" marR="5080" lvl="1" indent="-228600">
              <a:lnSpc>
                <a:spcPct val="70000"/>
              </a:lnSpc>
              <a:spcBef>
                <a:spcPts val="645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10" dirty="0">
                <a:latin typeface="Calibri"/>
                <a:cs typeface="Calibri"/>
              </a:rPr>
              <a:t>Allows </a:t>
            </a:r>
            <a:r>
              <a:rPr sz="2200" spc="-5" dirty="0">
                <a:latin typeface="Calibri"/>
                <a:cs typeface="Calibri"/>
              </a:rPr>
              <a:t>a </a:t>
            </a:r>
            <a:r>
              <a:rPr sz="2200" spc="-10" dirty="0">
                <a:latin typeface="Calibri"/>
                <a:cs typeface="Calibri"/>
              </a:rPr>
              <a:t>single call </a:t>
            </a:r>
            <a:r>
              <a:rPr sz="2200" spc="-20" dirty="0">
                <a:latin typeface="Calibri"/>
                <a:cs typeface="Calibri"/>
              </a:rPr>
              <a:t>to </a:t>
            </a:r>
            <a:r>
              <a:rPr sz="2200" spc="-10" dirty="0">
                <a:latin typeface="Calibri"/>
                <a:cs typeface="Calibri"/>
              </a:rPr>
              <a:t>read/write </a:t>
            </a:r>
            <a:r>
              <a:rPr sz="2200" spc="-20" dirty="0">
                <a:latin typeface="Calibri"/>
                <a:cs typeface="Calibri"/>
              </a:rPr>
              <a:t>data to </a:t>
            </a:r>
            <a:r>
              <a:rPr sz="2200" spc="-15" dirty="0">
                <a:latin typeface="Calibri"/>
                <a:cs typeface="Calibri"/>
              </a:rPr>
              <a:t>many </a:t>
            </a:r>
            <a:r>
              <a:rPr sz="2200" spc="-25" dirty="0">
                <a:latin typeface="Calibri"/>
                <a:cs typeface="Calibri"/>
              </a:rPr>
              <a:t>buffers </a:t>
            </a:r>
            <a:r>
              <a:rPr sz="2200" spc="-15" dirty="0">
                <a:latin typeface="Calibri"/>
                <a:cs typeface="Calibri"/>
              </a:rPr>
              <a:t>at </a:t>
            </a:r>
            <a:r>
              <a:rPr sz="2200" spc="-5" dirty="0">
                <a:latin typeface="Calibri"/>
                <a:cs typeface="Calibri"/>
              </a:rPr>
              <a:t>once, </a:t>
            </a:r>
            <a:r>
              <a:rPr lang="en-US" sz="2200" spc="-5" dirty="0">
                <a:latin typeface="Calibri"/>
                <a:cs typeface="Calibri"/>
              </a:rPr>
              <a:t>which is </a:t>
            </a:r>
            <a:r>
              <a:rPr sz="2200" spc="-10" dirty="0">
                <a:latin typeface="Calibri"/>
                <a:cs typeface="Calibri"/>
              </a:rPr>
              <a:t>useful </a:t>
            </a:r>
            <a:r>
              <a:rPr sz="2200" spc="-20" dirty="0">
                <a:latin typeface="Calibri"/>
                <a:cs typeface="Calibri"/>
              </a:rPr>
              <a:t>for </a:t>
            </a:r>
            <a:r>
              <a:rPr sz="2200" spc="-10" dirty="0">
                <a:latin typeface="Calibri"/>
                <a:cs typeface="Calibri"/>
              </a:rPr>
              <a:t>filling fields </a:t>
            </a:r>
            <a:r>
              <a:rPr sz="2200" spc="-5" dirty="0">
                <a:latin typeface="Calibri"/>
                <a:cs typeface="Calibri"/>
              </a:rPr>
              <a:t>of </a:t>
            </a:r>
            <a:r>
              <a:rPr sz="2200" spc="-20" dirty="0">
                <a:latin typeface="Calibri"/>
                <a:cs typeface="Calibri"/>
              </a:rPr>
              <a:t>different data </a:t>
            </a:r>
            <a:r>
              <a:rPr sz="2200" spc="-10" dirty="0">
                <a:latin typeface="Calibri"/>
                <a:cs typeface="Calibri"/>
              </a:rPr>
              <a:t>structures </a:t>
            </a:r>
            <a:r>
              <a:rPr sz="2200" spc="-5" dirty="0">
                <a:latin typeface="Calibri"/>
                <a:cs typeface="Calibri"/>
              </a:rPr>
              <a:t>in </a:t>
            </a:r>
            <a:r>
              <a:rPr sz="2200" spc="-10" dirty="0">
                <a:latin typeface="Calibri"/>
                <a:cs typeface="Calibri"/>
              </a:rPr>
              <a:t>one </a:t>
            </a:r>
            <a:r>
              <a:rPr sz="2200" spc="-5" dirty="0">
                <a:latin typeface="Calibri"/>
                <a:cs typeface="Calibri"/>
              </a:rPr>
              <a:t>I/O</a:t>
            </a:r>
            <a:r>
              <a:rPr sz="2200" spc="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transaction</a:t>
            </a:r>
            <a:r>
              <a:rPr lang="en-US"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241300" indent="-228600">
              <a:lnSpc>
                <a:spcPts val="2970"/>
              </a:lnSpc>
              <a:spcBef>
                <a:spcPts val="7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solidFill>
                  <a:srgbClr val="BEBEBE"/>
                </a:solidFill>
                <a:latin typeface="Calibri"/>
                <a:cs typeface="Calibri"/>
              </a:rPr>
              <a:t>Epoll</a:t>
            </a:r>
            <a:endParaRPr sz="2600" dirty="0">
              <a:latin typeface="Calibri"/>
              <a:cs typeface="Calibri"/>
            </a:endParaRPr>
          </a:p>
          <a:p>
            <a:pPr marL="698500" lvl="1" indent="-229235">
              <a:lnSpc>
                <a:spcPts val="249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5" dirty="0">
                <a:solidFill>
                  <a:srgbClr val="BEBEBE"/>
                </a:solidFill>
                <a:latin typeface="Calibri"/>
                <a:cs typeface="Calibri"/>
              </a:rPr>
              <a:t>An </a:t>
            </a:r>
            <a:r>
              <a:rPr sz="2200" spc="-15" dirty="0">
                <a:solidFill>
                  <a:srgbClr val="BEBEBE"/>
                </a:solidFill>
                <a:latin typeface="Calibri"/>
                <a:cs typeface="Calibri"/>
              </a:rPr>
              <a:t>improved version </a:t>
            </a:r>
            <a:r>
              <a:rPr sz="2200" spc="-5" dirty="0">
                <a:solidFill>
                  <a:srgbClr val="BEBEBE"/>
                </a:solidFill>
                <a:latin typeface="Calibri"/>
                <a:cs typeface="Calibri"/>
              </a:rPr>
              <a:t>of </a:t>
            </a:r>
            <a:r>
              <a:rPr sz="2200" spc="-10" dirty="0">
                <a:solidFill>
                  <a:srgbClr val="BEBEBE"/>
                </a:solidFill>
                <a:latin typeface="Calibri"/>
                <a:cs typeface="Calibri"/>
              </a:rPr>
              <a:t>poll()/select(), useful </a:t>
            </a:r>
            <a:r>
              <a:rPr sz="2200" spc="-20" dirty="0">
                <a:solidFill>
                  <a:srgbClr val="BEBEBE"/>
                </a:solidFill>
                <a:latin typeface="Calibri"/>
                <a:cs typeface="Calibri"/>
              </a:rPr>
              <a:t>for </a:t>
            </a:r>
            <a:r>
              <a:rPr sz="2200" spc="-10" dirty="0">
                <a:solidFill>
                  <a:srgbClr val="BEBEBE"/>
                </a:solidFill>
                <a:latin typeface="Calibri"/>
                <a:cs typeface="Calibri"/>
              </a:rPr>
              <a:t>handling </a:t>
            </a:r>
            <a:r>
              <a:rPr sz="2200" spc="-30" dirty="0">
                <a:solidFill>
                  <a:srgbClr val="BEBEBE"/>
                </a:solidFill>
                <a:latin typeface="Calibri"/>
                <a:cs typeface="Calibri"/>
              </a:rPr>
              <a:t>100’s </a:t>
            </a:r>
            <a:r>
              <a:rPr sz="2200" spc="-5" dirty="0">
                <a:solidFill>
                  <a:srgbClr val="BEBEBE"/>
                </a:solidFill>
                <a:latin typeface="Calibri"/>
                <a:cs typeface="Calibri"/>
              </a:rPr>
              <a:t>of</a:t>
            </a:r>
            <a:r>
              <a:rPr sz="2200" spc="130" dirty="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BEBEBE"/>
                </a:solidFill>
                <a:latin typeface="Calibri"/>
                <a:cs typeface="Calibri"/>
              </a:rPr>
              <a:t>fds</a:t>
            </a:r>
            <a:endParaRPr sz="2200" dirty="0">
              <a:latin typeface="Calibri"/>
              <a:cs typeface="Calibri"/>
            </a:endParaRPr>
          </a:p>
          <a:p>
            <a:pPr marL="241300" indent="-228600">
              <a:lnSpc>
                <a:spcPts val="2970"/>
              </a:lnSpc>
              <a:spcBef>
                <a:spcPts val="7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Memory-mapped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I/O</a:t>
            </a:r>
          </a:p>
          <a:p>
            <a:pPr marL="698500" lvl="1" indent="-229235">
              <a:lnSpc>
                <a:spcPts val="249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10" dirty="0">
                <a:latin typeface="Calibri"/>
                <a:cs typeface="Calibri"/>
              </a:rPr>
              <a:t>Allows </a:t>
            </a:r>
            <a:r>
              <a:rPr sz="2200" spc="-5" dirty="0">
                <a:latin typeface="Calibri"/>
                <a:cs typeface="Calibri"/>
              </a:rPr>
              <a:t>file I/O </a:t>
            </a:r>
            <a:r>
              <a:rPr sz="2200" spc="-15" dirty="0">
                <a:latin typeface="Calibri"/>
                <a:cs typeface="Calibri"/>
              </a:rPr>
              <a:t>to </a:t>
            </a:r>
            <a:r>
              <a:rPr sz="2200" spc="-5" dirty="0">
                <a:latin typeface="Calibri"/>
                <a:cs typeface="Calibri"/>
              </a:rPr>
              <a:t>occur via </a:t>
            </a:r>
            <a:r>
              <a:rPr sz="2200" spc="-10" dirty="0">
                <a:latin typeface="Calibri"/>
                <a:cs typeface="Calibri"/>
              </a:rPr>
              <a:t>simple </a:t>
            </a:r>
            <a:r>
              <a:rPr sz="2200" spc="-5" dirty="0">
                <a:latin typeface="Calibri"/>
                <a:cs typeface="Calibri"/>
              </a:rPr>
              <a:t>memory</a:t>
            </a:r>
            <a:r>
              <a:rPr sz="2200" spc="6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manipulation</a:t>
            </a:r>
            <a:r>
              <a:rPr lang="en-US" sz="2200" spc="-5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241300" indent="-228600">
              <a:lnSpc>
                <a:spcPts val="2970"/>
              </a:lnSpc>
              <a:spcBef>
                <a:spcPts val="6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solidFill>
                  <a:srgbClr val="D9D9D9"/>
                </a:solidFill>
                <a:latin typeface="Calibri"/>
                <a:cs typeface="Calibri"/>
              </a:rPr>
              <a:t>File</a:t>
            </a:r>
            <a:r>
              <a:rPr sz="2600" spc="-1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D9D9D9"/>
                </a:solidFill>
                <a:latin typeface="Calibri"/>
                <a:cs typeface="Calibri"/>
              </a:rPr>
              <a:t>advice</a:t>
            </a:r>
            <a:endParaRPr sz="2600" dirty="0">
              <a:latin typeface="Calibri"/>
              <a:cs typeface="Calibri"/>
            </a:endParaRPr>
          </a:p>
          <a:p>
            <a:pPr marL="698500" lvl="1" indent="-229235">
              <a:lnSpc>
                <a:spcPts val="2095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10" dirty="0">
                <a:solidFill>
                  <a:srgbClr val="D9D9D9"/>
                </a:solidFill>
                <a:latin typeface="Calibri"/>
                <a:cs typeface="Calibri"/>
              </a:rPr>
              <a:t>Allows </a:t>
            </a:r>
            <a:r>
              <a:rPr sz="2200" spc="-5" dirty="0">
                <a:solidFill>
                  <a:srgbClr val="D9D9D9"/>
                </a:solidFill>
                <a:latin typeface="Calibri"/>
                <a:cs typeface="Calibri"/>
              </a:rPr>
              <a:t>a </a:t>
            </a:r>
            <a:r>
              <a:rPr sz="2200" spc="-15" dirty="0">
                <a:solidFill>
                  <a:srgbClr val="D9D9D9"/>
                </a:solidFill>
                <a:latin typeface="Calibri"/>
                <a:cs typeface="Calibri"/>
              </a:rPr>
              <a:t>process </a:t>
            </a:r>
            <a:r>
              <a:rPr sz="2200" spc="-20" dirty="0">
                <a:solidFill>
                  <a:srgbClr val="D9D9D9"/>
                </a:solidFill>
                <a:latin typeface="Calibri"/>
                <a:cs typeface="Calibri"/>
              </a:rPr>
              <a:t>to </a:t>
            </a:r>
            <a:r>
              <a:rPr sz="2200" spc="-15" dirty="0">
                <a:solidFill>
                  <a:srgbClr val="D9D9D9"/>
                </a:solidFill>
                <a:latin typeface="Calibri"/>
                <a:cs typeface="Calibri"/>
              </a:rPr>
              <a:t>provide </a:t>
            </a:r>
            <a:r>
              <a:rPr sz="2200" spc="-10" dirty="0">
                <a:solidFill>
                  <a:srgbClr val="D9D9D9"/>
                </a:solidFill>
                <a:latin typeface="Calibri"/>
                <a:cs typeface="Calibri"/>
              </a:rPr>
              <a:t>hints </a:t>
            </a:r>
            <a:r>
              <a:rPr sz="2200" spc="-20" dirty="0">
                <a:solidFill>
                  <a:srgbClr val="D9D9D9"/>
                </a:solidFill>
                <a:latin typeface="Calibri"/>
                <a:cs typeface="Calibri"/>
              </a:rPr>
              <a:t>to kernel </a:t>
            </a:r>
            <a:r>
              <a:rPr sz="2200" spc="-5" dirty="0">
                <a:solidFill>
                  <a:srgbClr val="D9D9D9"/>
                </a:solidFill>
                <a:latin typeface="Calibri"/>
                <a:cs typeface="Calibri"/>
              </a:rPr>
              <a:t>on </a:t>
            </a:r>
            <a:r>
              <a:rPr sz="2200" spc="-10" dirty="0">
                <a:solidFill>
                  <a:srgbClr val="D9D9D9"/>
                </a:solidFill>
                <a:latin typeface="Calibri"/>
                <a:cs typeface="Calibri"/>
              </a:rPr>
              <a:t>intended </a:t>
            </a:r>
            <a:r>
              <a:rPr sz="2200" spc="-5" dirty="0">
                <a:solidFill>
                  <a:srgbClr val="D9D9D9"/>
                </a:solidFill>
                <a:latin typeface="Calibri"/>
                <a:cs typeface="Calibri"/>
              </a:rPr>
              <a:t>uses </a:t>
            </a:r>
            <a:r>
              <a:rPr sz="2200" spc="-20" dirty="0">
                <a:solidFill>
                  <a:srgbClr val="D9D9D9"/>
                </a:solidFill>
                <a:latin typeface="Calibri"/>
                <a:cs typeface="Calibri"/>
              </a:rPr>
              <a:t>for </a:t>
            </a:r>
            <a:r>
              <a:rPr sz="2200" spc="-5" dirty="0">
                <a:solidFill>
                  <a:srgbClr val="D9D9D9"/>
                </a:solidFill>
                <a:latin typeface="Calibri"/>
                <a:cs typeface="Calibri"/>
              </a:rPr>
              <a:t>a file </a:t>
            </a:r>
            <a:r>
              <a:rPr sz="2200" spc="-20" dirty="0">
                <a:solidFill>
                  <a:srgbClr val="D9D9D9"/>
                </a:solidFill>
                <a:latin typeface="Calibri"/>
                <a:cs typeface="Calibri"/>
              </a:rPr>
              <a:t>(better</a:t>
            </a:r>
            <a:r>
              <a:rPr sz="2200" spc="250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D9D9D9"/>
                </a:solidFill>
                <a:latin typeface="Calibri"/>
                <a:cs typeface="Calibri"/>
              </a:rPr>
              <a:t>I/O</a:t>
            </a:r>
            <a:endParaRPr sz="2200" dirty="0">
              <a:latin typeface="Calibri"/>
              <a:cs typeface="Calibri"/>
            </a:endParaRPr>
          </a:p>
          <a:p>
            <a:pPr marL="698500">
              <a:lnSpc>
                <a:spcPts val="2245"/>
              </a:lnSpc>
            </a:pPr>
            <a:r>
              <a:rPr sz="2200" spc="-10" dirty="0">
                <a:solidFill>
                  <a:srgbClr val="D9D9D9"/>
                </a:solidFill>
                <a:latin typeface="Calibri"/>
                <a:cs typeface="Calibri"/>
              </a:rPr>
              <a:t>performance)</a:t>
            </a:r>
            <a:endParaRPr sz="2200" dirty="0">
              <a:latin typeface="Calibri"/>
              <a:cs typeface="Calibri"/>
            </a:endParaRPr>
          </a:p>
          <a:p>
            <a:pPr marL="241300" indent="-228600">
              <a:lnSpc>
                <a:spcPts val="2970"/>
              </a:lnSpc>
              <a:spcBef>
                <a:spcPts val="7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10" dirty="0">
                <a:solidFill>
                  <a:srgbClr val="D9D9D9"/>
                </a:solidFill>
                <a:latin typeface="Calibri"/>
                <a:cs typeface="Calibri"/>
              </a:rPr>
              <a:t>Asynchronous</a:t>
            </a:r>
            <a:r>
              <a:rPr sz="2600" spc="-50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D9D9D9"/>
                </a:solidFill>
                <a:latin typeface="Calibri"/>
                <a:cs typeface="Calibri"/>
              </a:rPr>
              <a:t>I/O</a:t>
            </a:r>
            <a:endParaRPr sz="2600" dirty="0">
              <a:latin typeface="Calibri"/>
              <a:cs typeface="Calibri"/>
            </a:endParaRPr>
          </a:p>
          <a:p>
            <a:pPr marL="698500" lvl="1" indent="-229235">
              <a:lnSpc>
                <a:spcPts val="2095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10" dirty="0">
                <a:solidFill>
                  <a:srgbClr val="D9D9D9"/>
                </a:solidFill>
                <a:latin typeface="Calibri"/>
                <a:cs typeface="Calibri"/>
              </a:rPr>
              <a:t>Allows </a:t>
            </a:r>
            <a:r>
              <a:rPr sz="2200" spc="-5" dirty="0">
                <a:solidFill>
                  <a:srgbClr val="D9D9D9"/>
                </a:solidFill>
                <a:latin typeface="Calibri"/>
                <a:cs typeface="Calibri"/>
              </a:rPr>
              <a:t>a </a:t>
            </a:r>
            <a:r>
              <a:rPr sz="2200" spc="-10" dirty="0">
                <a:solidFill>
                  <a:srgbClr val="D9D9D9"/>
                </a:solidFill>
                <a:latin typeface="Calibri"/>
                <a:cs typeface="Calibri"/>
              </a:rPr>
              <a:t>process </a:t>
            </a:r>
            <a:r>
              <a:rPr sz="2200" spc="-20" dirty="0">
                <a:solidFill>
                  <a:srgbClr val="D9D9D9"/>
                </a:solidFill>
                <a:latin typeface="Calibri"/>
                <a:cs typeface="Calibri"/>
              </a:rPr>
              <a:t>to </a:t>
            </a:r>
            <a:r>
              <a:rPr sz="2200" spc="-5" dirty="0">
                <a:solidFill>
                  <a:srgbClr val="D9D9D9"/>
                </a:solidFill>
                <a:latin typeface="Calibri"/>
                <a:cs typeface="Calibri"/>
              </a:rPr>
              <a:t>issue I/O </a:t>
            </a:r>
            <a:r>
              <a:rPr sz="2200" spc="-10" dirty="0">
                <a:solidFill>
                  <a:srgbClr val="D9D9D9"/>
                </a:solidFill>
                <a:latin typeface="Calibri"/>
                <a:cs typeface="Calibri"/>
              </a:rPr>
              <a:t>requests </a:t>
            </a:r>
            <a:r>
              <a:rPr sz="2200" spc="-5" dirty="0">
                <a:solidFill>
                  <a:srgbClr val="D9D9D9"/>
                </a:solidFill>
                <a:latin typeface="Calibri"/>
                <a:cs typeface="Calibri"/>
              </a:rPr>
              <a:t>without waiting </a:t>
            </a:r>
            <a:r>
              <a:rPr sz="2200" spc="-20" dirty="0">
                <a:solidFill>
                  <a:srgbClr val="D9D9D9"/>
                </a:solidFill>
                <a:latin typeface="Calibri"/>
                <a:cs typeface="Calibri"/>
              </a:rPr>
              <a:t>for </a:t>
            </a:r>
            <a:r>
              <a:rPr sz="2200" spc="-5" dirty="0">
                <a:solidFill>
                  <a:srgbClr val="D9D9D9"/>
                </a:solidFill>
                <a:latin typeface="Calibri"/>
                <a:cs typeface="Calibri"/>
              </a:rPr>
              <a:t>them </a:t>
            </a:r>
            <a:r>
              <a:rPr sz="2200" spc="-20" dirty="0">
                <a:solidFill>
                  <a:srgbClr val="D9D9D9"/>
                </a:solidFill>
                <a:latin typeface="Calibri"/>
                <a:cs typeface="Calibri"/>
              </a:rPr>
              <a:t>to </a:t>
            </a:r>
            <a:r>
              <a:rPr sz="2200" spc="-15" dirty="0">
                <a:solidFill>
                  <a:srgbClr val="D9D9D9"/>
                </a:solidFill>
                <a:latin typeface="Calibri"/>
                <a:cs typeface="Calibri"/>
              </a:rPr>
              <a:t>complete,</a:t>
            </a:r>
            <a:r>
              <a:rPr sz="2200" spc="22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D9D9D9"/>
                </a:solidFill>
                <a:latin typeface="Calibri"/>
                <a:cs typeface="Calibri"/>
              </a:rPr>
              <a:t>useful</a:t>
            </a:r>
            <a:endParaRPr sz="2200" dirty="0">
              <a:latin typeface="Calibri"/>
              <a:cs typeface="Calibri"/>
            </a:endParaRPr>
          </a:p>
          <a:p>
            <a:pPr marL="698500">
              <a:lnSpc>
                <a:spcPts val="2245"/>
              </a:lnSpc>
            </a:pPr>
            <a:r>
              <a:rPr sz="2200" spc="-20" dirty="0">
                <a:solidFill>
                  <a:srgbClr val="D9D9D9"/>
                </a:solidFill>
                <a:latin typeface="Calibri"/>
                <a:cs typeface="Calibri"/>
              </a:rPr>
              <a:t>for </a:t>
            </a:r>
            <a:r>
              <a:rPr sz="2200" spc="-10" dirty="0">
                <a:solidFill>
                  <a:srgbClr val="D9D9D9"/>
                </a:solidFill>
                <a:latin typeface="Calibri"/>
                <a:cs typeface="Calibri"/>
              </a:rPr>
              <a:t>handling heavy I/O workloads </a:t>
            </a:r>
            <a:r>
              <a:rPr sz="2200" spc="-5" dirty="0">
                <a:solidFill>
                  <a:srgbClr val="D9D9D9"/>
                </a:solidFill>
                <a:latin typeface="Calibri"/>
                <a:cs typeface="Calibri"/>
              </a:rPr>
              <a:t>without the use of</a:t>
            </a:r>
            <a:r>
              <a:rPr sz="2200" spc="70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D9D9D9"/>
                </a:solidFill>
                <a:latin typeface="Calibri"/>
                <a:cs typeface="Calibri"/>
              </a:rPr>
              <a:t>threads</a:t>
            </a:r>
            <a:endParaRPr sz="2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1122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0" dirty="0"/>
              <a:t>Scatter/Gather</a:t>
            </a:r>
            <a:r>
              <a:rPr spc="-130" dirty="0"/>
              <a:t> </a:t>
            </a:r>
            <a:r>
              <a:rPr spc="-15" dirty="0"/>
              <a:t>I/O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189"/>
            <a:ext cx="10817861" cy="3287438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1300" marR="930910" indent="-228600">
              <a:lnSpc>
                <a:spcPts val="3030"/>
              </a:lnSpc>
              <a:spcBef>
                <a:spcPts val="4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A method of </a:t>
            </a:r>
            <a:r>
              <a:rPr sz="2800" dirty="0">
                <a:latin typeface="Calibri"/>
                <a:cs typeface="Calibri"/>
              </a:rPr>
              <a:t>I/O </a:t>
            </a:r>
            <a:r>
              <a:rPr sz="2800" spc="-10" dirty="0">
                <a:latin typeface="Calibri"/>
                <a:cs typeface="Calibri"/>
              </a:rPr>
              <a:t>where </a:t>
            </a:r>
            <a:r>
              <a:rPr sz="2800" spc="-5" dirty="0">
                <a:latin typeface="Calibri"/>
                <a:cs typeface="Calibri"/>
              </a:rPr>
              <a:t>a single </a:t>
            </a:r>
            <a:r>
              <a:rPr sz="2800" spc="-20" dirty="0">
                <a:latin typeface="Calibri"/>
                <a:cs typeface="Calibri"/>
              </a:rPr>
              <a:t>syscall </a:t>
            </a:r>
            <a:r>
              <a:rPr sz="2800" spc="-10" dirty="0">
                <a:latin typeface="Calibri"/>
                <a:cs typeface="Calibri"/>
              </a:rPr>
              <a:t>reads/writes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5" dirty="0">
                <a:latin typeface="Calibri"/>
                <a:cs typeface="Calibri"/>
              </a:rPr>
              <a:t>vector</a:t>
            </a:r>
            <a:r>
              <a:rPr lang="en-US" sz="2800" spc="-15" dirty="0">
                <a:latin typeface="Calibri"/>
                <a:cs typeface="Calibri"/>
              </a:rPr>
              <a:t> (array)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of </a:t>
            </a:r>
            <a:r>
              <a:rPr sz="2800" spc="-30" dirty="0">
                <a:latin typeface="Calibri"/>
                <a:cs typeface="Calibri"/>
              </a:rPr>
              <a:t>buffers </a:t>
            </a:r>
            <a:r>
              <a:rPr sz="2800" spc="-20" dirty="0">
                <a:latin typeface="Calibri"/>
                <a:cs typeface="Calibri"/>
              </a:rPr>
              <a:t>from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single </a:t>
            </a:r>
            <a:r>
              <a:rPr sz="2800" spc="-20" dirty="0">
                <a:latin typeface="Calibri"/>
                <a:cs typeface="Calibri"/>
              </a:rPr>
              <a:t>data </a:t>
            </a:r>
            <a:r>
              <a:rPr sz="2800" spc="-15" dirty="0">
                <a:latin typeface="Calibri"/>
                <a:cs typeface="Calibri"/>
              </a:rPr>
              <a:t>stream </a:t>
            </a:r>
            <a:r>
              <a:rPr sz="2800" spc="-5" dirty="0">
                <a:latin typeface="Calibri"/>
                <a:cs typeface="Calibri"/>
              </a:rPr>
              <a:t>(also called </a:t>
            </a:r>
            <a:r>
              <a:rPr sz="2800" i="1" spc="-10" dirty="0">
                <a:latin typeface="Calibri"/>
                <a:cs typeface="Calibri"/>
              </a:rPr>
              <a:t>vectored</a:t>
            </a:r>
            <a:r>
              <a:rPr sz="2800" i="1" spc="160" dirty="0">
                <a:latin typeface="Calibri"/>
                <a:cs typeface="Calibri"/>
              </a:rPr>
              <a:t> </a:t>
            </a:r>
            <a:r>
              <a:rPr sz="2800" i="1" spc="-5" dirty="0">
                <a:latin typeface="Calibri"/>
                <a:cs typeface="Calibri"/>
              </a:rPr>
              <a:t>I/O</a:t>
            </a:r>
            <a:r>
              <a:rPr lang="en-US" sz="2800" spc="-5" dirty="0">
                <a:latin typeface="Calibri"/>
                <a:cs typeface="Calibri"/>
              </a:rPr>
              <a:t>.</a:t>
            </a:r>
            <a:r>
              <a:rPr sz="2800" spc="-5" dirty="0">
                <a:latin typeface="Calibri"/>
                <a:cs typeface="Calibri"/>
              </a:rPr>
              <a:t>)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libri"/>
                <a:cs typeface="Calibri"/>
              </a:rPr>
              <a:t>Advantages over </a:t>
            </a:r>
            <a:r>
              <a:rPr sz="2800" spc="-5" dirty="0">
                <a:latin typeface="Calibri"/>
                <a:cs typeface="Calibri"/>
              </a:rPr>
              <a:t>original </a:t>
            </a:r>
            <a:r>
              <a:rPr sz="2800" spc="-15" dirty="0">
                <a:latin typeface="Calibri"/>
                <a:cs typeface="Calibri"/>
              </a:rPr>
              <a:t>(</a:t>
            </a:r>
            <a:r>
              <a:rPr sz="2800" i="1" spc="-15" dirty="0">
                <a:latin typeface="Calibri"/>
                <a:cs typeface="Calibri"/>
              </a:rPr>
              <a:t>linear </a:t>
            </a:r>
            <a:r>
              <a:rPr sz="2800" i="1" spc="-5" dirty="0">
                <a:latin typeface="Calibri"/>
                <a:cs typeface="Calibri"/>
              </a:rPr>
              <a:t>I/O</a:t>
            </a:r>
            <a:r>
              <a:rPr sz="2800" spc="-5" dirty="0">
                <a:latin typeface="Calibri"/>
                <a:cs typeface="Calibri"/>
              </a:rPr>
              <a:t>)</a:t>
            </a:r>
            <a:r>
              <a:rPr sz="2800" spc="8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methods</a:t>
            </a:r>
            <a:r>
              <a:rPr lang="en-US" sz="2800" spc="-5" dirty="0">
                <a:latin typeface="Calibri"/>
                <a:cs typeface="Calibri"/>
              </a:rPr>
              <a:t> are: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34"/>
              </a:spcBef>
              <a:buFont typeface="Arial"/>
              <a:buChar char="•"/>
              <a:tabLst>
                <a:tab pos="699135" algn="l"/>
              </a:tabLst>
            </a:pPr>
            <a:r>
              <a:rPr sz="2400" b="1" spc="-10" dirty="0">
                <a:latin typeface="Calibri"/>
                <a:cs typeface="Calibri"/>
              </a:rPr>
              <a:t>More </a:t>
            </a:r>
            <a:r>
              <a:rPr sz="2400" b="1" spc="-15" dirty="0">
                <a:latin typeface="Calibri"/>
                <a:cs typeface="Calibri"/>
              </a:rPr>
              <a:t>natural </a:t>
            </a:r>
            <a:r>
              <a:rPr sz="2400" b="1" spc="-5" dirty="0">
                <a:latin typeface="Calibri"/>
                <a:cs typeface="Calibri"/>
              </a:rPr>
              <a:t>coding </a:t>
            </a:r>
            <a:r>
              <a:rPr sz="2400" b="1" spc="-15" dirty="0">
                <a:latin typeface="Calibri"/>
                <a:cs typeface="Calibri"/>
              </a:rPr>
              <a:t>pattern</a:t>
            </a:r>
            <a:r>
              <a:rPr sz="2400" spc="-15" dirty="0">
                <a:latin typeface="Calibri"/>
                <a:cs typeface="Calibri"/>
              </a:rPr>
              <a:t>: </a:t>
            </a:r>
            <a:r>
              <a:rPr sz="2400" spc="-10" dirty="0">
                <a:latin typeface="Calibri"/>
                <a:cs typeface="Calibri"/>
              </a:rPr>
              <a:t>intuitive </a:t>
            </a:r>
            <a:r>
              <a:rPr sz="2400" spc="-20" dirty="0">
                <a:latin typeface="Calibri"/>
                <a:cs typeface="Calibri"/>
              </a:rPr>
              <a:t>for </a:t>
            </a:r>
            <a:r>
              <a:rPr sz="2400" spc="-10" dirty="0">
                <a:latin typeface="Calibri"/>
                <a:cs typeface="Calibri"/>
              </a:rPr>
              <a:t>naturally segmented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data</a:t>
            </a:r>
            <a:r>
              <a:rPr lang="en-US" sz="2400" spc="-1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9135" algn="l"/>
              </a:tabLst>
            </a:pPr>
            <a:r>
              <a:rPr sz="2400" b="1" dirty="0">
                <a:latin typeface="Calibri"/>
                <a:cs typeface="Calibri"/>
              </a:rPr>
              <a:t>Efficiency</a:t>
            </a:r>
            <a:r>
              <a:rPr sz="2400" spc="-15" dirty="0">
                <a:latin typeface="Calibri"/>
                <a:cs typeface="Calibri"/>
              </a:rPr>
              <a:t>: </a:t>
            </a:r>
            <a:r>
              <a:rPr sz="2400" spc="-5" dirty="0">
                <a:latin typeface="Calibri"/>
                <a:cs typeface="Calibri"/>
              </a:rPr>
              <a:t>single </a:t>
            </a:r>
            <a:r>
              <a:rPr sz="2400" spc="-15" dirty="0">
                <a:latin typeface="Calibri"/>
                <a:cs typeface="Calibri"/>
              </a:rPr>
              <a:t>vectored </a:t>
            </a:r>
            <a:r>
              <a:rPr sz="2400" dirty="0">
                <a:latin typeface="Calibri"/>
                <a:cs typeface="Calibri"/>
              </a:rPr>
              <a:t>I/O </a:t>
            </a:r>
            <a:r>
              <a:rPr sz="2400" spc="-10" dirty="0">
                <a:latin typeface="Calibri"/>
                <a:cs typeface="Calibri"/>
              </a:rPr>
              <a:t>operation </a:t>
            </a:r>
            <a:r>
              <a:rPr lang="en-US" sz="2400" spc="-10" dirty="0">
                <a:latin typeface="Calibri"/>
                <a:cs typeface="Calibri"/>
              </a:rPr>
              <a:t>is used </a:t>
            </a:r>
            <a:r>
              <a:rPr lang="en-US" sz="2400" dirty="0">
                <a:latin typeface="Calibri"/>
                <a:cs typeface="Calibri"/>
              </a:rPr>
              <a:t>instead of</a:t>
            </a:r>
            <a:r>
              <a:rPr sz="2400" dirty="0">
                <a:latin typeface="Calibri"/>
                <a:cs typeface="Calibri"/>
              </a:rPr>
              <a:t> multiple linear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I/O</a:t>
            </a:r>
            <a:r>
              <a:rPr lang="en-US" sz="2400" spc="-5" dirty="0">
                <a:latin typeface="Calibri"/>
                <a:cs typeface="Calibri"/>
              </a:rPr>
              <a:t> operations.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9135" algn="l"/>
              </a:tabLst>
            </a:pPr>
            <a:r>
              <a:rPr sz="2400" b="1" spc="-15" dirty="0">
                <a:latin typeface="Calibri"/>
                <a:cs typeface="Calibri"/>
              </a:rPr>
              <a:t>Performance</a:t>
            </a:r>
            <a:r>
              <a:rPr sz="2400" spc="-15" dirty="0">
                <a:latin typeface="Calibri"/>
                <a:cs typeface="Calibri"/>
              </a:rPr>
              <a:t>: </a:t>
            </a:r>
            <a:r>
              <a:rPr sz="2400" dirty="0">
                <a:latin typeface="Calibri"/>
                <a:cs typeface="Calibri"/>
              </a:rPr>
              <a:t>via </a:t>
            </a:r>
            <a:r>
              <a:rPr sz="2400" spc="-10" dirty="0">
                <a:latin typeface="Calibri"/>
                <a:cs typeface="Calibri"/>
              </a:rPr>
              <a:t>internal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optimization</a:t>
            </a:r>
            <a:r>
              <a:rPr lang="en-US" sz="2400" spc="-10" dirty="0">
                <a:latin typeface="Calibri"/>
                <a:cs typeface="Calibri"/>
              </a:rPr>
              <a:t>, which makes this operation faster.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699135" algn="l"/>
              </a:tabLst>
            </a:pPr>
            <a:r>
              <a:rPr lang="en-US" sz="2400" b="1" spc="-15" dirty="0">
                <a:latin typeface="Calibri"/>
                <a:cs typeface="Calibri"/>
              </a:rPr>
              <a:t>Locked</a:t>
            </a:r>
            <a:r>
              <a:rPr sz="2400" spc="-15" dirty="0">
                <a:latin typeface="Calibri"/>
                <a:cs typeface="Calibri"/>
              </a:rPr>
              <a:t>: </a:t>
            </a:r>
            <a:r>
              <a:rPr lang="en-US" sz="2400" spc="-15" dirty="0">
                <a:latin typeface="Calibri"/>
                <a:cs typeface="Calibri"/>
              </a:rPr>
              <a:t>there is </a:t>
            </a:r>
            <a:r>
              <a:rPr sz="2400" spc="-5" dirty="0">
                <a:latin typeface="Calibri"/>
                <a:cs typeface="Calibri"/>
              </a:rPr>
              <a:t>no </a:t>
            </a:r>
            <a:r>
              <a:rPr sz="2400" dirty="0">
                <a:latin typeface="Calibri"/>
                <a:cs typeface="Calibri"/>
              </a:rPr>
              <a:t>risk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spc="-10" dirty="0">
                <a:latin typeface="Calibri"/>
                <a:cs typeface="Calibri"/>
              </a:rPr>
              <a:t>interleaving </a:t>
            </a:r>
            <a:r>
              <a:rPr lang="en-US" sz="2400" spc="-10" dirty="0">
                <a:latin typeface="Calibri"/>
                <a:cs typeface="Calibri"/>
              </a:rPr>
              <a:t>(= messing up) </a:t>
            </a:r>
            <a:r>
              <a:rPr sz="2400" spc="-5" dirty="0">
                <a:latin typeface="Calibri"/>
                <a:cs typeface="Calibri"/>
              </a:rPr>
              <a:t>I/O </a:t>
            </a:r>
            <a:r>
              <a:rPr sz="2400" spc="-15" dirty="0">
                <a:latin typeface="Calibri"/>
                <a:cs typeface="Calibri"/>
              </a:rPr>
              <a:t>from </a:t>
            </a:r>
            <a:r>
              <a:rPr sz="2400" spc="-5" dirty="0">
                <a:latin typeface="Calibri"/>
                <a:cs typeface="Calibri"/>
              </a:rPr>
              <a:t>another </a:t>
            </a:r>
            <a:r>
              <a:rPr sz="2400" spc="-10" dirty="0">
                <a:latin typeface="Calibri"/>
                <a:cs typeface="Calibri"/>
              </a:rPr>
              <a:t>proces</a:t>
            </a:r>
            <a:r>
              <a:rPr lang="en-US" sz="2400" spc="-10" dirty="0">
                <a:latin typeface="Calibri"/>
                <a:cs typeface="Calibri"/>
              </a:rPr>
              <a:t>s.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8" y="609676"/>
            <a:ext cx="6474461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0" dirty="0"/>
              <a:t>Scatter/Gather</a:t>
            </a:r>
            <a:r>
              <a:rPr spc="-130" dirty="0"/>
              <a:t> </a:t>
            </a:r>
            <a:r>
              <a:rPr spc="-15" dirty="0"/>
              <a:t>I/O</a:t>
            </a:r>
            <a:r>
              <a:rPr lang="en-US" spc="-15" dirty="0"/>
              <a:t>: Analogy</a:t>
            </a:r>
            <a:endParaRPr spc="-15" dirty="0"/>
          </a:p>
        </p:txBody>
      </p:sp>
      <p:sp>
        <p:nvSpPr>
          <p:cNvPr id="3" name="object 3"/>
          <p:cNvSpPr txBox="1"/>
          <p:nvPr/>
        </p:nvSpPr>
        <p:spPr>
          <a:xfrm>
            <a:off x="916939" y="1793189"/>
            <a:ext cx="11884661" cy="1984518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1300" marR="930910" indent="-228600">
              <a:lnSpc>
                <a:spcPts val="3030"/>
              </a:lnSpc>
              <a:spcBef>
                <a:spcPts val="475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dirty="0">
                <a:latin typeface="Calibri"/>
                <a:cs typeface="Calibri"/>
              </a:rPr>
              <a:t>Consider the route of some school bus in the morning: having the school bus pick up the kids from their homes, and, only after all the kids are on the bus, driving to the school is going to be </a:t>
            </a:r>
            <a:r>
              <a:rPr lang="en-US" sz="2800" u="sng" dirty="0">
                <a:latin typeface="Calibri"/>
                <a:cs typeface="Calibri"/>
              </a:rPr>
              <a:t>considerably faster</a:t>
            </a:r>
            <a:r>
              <a:rPr lang="en-US" sz="2800" dirty="0">
                <a:latin typeface="Calibri"/>
                <a:cs typeface="Calibri"/>
              </a:rPr>
              <a:t> than picking up one kid, driving to the school and dropping the kid off at the school, picking up the next kid, and then driving to the school again, etc.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4011B4E-E5FF-F021-D5E0-A8ED290A8CF4}"/>
              </a:ext>
            </a:extLst>
          </p:cNvPr>
          <p:cNvGrpSpPr/>
          <p:nvPr/>
        </p:nvGrpSpPr>
        <p:grpSpPr>
          <a:xfrm>
            <a:off x="192024" y="3150781"/>
            <a:ext cx="11028365" cy="3733800"/>
            <a:chOff x="192024" y="3150781"/>
            <a:chExt cx="11028365" cy="3733800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3CDBE33-6245-F9AC-4D31-405C29150DAB}"/>
                </a:ext>
              </a:extLst>
            </p:cNvPr>
            <p:cNvGrpSpPr/>
            <p:nvPr/>
          </p:nvGrpSpPr>
          <p:grpSpPr>
            <a:xfrm>
              <a:off x="192024" y="3150781"/>
              <a:ext cx="11028365" cy="3733800"/>
              <a:chOff x="192024" y="3150781"/>
              <a:chExt cx="11028365" cy="3733800"/>
            </a:xfrm>
          </p:grpSpPr>
          <p:pic>
            <p:nvPicPr>
              <p:cNvPr id="24" name="Graphic 23" descr="Man with solid fill">
                <a:extLst>
                  <a:ext uri="{FF2B5EF4-FFF2-40B4-BE49-F238E27FC236}">
                    <a16:creationId xmlns:a16="http://schemas.microsoft.com/office/drawing/2014/main" id="{BCA9D983-E05E-7D4E-F838-71C9374573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372980" y="4384178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23" name="Graphic 22" descr="Man with solid fill">
                <a:extLst>
                  <a:ext uri="{FF2B5EF4-FFF2-40B4-BE49-F238E27FC236}">
                    <a16:creationId xmlns:a16="http://schemas.microsoft.com/office/drawing/2014/main" id="{FCABD1A6-A6B2-8FDD-36E3-07A2D27D20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944869" y="4366236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21" name="Graphic 20" descr="Woman with solid fill">
                <a:extLst>
                  <a:ext uri="{FF2B5EF4-FFF2-40B4-BE49-F238E27FC236}">
                    <a16:creationId xmlns:a16="http://schemas.microsoft.com/office/drawing/2014/main" id="{0EC99C39-12B6-2867-506C-EFC5AA17E5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170472" y="4384178"/>
                <a:ext cx="878516" cy="878516"/>
              </a:xfrm>
              <a:prstGeom prst="rect">
                <a:avLst/>
              </a:prstGeom>
            </p:spPr>
          </p:pic>
          <p:pic>
            <p:nvPicPr>
              <p:cNvPr id="8" name="Graphic 7" descr="Bus with solid fill">
                <a:extLst>
                  <a:ext uri="{FF2B5EF4-FFF2-40B4-BE49-F238E27FC236}">
                    <a16:creationId xmlns:a16="http://schemas.microsoft.com/office/drawing/2014/main" id="{7531B3F1-4423-0F45-06D8-5A666FCFC9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4229100" y="3150781"/>
                <a:ext cx="3733800" cy="3733800"/>
              </a:xfrm>
              <a:prstGeom prst="rect">
                <a:avLst/>
              </a:prstGeom>
            </p:spPr>
          </p:pic>
          <p:pic>
            <p:nvPicPr>
              <p:cNvPr id="10" name="Graphic 9" descr="Schoolhouse with solid fill">
                <a:extLst>
                  <a:ext uri="{FF2B5EF4-FFF2-40B4-BE49-F238E27FC236}">
                    <a16:creationId xmlns:a16="http://schemas.microsoft.com/office/drawing/2014/main" id="{1DAB5572-9C8C-E909-C1CD-C9CF74B34A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9278124" y="3760674"/>
                <a:ext cx="1942265" cy="1942265"/>
              </a:xfrm>
              <a:prstGeom prst="rect">
                <a:avLst/>
              </a:prstGeom>
            </p:spPr>
          </p:pic>
          <p:pic>
            <p:nvPicPr>
              <p:cNvPr id="12" name="Graphic 11" descr="House with solid fill">
                <a:extLst>
                  <a:ext uri="{FF2B5EF4-FFF2-40B4-BE49-F238E27FC236}">
                    <a16:creationId xmlns:a16="http://schemas.microsoft.com/office/drawing/2014/main" id="{56586645-A395-846A-4DC6-1386CE0F87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92024" y="4038600"/>
                <a:ext cx="608911" cy="608911"/>
              </a:xfrm>
              <a:prstGeom prst="rect">
                <a:avLst/>
              </a:prstGeom>
            </p:spPr>
          </p:pic>
          <p:pic>
            <p:nvPicPr>
              <p:cNvPr id="13" name="Graphic 12" descr="House with solid fill">
                <a:extLst>
                  <a:ext uri="{FF2B5EF4-FFF2-40B4-BE49-F238E27FC236}">
                    <a16:creationId xmlns:a16="http://schemas.microsoft.com/office/drawing/2014/main" id="{AAE5DB72-48FC-645A-E447-5CAB057569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1943935" y="4150044"/>
                <a:ext cx="1447800" cy="1447800"/>
              </a:xfrm>
              <a:prstGeom prst="rect">
                <a:avLst/>
              </a:prstGeom>
            </p:spPr>
          </p:pic>
          <p:pic>
            <p:nvPicPr>
              <p:cNvPr id="14" name="Graphic 13" descr="House with solid fill">
                <a:extLst>
                  <a:ext uri="{FF2B5EF4-FFF2-40B4-BE49-F238E27FC236}">
                    <a16:creationId xmlns:a16="http://schemas.microsoft.com/office/drawing/2014/main" id="{B1898417-F42A-C8E6-C253-2B0DA3E6F7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1011814" y="4206946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18" name="Graphic 17" descr="Woman with solid fill">
                <a:extLst>
                  <a:ext uri="{FF2B5EF4-FFF2-40B4-BE49-F238E27FC236}">
                    <a16:creationId xmlns:a16="http://schemas.microsoft.com/office/drawing/2014/main" id="{4A35F997-D68A-287C-0579-0E53D676E2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2514600" y="5121346"/>
                <a:ext cx="304800" cy="304800"/>
              </a:xfrm>
              <a:prstGeom prst="rect">
                <a:avLst/>
              </a:prstGeom>
            </p:spPr>
          </p:pic>
          <p:pic>
            <p:nvPicPr>
              <p:cNvPr id="19" name="Graphic 18" descr="Woman with solid fill">
                <a:extLst>
                  <a:ext uri="{FF2B5EF4-FFF2-40B4-BE49-F238E27FC236}">
                    <a16:creationId xmlns:a16="http://schemas.microsoft.com/office/drawing/2014/main" id="{E1555902-F22A-5DDE-EB9F-5C8ADD255B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371891" y="4823436"/>
                <a:ext cx="194245" cy="194245"/>
              </a:xfrm>
              <a:prstGeom prst="rect">
                <a:avLst/>
              </a:prstGeom>
            </p:spPr>
          </p:pic>
          <p:pic>
            <p:nvPicPr>
              <p:cNvPr id="20" name="Graphic 19" descr="Woman with solid fill">
                <a:extLst>
                  <a:ext uri="{FF2B5EF4-FFF2-40B4-BE49-F238E27FC236}">
                    <a16:creationId xmlns:a16="http://schemas.microsoft.com/office/drawing/2014/main" id="{AEA2E7DD-6FA0-1055-8630-0899A051CE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20279" y="4419600"/>
                <a:ext cx="152400" cy="152400"/>
              </a:xfrm>
              <a:prstGeom prst="rect">
                <a:avLst/>
              </a:prstGeom>
            </p:spPr>
          </p:pic>
          <p:pic>
            <p:nvPicPr>
              <p:cNvPr id="26" name="Graphic 25" descr="Office worker male with solid fill">
                <a:extLst>
                  <a:ext uri="{FF2B5EF4-FFF2-40B4-BE49-F238E27FC236}">
                    <a16:creationId xmlns:a16="http://schemas.microsoft.com/office/drawing/2014/main" id="{63AE3A98-9024-B164-A235-8AD1ED3261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7003149" y="4346688"/>
                <a:ext cx="634916" cy="634916"/>
              </a:xfrm>
              <a:prstGeom prst="rect">
                <a:avLst/>
              </a:prstGeom>
            </p:spPr>
          </p:pic>
          <p:pic>
            <p:nvPicPr>
              <p:cNvPr id="28" name="Graphic 27" descr="Baseball hat with solid fill">
                <a:extLst>
                  <a:ext uri="{FF2B5EF4-FFF2-40B4-BE49-F238E27FC236}">
                    <a16:creationId xmlns:a16="http://schemas.microsoft.com/office/drawing/2014/main" id="{EAC6058F-2AC8-739E-5944-98257AB445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>
                <a:off x="7203438" y="4325663"/>
                <a:ext cx="313320" cy="313320"/>
              </a:xfrm>
              <a:prstGeom prst="rect">
                <a:avLst/>
              </a:prstGeom>
            </p:spPr>
          </p:pic>
        </p:grpSp>
        <p:pic>
          <p:nvPicPr>
            <p:cNvPr id="31" name="Graphic 30" descr="Stop with solid fill">
              <a:extLst>
                <a:ext uri="{FF2B5EF4-FFF2-40B4-BE49-F238E27FC236}">
                  <a16:creationId xmlns:a16="http://schemas.microsoft.com/office/drawing/2014/main" id="{C8EB47EE-B7C6-9249-9517-41CFF61EBB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7046287" y="4761939"/>
              <a:ext cx="548640" cy="3733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70254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0738C165-E2B7-C9D9-5745-9D3B6C4E73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802" y="0"/>
            <a:ext cx="11474396" cy="6872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557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8" y="609676"/>
            <a:ext cx="571246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>
                <a:latin typeface="Consolas" panose="020B0609020204030204" pitchFamily="49" charset="0"/>
              </a:rPr>
              <a:t>readv()</a:t>
            </a:r>
            <a:r>
              <a:rPr spc="-40" dirty="0"/>
              <a:t> </a:t>
            </a:r>
            <a:r>
              <a:rPr spc="-25" dirty="0"/>
              <a:t>and</a:t>
            </a:r>
            <a:r>
              <a:rPr spc="-190" dirty="0"/>
              <a:t> </a:t>
            </a:r>
            <a:r>
              <a:rPr spc="-40" dirty="0">
                <a:latin typeface="Consolas" panose="020B0609020204030204" pitchFamily="49" charset="0"/>
              </a:rPr>
              <a:t>writev()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84349"/>
            <a:ext cx="10894061" cy="4282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>
              <a:spcBef>
                <a:spcPts val="95"/>
              </a:spcBef>
            </a:pPr>
            <a:r>
              <a:rPr spc="-10" dirty="0">
                <a:solidFill>
                  <a:srgbClr val="0070C0"/>
                </a:solidFill>
                <a:latin typeface="Consolas"/>
                <a:cs typeface="Consolas"/>
              </a:rPr>
              <a:t>#include &lt;sys/uio.h&gt;</a:t>
            </a:r>
            <a:endParaRPr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/>
            <a:r>
              <a:rPr b="1" spc="-10" dirty="0">
                <a:solidFill>
                  <a:srgbClr val="0070C0"/>
                </a:solidFill>
                <a:latin typeface="Consolas"/>
                <a:cs typeface="Consolas"/>
              </a:rPr>
              <a:t>ssize_t </a:t>
            </a:r>
            <a:r>
              <a:rPr spc="-5" dirty="0">
                <a:solidFill>
                  <a:srgbClr val="0070C0"/>
                </a:solidFill>
                <a:latin typeface="Consolas"/>
                <a:cs typeface="Consolas"/>
              </a:rPr>
              <a:t>readv (</a:t>
            </a:r>
            <a:r>
              <a:rPr b="1" spc="-5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pc="-5" dirty="0">
                <a:solidFill>
                  <a:srgbClr val="0070C0"/>
                </a:solidFill>
                <a:latin typeface="Consolas"/>
                <a:cs typeface="Consolas"/>
              </a:rPr>
              <a:t>fd, </a:t>
            </a:r>
            <a:r>
              <a:rPr b="1" spc="-5" dirty="0">
                <a:solidFill>
                  <a:srgbClr val="0070C0"/>
                </a:solidFill>
                <a:latin typeface="Consolas"/>
                <a:cs typeface="Consolas"/>
              </a:rPr>
              <a:t>const struct </a:t>
            </a:r>
            <a:r>
              <a:rPr spc="-5" dirty="0">
                <a:solidFill>
                  <a:srgbClr val="0070C0"/>
                </a:solidFill>
                <a:latin typeface="Consolas"/>
                <a:cs typeface="Consolas"/>
              </a:rPr>
              <a:t>iovec *iov, </a:t>
            </a:r>
            <a:r>
              <a:rPr b="1" spc="-5" dirty="0">
                <a:solidFill>
                  <a:srgbClr val="0070C0"/>
                </a:solidFill>
                <a:latin typeface="Consolas"/>
                <a:cs typeface="Consolas"/>
              </a:rPr>
              <a:t>int</a:t>
            </a:r>
            <a:r>
              <a:rPr b="1" spc="-8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pc="-10" dirty="0">
                <a:solidFill>
                  <a:srgbClr val="0070C0"/>
                </a:solidFill>
                <a:latin typeface="Consolas"/>
                <a:cs typeface="Consolas"/>
              </a:rPr>
              <a:t>count);</a:t>
            </a:r>
            <a:endParaRPr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/>
            <a:r>
              <a:rPr b="1" spc="-10" dirty="0">
                <a:solidFill>
                  <a:srgbClr val="0070C0"/>
                </a:solidFill>
                <a:latin typeface="Consolas"/>
                <a:cs typeface="Consolas"/>
              </a:rPr>
              <a:t>ssize_t </a:t>
            </a:r>
            <a:r>
              <a:rPr spc="-10" dirty="0">
                <a:solidFill>
                  <a:srgbClr val="0070C0"/>
                </a:solidFill>
                <a:latin typeface="Consolas"/>
                <a:cs typeface="Consolas"/>
              </a:rPr>
              <a:t>writev (</a:t>
            </a:r>
            <a:r>
              <a:rPr b="1" spc="-10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pc="-10" dirty="0">
                <a:solidFill>
                  <a:srgbClr val="0070C0"/>
                </a:solidFill>
                <a:latin typeface="Consolas"/>
                <a:cs typeface="Consolas"/>
              </a:rPr>
              <a:t>fd, </a:t>
            </a:r>
            <a:r>
              <a:rPr b="1" spc="-10" dirty="0">
                <a:solidFill>
                  <a:srgbClr val="0070C0"/>
                </a:solidFill>
                <a:latin typeface="Consolas"/>
                <a:cs typeface="Consolas"/>
              </a:rPr>
              <a:t>const struct </a:t>
            </a:r>
            <a:r>
              <a:rPr spc="-10" dirty="0">
                <a:solidFill>
                  <a:srgbClr val="0070C0"/>
                </a:solidFill>
                <a:latin typeface="Consolas"/>
                <a:cs typeface="Consolas"/>
              </a:rPr>
              <a:t>iovec *iov, </a:t>
            </a:r>
            <a:r>
              <a:rPr b="1" spc="-10" dirty="0">
                <a:solidFill>
                  <a:srgbClr val="0070C0"/>
                </a:solidFill>
                <a:latin typeface="Consolas"/>
                <a:cs typeface="Consolas"/>
              </a:rPr>
              <a:t>int</a:t>
            </a:r>
            <a:r>
              <a:rPr b="1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pc="-10" dirty="0">
                <a:solidFill>
                  <a:srgbClr val="0070C0"/>
                </a:solidFill>
                <a:latin typeface="Consolas"/>
                <a:cs typeface="Consolas"/>
              </a:rPr>
              <a:t>count);</a:t>
            </a:r>
            <a:endParaRPr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241300" indent="-228600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pc="-5" dirty="0">
                <a:solidFill>
                  <a:srgbClr val="0070C0"/>
                </a:solidFill>
                <a:latin typeface="Consolas"/>
              </a:rPr>
              <a:t>readv()</a:t>
            </a:r>
            <a:r>
              <a:rPr sz="2200" spc="-10" dirty="0">
                <a:latin typeface="Calibri"/>
                <a:cs typeface="Calibri"/>
              </a:rPr>
              <a:t> reads </a:t>
            </a:r>
            <a:r>
              <a:rPr spc="-10" dirty="0">
                <a:solidFill>
                  <a:srgbClr val="0070C0"/>
                </a:solidFill>
                <a:latin typeface="Consolas"/>
              </a:rPr>
              <a:t>count</a:t>
            </a:r>
            <a:r>
              <a:rPr sz="2200" i="1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segments </a:t>
            </a:r>
            <a:r>
              <a:rPr sz="2200" spc="-15" dirty="0">
                <a:latin typeface="Calibri"/>
                <a:cs typeface="Calibri"/>
              </a:rPr>
              <a:t>from </a:t>
            </a:r>
            <a:r>
              <a:rPr spc="-10" dirty="0">
                <a:solidFill>
                  <a:srgbClr val="0070C0"/>
                </a:solidFill>
                <a:latin typeface="Consolas"/>
              </a:rPr>
              <a:t>fd</a:t>
            </a:r>
            <a:r>
              <a:rPr sz="2200" i="1" spc="-1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into </a:t>
            </a:r>
            <a:r>
              <a:rPr sz="2200" spc="-5" dirty="0">
                <a:latin typeface="Calibri"/>
                <a:cs typeface="Calibri"/>
              </a:rPr>
              <a:t>the </a:t>
            </a:r>
            <a:r>
              <a:rPr lang="en-US" sz="2200" spc="-25" dirty="0">
                <a:latin typeface="Calibri"/>
                <a:cs typeface="Calibri"/>
              </a:rPr>
              <a:t>array of structures</a:t>
            </a:r>
            <a:r>
              <a:rPr sz="2200" spc="150" dirty="0">
                <a:latin typeface="Calibri"/>
                <a:cs typeface="Calibri"/>
              </a:rPr>
              <a:t> </a:t>
            </a:r>
            <a:r>
              <a:rPr spc="-10" dirty="0" err="1">
                <a:solidFill>
                  <a:srgbClr val="0070C0"/>
                </a:solidFill>
                <a:latin typeface="Consolas"/>
              </a:rPr>
              <a:t>iov</a:t>
            </a:r>
            <a:r>
              <a:rPr lang="en-US" sz="2200" spc="-25" dirty="0">
                <a:latin typeface="Calibri"/>
                <a:cs typeface="Calibri"/>
              </a:rPr>
              <a:t>.</a:t>
            </a:r>
            <a:endParaRPr sz="2200" spc="-25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pc="-5" dirty="0">
                <a:solidFill>
                  <a:srgbClr val="0070C0"/>
                </a:solidFill>
                <a:latin typeface="Consolas"/>
              </a:rPr>
              <a:t>writev()</a:t>
            </a:r>
            <a:r>
              <a:rPr sz="2200" spc="-10" dirty="0">
                <a:latin typeface="Calibri"/>
                <a:cs typeface="Calibri"/>
              </a:rPr>
              <a:t> writes </a:t>
            </a:r>
            <a:r>
              <a:rPr sz="2200" spc="-15" dirty="0">
                <a:latin typeface="Calibri"/>
                <a:cs typeface="Calibri"/>
              </a:rPr>
              <a:t>at </a:t>
            </a:r>
            <a:r>
              <a:rPr sz="2200" spc="-10" dirty="0">
                <a:latin typeface="Calibri"/>
                <a:cs typeface="Calibri"/>
              </a:rPr>
              <a:t>most </a:t>
            </a:r>
            <a:r>
              <a:rPr spc="-5" dirty="0">
                <a:solidFill>
                  <a:srgbClr val="0070C0"/>
                </a:solidFill>
                <a:latin typeface="Consolas"/>
              </a:rPr>
              <a:t>count</a:t>
            </a:r>
            <a:r>
              <a:rPr sz="2200" i="1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segments </a:t>
            </a:r>
            <a:r>
              <a:rPr sz="2200" spc="-15" dirty="0">
                <a:latin typeface="Calibri"/>
                <a:cs typeface="Calibri"/>
              </a:rPr>
              <a:t>from</a:t>
            </a:r>
            <a:r>
              <a:rPr lang="en-US" sz="2200" spc="-15" dirty="0">
                <a:latin typeface="Calibri"/>
                <a:cs typeface="Calibri"/>
              </a:rPr>
              <a:t> the array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pc="-5" dirty="0">
                <a:solidFill>
                  <a:srgbClr val="0070C0"/>
                </a:solidFill>
                <a:latin typeface="Consolas"/>
              </a:rPr>
              <a:t>iov</a:t>
            </a:r>
            <a:r>
              <a:rPr sz="2200" i="1" spc="-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into</a:t>
            </a:r>
            <a:r>
              <a:rPr sz="2200" spc="135" dirty="0">
                <a:latin typeface="Calibri"/>
                <a:cs typeface="Calibri"/>
              </a:rPr>
              <a:t> </a:t>
            </a:r>
            <a:r>
              <a:rPr spc="-5" dirty="0" err="1">
                <a:solidFill>
                  <a:srgbClr val="0070C0"/>
                </a:solidFill>
                <a:latin typeface="Consolas"/>
              </a:rPr>
              <a:t>fd</a:t>
            </a:r>
            <a:r>
              <a:rPr lang="en-US" sz="1800" spc="-25" dirty="0">
                <a:latin typeface="Calibri"/>
                <a:cs typeface="Calibri"/>
              </a:rPr>
              <a:t>.</a:t>
            </a:r>
            <a:endParaRPr spc="-5" dirty="0">
              <a:solidFill>
                <a:srgbClr val="0070C0"/>
              </a:solidFill>
              <a:latin typeface="Consolas"/>
            </a:endParaRPr>
          </a:p>
          <a:p>
            <a:pPr marL="241300" indent="-228600">
              <a:lnSpc>
                <a:spcPts val="2605"/>
              </a:lnSpc>
              <a:spcBef>
                <a:spcPts val="204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15" dirty="0">
                <a:latin typeface="Calibri"/>
                <a:cs typeface="Calibri"/>
              </a:rPr>
              <a:t>Each </a:t>
            </a:r>
            <a:r>
              <a:rPr spc="-5" dirty="0">
                <a:solidFill>
                  <a:srgbClr val="0070C0"/>
                </a:solidFill>
                <a:latin typeface="Consolas"/>
              </a:rPr>
              <a:t>iovec</a:t>
            </a:r>
            <a:r>
              <a:rPr sz="2200" i="1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structure describes </a:t>
            </a:r>
            <a:r>
              <a:rPr sz="2200" spc="-5" dirty="0">
                <a:latin typeface="Calibri"/>
                <a:cs typeface="Calibri"/>
              </a:rPr>
              <a:t>a </a:t>
            </a:r>
            <a:r>
              <a:rPr sz="2200" spc="-10" dirty="0">
                <a:latin typeface="Calibri"/>
                <a:cs typeface="Calibri"/>
              </a:rPr>
              <a:t>segment </a:t>
            </a:r>
            <a:r>
              <a:rPr sz="2200" spc="-5" dirty="0">
                <a:latin typeface="Calibri"/>
                <a:cs typeface="Calibri"/>
              </a:rPr>
              <a:t>of </a:t>
            </a:r>
            <a:r>
              <a:rPr sz="2200" spc="-20" dirty="0">
                <a:latin typeface="Calibri"/>
                <a:cs typeface="Calibri"/>
              </a:rPr>
              <a:t>data </a:t>
            </a:r>
            <a:r>
              <a:rPr sz="2200" spc="-10" dirty="0">
                <a:latin typeface="Calibri"/>
                <a:cs typeface="Calibri"/>
              </a:rPr>
              <a:t>(a</a:t>
            </a:r>
            <a:r>
              <a:rPr sz="2200" spc="105" dirty="0">
                <a:latin typeface="Calibri"/>
                <a:cs typeface="Calibri"/>
              </a:rPr>
              <a:t> </a:t>
            </a:r>
            <a:r>
              <a:rPr sz="2200" i="1" spc="-10" dirty="0">
                <a:latin typeface="Calibri"/>
                <a:cs typeface="Calibri"/>
              </a:rPr>
              <a:t>vector</a:t>
            </a:r>
            <a:r>
              <a:rPr sz="2200" spc="-10" dirty="0">
                <a:latin typeface="Calibri"/>
                <a:cs typeface="Calibri"/>
              </a:rPr>
              <a:t>):</a:t>
            </a:r>
            <a:endParaRPr sz="2200" dirty="0">
              <a:latin typeface="Calibri"/>
              <a:cs typeface="Calibri"/>
            </a:endParaRPr>
          </a:p>
          <a:p>
            <a:pPr marL="469900"/>
            <a:r>
              <a:rPr spc="-10" dirty="0">
                <a:solidFill>
                  <a:srgbClr val="0070C0"/>
                </a:solidFill>
                <a:latin typeface="Consolas"/>
                <a:cs typeface="Consolas"/>
              </a:rPr>
              <a:t>#include &lt;sys/uio.h&gt;</a:t>
            </a:r>
            <a:endParaRPr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/>
            <a:r>
              <a:rPr b="1" spc="-5" dirty="0">
                <a:solidFill>
                  <a:srgbClr val="0070C0"/>
                </a:solidFill>
                <a:latin typeface="Consolas"/>
                <a:cs typeface="Consolas"/>
              </a:rPr>
              <a:t>struct </a:t>
            </a:r>
            <a:r>
              <a:rPr spc="-5" dirty="0">
                <a:solidFill>
                  <a:srgbClr val="0070C0"/>
                </a:solidFill>
                <a:latin typeface="Consolas"/>
                <a:cs typeface="Consolas"/>
              </a:rPr>
              <a:t>iovec</a:t>
            </a:r>
            <a:r>
              <a:rPr spc="2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dirty="0">
                <a:solidFill>
                  <a:srgbClr val="0070C0"/>
                </a:solidFill>
                <a:latin typeface="Consolas"/>
                <a:cs typeface="Consolas"/>
              </a:rPr>
              <a:t>{</a:t>
            </a:r>
          </a:p>
          <a:p>
            <a:pPr marL="927100"/>
            <a:r>
              <a:rPr b="1" spc="-5" dirty="0">
                <a:solidFill>
                  <a:srgbClr val="0070C0"/>
                </a:solidFill>
                <a:latin typeface="Consolas"/>
                <a:cs typeface="Consolas"/>
              </a:rPr>
              <a:t>void </a:t>
            </a:r>
            <a:r>
              <a:rPr dirty="0">
                <a:solidFill>
                  <a:srgbClr val="0070C0"/>
                </a:solidFill>
                <a:latin typeface="Consolas"/>
                <a:cs typeface="Consolas"/>
              </a:rPr>
              <a:t>*iov_base; </a:t>
            </a:r>
            <a:r>
              <a:rPr i="1" dirty="0">
                <a:latin typeface="Consolas"/>
                <a:cs typeface="Consolas"/>
              </a:rPr>
              <a:t>/* pointer to start of </a:t>
            </a:r>
            <a:r>
              <a:rPr lang="en-US" i="1" dirty="0">
                <a:latin typeface="Consolas"/>
                <a:cs typeface="Consolas"/>
              </a:rPr>
              <a:t>a </a:t>
            </a:r>
            <a:r>
              <a:rPr i="1" dirty="0">
                <a:latin typeface="Consolas"/>
                <a:cs typeface="Consolas"/>
              </a:rPr>
              <a:t>buffer</a:t>
            </a:r>
            <a:r>
              <a:rPr i="1" spc="55" dirty="0">
                <a:latin typeface="Consolas"/>
                <a:cs typeface="Consolas"/>
              </a:rPr>
              <a:t> </a:t>
            </a:r>
            <a:r>
              <a:rPr lang="en-US" i="1" spc="55" dirty="0">
                <a:latin typeface="Consolas"/>
                <a:cs typeface="Consolas"/>
              </a:rPr>
              <a:t>of any data type </a:t>
            </a:r>
            <a:r>
              <a:rPr i="1" dirty="0">
                <a:latin typeface="Consolas"/>
                <a:cs typeface="Consolas"/>
              </a:rPr>
              <a:t>*/</a:t>
            </a:r>
            <a:endParaRPr dirty="0">
              <a:latin typeface="Consolas"/>
              <a:cs typeface="Consolas"/>
            </a:endParaRPr>
          </a:p>
          <a:p>
            <a:pPr marL="927100"/>
            <a:r>
              <a:rPr b="1" spc="-5" dirty="0">
                <a:solidFill>
                  <a:srgbClr val="0070C0"/>
                </a:solidFill>
                <a:latin typeface="Consolas"/>
                <a:cs typeface="Consolas"/>
              </a:rPr>
              <a:t>size_t </a:t>
            </a:r>
            <a:r>
              <a:rPr dirty="0">
                <a:solidFill>
                  <a:srgbClr val="0070C0"/>
                </a:solidFill>
                <a:latin typeface="Consolas"/>
                <a:cs typeface="Consolas"/>
              </a:rPr>
              <a:t>iov_len; </a:t>
            </a:r>
            <a:r>
              <a:rPr i="1" dirty="0">
                <a:latin typeface="Consolas"/>
                <a:cs typeface="Consolas"/>
              </a:rPr>
              <a:t>/* size </a:t>
            </a:r>
            <a:r>
              <a:rPr i="1" spc="5" dirty="0">
                <a:latin typeface="Consolas"/>
                <a:cs typeface="Consolas"/>
              </a:rPr>
              <a:t>of </a:t>
            </a:r>
            <a:r>
              <a:rPr lang="en-US" i="1" spc="5" dirty="0">
                <a:latin typeface="Consolas"/>
                <a:cs typeface="Consolas"/>
              </a:rPr>
              <a:t>the </a:t>
            </a:r>
            <a:r>
              <a:rPr i="1" dirty="0">
                <a:latin typeface="Consolas"/>
                <a:cs typeface="Consolas"/>
              </a:rPr>
              <a:t>buffer in </a:t>
            </a:r>
            <a:r>
              <a:rPr i="1" spc="5" dirty="0">
                <a:latin typeface="Consolas"/>
                <a:cs typeface="Consolas"/>
              </a:rPr>
              <a:t>bytes</a:t>
            </a:r>
            <a:r>
              <a:rPr i="1" spc="35" dirty="0">
                <a:latin typeface="Consolas"/>
                <a:cs typeface="Consolas"/>
              </a:rPr>
              <a:t> </a:t>
            </a:r>
            <a:r>
              <a:rPr i="1" dirty="0">
                <a:latin typeface="Consolas"/>
                <a:cs typeface="Consolas"/>
              </a:rPr>
              <a:t>*/</a:t>
            </a:r>
            <a:endParaRPr dirty="0">
              <a:latin typeface="Consolas"/>
              <a:cs typeface="Consolas"/>
            </a:endParaRPr>
          </a:p>
          <a:p>
            <a:pPr marL="469900"/>
            <a:r>
              <a:rPr spc="-5" dirty="0">
                <a:solidFill>
                  <a:srgbClr val="0070C0"/>
                </a:solidFill>
                <a:latin typeface="Consolas"/>
                <a:cs typeface="Consolas"/>
              </a:rPr>
              <a:t>};</a:t>
            </a:r>
            <a:endParaRPr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241300" marR="13970" indent="-228600">
              <a:lnSpc>
                <a:spcPct val="70000"/>
              </a:lnSpc>
              <a:spcBef>
                <a:spcPts val="100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dirty="0">
                <a:latin typeface="Calibri"/>
                <a:cs typeface="Calibri"/>
              </a:rPr>
              <a:t>Both </a:t>
            </a:r>
            <a:r>
              <a:rPr spc="-5" dirty="0" err="1">
                <a:solidFill>
                  <a:srgbClr val="0070C0"/>
                </a:solidFill>
                <a:latin typeface="Consolas"/>
              </a:rPr>
              <a:t>readv</a:t>
            </a:r>
            <a:r>
              <a:rPr lang="en-US" spc="-5" dirty="0">
                <a:solidFill>
                  <a:srgbClr val="0070C0"/>
                </a:solidFill>
                <a:latin typeface="Consolas"/>
              </a:rPr>
              <a:t>()</a:t>
            </a:r>
            <a:r>
              <a:rPr lang="en-US" sz="2200" spc="-10" dirty="0">
                <a:latin typeface="Calibri"/>
                <a:cs typeface="Calibri"/>
              </a:rPr>
              <a:t> and</a:t>
            </a:r>
            <a:r>
              <a:rPr lang="en-US" sz="1800" spc="-10" dirty="0">
                <a:latin typeface="Calibri"/>
                <a:cs typeface="Calibri"/>
              </a:rPr>
              <a:t> </a:t>
            </a:r>
            <a:r>
              <a:rPr spc="-5" dirty="0" err="1">
                <a:solidFill>
                  <a:srgbClr val="0070C0"/>
                </a:solidFill>
                <a:latin typeface="Consolas"/>
              </a:rPr>
              <a:t>writev</a:t>
            </a:r>
            <a:r>
              <a:rPr lang="en-US" spc="-5" dirty="0">
                <a:solidFill>
                  <a:srgbClr val="0070C0"/>
                </a:solidFill>
                <a:latin typeface="Consolas"/>
              </a:rPr>
              <a:t>()</a:t>
            </a:r>
            <a:r>
              <a:rPr sz="2200" spc="-10" dirty="0">
                <a:latin typeface="Calibri"/>
                <a:cs typeface="Calibri"/>
              </a:rPr>
              <a:t> process </a:t>
            </a:r>
            <a:r>
              <a:rPr sz="2200" spc="-5" dirty="0">
                <a:latin typeface="Calibri"/>
                <a:cs typeface="Calibri"/>
              </a:rPr>
              <a:t>each </a:t>
            </a:r>
            <a:r>
              <a:rPr sz="2200" spc="-20" dirty="0">
                <a:latin typeface="Calibri"/>
                <a:cs typeface="Calibri"/>
              </a:rPr>
              <a:t>buffer </a:t>
            </a:r>
            <a:r>
              <a:rPr sz="2200" spc="-5" dirty="0">
                <a:latin typeface="Calibri"/>
                <a:cs typeface="Calibri"/>
              </a:rPr>
              <a:t>of </a:t>
            </a:r>
            <a:r>
              <a:rPr spc="-5" dirty="0">
                <a:solidFill>
                  <a:srgbClr val="0070C0"/>
                </a:solidFill>
                <a:latin typeface="Consolas"/>
              </a:rPr>
              <a:t>iov_len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bytes completely </a:t>
            </a:r>
            <a:r>
              <a:rPr sz="2200" spc="-25" dirty="0">
                <a:latin typeface="Calibri"/>
                <a:cs typeface="Calibri"/>
              </a:rPr>
              <a:t>before </a:t>
            </a:r>
            <a:r>
              <a:rPr sz="2200" spc="-5" dirty="0">
                <a:latin typeface="Calibri"/>
                <a:cs typeface="Calibri"/>
              </a:rPr>
              <a:t>moving </a:t>
            </a:r>
            <a:r>
              <a:rPr sz="2200" dirty="0">
                <a:latin typeface="Calibri"/>
                <a:cs typeface="Calibri"/>
              </a:rPr>
              <a:t>on </a:t>
            </a:r>
            <a:r>
              <a:rPr sz="2200" spc="-20" dirty="0">
                <a:latin typeface="Calibri"/>
                <a:cs typeface="Calibri"/>
              </a:rPr>
              <a:t>to </a:t>
            </a:r>
            <a:r>
              <a:rPr sz="2200" spc="-5" dirty="0">
                <a:latin typeface="Calibri"/>
                <a:cs typeface="Calibri"/>
              </a:rPr>
              <a:t>the </a:t>
            </a:r>
            <a:r>
              <a:rPr sz="2200" spc="-15" dirty="0">
                <a:latin typeface="Calibri"/>
                <a:cs typeface="Calibri"/>
              </a:rPr>
              <a:t>next </a:t>
            </a:r>
            <a:r>
              <a:rPr sz="2200" spc="-45" dirty="0">
                <a:latin typeface="Calibri"/>
                <a:cs typeface="Calibri"/>
              </a:rPr>
              <a:t>buffer, </a:t>
            </a:r>
            <a:r>
              <a:rPr lang="en-US" sz="2200" spc="-5" dirty="0">
                <a:latin typeface="Calibri"/>
                <a:cs typeface="Calibri"/>
              </a:rPr>
              <a:t>which </a:t>
            </a:r>
            <a:r>
              <a:rPr lang="en-US" sz="2200" spc="-20" dirty="0">
                <a:latin typeface="Calibri"/>
                <a:cs typeface="Calibri"/>
              </a:rPr>
              <a:t>is done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in </a:t>
            </a:r>
            <a:r>
              <a:rPr lang="en-US" sz="2200" spc="-5" dirty="0">
                <a:latin typeface="Calibri"/>
                <a:cs typeface="Calibri"/>
              </a:rPr>
              <a:t>the following </a:t>
            </a:r>
            <a:r>
              <a:rPr sz="2200" spc="-10" dirty="0">
                <a:latin typeface="Calibri"/>
                <a:cs typeface="Calibri"/>
              </a:rPr>
              <a:t>order</a:t>
            </a:r>
            <a:r>
              <a:rPr lang="en-US" sz="2200" spc="-10" dirty="0">
                <a:latin typeface="Calibri"/>
                <a:cs typeface="Calibri"/>
              </a:rPr>
              <a:t>:</a:t>
            </a:r>
            <a:r>
              <a:rPr lang="en-US" sz="1800" spc="-5" dirty="0">
                <a:latin typeface="Calibri"/>
                <a:cs typeface="Calibri"/>
              </a:rPr>
              <a:t> </a:t>
            </a:r>
            <a:r>
              <a:rPr spc="-5" dirty="0" err="1">
                <a:solidFill>
                  <a:srgbClr val="0070C0"/>
                </a:solidFill>
                <a:latin typeface="Consolas"/>
              </a:rPr>
              <a:t>iov</a:t>
            </a:r>
            <a:r>
              <a:rPr spc="-5" dirty="0">
                <a:solidFill>
                  <a:srgbClr val="0070C0"/>
                </a:solidFill>
                <a:latin typeface="Consolas"/>
              </a:rPr>
              <a:t>[0]</a:t>
            </a:r>
            <a:r>
              <a:rPr sz="2200" spc="-5" dirty="0">
                <a:latin typeface="Calibri"/>
                <a:cs typeface="Calibri"/>
              </a:rPr>
              <a:t>, </a:t>
            </a:r>
            <a:r>
              <a:rPr spc="-5" dirty="0">
                <a:solidFill>
                  <a:srgbClr val="0070C0"/>
                </a:solidFill>
                <a:latin typeface="Consolas"/>
              </a:rPr>
              <a:t>iov[1]</a:t>
            </a:r>
            <a:r>
              <a:rPr sz="2200" spc="-5" dirty="0">
                <a:latin typeface="Calibri"/>
                <a:cs typeface="Calibri"/>
              </a:rPr>
              <a:t>, </a:t>
            </a:r>
            <a:r>
              <a:rPr lang="en-US" sz="2200" spc="-20" dirty="0">
                <a:latin typeface="Calibri"/>
                <a:cs typeface="Calibri"/>
              </a:rPr>
              <a:t>…,</a:t>
            </a:r>
            <a:r>
              <a:rPr sz="2200" spc="145" dirty="0">
                <a:latin typeface="Calibri"/>
                <a:cs typeface="Calibri"/>
              </a:rPr>
              <a:t> </a:t>
            </a:r>
            <a:r>
              <a:rPr spc="-5" dirty="0">
                <a:solidFill>
                  <a:srgbClr val="0070C0"/>
                </a:solidFill>
                <a:latin typeface="Consolas"/>
              </a:rPr>
              <a:t>iov[count-1]</a:t>
            </a:r>
            <a:r>
              <a:rPr lang="en-US" sz="1800" spc="-25" dirty="0">
                <a:latin typeface="Calibri"/>
                <a:cs typeface="Calibri"/>
              </a:rPr>
              <a:t>.</a:t>
            </a:r>
            <a:endParaRPr spc="-5" dirty="0">
              <a:solidFill>
                <a:srgbClr val="0070C0"/>
              </a:solidFill>
              <a:latin typeface="Consolas"/>
            </a:endParaRPr>
          </a:p>
          <a:p>
            <a:pPr marL="241300" indent="-228600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dirty="0">
                <a:latin typeface="Calibri"/>
                <a:cs typeface="Calibri"/>
              </a:rPr>
              <a:t>Both </a:t>
            </a:r>
            <a:r>
              <a:rPr sz="2200" spc="-10" dirty="0">
                <a:latin typeface="Calibri"/>
                <a:cs typeface="Calibri"/>
              </a:rPr>
              <a:t>return </a:t>
            </a:r>
            <a:r>
              <a:rPr lang="en-US" sz="2200" spc="-10" dirty="0">
                <a:latin typeface="Calibri"/>
                <a:cs typeface="Calibri"/>
              </a:rPr>
              <a:t>the </a:t>
            </a:r>
            <a:r>
              <a:rPr sz="2200" spc="-5" dirty="0">
                <a:latin typeface="Calibri"/>
                <a:cs typeface="Calibri"/>
              </a:rPr>
              <a:t># </a:t>
            </a:r>
            <a:r>
              <a:rPr sz="2200" dirty="0">
                <a:latin typeface="Calibri"/>
                <a:cs typeface="Calibri"/>
              </a:rPr>
              <a:t>of </a:t>
            </a:r>
            <a:r>
              <a:rPr sz="2200" spc="-10" dirty="0">
                <a:latin typeface="Calibri"/>
                <a:cs typeface="Calibri"/>
              </a:rPr>
              <a:t>bytes read/written </a:t>
            </a:r>
            <a:r>
              <a:rPr sz="2200" spc="-5" dirty="0">
                <a:latin typeface="Calibri"/>
                <a:cs typeface="Calibri"/>
              </a:rPr>
              <a:t>(= sum </a:t>
            </a:r>
            <a:r>
              <a:rPr sz="2200" dirty="0">
                <a:latin typeface="Calibri"/>
                <a:cs typeface="Calibri"/>
              </a:rPr>
              <a:t>of </a:t>
            </a:r>
            <a:r>
              <a:rPr lang="en-US" sz="2200" spc="-15" dirty="0">
                <a:latin typeface="Calibri"/>
                <a:cs typeface="Calibri"/>
              </a:rPr>
              <a:t>all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pc="-5" dirty="0" err="1">
                <a:solidFill>
                  <a:srgbClr val="0070C0"/>
                </a:solidFill>
                <a:latin typeface="Consolas"/>
              </a:rPr>
              <a:t>iov_len</a:t>
            </a:r>
            <a:r>
              <a:rPr lang="en-US" sz="2200" spc="-5" dirty="0" err="1">
                <a:latin typeface="Calibri"/>
                <a:cs typeface="Calibri"/>
              </a:rPr>
              <a:t>s</a:t>
            </a:r>
            <a:r>
              <a:rPr sz="2200" spc="-5" dirty="0">
                <a:latin typeface="Calibri"/>
                <a:cs typeface="Calibri"/>
              </a:rPr>
              <a:t>) </a:t>
            </a:r>
            <a:r>
              <a:rPr sz="2200" dirty="0">
                <a:latin typeface="Calibri"/>
                <a:cs typeface="Calibri"/>
              </a:rPr>
              <a:t>on </a:t>
            </a:r>
            <a:r>
              <a:rPr sz="2200" spc="-5" dirty="0">
                <a:latin typeface="Calibri"/>
                <a:cs typeface="Calibri"/>
              </a:rPr>
              <a:t>success</a:t>
            </a:r>
            <a:r>
              <a:rPr lang="en-US" sz="2200" spc="-5" dirty="0">
                <a:latin typeface="Calibri"/>
                <a:cs typeface="Calibri"/>
              </a:rPr>
              <a:t> and</a:t>
            </a:r>
            <a:r>
              <a:rPr sz="2200" spc="-5" dirty="0">
                <a:latin typeface="Calibri"/>
                <a:cs typeface="Calibri"/>
              </a:rPr>
              <a:t> -1 on</a:t>
            </a:r>
            <a:r>
              <a:rPr sz="2200" spc="8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failure</a:t>
            </a:r>
            <a:r>
              <a:rPr lang="en-US" sz="2200" spc="-15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8" y="609676"/>
            <a:ext cx="4596143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>
                <a:latin typeface="Consolas" panose="020B0609020204030204" pitchFamily="49" charset="0"/>
              </a:rPr>
              <a:t>writev()</a:t>
            </a:r>
            <a:r>
              <a:rPr spc="-160" dirty="0"/>
              <a:t> </a:t>
            </a:r>
            <a:r>
              <a:rPr spc="-55" dirty="0"/>
              <a:t>example</a:t>
            </a:r>
          </a:p>
        </p:txBody>
      </p:sp>
      <p:sp>
        <p:nvSpPr>
          <p:cNvPr id="3" name="object 3"/>
          <p:cNvSpPr/>
          <p:nvPr/>
        </p:nvSpPr>
        <p:spPr>
          <a:xfrm>
            <a:off x="502217" y="1535805"/>
            <a:ext cx="5010865" cy="45999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85952" y="1570814"/>
            <a:ext cx="3691721" cy="284138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387194" y="4459860"/>
            <a:ext cx="4005888" cy="18314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300852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>
                <a:latin typeface="Consolas" panose="020B0609020204030204" pitchFamily="49" charset="0"/>
              </a:rPr>
              <a:t>readv()</a:t>
            </a:r>
            <a:r>
              <a:rPr spc="-135" dirty="0"/>
              <a:t> </a:t>
            </a:r>
            <a:r>
              <a:rPr spc="-55" dirty="0"/>
              <a:t>example</a:t>
            </a:r>
          </a:p>
        </p:txBody>
      </p:sp>
      <p:sp>
        <p:nvSpPr>
          <p:cNvPr id="3" name="object 3"/>
          <p:cNvSpPr/>
          <p:nvPr/>
        </p:nvSpPr>
        <p:spPr>
          <a:xfrm>
            <a:off x="907473" y="5300807"/>
            <a:ext cx="4310318" cy="74727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2976363" y="1126236"/>
            <a:ext cx="8827135" cy="5230495"/>
            <a:chOff x="2976363" y="1126236"/>
            <a:chExt cx="8827135" cy="5230495"/>
          </a:xfrm>
        </p:grpSpPr>
        <p:sp>
          <p:nvSpPr>
            <p:cNvPr id="5" name="object 5"/>
            <p:cNvSpPr/>
            <p:nvPr/>
          </p:nvSpPr>
          <p:spPr>
            <a:xfrm>
              <a:off x="2976363" y="1631497"/>
              <a:ext cx="3721036" cy="325597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653783" y="1126236"/>
              <a:ext cx="5149596" cy="523036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60890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/>
              <a:t>Mapping </a:t>
            </a:r>
            <a:r>
              <a:rPr spc="-20" dirty="0"/>
              <a:t>Files </a:t>
            </a:r>
            <a:r>
              <a:rPr spc="-40" dirty="0"/>
              <a:t>into</a:t>
            </a:r>
            <a:r>
              <a:rPr spc="-270" dirty="0"/>
              <a:t> </a:t>
            </a:r>
            <a:r>
              <a:rPr spc="-35" dirty="0"/>
              <a:t>Memory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916939" y="1745945"/>
            <a:ext cx="10741661" cy="2330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dirty="0"/>
              <a:t>This is a</a:t>
            </a:r>
            <a:r>
              <a:rPr dirty="0"/>
              <a:t>n </a:t>
            </a:r>
            <a:r>
              <a:rPr spc="-10" dirty="0"/>
              <a:t>alternative </a:t>
            </a:r>
            <a:r>
              <a:rPr spc="-15" dirty="0"/>
              <a:t>to </a:t>
            </a:r>
            <a:r>
              <a:rPr spc="-10" dirty="0"/>
              <a:t>standard </a:t>
            </a:r>
            <a:r>
              <a:rPr spc="-5" dirty="0"/>
              <a:t>file</a:t>
            </a:r>
            <a:r>
              <a:rPr spc="-15" dirty="0"/>
              <a:t> </a:t>
            </a:r>
            <a:r>
              <a:rPr dirty="0"/>
              <a:t>I/O</a:t>
            </a:r>
            <a:r>
              <a:rPr lang="en-US" dirty="0"/>
              <a:t>.</a:t>
            </a:r>
            <a:endParaRPr dirty="0"/>
          </a:p>
          <a:p>
            <a:pPr marL="241300" marR="5080" indent="-228600">
              <a:lnSpc>
                <a:spcPct val="7000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pc="-5" dirty="0"/>
              <a:t>The m</a:t>
            </a:r>
            <a:r>
              <a:rPr spc="-5" dirty="0"/>
              <a:t>apped file has </a:t>
            </a:r>
            <a:r>
              <a:rPr dirty="0"/>
              <a:t>a </a:t>
            </a:r>
            <a:r>
              <a:rPr spc="-10" dirty="0"/>
              <a:t>one-to-one </a:t>
            </a:r>
            <a:r>
              <a:rPr spc="-5" dirty="0"/>
              <a:t>correspondence </a:t>
            </a:r>
            <a:r>
              <a:rPr spc="-10" dirty="0"/>
              <a:t>between </a:t>
            </a:r>
            <a:r>
              <a:rPr dirty="0"/>
              <a:t>a memory </a:t>
            </a:r>
            <a:r>
              <a:rPr spc="-5" dirty="0"/>
              <a:t>address </a:t>
            </a:r>
            <a:r>
              <a:rPr dirty="0"/>
              <a:t>and a </a:t>
            </a:r>
            <a:r>
              <a:rPr spc="-20" dirty="0"/>
              <a:t>word </a:t>
            </a:r>
            <a:r>
              <a:rPr dirty="0"/>
              <a:t>in the</a:t>
            </a:r>
            <a:r>
              <a:rPr spc="15" dirty="0"/>
              <a:t> </a:t>
            </a:r>
            <a:r>
              <a:rPr spc="-5" dirty="0"/>
              <a:t>file</a:t>
            </a:r>
            <a:r>
              <a:rPr lang="en-US" spc="-5" dirty="0"/>
              <a:t>. That is, everything is copied from the file to memory.</a:t>
            </a:r>
            <a:endParaRPr spc="-5" dirty="0"/>
          </a:p>
          <a:p>
            <a:pPr marL="241300" indent="-228600">
              <a:lnSpc>
                <a:spcPct val="100000"/>
              </a:lnSpc>
              <a:spcBef>
                <a:spcPts val="145"/>
              </a:spcBef>
              <a:buFont typeface="Arial"/>
              <a:buChar char="•"/>
              <a:tabLst>
                <a:tab pos="241300" algn="l"/>
              </a:tabLst>
            </a:pPr>
            <a:r>
              <a:rPr spc="-15" dirty="0"/>
              <a:t>Writ</a:t>
            </a:r>
            <a:r>
              <a:rPr lang="en-US" spc="-15" dirty="0"/>
              <a:t>ing</a:t>
            </a:r>
            <a:r>
              <a:rPr spc="-15" dirty="0"/>
              <a:t> to </a:t>
            </a:r>
            <a:r>
              <a:rPr lang="en-US" spc="-15" dirty="0"/>
              <a:t>this </a:t>
            </a:r>
            <a:r>
              <a:rPr dirty="0"/>
              <a:t>memory </a:t>
            </a:r>
            <a:r>
              <a:rPr spc="-5" dirty="0"/>
              <a:t>region </a:t>
            </a:r>
            <a:r>
              <a:rPr spc="-10" dirty="0"/>
              <a:t>could </a:t>
            </a:r>
            <a:r>
              <a:rPr spc="-5" dirty="0"/>
              <a:t>be </a:t>
            </a:r>
            <a:r>
              <a:rPr spc="-10" dirty="0"/>
              <a:t>transparently </a:t>
            </a:r>
            <a:r>
              <a:rPr dirty="0"/>
              <a:t>mapped </a:t>
            </a:r>
            <a:r>
              <a:rPr spc="-5" dirty="0"/>
              <a:t>back </a:t>
            </a:r>
            <a:r>
              <a:rPr spc="-15" dirty="0"/>
              <a:t>to </a:t>
            </a:r>
            <a:r>
              <a:rPr spc="-5" dirty="0"/>
              <a:t>file on</a:t>
            </a:r>
            <a:r>
              <a:rPr spc="5" dirty="0"/>
              <a:t> </a:t>
            </a:r>
            <a:r>
              <a:rPr spc="-5" dirty="0"/>
              <a:t>disk</a:t>
            </a:r>
            <a:r>
              <a:rPr lang="en-US" spc="-5" dirty="0"/>
              <a:t>.</a:t>
            </a:r>
            <a:endParaRPr spc="-5" dirty="0"/>
          </a:p>
          <a:p>
            <a:pPr marL="241300" indent="-228600">
              <a:lnSpc>
                <a:spcPts val="2790"/>
              </a:lnSpc>
              <a:spcBef>
                <a:spcPts val="130"/>
              </a:spcBef>
              <a:buClr>
                <a:schemeClr val="tx1"/>
              </a:buClr>
              <a:buFont typeface="Arial"/>
              <a:buChar char="•"/>
              <a:tabLst>
                <a:tab pos="241300" algn="l"/>
              </a:tabLst>
            </a:pPr>
            <a:r>
              <a:rPr lang="en-US" spc="-15" dirty="0"/>
              <a:t>We use the </a:t>
            </a:r>
            <a:r>
              <a:rPr spc="-5" dirty="0" err="1">
                <a:solidFill>
                  <a:srgbClr val="0070C0"/>
                </a:solidFill>
                <a:latin typeface="Consolas" panose="020B0609020204030204" pitchFamily="49" charset="0"/>
              </a:rPr>
              <a:t>mmap</a:t>
            </a:r>
            <a:r>
              <a:rPr spc="-5" dirty="0">
                <a:solidFill>
                  <a:srgbClr val="0070C0"/>
                </a:solidFill>
                <a:latin typeface="Consolas" panose="020B0609020204030204" pitchFamily="49" charset="0"/>
              </a:rPr>
              <a:t>()</a:t>
            </a:r>
            <a:r>
              <a:rPr lang="en-US" spc="-15" dirty="0"/>
              <a:t> system call to request this mapping/copying:</a:t>
            </a:r>
            <a:endParaRPr spc="-15" dirty="0"/>
          </a:p>
          <a:p>
            <a:pPr marL="469900">
              <a:lnSpc>
                <a:spcPts val="2100"/>
              </a:lnSpc>
            </a:pP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#include</a:t>
            </a:r>
            <a:r>
              <a:rPr sz="1900" spc="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&lt;sys/mman.h&gt;</a:t>
            </a:r>
          </a:p>
          <a:p>
            <a:pPr marL="469900">
              <a:lnSpc>
                <a:spcPts val="2190"/>
              </a:lnSpc>
            </a:pPr>
            <a:r>
              <a:rPr sz="1900" b="1" dirty="0">
                <a:solidFill>
                  <a:srgbClr val="0070C0"/>
                </a:solidFill>
                <a:latin typeface="Consolas"/>
                <a:cs typeface="Consolas"/>
              </a:rPr>
              <a:t>void </a:t>
            </a:r>
            <a:r>
              <a:rPr sz="1900" spc="-5" dirty="0">
                <a:solidFill>
                  <a:srgbClr val="0070C0"/>
                </a:solidFill>
                <a:latin typeface="Consolas"/>
                <a:cs typeface="Consolas"/>
              </a:rPr>
              <a:t>*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mmap (</a:t>
            </a:r>
            <a:r>
              <a:rPr sz="1900" b="1" dirty="0">
                <a:solidFill>
                  <a:srgbClr val="0070C0"/>
                </a:solidFill>
                <a:latin typeface="Consolas"/>
                <a:cs typeface="Consolas"/>
              </a:rPr>
              <a:t>void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*addr,</a:t>
            </a:r>
            <a:r>
              <a:rPr sz="1900" dirty="0">
                <a:solidFill>
                  <a:srgbClr val="00AFEF"/>
                </a:solidFill>
                <a:latin typeface="Consolas"/>
                <a:cs typeface="Consolas"/>
              </a:rPr>
              <a:t> </a:t>
            </a:r>
            <a:r>
              <a:rPr sz="1900" i="1" spc="-5" dirty="0">
                <a:latin typeface="Consolas"/>
                <a:cs typeface="Consolas"/>
              </a:rPr>
              <a:t>// </a:t>
            </a:r>
            <a:r>
              <a:rPr sz="1900" i="1" dirty="0">
                <a:latin typeface="Consolas"/>
                <a:cs typeface="Consolas"/>
              </a:rPr>
              <a:t>hint </a:t>
            </a:r>
            <a:r>
              <a:rPr sz="1900" i="1" spc="-5" dirty="0">
                <a:latin typeface="Consolas"/>
                <a:cs typeface="Consolas"/>
              </a:rPr>
              <a:t>to </a:t>
            </a:r>
            <a:r>
              <a:rPr sz="1900" i="1" dirty="0">
                <a:latin typeface="Consolas"/>
                <a:cs typeface="Consolas"/>
              </a:rPr>
              <a:t>kernel where </a:t>
            </a:r>
            <a:r>
              <a:rPr sz="1900" i="1" spc="-5" dirty="0">
                <a:latin typeface="Consolas"/>
                <a:cs typeface="Consolas"/>
              </a:rPr>
              <a:t>to </a:t>
            </a:r>
            <a:r>
              <a:rPr sz="1900" i="1" dirty="0">
                <a:latin typeface="Consolas"/>
                <a:cs typeface="Consolas"/>
              </a:rPr>
              <a:t>map file, </a:t>
            </a:r>
            <a:r>
              <a:rPr lang="en-US" sz="1900" i="1" dirty="0">
                <a:latin typeface="Consolas"/>
                <a:cs typeface="Consolas"/>
              </a:rPr>
              <a:t>usually</a:t>
            </a:r>
            <a:r>
              <a:rPr sz="1900" i="1" spc="160" dirty="0">
                <a:latin typeface="Consolas"/>
                <a:cs typeface="Consolas"/>
              </a:rPr>
              <a:t> </a:t>
            </a:r>
            <a:r>
              <a:rPr sz="1900" i="1" spc="-5" dirty="0">
                <a:latin typeface="Consolas"/>
                <a:cs typeface="Consolas"/>
              </a:rPr>
              <a:t>0</a:t>
            </a:r>
            <a:endParaRPr sz="1900" i="1" dirty="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12453" y="3995003"/>
            <a:ext cx="1889125" cy="137858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 marR="403860">
              <a:lnSpc>
                <a:spcPct val="92000"/>
              </a:lnSpc>
              <a:spcBef>
                <a:spcPts val="275"/>
              </a:spcBef>
            </a:pPr>
            <a:r>
              <a:rPr sz="1900" b="1" dirty="0">
                <a:solidFill>
                  <a:srgbClr val="0070C0"/>
                </a:solidFill>
                <a:latin typeface="Consolas"/>
                <a:cs typeface="Consolas"/>
              </a:rPr>
              <a:t>size_t</a:t>
            </a:r>
            <a:r>
              <a:rPr sz="1900" b="1" spc="-7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len,  </a:t>
            </a:r>
            <a:r>
              <a:rPr sz="1900" b="1" spc="-5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prot,  </a:t>
            </a:r>
            <a:r>
              <a:rPr sz="1900" b="1" spc="-5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flags,  </a:t>
            </a:r>
            <a:r>
              <a:rPr sz="1900" b="1" spc="-5" dirty="0">
                <a:solidFill>
                  <a:srgbClr val="0070C0"/>
                </a:solidFill>
                <a:latin typeface="Consolas"/>
                <a:cs typeface="Consolas"/>
              </a:rPr>
              <a:t>int</a:t>
            </a:r>
            <a:r>
              <a:rPr sz="1900" b="1" spc="-1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fd,</a:t>
            </a:r>
          </a:p>
          <a:p>
            <a:pPr marL="12700">
              <a:lnSpc>
                <a:spcPts val="2090"/>
              </a:lnSpc>
            </a:pPr>
            <a:r>
              <a:rPr sz="1900" b="1" spc="-5" dirty="0">
                <a:solidFill>
                  <a:srgbClr val="0070C0"/>
                </a:solidFill>
                <a:latin typeface="Consolas"/>
                <a:cs typeface="Consolas"/>
              </a:rPr>
              <a:t>off_t</a:t>
            </a:r>
            <a:r>
              <a:rPr sz="1900" b="1" spc="-4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offset);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057016" y="4008608"/>
            <a:ext cx="7982584" cy="138435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78180">
              <a:lnSpc>
                <a:spcPts val="2185"/>
              </a:lnSpc>
              <a:spcBef>
                <a:spcPts val="95"/>
              </a:spcBef>
            </a:pPr>
            <a:r>
              <a:rPr sz="1900" i="1" dirty="0">
                <a:latin typeface="Consolas"/>
                <a:cs typeface="Consolas"/>
              </a:rPr>
              <a:t>// </a:t>
            </a:r>
            <a:r>
              <a:rPr lang="en-US" sz="1900" i="1" spc="-5" dirty="0">
                <a:latin typeface="Consolas"/>
                <a:cs typeface="Consolas"/>
              </a:rPr>
              <a:t>number</a:t>
            </a:r>
            <a:r>
              <a:rPr sz="1900" i="1" spc="-5" dirty="0">
                <a:latin typeface="Consolas"/>
                <a:cs typeface="Consolas"/>
              </a:rPr>
              <a:t> </a:t>
            </a:r>
            <a:r>
              <a:rPr sz="1900" i="1" dirty="0">
                <a:latin typeface="Consolas"/>
                <a:cs typeface="Consolas"/>
              </a:rPr>
              <a:t>of bytes </a:t>
            </a:r>
            <a:r>
              <a:rPr lang="en-US" sz="1900" i="1" dirty="0">
                <a:latin typeface="Consolas"/>
                <a:cs typeface="Consolas"/>
              </a:rPr>
              <a:t>in the</a:t>
            </a:r>
            <a:r>
              <a:rPr sz="1900" i="1" dirty="0">
                <a:latin typeface="Consolas"/>
                <a:cs typeface="Consolas"/>
              </a:rPr>
              <a:t> object represented by</a:t>
            </a:r>
            <a:r>
              <a:rPr sz="1900" i="1" spc="50" dirty="0">
                <a:latin typeface="Consolas"/>
                <a:cs typeface="Consolas"/>
              </a:rPr>
              <a:t> </a:t>
            </a:r>
            <a:r>
              <a:rPr sz="1900" i="1" dirty="0">
                <a:solidFill>
                  <a:srgbClr val="0070C0"/>
                </a:solidFill>
                <a:latin typeface="Consolas"/>
              </a:rPr>
              <a:t>fd</a:t>
            </a:r>
          </a:p>
          <a:p>
            <a:pPr marL="12700">
              <a:lnSpc>
                <a:spcPts val="2095"/>
              </a:lnSpc>
            </a:pPr>
            <a:r>
              <a:rPr lang="en-US" sz="1900" i="1" spc="-5" dirty="0">
                <a:latin typeface="Consolas"/>
                <a:cs typeface="Consolas"/>
              </a:rPr>
              <a:t>     </a:t>
            </a:r>
            <a:r>
              <a:rPr sz="1900" i="1" spc="-5" dirty="0">
                <a:latin typeface="Consolas"/>
                <a:cs typeface="Consolas"/>
              </a:rPr>
              <a:t>// </a:t>
            </a:r>
            <a:r>
              <a:rPr sz="1900" i="1" dirty="0">
                <a:latin typeface="Consolas"/>
                <a:cs typeface="Consolas"/>
              </a:rPr>
              <a:t>memory protection: </a:t>
            </a:r>
            <a:r>
              <a:rPr i="1" dirty="0">
                <a:latin typeface="Courier New" panose="02070309020205020404" pitchFamily="49" charset="0"/>
                <a:cs typeface="Courier New" panose="02070309020205020404" pitchFamily="49" charset="0"/>
              </a:rPr>
              <a:t>PROT_READ</a:t>
            </a:r>
            <a:r>
              <a:rPr sz="1900" i="1" dirty="0">
                <a:latin typeface="Consolas"/>
                <a:cs typeface="Consolas"/>
              </a:rPr>
              <a:t>, </a:t>
            </a:r>
            <a:r>
              <a:rPr i="1" dirty="0">
                <a:latin typeface="Courier New" panose="02070309020205020404" pitchFamily="49" charset="0"/>
                <a:cs typeface="Courier New" panose="02070309020205020404" pitchFamily="49" charset="0"/>
              </a:rPr>
              <a:t>PROT_WRITE</a:t>
            </a:r>
            <a:r>
              <a:rPr sz="1900" i="1" dirty="0">
                <a:latin typeface="Consolas"/>
                <a:cs typeface="Consolas"/>
              </a:rPr>
              <a:t>,</a:t>
            </a:r>
            <a:r>
              <a:rPr sz="1900" i="1" spc="45" dirty="0">
                <a:latin typeface="Consolas"/>
                <a:cs typeface="Consolas"/>
              </a:rPr>
              <a:t> </a:t>
            </a:r>
            <a:r>
              <a:rPr i="1" dirty="0">
                <a:latin typeface="Courier New" panose="02070309020205020404" pitchFamily="49" charset="0"/>
                <a:cs typeface="Courier New" panose="02070309020205020404" pitchFamily="49" charset="0"/>
              </a:rPr>
              <a:t>PROT_EXEC</a:t>
            </a:r>
          </a:p>
          <a:p>
            <a:pPr marL="12700">
              <a:lnSpc>
                <a:spcPts val="2100"/>
              </a:lnSpc>
            </a:pPr>
            <a:r>
              <a:rPr lang="en-US" sz="1900" i="1" spc="-5" dirty="0">
                <a:latin typeface="Consolas"/>
                <a:cs typeface="Consolas"/>
              </a:rPr>
              <a:t>     </a:t>
            </a:r>
            <a:r>
              <a:rPr sz="1900" i="1" spc="-5" dirty="0">
                <a:latin typeface="Consolas"/>
                <a:cs typeface="Consolas"/>
              </a:rPr>
              <a:t>// </a:t>
            </a:r>
            <a:r>
              <a:rPr sz="1900" i="1" dirty="0">
                <a:latin typeface="Consolas"/>
                <a:cs typeface="Consolas"/>
              </a:rPr>
              <a:t>type of mapping: </a:t>
            </a:r>
            <a:r>
              <a:rPr i="1" dirty="0">
                <a:latin typeface="Courier New" panose="02070309020205020404" pitchFamily="49" charset="0"/>
                <a:cs typeface="Courier New" panose="02070309020205020404" pitchFamily="49" charset="0"/>
              </a:rPr>
              <a:t>MAP_FIXED</a:t>
            </a:r>
            <a:r>
              <a:rPr sz="1900" i="1" dirty="0">
                <a:latin typeface="Consolas"/>
                <a:cs typeface="Consolas"/>
              </a:rPr>
              <a:t>, </a:t>
            </a:r>
            <a:r>
              <a:rPr i="1" dirty="0">
                <a:latin typeface="Courier New" panose="02070309020205020404" pitchFamily="49" charset="0"/>
                <a:cs typeface="Courier New" panose="02070309020205020404" pitchFamily="49" charset="0"/>
              </a:rPr>
              <a:t>MAP_PRIVATE</a:t>
            </a:r>
            <a:r>
              <a:rPr sz="1900" i="1" dirty="0">
                <a:latin typeface="Consolas"/>
                <a:cs typeface="Consolas"/>
              </a:rPr>
              <a:t>,</a:t>
            </a:r>
            <a:r>
              <a:rPr sz="1900" i="1" spc="40" dirty="0">
                <a:latin typeface="Consolas"/>
                <a:cs typeface="Consolas"/>
              </a:rPr>
              <a:t> </a:t>
            </a:r>
            <a:r>
              <a:rPr i="1" dirty="0">
                <a:latin typeface="Courier New" panose="02070309020205020404" pitchFamily="49" charset="0"/>
                <a:cs typeface="Courier New" panose="02070309020205020404" pitchFamily="49" charset="0"/>
              </a:rPr>
              <a:t>MAP_SHARED</a:t>
            </a:r>
          </a:p>
          <a:p>
            <a:pPr marL="12700">
              <a:lnSpc>
                <a:spcPts val="2095"/>
              </a:lnSpc>
            </a:pPr>
            <a:r>
              <a:rPr lang="en-US" sz="1900" i="1" spc="-5" dirty="0">
                <a:latin typeface="Consolas"/>
                <a:cs typeface="Consolas"/>
              </a:rPr>
              <a:t>     </a:t>
            </a:r>
            <a:r>
              <a:rPr sz="1900" i="1" spc="-5" dirty="0">
                <a:latin typeface="Consolas"/>
                <a:cs typeface="Consolas"/>
              </a:rPr>
              <a:t>// </a:t>
            </a:r>
            <a:r>
              <a:rPr sz="1900" i="1" dirty="0">
                <a:latin typeface="Consolas"/>
                <a:cs typeface="Consolas"/>
              </a:rPr>
              <a:t>the file to </a:t>
            </a:r>
            <a:r>
              <a:rPr sz="1900" i="1" spc="-5" dirty="0">
                <a:latin typeface="Consolas"/>
                <a:cs typeface="Consolas"/>
              </a:rPr>
              <a:t>be</a:t>
            </a:r>
            <a:r>
              <a:rPr sz="1900" i="1" spc="40" dirty="0">
                <a:latin typeface="Consolas"/>
                <a:cs typeface="Consolas"/>
              </a:rPr>
              <a:t> </a:t>
            </a:r>
            <a:r>
              <a:rPr sz="1900" i="1" dirty="0">
                <a:latin typeface="Consolas"/>
                <a:cs typeface="Consolas"/>
              </a:rPr>
              <a:t>mapped</a:t>
            </a:r>
          </a:p>
          <a:p>
            <a:pPr marL="12700">
              <a:lnSpc>
                <a:spcPts val="2185"/>
              </a:lnSpc>
            </a:pPr>
            <a:r>
              <a:rPr lang="en-US" sz="1900" i="1" spc="-5" dirty="0">
                <a:latin typeface="Consolas"/>
                <a:cs typeface="Consolas"/>
              </a:rPr>
              <a:t>         </a:t>
            </a:r>
            <a:r>
              <a:rPr sz="1900" i="1" spc="-5" dirty="0">
                <a:latin typeface="Consolas"/>
                <a:cs typeface="Consolas"/>
              </a:rPr>
              <a:t>// </a:t>
            </a:r>
            <a:r>
              <a:rPr sz="1900" i="1" dirty="0">
                <a:latin typeface="Consolas"/>
                <a:cs typeface="Consolas"/>
              </a:rPr>
              <a:t>offset </a:t>
            </a:r>
            <a:r>
              <a:rPr lang="en-US" sz="1900" i="1" dirty="0">
                <a:latin typeface="Consolas"/>
                <a:cs typeface="Consolas"/>
              </a:rPr>
              <a:t>of </a:t>
            </a:r>
            <a:r>
              <a:rPr sz="1900" i="1" dirty="0">
                <a:latin typeface="Consolas"/>
                <a:cs typeface="Consolas"/>
              </a:rPr>
              <a:t>bytes </a:t>
            </a:r>
            <a:r>
              <a:rPr lang="en-US" sz="1900" i="1" dirty="0">
                <a:latin typeface="Consolas"/>
                <a:cs typeface="Consolas"/>
              </a:rPr>
              <a:t>(= how deep inside) </a:t>
            </a:r>
            <a:r>
              <a:rPr sz="1900" i="1" dirty="0">
                <a:latin typeface="Consolas"/>
                <a:cs typeface="Consolas"/>
              </a:rPr>
              <a:t>the</a:t>
            </a:r>
            <a:r>
              <a:rPr sz="1900" i="1" spc="40" dirty="0">
                <a:latin typeface="Consolas"/>
                <a:cs typeface="Consolas"/>
              </a:rPr>
              <a:t> </a:t>
            </a:r>
            <a:r>
              <a:rPr sz="1900" i="1" dirty="0">
                <a:latin typeface="Consolas"/>
                <a:cs typeface="Consolas"/>
              </a:rPr>
              <a:t>file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374394" y="5368239"/>
            <a:ext cx="10665206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spcBef>
                <a:spcPts val="10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5" dirty="0">
                <a:latin typeface="Calibri"/>
                <a:cs typeface="Calibri"/>
              </a:rPr>
              <a:t>On </a:t>
            </a:r>
            <a:r>
              <a:rPr sz="2200" dirty="0">
                <a:latin typeface="Calibri"/>
                <a:cs typeface="Calibri"/>
              </a:rPr>
              <a:t>success, </a:t>
            </a:r>
            <a:r>
              <a:rPr lang="en-US" sz="2200" dirty="0">
                <a:latin typeface="Calibri"/>
                <a:cs typeface="Calibri"/>
              </a:rPr>
              <a:t>it </a:t>
            </a:r>
            <a:r>
              <a:rPr sz="2200" spc="-5" dirty="0">
                <a:latin typeface="Calibri"/>
                <a:cs typeface="Calibri"/>
              </a:rPr>
              <a:t>returns </a:t>
            </a:r>
            <a:r>
              <a:rPr sz="2200" dirty="0">
                <a:latin typeface="Calibri"/>
                <a:cs typeface="Calibri"/>
              </a:rPr>
              <a:t>the </a:t>
            </a:r>
            <a:r>
              <a:rPr sz="2200" spc="-5" dirty="0">
                <a:latin typeface="Calibri"/>
                <a:cs typeface="Calibri"/>
              </a:rPr>
              <a:t>address (pointer) </a:t>
            </a:r>
            <a:r>
              <a:rPr sz="2200" dirty="0">
                <a:latin typeface="Calibri"/>
                <a:cs typeface="Calibri"/>
              </a:rPr>
              <a:t>in memory </a:t>
            </a:r>
            <a:r>
              <a:rPr lang="en-US" sz="2200" spc="-5" dirty="0">
                <a:latin typeface="Calibri"/>
                <a:cs typeface="Calibri"/>
              </a:rPr>
              <a:t>to the beginning of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 </a:t>
            </a:r>
            <a:r>
              <a:rPr lang="en-US" sz="2200" spc="-5" dirty="0">
                <a:latin typeface="Calibri"/>
                <a:cs typeface="Calibri"/>
              </a:rPr>
              <a:t>file’s content.</a:t>
            </a:r>
            <a:endParaRPr sz="2200" dirty="0">
              <a:latin typeface="Calibri"/>
              <a:cs typeface="Calibri"/>
            </a:endParaRPr>
          </a:p>
          <a:p>
            <a:pPr marL="241300" indent="-228600"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dirty="0">
                <a:latin typeface="Calibri"/>
                <a:cs typeface="Calibri"/>
              </a:rPr>
              <a:t>On </a:t>
            </a:r>
            <a:r>
              <a:rPr sz="2200" spc="-10" dirty="0">
                <a:latin typeface="Calibri"/>
                <a:cs typeface="Calibri"/>
              </a:rPr>
              <a:t>failure, </a:t>
            </a:r>
            <a:r>
              <a:rPr lang="en-US" sz="2200" spc="-10" dirty="0">
                <a:latin typeface="Calibri"/>
                <a:cs typeface="Calibri"/>
              </a:rPr>
              <a:t>it </a:t>
            </a:r>
            <a:r>
              <a:rPr sz="2200" spc="-5" dirty="0">
                <a:latin typeface="Calibri"/>
                <a:cs typeface="Calibri"/>
              </a:rPr>
              <a:t>returns </a:t>
            </a:r>
            <a:r>
              <a:rPr sz="1900" dirty="0" err="1">
                <a:solidFill>
                  <a:srgbClr val="0070C0"/>
                </a:solidFill>
                <a:latin typeface="Consolas"/>
              </a:rPr>
              <a:t>MAP_FAILED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lang="en-US" sz="2200" spc="-15" dirty="0">
                <a:latin typeface="Calibri"/>
                <a:cs typeface="Calibri"/>
              </a:rPr>
              <a:t>[defined as the pointer </a:t>
            </a:r>
            <a:r>
              <a:rPr sz="20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((void*) -1)</a:t>
            </a:r>
            <a:r>
              <a:rPr lang="en-US" sz="2200" spc="-5" dirty="0">
                <a:latin typeface="Calibri"/>
                <a:cs typeface="Calibri"/>
              </a:rPr>
              <a:t>] and</a:t>
            </a:r>
            <a:r>
              <a:rPr lang="en-US" sz="2200" dirty="0">
                <a:latin typeface="Calibri"/>
                <a:cs typeface="Calibri"/>
              </a:rPr>
              <a:t> sets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dirty="0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lang="en-US" sz="220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8" y="609676"/>
            <a:ext cx="449326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Example </a:t>
            </a:r>
            <a:r>
              <a:rPr spc="-15" dirty="0"/>
              <a:t>of</a:t>
            </a:r>
            <a:r>
              <a:rPr spc="-190" dirty="0"/>
              <a:t> </a:t>
            </a:r>
            <a:r>
              <a:rPr spc="-45" dirty="0">
                <a:latin typeface="Consolas" panose="020B0609020204030204" pitchFamily="49" charset="0"/>
              </a:rPr>
              <a:t>mmap()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1969"/>
            <a:ext cx="7236462" cy="395685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void</a:t>
            </a:r>
            <a:r>
              <a:rPr sz="2000" b="1" spc="1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*p;</a:t>
            </a:r>
          </a:p>
          <a:p>
            <a:pPr marL="469900">
              <a:lnSpc>
                <a:spcPct val="100000"/>
              </a:lnSpc>
              <a:spcBef>
                <a:spcPts val="50"/>
              </a:spcBef>
            </a:pP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p =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mmap (0, len, PROT_READ, MAP_SHARED, fd,</a:t>
            </a:r>
            <a:r>
              <a:rPr sz="2000" spc="7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0);</a:t>
            </a:r>
          </a:p>
          <a:p>
            <a:pPr marL="469900">
              <a:lnSpc>
                <a:spcPct val="100000"/>
              </a:lnSpc>
              <a:spcBef>
                <a:spcPts val="35"/>
              </a:spcBef>
            </a:pP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if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(p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==</a:t>
            </a:r>
            <a:r>
              <a:rPr sz="2000" spc="3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MAP_FAILED)</a:t>
            </a:r>
          </a:p>
          <a:p>
            <a:pPr marL="927100">
              <a:lnSpc>
                <a:spcPct val="100000"/>
              </a:lnSpc>
              <a:spcBef>
                <a:spcPts val="50"/>
              </a:spcBef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perror</a:t>
            </a:r>
            <a:r>
              <a:rPr sz="2000" spc="1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("mmap");</a:t>
            </a:r>
          </a:p>
          <a:p>
            <a:pPr marL="241300" indent="-228600">
              <a:lnSpc>
                <a:spcPct val="100000"/>
              </a:lnSpc>
              <a:spcBef>
                <a:spcPts val="34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A </a:t>
            </a:r>
            <a:r>
              <a:rPr sz="2600" spc="-10" dirty="0">
                <a:latin typeface="Calibri"/>
                <a:cs typeface="Calibri"/>
              </a:rPr>
              <a:t>page </a:t>
            </a:r>
            <a:r>
              <a:rPr sz="2600" dirty="0">
                <a:latin typeface="Calibri"/>
                <a:cs typeface="Calibri"/>
              </a:rPr>
              <a:t>is the </a:t>
            </a:r>
            <a:r>
              <a:rPr sz="2600" spc="-5" dirty="0">
                <a:latin typeface="Calibri"/>
                <a:cs typeface="Calibri"/>
              </a:rPr>
              <a:t>unit </a:t>
            </a:r>
            <a:r>
              <a:rPr sz="2600" dirty="0">
                <a:latin typeface="Calibri"/>
                <a:cs typeface="Calibri"/>
              </a:rPr>
              <a:t>of </a:t>
            </a:r>
            <a:r>
              <a:rPr sz="2600" spc="-5" dirty="0">
                <a:latin typeface="Calibri"/>
                <a:cs typeface="Calibri"/>
              </a:rPr>
              <a:t>granularity </a:t>
            </a:r>
            <a:r>
              <a:rPr sz="2600" spc="-25" dirty="0">
                <a:latin typeface="Calibri"/>
                <a:cs typeface="Calibri"/>
              </a:rPr>
              <a:t>for </a:t>
            </a:r>
            <a:r>
              <a:rPr sz="2600" dirty="0">
                <a:latin typeface="Calibri"/>
                <a:cs typeface="Calibri"/>
              </a:rPr>
              <a:t>memory</a:t>
            </a:r>
            <a:r>
              <a:rPr sz="2600" spc="4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management</a:t>
            </a:r>
            <a:r>
              <a:rPr lang="en-US" sz="2600" spc="-5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ts val="3110"/>
              </a:lnSpc>
              <a:spcBef>
                <a:spcPts val="385"/>
              </a:spcBef>
              <a:buClr>
                <a:schemeClr val="tx1"/>
              </a:buClr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solidFill>
                  <a:srgbClr val="0070C0"/>
                </a:solidFill>
                <a:latin typeface="Consolas"/>
              </a:rPr>
              <a:t>mmap()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syscall operates </a:t>
            </a:r>
            <a:r>
              <a:rPr sz="2600" spc="-5" dirty="0">
                <a:latin typeface="Calibri"/>
                <a:cs typeface="Calibri"/>
              </a:rPr>
              <a:t>on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pages</a:t>
            </a:r>
            <a:r>
              <a:rPr lang="en-US"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698500" lvl="1" indent="-229235">
              <a:lnSpc>
                <a:spcPts val="262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dirty="0">
                <a:latin typeface="Calibri"/>
                <a:cs typeface="Calibri"/>
              </a:rPr>
              <a:t>Both </a:t>
            </a:r>
            <a:r>
              <a:rPr sz="2000" dirty="0">
                <a:solidFill>
                  <a:srgbClr val="0070C0"/>
                </a:solidFill>
                <a:latin typeface="Consolas"/>
              </a:rPr>
              <a:t>addr</a:t>
            </a:r>
            <a:r>
              <a:rPr sz="2200" i="1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and </a:t>
            </a:r>
            <a:r>
              <a:rPr sz="2000" dirty="0">
                <a:solidFill>
                  <a:srgbClr val="0070C0"/>
                </a:solidFill>
                <a:latin typeface="Consolas"/>
              </a:rPr>
              <a:t>offset</a:t>
            </a:r>
            <a:r>
              <a:rPr sz="2200" i="1" spc="-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must </a:t>
            </a:r>
            <a:r>
              <a:rPr sz="2200" spc="-5" dirty="0">
                <a:latin typeface="Calibri"/>
                <a:cs typeface="Calibri"/>
              </a:rPr>
              <a:t>be aligned </a:t>
            </a:r>
            <a:r>
              <a:rPr sz="2200" dirty="0">
                <a:latin typeface="Calibri"/>
                <a:cs typeface="Calibri"/>
              </a:rPr>
              <a:t>on</a:t>
            </a:r>
            <a:r>
              <a:rPr sz="2200" spc="3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it</a:t>
            </a:r>
            <a:r>
              <a:rPr lang="en-US" sz="2200" spc="-5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615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5" dirty="0">
                <a:latin typeface="Calibri"/>
                <a:cs typeface="Calibri"/>
              </a:rPr>
              <a:t>No</a:t>
            </a:r>
            <a:r>
              <a:rPr lang="en-US" sz="2200" spc="-5" dirty="0">
                <a:latin typeface="Calibri"/>
                <a:cs typeface="Calibri"/>
              </a:rPr>
              <a:t>n-</a:t>
            </a:r>
            <a:r>
              <a:rPr sz="2200" spc="-5" dirty="0">
                <a:latin typeface="Calibri"/>
                <a:cs typeface="Calibri"/>
              </a:rPr>
              <a:t>aligned </a:t>
            </a:r>
            <a:r>
              <a:rPr sz="2000" dirty="0">
                <a:solidFill>
                  <a:srgbClr val="0070C0"/>
                </a:solidFill>
                <a:latin typeface="Consolas"/>
              </a:rPr>
              <a:t>len</a:t>
            </a:r>
            <a:r>
              <a:rPr sz="2200" i="1" spc="-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will be </a:t>
            </a:r>
            <a:r>
              <a:rPr sz="2200" spc="-10" dirty="0">
                <a:latin typeface="Calibri"/>
                <a:cs typeface="Calibri"/>
              </a:rPr>
              <a:t>rounded </a:t>
            </a:r>
            <a:r>
              <a:rPr sz="2200" spc="-5" dirty="0">
                <a:latin typeface="Calibri"/>
                <a:cs typeface="Calibri"/>
              </a:rPr>
              <a:t>up </a:t>
            </a:r>
            <a:r>
              <a:rPr sz="2200" spc="-20" dirty="0">
                <a:latin typeface="Calibri"/>
                <a:cs typeface="Calibri"/>
              </a:rPr>
              <a:t>to </a:t>
            </a:r>
            <a:r>
              <a:rPr sz="2200" spc="-15" dirty="0">
                <a:latin typeface="Calibri"/>
                <a:cs typeface="Calibri"/>
              </a:rPr>
              <a:t>next</a:t>
            </a:r>
            <a:r>
              <a:rPr sz="2200" spc="4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page</a:t>
            </a:r>
            <a:r>
              <a:rPr lang="en-US" sz="2200" spc="-15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63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5" dirty="0">
                <a:latin typeface="Calibri"/>
                <a:cs typeface="Calibri"/>
              </a:rPr>
              <a:t>The </a:t>
            </a:r>
            <a:r>
              <a:rPr sz="2200" spc="-20" dirty="0">
                <a:latin typeface="Calibri"/>
                <a:cs typeface="Calibri"/>
              </a:rPr>
              <a:t>extra </a:t>
            </a:r>
            <a:r>
              <a:rPr sz="2200" spc="-5" dirty="0">
                <a:latin typeface="Calibri"/>
                <a:cs typeface="Calibri"/>
              </a:rPr>
              <a:t>space will be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filled</a:t>
            </a:r>
            <a:r>
              <a:rPr lang="en-US" sz="2200" spc="-15" dirty="0">
                <a:latin typeface="Calibri"/>
                <a:cs typeface="Calibri"/>
              </a:rPr>
              <a:t> with zeros.</a:t>
            </a:r>
            <a:endParaRPr sz="2200" dirty="0">
              <a:latin typeface="Calibri"/>
              <a:cs typeface="Calibri"/>
            </a:endParaRPr>
          </a:p>
          <a:p>
            <a:pPr marL="241300" indent="-229235">
              <a:spcBef>
                <a:spcPts val="40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lang="en-US" sz="2600" spc="-20" dirty="0">
                <a:latin typeface="Calibri"/>
                <a:cs typeface="Calibri"/>
              </a:rPr>
              <a:t>See </a:t>
            </a:r>
            <a:r>
              <a:rPr sz="2600" spc="-5" dirty="0">
                <a:latin typeface="Calibri"/>
                <a:cs typeface="Calibri"/>
              </a:rPr>
              <a:t>book</a:t>
            </a:r>
            <a:r>
              <a:rPr lang="en-US" sz="2600" spc="-5" dirty="0">
                <a:latin typeface="Calibri"/>
                <a:cs typeface="Calibri"/>
              </a:rPr>
              <a:t> pages 108-109,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for </a:t>
            </a:r>
            <a:r>
              <a:rPr sz="2600" spc="-5" dirty="0">
                <a:latin typeface="Calibri"/>
                <a:cs typeface="Calibri"/>
              </a:rPr>
              <a:t>possible </a:t>
            </a:r>
            <a:r>
              <a:rPr sz="2600" dirty="0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lang="en-US" sz="2600" spc="-1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values</a:t>
            </a:r>
            <a:r>
              <a:rPr lang="en-US"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357730" y="2438400"/>
            <a:ext cx="4800600" cy="2971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20516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5" dirty="0"/>
              <a:t>Page</a:t>
            </a:r>
            <a:r>
              <a:rPr spc="-185" dirty="0"/>
              <a:t> </a:t>
            </a:r>
            <a:r>
              <a:rPr spc="-40" dirty="0"/>
              <a:t>Size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43452"/>
            <a:ext cx="10970261" cy="4215257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9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25" dirty="0">
                <a:latin typeface="Calibri"/>
                <a:cs typeface="Calibri"/>
              </a:rPr>
              <a:t>To </a:t>
            </a:r>
            <a:r>
              <a:rPr sz="2800" spc="-10" dirty="0">
                <a:latin typeface="Calibri"/>
                <a:cs typeface="Calibri"/>
              </a:rPr>
              <a:t>get </a:t>
            </a:r>
            <a:r>
              <a:rPr lang="en-US" sz="2800" spc="-10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page </a:t>
            </a:r>
            <a:r>
              <a:rPr sz="2800" spc="-20" dirty="0">
                <a:latin typeface="Calibri"/>
                <a:cs typeface="Calibri"/>
              </a:rPr>
              <a:t>size</a:t>
            </a:r>
            <a:r>
              <a:rPr sz="2800" spc="1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(POSIX):</a:t>
            </a:r>
            <a:endParaRPr sz="28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300"/>
              </a:spcBef>
            </a:pPr>
            <a:r>
              <a:rPr sz="2200" dirty="0">
                <a:solidFill>
                  <a:srgbClr val="0070C0"/>
                </a:solidFill>
                <a:latin typeface="Consolas"/>
                <a:cs typeface="Consolas"/>
              </a:rPr>
              <a:t>#include </a:t>
            </a:r>
            <a:r>
              <a:rPr sz="2200" spc="-5" dirty="0">
                <a:solidFill>
                  <a:srgbClr val="0070C0"/>
                </a:solidFill>
                <a:latin typeface="Consolas"/>
                <a:cs typeface="Consolas"/>
              </a:rPr>
              <a:t>&lt;unistd.h&gt;</a:t>
            </a:r>
            <a:endParaRPr sz="22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229"/>
              </a:spcBef>
            </a:pPr>
            <a:r>
              <a:rPr sz="2200" b="1" dirty="0">
                <a:solidFill>
                  <a:srgbClr val="0070C0"/>
                </a:solidFill>
                <a:latin typeface="Consolas"/>
                <a:cs typeface="Consolas"/>
              </a:rPr>
              <a:t>long </a:t>
            </a:r>
            <a:r>
              <a:rPr sz="2200" spc="-5" dirty="0">
                <a:solidFill>
                  <a:srgbClr val="0070C0"/>
                </a:solidFill>
                <a:latin typeface="Consolas"/>
                <a:cs typeface="Consolas"/>
              </a:rPr>
              <a:t>sysconf (</a:t>
            </a:r>
            <a:r>
              <a:rPr sz="2200" b="1" spc="-5" dirty="0">
                <a:solidFill>
                  <a:srgbClr val="0070C0"/>
                </a:solidFill>
                <a:latin typeface="Consolas"/>
                <a:cs typeface="Consolas"/>
              </a:rPr>
              <a:t>int</a:t>
            </a:r>
            <a:r>
              <a:rPr sz="2200" b="1" spc="2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200" spc="-5" dirty="0">
                <a:solidFill>
                  <a:srgbClr val="0070C0"/>
                </a:solidFill>
                <a:latin typeface="Consolas"/>
                <a:cs typeface="Consolas"/>
              </a:rPr>
              <a:t>name);</a:t>
            </a:r>
            <a:r>
              <a:rPr lang="en-US" sz="2200" spc="-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lang="en-US" sz="2200" i="1" spc="-5" dirty="0">
                <a:latin typeface="Consolas"/>
                <a:cs typeface="Consolas"/>
              </a:rPr>
              <a:t>/* Returns some OS configuration info. */</a:t>
            </a:r>
            <a:endParaRPr sz="2200" i="1" dirty="0">
              <a:latin typeface="Consolas"/>
              <a:cs typeface="Consolas"/>
            </a:endParaRPr>
          </a:p>
          <a:p>
            <a:pPr marL="698500" lvl="1" indent="-229235">
              <a:lnSpc>
                <a:spcPct val="100000"/>
              </a:lnSpc>
              <a:spcBef>
                <a:spcPts val="260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400" spc="-10" dirty="0">
                <a:latin typeface="Calibri"/>
                <a:cs typeface="Calibri"/>
              </a:rPr>
              <a:t>Returns </a:t>
            </a:r>
            <a:r>
              <a:rPr sz="2400" spc="-5" dirty="0">
                <a:latin typeface="Calibri"/>
                <a:cs typeface="Calibri"/>
              </a:rPr>
              <a:t>value of </a:t>
            </a:r>
            <a:r>
              <a:rPr sz="2200" spc="-5" dirty="0">
                <a:solidFill>
                  <a:srgbClr val="0070C0"/>
                </a:solidFill>
                <a:latin typeface="Consolas"/>
              </a:rPr>
              <a:t>name</a:t>
            </a:r>
            <a:r>
              <a:rPr sz="2400" i="1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</a:t>
            </a:r>
            <a:r>
              <a:rPr lang="en-US" sz="2400" spc="-10" dirty="0">
                <a:latin typeface="Calibri"/>
                <a:cs typeface="Calibri"/>
              </a:rPr>
              <a:t>type </a:t>
            </a:r>
            <a:r>
              <a:rPr sz="2000" b="1" spc="-1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_</a:t>
            </a:r>
            <a:r>
              <a:rPr sz="2000" b="1" spc="-15" dirty="0" err="1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SC_PAGESIZE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for </a:t>
            </a:r>
            <a:r>
              <a:rPr lang="en-US" sz="2400" spc="-15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page </a:t>
            </a:r>
            <a:r>
              <a:rPr sz="2400" spc="-10" dirty="0">
                <a:latin typeface="Calibri"/>
                <a:cs typeface="Calibri"/>
              </a:rPr>
              <a:t>size), </a:t>
            </a:r>
            <a:r>
              <a:rPr sz="2400" spc="-5" dirty="0">
                <a:latin typeface="Calibri"/>
                <a:cs typeface="Calibri"/>
              </a:rPr>
              <a:t>or -1 if </a:t>
            </a:r>
            <a:r>
              <a:rPr sz="2200" spc="-5" dirty="0">
                <a:solidFill>
                  <a:srgbClr val="0070C0"/>
                </a:solidFill>
                <a:latin typeface="Consolas"/>
              </a:rPr>
              <a:t>name</a:t>
            </a:r>
            <a:r>
              <a:rPr sz="2400" i="1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invalid</a:t>
            </a:r>
            <a:r>
              <a:rPr lang="en-US"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0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400" spc="-5" dirty="0">
                <a:latin typeface="Calibri"/>
                <a:cs typeface="Calibri"/>
              </a:rPr>
              <a:t>Since </a:t>
            </a:r>
            <a:r>
              <a:rPr sz="2400" dirty="0">
                <a:latin typeface="Calibri"/>
                <a:cs typeface="Calibri"/>
              </a:rPr>
              <a:t>-1 </a:t>
            </a:r>
            <a:r>
              <a:rPr sz="2400" spc="-10" dirty="0">
                <a:latin typeface="Calibri"/>
                <a:cs typeface="Calibri"/>
              </a:rPr>
              <a:t>could </a:t>
            </a:r>
            <a:r>
              <a:rPr sz="2400" spc="-5" dirty="0">
                <a:latin typeface="Calibri"/>
                <a:cs typeface="Calibri"/>
              </a:rPr>
              <a:t>be </a:t>
            </a:r>
            <a:r>
              <a:rPr sz="2400" spc="-10" dirty="0">
                <a:latin typeface="Calibri"/>
                <a:cs typeface="Calibri"/>
              </a:rPr>
              <a:t>valid value, </a:t>
            </a:r>
            <a:r>
              <a:rPr lang="en-US" sz="2400" spc="-10" dirty="0">
                <a:latin typeface="Calibri"/>
                <a:cs typeface="Calibri"/>
              </a:rPr>
              <a:t>it is </a:t>
            </a:r>
            <a:r>
              <a:rPr sz="2400" spc="-15" dirty="0">
                <a:latin typeface="Calibri"/>
                <a:cs typeface="Calibri"/>
              </a:rPr>
              <a:t>best </a:t>
            </a:r>
            <a:r>
              <a:rPr sz="2400" spc="-10" dirty="0">
                <a:latin typeface="Calibri"/>
                <a:cs typeface="Calibri"/>
              </a:rPr>
              <a:t>to </a:t>
            </a:r>
            <a:r>
              <a:rPr lang="en-US" sz="2400" dirty="0">
                <a:latin typeface="Calibri"/>
                <a:cs typeface="Calibri"/>
              </a:rPr>
              <a:t>set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to 0 </a:t>
            </a:r>
            <a:r>
              <a:rPr sz="2400" spc="-25" dirty="0">
                <a:latin typeface="Calibri"/>
                <a:cs typeface="Calibri"/>
              </a:rPr>
              <a:t>before</a:t>
            </a:r>
            <a:r>
              <a:rPr sz="2400" spc="1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calling</a:t>
            </a:r>
            <a:r>
              <a:rPr lang="en-US" sz="2400" spc="-5" dirty="0">
                <a:latin typeface="Calibri"/>
                <a:cs typeface="Calibri"/>
              </a:rPr>
              <a:t> </a:t>
            </a:r>
            <a:r>
              <a:rPr lang="en-US" sz="2000" spc="-5" dirty="0" err="1">
                <a:solidFill>
                  <a:srgbClr val="0070C0"/>
                </a:solidFill>
                <a:latin typeface="Consolas"/>
                <a:cs typeface="Consolas"/>
              </a:rPr>
              <a:t>sysconf</a:t>
            </a:r>
            <a:r>
              <a:rPr lang="en-US" sz="2000" spc="-5" dirty="0">
                <a:solidFill>
                  <a:srgbClr val="0070C0"/>
                </a:solidFill>
                <a:latin typeface="Consolas"/>
                <a:cs typeface="Consolas"/>
              </a:rPr>
              <a:t>()</a:t>
            </a:r>
            <a:r>
              <a:rPr lang="en-US"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Linux </a:t>
            </a:r>
            <a:r>
              <a:rPr sz="2800" spc="-5" dirty="0">
                <a:latin typeface="Calibri"/>
                <a:cs typeface="Calibri"/>
              </a:rPr>
              <a:t>also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provides:</a:t>
            </a:r>
            <a:endParaRPr sz="28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330"/>
              </a:spcBef>
            </a:pPr>
            <a:r>
              <a:rPr sz="2200" spc="-5" dirty="0">
                <a:solidFill>
                  <a:srgbClr val="0070C0"/>
                </a:solidFill>
                <a:latin typeface="Consolas"/>
              </a:rPr>
              <a:t>#include &lt;unistd.h&gt;</a:t>
            </a:r>
          </a:p>
          <a:p>
            <a:pPr marL="469900">
              <a:lnSpc>
                <a:spcPct val="100000"/>
              </a:lnSpc>
              <a:spcBef>
                <a:spcPts val="250"/>
              </a:spcBef>
            </a:pPr>
            <a:r>
              <a:rPr sz="2200" spc="-5" dirty="0">
                <a:solidFill>
                  <a:srgbClr val="0070C0"/>
                </a:solidFill>
                <a:latin typeface="Consolas"/>
              </a:rPr>
              <a:t>int getpagesize (void);</a:t>
            </a:r>
          </a:p>
          <a:p>
            <a:pPr marL="698500" lvl="1" indent="-229235">
              <a:lnSpc>
                <a:spcPct val="100000"/>
              </a:lnSpc>
              <a:spcBef>
                <a:spcPts val="254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Not all Unix </a:t>
            </a:r>
            <a:r>
              <a:rPr sz="2400" spc="-20" dirty="0">
                <a:latin typeface="Calibri"/>
                <a:cs typeface="Calibri"/>
              </a:rPr>
              <a:t>systems </a:t>
            </a:r>
            <a:r>
              <a:rPr sz="2400" spc="-5" dirty="0">
                <a:latin typeface="Calibri"/>
                <a:cs typeface="Calibri"/>
              </a:rPr>
              <a:t>support </a:t>
            </a:r>
            <a:r>
              <a:rPr sz="2400" dirty="0">
                <a:latin typeface="Calibri"/>
                <a:cs typeface="Calibri"/>
              </a:rPr>
              <a:t>this function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though</a:t>
            </a:r>
            <a:r>
              <a:rPr lang="en-US" sz="240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1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Calibri"/>
                <a:cs typeface="Calibri"/>
              </a:rPr>
              <a:t>For </a:t>
            </a:r>
            <a:r>
              <a:rPr sz="2800" spc="-25" dirty="0">
                <a:latin typeface="Calibri"/>
                <a:cs typeface="Calibri"/>
              </a:rPr>
              <a:t>portability, </a:t>
            </a:r>
            <a:r>
              <a:rPr sz="2800" spc="-10" dirty="0">
                <a:latin typeface="Calibri"/>
                <a:cs typeface="Calibri"/>
              </a:rPr>
              <a:t>using </a:t>
            </a:r>
            <a:r>
              <a:rPr sz="2200" spc="-5" dirty="0" err="1">
                <a:solidFill>
                  <a:srgbClr val="0070C0"/>
                </a:solidFill>
                <a:latin typeface="Consolas"/>
              </a:rPr>
              <a:t>sysconf</a:t>
            </a:r>
            <a:r>
              <a:rPr lang="en-US" sz="2200" spc="-5" dirty="0">
                <a:solidFill>
                  <a:srgbClr val="0070C0"/>
                </a:solidFill>
                <a:latin typeface="Consolas"/>
              </a:rPr>
              <a:t>()</a:t>
            </a:r>
            <a:r>
              <a:rPr sz="2800" i="1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</a:t>
            </a:r>
            <a:r>
              <a:rPr sz="2800" spc="1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recommended</a:t>
            </a:r>
            <a:r>
              <a:rPr lang="en-US" sz="2800" spc="-1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8" y="609676"/>
            <a:ext cx="868426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0" dirty="0"/>
              <a:t>Removing </a:t>
            </a:r>
            <a:r>
              <a:rPr dirty="0"/>
              <a:t>a </a:t>
            </a:r>
            <a:r>
              <a:rPr spc="-35" dirty="0"/>
              <a:t>Mapping </a:t>
            </a:r>
            <a:r>
              <a:rPr spc="-30" dirty="0"/>
              <a:t>Made by</a:t>
            </a:r>
            <a:r>
              <a:rPr spc="-385" dirty="0"/>
              <a:t> </a:t>
            </a:r>
            <a:r>
              <a:rPr spc="-40" dirty="0">
                <a:latin typeface="Consolas" panose="020B0609020204030204" pitchFamily="49" charset="0"/>
              </a:rPr>
              <a:t>mmap()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59661"/>
            <a:ext cx="10970261" cy="429066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200" spc="-5" dirty="0">
                <a:solidFill>
                  <a:srgbClr val="0070C0"/>
                </a:solidFill>
                <a:latin typeface="Consolas"/>
              </a:rPr>
              <a:t>munmap()</a:t>
            </a:r>
          </a:p>
          <a:p>
            <a:pPr marL="469900">
              <a:lnSpc>
                <a:spcPct val="100000"/>
              </a:lnSpc>
              <a:spcBef>
                <a:spcPts val="60"/>
              </a:spcBef>
            </a:pPr>
            <a:r>
              <a:rPr sz="2200" spc="-5" dirty="0">
                <a:solidFill>
                  <a:srgbClr val="0070C0"/>
                </a:solidFill>
                <a:latin typeface="Consolas"/>
              </a:rPr>
              <a:t>#include &lt;sys/mman.h&gt;</a:t>
            </a:r>
          </a:p>
          <a:p>
            <a:pPr marL="469900">
              <a:lnSpc>
                <a:spcPct val="100000"/>
              </a:lnSpc>
              <a:spcBef>
                <a:spcPts val="15"/>
              </a:spcBef>
            </a:pPr>
            <a:r>
              <a:rPr sz="2200" spc="-5" dirty="0">
                <a:solidFill>
                  <a:srgbClr val="0070C0"/>
                </a:solidFill>
                <a:latin typeface="Consolas"/>
              </a:rPr>
              <a:t>int munmap (void *addr, size_t len);</a:t>
            </a: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200" spc="-5" dirty="0">
              <a:solidFill>
                <a:srgbClr val="0070C0"/>
              </a:solidFill>
              <a:latin typeface="Consolas"/>
            </a:endParaRPr>
          </a:p>
          <a:p>
            <a:pPr marL="469900">
              <a:lnSpc>
                <a:spcPct val="100000"/>
              </a:lnSpc>
            </a:pPr>
            <a:r>
              <a:rPr sz="2200" spc="-5" dirty="0">
                <a:solidFill>
                  <a:srgbClr val="0070C0"/>
                </a:solidFill>
                <a:latin typeface="Consolas"/>
              </a:rPr>
              <a:t>if (munmap (addr, len) == −1)</a:t>
            </a:r>
            <a:r>
              <a:rPr lang="en-US" sz="2200" spc="-5" dirty="0">
                <a:solidFill>
                  <a:srgbClr val="0070C0"/>
                </a:solidFill>
                <a:latin typeface="Consolas"/>
              </a:rPr>
              <a:t> </a:t>
            </a:r>
            <a:r>
              <a:rPr lang="en-US" sz="2200" i="1" spc="-5" dirty="0">
                <a:latin typeface="Consolas"/>
              </a:rPr>
              <a:t>/* Example of </a:t>
            </a:r>
            <a:r>
              <a:rPr lang="en-US" sz="2200" i="1" spc="-5" dirty="0" err="1">
                <a:solidFill>
                  <a:srgbClr val="0070C0"/>
                </a:solidFill>
                <a:latin typeface="Consolas"/>
              </a:rPr>
              <a:t>munmap</a:t>
            </a:r>
            <a:r>
              <a:rPr lang="en-US" sz="2200" i="1" spc="-5" dirty="0">
                <a:solidFill>
                  <a:srgbClr val="0070C0"/>
                </a:solidFill>
                <a:latin typeface="Consolas"/>
              </a:rPr>
              <a:t>()</a:t>
            </a:r>
            <a:r>
              <a:rPr lang="en-US" sz="2200" i="1" spc="-5" dirty="0">
                <a:latin typeface="Consolas"/>
              </a:rPr>
              <a:t>. */</a:t>
            </a:r>
            <a:endParaRPr sz="2200" i="1" spc="-5" dirty="0">
              <a:latin typeface="Consolas"/>
            </a:endParaRPr>
          </a:p>
          <a:p>
            <a:pPr marL="927100">
              <a:lnSpc>
                <a:spcPct val="100000"/>
              </a:lnSpc>
              <a:spcBef>
                <a:spcPts val="15"/>
              </a:spcBef>
            </a:pPr>
            <a:r>
              <a:rPr sz="2200" spc="-5" dirty="0">
                <a:solidFill>
                  <a:srgbClr val="0070C0"/>
                </a:solidFill>
                <a:latin typeface="Consolas"/>
              </a:rPr>
              <a:t>perror ("munmap");</a:t>
            </a:r>
          </a:p>
          <a:p>
            <a:pPr marL="241300" indent="-228600">
              <a:lnSpc>
                <a:spcPct val="100000"/>
              </a:lnSpc>
              <a:spcBef>
                <a:spcPts val="3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It </a:t>
            </a:r>
            <a:r>
              <a:rPr sz="2800" spc="-15" dirty="0">
                <a:latin typeface="Calibri"/>
                <a:cs typeface="Calibri"/>
              </a:rPr>
              <a:t>removes </a:t>
            </a:r>
            <a:r>
              <a:rPr sz="2800" spc="-20" dirty="0">
                <a:latin typeface="Calibri"/>
                <a:cs typeface="Calibri"/>
              </a:rPr>
              <a:t>any </a:t>
            </a:r>
            <a:r>
              <a:rPr sz="2800" spc="-5" dirty="0">
                <a:latin typeface="Calibri"/>
                <a:cs typeface="Calibri"/>
              </a:rPr>
              <a:t>mappings </a:t>
            </a:r>
            <a:r>
              <a:rPr lang="en-US" sz="2800" spc="-15" dirty="0">
                <a:latin typeface="Calibri"/>
                <a:cs typeface="Calibri"/>
              </a:rPr>
              <a:t>whose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pages </a:t>
            </a:r>
            <a:r>
              <a:rPr lang="en-US" sz="2800" spc="-10" dirty="0">
                <a:latin typeface="Calibri"/>
                <a:cs typeface="Calibri"/>
              </a:rPr>
              <a:t>are </a:t>
            </a:r>
            <a:r>
              <a:rPr sz="2800" spc="-5" dirty="0">
                <a:latin typeface="Calibri"/>
                <a:cs typeface="Calibri"/>
              </a:rPr>
              <a:t>in </a:t>
            </a:r>
            <a:r>
              <a:rPr lang="en-US" sz="2800" spc="-20" dirty="0">
                <a:latin typeface="Calibri"/>
                <a:cs typeface="Calibri"/>
              </a:rPr>
              <a:t>addresses</a:t>
            </a:r>
            <a:r>
              <a:rPr sz="2800" spc="120" dirty="0">
                <a:latin typeface="Calibri"/>
                <a:cs typeface="Calibri"/>
              </a:rPr>
              <a:t> </a:t>
            </a:r>
            <a:r>
              <a:rPr lang="en-US" sz="2800" spc="120" dirty="0">
                <a:latin typeface="Calibri"/>
                <a:cs typeface="Calibri"/>
              </a:rPr>
              <a:t>[</a:t>
            </a:r>
            <a:r>
              <a:rPr lang="en-US" sz="2200" spc="-5" dirty="0" err="1">
                <a:solidFill>
                  <a:srgbClr val="0070C0"/>
                </a:solidFill>
                <a:latin typeface="Consolas"/>
              </a:rPr>
              <a:t>addr</a:t>
            </a:r>
            <a:r>
              <a:rPr lang="en-US" sz="2800" spc="-5" dirty="0">
                <a:latin typeface="Calibri"/>
                <a:cs typeface="Calibri"/>
              </a:rPr>
              <a:t>, </a:t>
            </a:r>
            <a:r>
              <a:rPr sz="2200" spc="-5" dirty="0" err="1">
                <a:solidFill>
                  <a:srgbClr val="0070C0"/>
                </a:solidFill>
                <a:latin typeface="Consolas"/>
              </a:rPr>
              <a:t>addr</a:t>
            </a:r>
            <a:r>
              <a:rPr sz="2800" spc="-5" dirty="0" err="1">
                <a:latin typeface="Calibri"/>
                <a:cs typeface="Calibri"/>
              </a:rPr>
              <a:t>+</a:t>
            </a:r>
            <a:r>
              <a:rPr sz="2200" spc="-5" dirty="0" err="1">
                <a:solidFill>
                  <a:srgbClr val="0070C0"/>
                </a:solidFill>
                <a:latin typeface="Consolas"/>
              </a:rPr>
              <a:t>len</a:t>
            </a:r>
            <a:r>
              <a:rPr lang="en-US" sz="2800" spc="120" dirty="0">
                <a:latin typeface="Calibri"/>
                <a:cs typeface="Calibri"/>
              </a:rPr>
              <a:t>].</a:t>
            </a:r>
            <a:endParaRPr sz="2800" spc="12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Afterwards, </a:t>
            </a:r>
            <a:r>
              <a:rPr sz="2800" spc="-5" dirty="0">
                <a:latin typeface="Calibri"/>
                <a:cs typeface="Calibri"/>
              </a:rPr>
              <a:t>further </a:t>
            </a:r>
            <a:r>
              <a:rPr sz="2800" dirty="0">
                <a:latin typeface="Calibri"/>
                <a:cs typeface="Calibri"/>
              </a:rPr>
              <a:t>access </a:t>
            </a:r>
            <a:r>
              <a:rPr sz="2800" spc="-15" dirty="0">
                <a:latin typeface="Calibri"/>
                <a:cs typeface="Calibri"/>
              </a:rPr>
              <a:t>attempts </a:t>
            </a:r>
            <a:r>
              <a:rPr sz="2800" spc="-10" dirty="0">
                <a:latin typeface="Calibri"/>
                <a:cs typeface="Calibri"/>
              </a:rPr>
              <a:t>result </a:t>
            </a:r>
            <a:r>
              <a:rPr sz="2800" spc="-5" dirty="0">
                <a:latin typeface="Calibri"/>
                <a:cs typeface="Calibri"/>
              </a:rPr>
              <a:t>in a </a:t>
            </a:r>
            <a:r>
              <a:rPr sz="2400" spc="-5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SIGSEGV</a:t>
            </a:r>
            <a:r>
              <a:rPr sz="2800" spc="1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signal</a:t>
            </a:r>
            <a:r>
              <a:rPr lang="en-US" sz="2800" spc="-10" dirty="0">
                <a:latin typeface="Calibri"/>
                <a:cs typeface="Calibri"/>
              </a:rPr>
              <a:t>/error.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40" dirty="0">
                <a:latin typeface="Calibri"/>
                <a:cs typeface="Calibri"/>
              </a:rPr>
              <a:t>Typically,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5" dirty="0">
                <a:latin typeface="Calibri"/>
                <a:cs typeface="Calibri"/>
              </a:rPr>
              <a:t>parameter </a:t>
            </a:r>
            <a:r>
              <a:rPr sz="2200" spc="-5" dirty="0">
                <a:solidFill>
                  <a:srgbClr val="0070C0"/>
                </a:solidFill>
                <a:latin typeface="Consolas"/>
              </a:rPr>
              <a:t>addr</a:t>
            </a:r>
            <a:r>
              <a:rPr sz="2800" i="1" spc="-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 the </a:t>
            </a:r>
            <a:r>
              <a:rPr lang="en-US" sz="2800" spc="-10" dirty="0">
                <a:cs typeface="Calibri"/>
              </a:rPr>
              <a:t>value that was </a:t>
            </a:r>
            <a:r>
              <a:rPr sz="2800" spc="-10" dirty="0">
                <a:latin typeface="Calibri"/>
                <a:cs typeface="Calibri"/>
              </a:rPr>
              <a:t>returned </a:t>
            </a:r>
            <a:r>
              <a:rPr sz="2800" spc="-20" dirty="0">
                <a:latin typeface="Calibri"/>
                <a:cs typeface="Calibri"/>
              </a:rPr>
              <a:t>from</a:t>
            </a:r>
            <a:r>
              <a:rPr sz="2800" spc="120" dirty="0">
                <a:latin typeface="Calibri"/>
                <a:cs typeface="Calibri"/>
              </a:rPr>
              <a:t> </a:t>
            </a:r>
            <a:r>
              <a:rPr sz="2200" spc="-5" dirty="0" err="1">
                <a:solidFill>
                  <a:srgbClr val="0070C0"/>
                </a:solidFill>
                <a:latin typeface="Consolas"/>
              </a:rPr>
              <a:t>mmap</a:t>
            </a:r>
            <a:r>
              <a:rPr sz="2200" spc="-5" dirty="0">
                <a:solidFill>
                  <a:srgbClr val="0070C0"/>
                </a:solidFill>
                <a:latin typeface="Consolas"/>
              </a:rPr>
              <a:t>()</a:t>
            </a:r>
            <a:r>
              <a:rPr lang="en-US" sz="2400" spc="-10" dirty="0">
                <a:latin typeface="Calibri"/>
                <a:cs typeface="Calibri"/>
              </a:rPr>
              <a:t>.</a:t>
            </a:r>
            <a:endParaRPr sz="2200" spc="-5" dirty="0">
              <a:solidFill>
                <a:srgbClr val="0070C0"/>
              </a:solidFill>
              <a:latin typeface="Consolas"/>
            </a:endParaRPr>
          </a:p>
          <a:p>
            <a:pPr marL="241300" marR="5080" indent="-228600">
              <a:lnSpc>
                <a:spcPct val="8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On success, </a:t>
            </a:r>
            <a:r>
              <a:rPr sz="2200" spc="-5" dirty="0">
                <a:solidFill>
                  <a:srgbClr val="0070C0"/>
                </a:solidFill>
                <a:latin typeface="Consolas"/>
              </a:rPr>
              <a:t>munmap()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returns </a:t>
            </a:r>
            <a:r>
              <a:rPr sz="2800" spc="-5" dirty="0">
                <a:latin typeface="Calibri"/>
                <a:cs typeface="Calibri"/>
              </a:rPr>
              <a:t>0, </a:t>
            </a:r>
            <a:r>
              <a:rPr lang="en-US" sz="2800" spc="-5" dirty="0">
                <a:latin typeface="Calibri"/>
                <a:cs typeface="Calibri"/>
              </a:rPr>
              <a:t>and </a:t>
            </a:r>
            <a:r>
              <a:rPr sz="2800" spc="-5" dirty="0">
                <a:latin typeface="Calibri"/>
                <a:cs typeface="Calibri"/>
              </a:rPr>
              <a:t>on </a:t>
            </a:r>
            <a:r>
              <a:rPr sz="2800" spc="-25" dirty="0">
                <a:latin typeface="Calibri"/>
                <a:cs typeface="Calibri"/>
              </a:rPr>
              <a:t>failure </a:t>
            </a:r>
            <a:r>
              <a:rPr lang="en-US" sz="2800" spc="-25" dirty="0">
                <a:latin typeface="Calibri"/>
                <a:cs typeface="Calibri"/>
              </a:rPr>
              <a:t>it </a:t>
            </a:r>
            <a:r>
              <a:rPr sz="2800" spc="-15" dirty="0">
                <a:latin typeface="Calibri"/>
                <a:cs typeface="Calibri"/>
              </a:rPr>
              <a:t>returns </a:t>
            </a:r>
            <a:r>
              <a:rPr sz="2800" spc="-5" dirty="0">
                <a:latin typeface="Calibri"/>
                <a:cs typeface="Calibri"/>
              </a:rPr>
              <a:t>-1 and </a:t>
            </a:r>
            <a:r>
              <a:rPr sz="2800" spc="-10" dirty="0">
                <a:latin typeface="Calibri"/>
                <a:cs typeface="Calibri"/>
              </a:rPr>
              <a:t>sets </a:t>
            </a:r>
            <a:r>
              <a:rPr sz="28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sz="2800" spc="-5" dirty="0">
                <a:latin typeface="Calibri"/>
                <a:cs typeface="Calibri"/>
              </a:rPr>
              <a:t>  which </a:t>
            </a:r>
            <a:r>
              <a:rPr sz="2800" spc="-10" dirty="0">
                <a:latin typeface="Calibri"/>
                <a:cs typeface="Calibri"/>
              </a:rPr>
              <a:t>could </a:t>
            </a:r>
            <a:r>
              <a:rPr sz="2800" spc="-5" dirty="0">
                <a:latin typeface="Calibri"/>
                <a:cs typeface="Calibri"/>
              </a:rPr>
              <a:t>only be </a:t>
            </a:r>
            <a:r>
              <a:rPr sz="2400" spc="-5" dirty="0">
                <a:solidFill>
                  <a:srgbClr val="0070C0"/>
                </a:solidFill>
                <a:latin typeface="Consolas"/>
              </a:rPr>
              <a:t>EINVAL</a:t>
            </a:r>
            <a:r>
              <a:rPr sz="2800" spc="-20" dirty="0">
                <a:latin typeface="Calibri"/>
                <a:cs typeface="Calibri"/>
              </a:rPr>
              <a:t>, </a:t>
            </a:r>
            <a:r>
              <a:rPr sz="2800" spc="-10" dirty="0">
                <a:latin typeface="Calibri"/>
                <a:cs typeface="Calibri"/>
              </a:rPr>
              <a:t>indicating </a:t>
            </a:r>
            <a:r>
              <a:rPr sz="2800" spc="-20" dirty="0">
                <a:latin typeface="Calibri"/>
                <a:cs typeface="Calibri"/>
              </a:rPr>
              <a:t>invalid</a:t>
            </a:r>
            <a:r>
              <a:rPr sz="2800" spc="1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parameters</a:t>
            </a:r>
            <a:r>
              <a:rPr lang="en-US" sz="2800" spc="-2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39719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/>
              <a:t>Mapping</a:t>
            </a:r>
            <a:r>
              <a:rPr spc="-150" dirty="0"/>
              <a:t> </a:t>
            </a:r>
            <a:r>
              <a:rPr spc="-45" dirty="0"/>
              <a:t>Example</a:t>
            </a:r>
          </a:p>
        </p:txBody>
      </p:sp>
      <p:sp>
        <p:nvSpPr>
          <p:cNvPr id="3" name="object 3"/>
          <p:cNvSpPr/>
          <p:nvPr/>
        </p:nvSpPr>
        <p:spPr>
          <a:xfrm>
            <a:off x="6530054" y="95721"/>
            <a:ext cx="1334981" cy="8323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075704" y="63558"/>
            <a:ext cx="3660332" cy="669910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16938" y="1704594"/>
            <a:ext cx="7312662" cy="3675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2400" spc="-5" dirty="0">
                <a:latin typeface="Calibri"/>
                <a:cs typeface="Calibri"/>
              </a:rPr>
              <a:t>The </a:t>
            </a:r>
            <a:r>
              <a:rPr sz="2400" spc="-15" dirty="0">
                <a:latin typeface="Calibri"/>
                <a:cs typeface="Calibri"/>
              </a:rPr>
              <a:t>program </a:t>
            </a:r>
            <a:r>
              <a:rPr sz="2400" spc="-5" dirty="0">
                <a:latin typeface="Calibri"/>
                <a:cs typeface="Calibri"/>
              </a:rPr>
              <a:t>uses </a:t>
            </a:r>
            <a:r>
              <a:rPr sz="2200" spc="-5" dirty="0">
                <a:solidFill>
                  <a:srgbClr val="0070C0"/>
                </a:solidFill>
                <a:latin typeface="Consolas"/>
              </a:rPr>
              <a:t>mmap()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10" dirty="0">
                <a:latin typeface="Calibri"/>
                <a:cs typeface="Calibri"/>
              </a:rPr>
              <a:t>print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5" dirty="0">
                <a:latin typeface="Calibri"/>
                <a:cs typeface="Calibri"/>
              </a:rPr>
              <a:t>file </a:t>
            </a:r>
            <a:r>
              <a:rPr sz="2400" dirty="0">
                <a:latin typeface="Calibri"/>
                <a:cs typeface="Calibri"/>
              </a:rPr>
              <a:t>chosen </a:t>
            </a:r>
            <a:r>
              <a:rPr sz="2400" spc="-10" dirty="0">
                <a:latin typeface="Calibri"/>
                <a:cs typeface="Calibri"/>
              </a:rPr>
              <a:t>by </a:t>
            </a:r>
            <a:r>
              <a:rPr sz="2400" dirty="0">
                <a:latin typeface="Calibri"/>
                <a:cs typeface="Calibri"/>
              </a:rPr>
              <a:t>the  </a:t>
            </a:r>
            <a:r>
              <a:rPr sz="2400" spc="-5" dirty="0">
                <a:latin typeface="Calibri"/>
                <a:cs typeface="Calibri"/>
              </a:rPr>
              <a:t>user </a:t>
            </a:r>
            <a:r>
              <a:rPr sz="2400" spc="-10" dirty="0">
                <a:latin typeface="Calibri"/>
                <a:cs typeface="Calibri"/>
              </a:rPr>
              <a:t>to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200" spc="-5" dirty="0" err="1">
                <a:solidFill>
                  <a:srgbClr val="0070C0"/>
                </a:solidFill>
                <a:latin typeface="Consolas"/>
              </a:rPr>
              <a:t>stdout</a:t>
            </a:r>
            <a:r>
              <a:rPr lang="en-US" sz="2400" spc="-5" dirty="0">
                <a:latin typeface="Calibri"/>
                <a:cs typeface="Calibri"/>
              </a:rPr>
              <a:t>.</a:t>
            </a:r>
            <a:endParaRPr sz="2400" spc="-5" dirty="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Clr>
                <a:schemeClr val="tx1"/>
              </a:buClr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2200" spc="-5" dirty="0">
                <a:solidFill>
                  <a:srgbClr val="0070C0"/>
                </a:solidFill>
                <a:latin typeface="Consolas"/>
              </a:rPr>
              <a:t>fstat(fd, &amp;sb)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returns information </a:t>
            </a:r>
            <a:r>
              <a:rPr sz="2400" dirty="0">
                <a:latin typeface="Calibri"/>
                <a:cs typeface="Calibri"/>
              </a:rPr>
              <a:t>about a </a:t>
            </a:r>
            <a:r>
              <a:rPr sz="2400" spc="-10" dirty="0">
                <a:latin typeface="Calibri"/>
                <a:cs typeface="Calibri"/>
              </a:rPr>
              <a:t>given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file</a:t>
            </a:r>
            <a:r>
              <a:rPr lang="en-US" sz="2400" spc="-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2400" spc="-5" dirty="0">
                <a:latin typeface="Calibri"/>
                <a:cs typeface="Calibri"/>
              </a:rPr>
              <a:t>The </a:t>
            </a:r>
            <a:r>
              <a:rPr sz="2200" spc="-5" dirty="0">
                <a:solidFill>
                  <a:srgbClr val="0070C0"/>
                </a:solidFill>
                <a:latin typeface="Consolas"/>
              </a:rPr>
              <a:t>S_ISREG()</a:t>
            </a:r>
            <a:r>
              <a:rPr sz="2400" spc="-5" dirty="0">
                <a:latin typeface="Calibri"/>
                <a:cs typeface="Calibri"/>
              </a:rPr>
              <a:t> macro checks </a:t>
            </a:r>
            <a:r>
              <a:rPr sz="2400" dirty="0">
                <a:latin typeface="Calibri"/>
                <a:cs typeface="Calibri"/>
              </a:rPr>
              <a:t>if the </a:t>
            </a:r>
            <a:r>
              <a:rPr sz="2400" spc="-5" dirty="0">
                <a:latin typeface="Calibri"/>
                <a:cs typeface="Calibri"/>
              </a:rPr>
              <a:t>given file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</a:p>
          <a:p>
            <a:pPr marL="299085">
              <a:lnSpc>
                <a:spcPct val="100000"/>
              </a:lnSpc>
            </a:pPr>
            <a:r>
              <a:rPr sz="2400" spc="-10" dirty="0">
                <a:latin typeface="Calibri"/>
                <a:cs typeface="Calibri"/>
              </a:rPr>
              <a:t>regular </a:t>
            </a:r>
            <a:r>
              <a:rPr sz="2400" spc="-5" dirty="0">
                <a:latin typeface="Calibri"/>
                <a:cs typeface="Calibri"/>
              </a:rPr>
              <a:t>file </a:t>
            </a:r>
            <a:r>
              <a:rPr sz="2400" dirty="0">
                <a:latin typeface="Calibri"/>
                <a:cs typeface="Calibri"/>
              </a:rPr>
              <a:t>(as </a:t>
            </a:r>
            <a:r>
              <a:rPr sz="2400" spc="-5" dirty="0">
                <a:latin typeface="Calibri"/>
                <a:cs typeface="Calibri"/>
              </a:rPr>
              <a:t>opposed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5" dirty="0">
                <a:latin typeface="Calibri"/>
                <a:cs typeface="Calibri"/>
              </a:rPr>
              <a:t>device </a:t>
            </a:r>
            <a:r>
              <a:rPr sz="2400" dirty="0">
                <a:latin typeface="Calibri"/>
                <a:cs typeface="Calibri"/>
              </a:rPr>
              <a:t>file </a:t>
            </a:r>
            <a:r>
              <a:rPr sz="2400" spc="-5" dirty="0">
                <a:latin typeface="Calibri"/>
                <a:cs typeface="Calibri"/>
              </a:rPr>
              <a:t>or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directory</a:t>
            </a:r>
            <a:r>
              <a:rPr lang="en-US" sz="2400" spc="-5" dirty="0">
                <a:latin typeface="Calibri"/>
                <a:cs typeface="Calibri"/>
              </a:rPr>
              <a:t>.</a:t>
            </a:r>
            <a:r>
              <a:rPr sz="2400" spc="-5" dirty="0">
                <a:latin typeface="Calibri"/>
                <a:cs typeface="Calibri"/>
              </a:rPr>
              <a:t>)</a:t>
            </a:r>
            <a:endParaRPr sz="2400" dirty="0">
              <a:latin typeface="Calibri"/>
              <a:cs typeface="Calibri"/>
            </a:endParaRPr>
          </a:p>
          <a:p>
            <a:pPr marL="299085" marR="819150" indent="-287020">
              <a:lnSpc>
                <a:spcPct val="100000"/>
              </a:lnSpc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2400" spc="-5" dirty="0">
                <a:latin typeface="Calibri"/>
                <a:cs typeface="Calibri"/>
              </a:rPr>
              <a:t>The behavior of </a:t>
            </a:r>
            <a:r>
              <a:rPr sz="2400" spc="-10" dirty="0">
                <a:latin typeface="Calibri"/>
                <a:cs typeface="Calibri"/>
              </a:rPr>
              <a:t>non-regular </a:t>
            </a:r>
            <a:r>
              <a:rPr sz="2400" spc="-5" dirty="0">
                <a:latin typeface="Calibri"/>
                <a:cs typeface="Calibri"/>
              </a:rPr>
              <a:t>files </a:t>
            </a:r>
            <a:r>
              <a:rPr sz="2400" dirty="0">
                <a:latin typeface="Calibri"/>
                <a:cs typeface="Calibri"/>
              </a:rPr>
              <a:t>when mapped  depends </a:t>
            </a:r>
            <a:r>
              <a:rPr sz="2400" spc="-5" dirty="0">
                <a:latin typeface="Calibri"/>
                <a:cs typeface="Calibri"/>
              </a:rPr>
              <a:t>on </a:t>
            </a:r>
            <a:r>
              <a:rPr sz="2400" dirty="0">
                <a:latin typeface="Calibri"/>
                <a:cs typeface="Calibri"/>
              </a:rPr>
              <a:t>the backing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device</a:t>
            </a:r>
            <a:r>
              <a:rPr lang="en-US" sz="2400" spc="-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99085" marR="297180" indent="-287020">
              <a:lnSpc>
                <a:spcPct val="100000"/>
              </a:lnSpc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2400" dirty="0">
                <a:latin typeface="Calibri"/>
                <a:cs typeface="Calibri"/>
              </a:rPr>
              <a:t>If a </a:t>
            </a:r>
            <a:r>
              <a:rPr sz="2400" spc="-5" dirty="0">
                <a:latin typeface="Calibri"/>
                <a:cs typeface="Calibri"/>
              </a:rPr>
              <a:t>device file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5" dirty="0">
                <a:latin typeface="Calibri"/>
                <a:cs typeface="Calibri"/>
              </a:rPr>
              <a:t>not </a:t>
            </a:r>
            <a:r>
              <a:rPr sz="2400" dirty="0">
                <a:latin typeface="Calibri"/>
                <a:cs typeface="Calibri"/>
              </a:rPr>
              <a:t>mmap-able, </a:t>
            </a:r>
            <a:r>
              <a:rPr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sz="2400" dirty="0">
                <a:latin typeface="Calibri"/>
                <a:cs typeface="Calibri"/>
              </a:rPr>
              <a:t> will </a:t>
            </a:r>
            <a:r>
              <a:rPr sz="2400" spc="-5" dirty="0">
                <a:latin typeface="Calibri"/>
                <a:cs typeface="Calibri"/>
              </a:rPr>
              <a:t>be set</a:t>
            </a:r>
            <a:r>
              <a:rPr sz="2400" spc="-13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200" spc="-5" dirty="0" err="1">
                <a:solidFill>
                  <a:srgbClr val="0070C0"/>
                </a:solidFill>
                <a:latin typeface="Consolas"/>
              </a:rPr>
              <a:t>EACCESS</a:t>
            </a:r>
            <a:r>
              <a:rPr lang="en-US" sz="2400" spc="-5" dirty="0">
                <a:latin typeface="Calibri"/>
                <a:cs typeface="Calibri"/>
              </a:rPr>
              <a:t>.</a:t>
            </a:r>
            <a:endParaRPr sz="2400" spc="-5" dirty="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Clr>
                <a:schemeClr val="tx1"/>
              </a:buClr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lang="en-US" sz="2400" spc="-10" dirty="0">
                <a:latin typeface="Calibri"/>
                <a:cs typeface="Calibri"/>
              </a:rPr>
              <a:t>The function </a:t>
            </a:r>
            <a:r>
              <a:rPr sz="2200" spc="-5" dirty="0" err="1">
                <a:solidFill>
                  <a:srgbClr val="0070C0"/>
                </a:solidFill>
                <a:latin typeface="Consolas"/>
              </a:rPr>
              <a:t>putchar</a:t>
            </a:r>
            <a:r>
              <a:rPr sz="2200" spc="-5" dirty="0">
                <a:solidFill>
                  <a:srgbClr val="0070C0"/>
                </a:solidFill>
                <a:latin typeface="Consolas"/>
              </a:rPr>
              <a:t>(c)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prints </a:t>
            </a:r>
            <a:r>
              <a:rPr sz="2400" dirty="0">
                <a:latin typeface="Calibri"/>
                <a:cs typeface="Calibri"/>
              </a:rPr>
              <a:t>char </a:t>
            </a:r>
            <a:r>
              <a:rPr sz="2200" spc="-5" dirty="0">
                <a:solidFill>
                  <a:srgbClr val="0070C0"/>
                </a:solidFill>
                <a:latin typeface="Consolas"/>
              </a:rPr>
              <a:t>c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200" spc="-5" dirty="0" err="1">
                <a:solidFill>
                  <a:srgbClr val="0070C0"/>
                </a:solidFill>
                <a:latin typeface="Consolas"/>
              </a:rPr>
              <a:t>stdout</a:t>
            </a:r>
            <a:r>
              <a:rPr lang="en-US" sz="2000" spc="-5" dirty="0">
                <a:latin typeface="Calibri"/>
                <a:cs typeface="Calibri"/>
              </a:rPr>
              <a:t>.</a:t>
            </a:r>
            <a:endParaRPr sz="2200" spc="-5" dirty="0">
              <a:solidFill>
                <a:srgbClr val="0070C0"/>
              </a:solidFill>
              <a:latin typeface="Consola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8" y="609676"/>
            <a:ext cx="845566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0" dirty="0"/>
              <a:t>Advantages/Disadvantages </a:t>
            </a:r>
            <a:r>
              <a:rPr spc="-15" dirty="0"/>
              <a:t>of</a:t>
            </a:r>
            <a:r>
              <a:rPr spc="-229" dirty="0"/>
              <a:t> </a:t>
            </a:r>
            <a:r>
              <a:rPr lang="en-US" spc="-45" dirty="0" err="1">
                <a:latin typeface="Consolas" panose="020B0609020204030204" pitchFamily="49" charset="0"/>
              </a:rPr>
              <a:t>mmap</a:t>
            </a:r>
            <a:r>
              <a:rPr lang="en-US" spc="-45" dirty="0">
                <a:latin typeface="Consolas" panose="020B0609020204030204" pitchFamily="49" charset="0"/>
              </a:rPr>
              <a:t>()</a:t>
            </a:r>
            <a:endParaRPr spc="-45" dirty="0">
              <a:latin typeface="Consolas" panose="020B0609020204030204" pitchFamily="49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8" y="1752600"/>
            <a:ext cx="10970262" cy="452623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ts val="2975"/>
              </a:lnSpc>
              <a:spcBef>
                <a:spcPts val="1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10" dirty="0">
                <a:latin typeface="Calibri"/>
                <a:cs typeface="Calibri"/>
              </a:rPr>
              <a:t>Advantages</a:t>
            </a:r>
            <a:r>
              <a:rPr lang="en-US" sz="2600" spc="-10" dirty="0">
                <a:latin typeface="Calibri"/>
                <a:cs typeface="Calibri"/>
              </a:rPr>
              <a:t>:</a:t>
            </a:r>
            <a:endParaRPr sz="2600" dirty="0">
              <a:latin typeface="Calibri"/>
              <a:cs typeface="Calibri"/>
            </a:endParaRPr>
          </a:p>
          <a:p>
            <a:pPr marL="698500" lvl="1" indent="-229235">
              <a:lnSpc>
                <a:spcPts val="235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10" dirty="0">
                <a:latin typeface="Calibri"/>
                <a:cs typeface="Calibri"/>
              </a:rPr>
              <a:t>Reads/writes </a:t>
            </a:r>
            <a:r>
              <a:rPr sz="2200" spc="-15" dirty="0">
                <a:latin typeface="Calibri"/>
                <a:cs typeface="Calibri"/>
              </a:rPr>
              <a:t>avoid </a:t>
            </a:r>
            <a:r>
              <a:rPr sz="2200" spc="-5" dirty="0">
                <a:latin typeface="Calibri"/>
                <a:cs typeface="Calibri"/>
              </a:rPr>
              <a:t>the </a:t>
            </a:r>
            <a:r>
              <a:rPr sz="2200" spc="-15" dirty="0">
                <a:latin typeface="Calibri"/>
                <a:cs typeface="Calibri"/>
              </a:rPr>
              <a:t>extraneous copy </a:t>
            </a:r>
            <a:r>
              <a:rPr sz="2200" spc="-20" dirty="0">
                <a:latin typeface="Calibri"/>
                <a:cs typeface="Calibri"/>
              </a:rPr>
              <a:t>into </a:t>
            </a:r>
            <a:r>
              <a:rPr sz="2200" spc="-5" dirty="0">
                <a:latin typeface="Calibri"/>
                <a:cs typeface="Calibri"/>
              </a:rPr>
              <a:t>a user-space </a:t>
            </a:r>
            <a:r>
              <a:rPr sz="2200" spc="-20" dirty="0">
                <a:latin typeface="Calibri"/>
                <a:cs typeface="Calibri"/>
              </a:rPr>
              <a:t>buffer </a:t>
            </a:r>
            <a:r>
              <a:rPr sz="2200" spc="-10" dirty="0">
                <a:latin typeface="Calibri"/>
                <a:cs typeface="Calibri"/>
              </a:rPr>
              <a:t>(</a:t>
            </a:r>
            <a:r>
              <a:rPr sz="2200" b="1" spc="-5" dirty="0">
                <a:solidFill>
                  <a:srgbClr val="0070C0"/>
                </a:solidFill>
                <a:latin typeface="Consolas"/>
              </a:rPr>
              <a:t>char</a:t>
            </a:r>
            <a:r>
              <a:rPr sz="2200" spc="-5" dirty="0">
                <a:solidFill>
                  <a:srgbClr val="0070C0"/>
                </a:solidFill>
                <a:latin typeface="Consolas"/>
              </a:rPr>
              <a:t> *</a:t>
            </a:r>
            <a:r>
              <a:rPr sz="2200" spc="-5" dirty="0" err="1">
                <a:solidFill>
                  <a:srgbClr val="0070C0"/>
                </a:solidFill>
                <a:latin typeface="Consolas"/>
              </a:rPr>
              <a:t>buf</a:t>
            </a:r>
            <a:r>
              <a:rPr sz="2200" dirty="0">
                <a:latin typeface="Calibri"/>
                <a:cs typeface="Calibri"/>
              </a:rPr>
              <a:t>)</a:t>
            </a:r>
            <a:r>
              <a:rPr lang="en-US" sz="220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35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15" dirty="0">
                <a:latin typeface="Calibri"/>
                <a:cs typeface="Calibri"/>
              </a:rPr>
              <a:t>Avoid </a:t>
            </a:r>
            <a:r>
              <a:rPr sz="2200" spc="-10" dirty="0">
                <a:latin typeface="Calibri"/>
                <a:cs typeface="Calibri"/>
              </a:rPr>
              <a:t>incurring </a:t>
            </a:r>
            <a:r>
              <a:rPr sz="2200" spc="-15" dirty="0">
                <a:latin typeface="Calibri"/>
                <a:cs typeface="Calibri"/>
              </a:rPr>
              <a:t>more syscalls </a:t>
            </a:r>
            <a:r>
              <a:rPr sz="2200" spc="-10" dirty="0">
                <a:latin typeface="Calibri"/>
                <a:cs typeface="Calibri"/>
              </a:rPr>
              <a:t>(though </a:t>
            </a:r>
            <a:r>
              <a:rPr sz="2200" spc="-15" dirty="0">
                <a:latin typeface="Calibri"/>
                <a:cs typeface="Calibri"/>
              </a:rPr>
              <a:t>may </a:t>
            </a:r>
            <a:r>
              <a:rPr sz="2200" spc="-5" dirty="0">
                <a:latin typeface="Calibri"/>
                <a:cs typeface="Calibri"/>
              </a:rPr>
              <a:t>incur </a:t>
            </a:r>
            <a:r>
              <a:rPr sz="2200" spc="-10" dirty="0">
                <a:latin typeface="Calibri"/>
                <a:cs typeface="Calibri"/>
              </a:rPr>
              <a:t>potential page</a:t>
            </a:r>
            <a:r>
              <a:rPr sz="2200" spc="9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faults</a:t>
            </a:r>
            <a:r>
              <a:rPr lang="en-US" sz="2200" spc="-10" dirty="0">
                <a:latin typeface="Calibri"/>
                <a:cs typeface="Calibri"/>
              </a:rPr>
              <a:t>.</a:t>
            </a:r>
            <a:r>
              <a:rPr sz="2200" spc="-10" dirty="0">
                <a:latin typeface="Calibri"/>
                <a:cs typeface="Calibri"/>
              </a:rPr>
              <a:t>)</a:t>
            </a:r>
            <a:endParaRPr sz="2200" dirty="0">
              <a:latin typeface="Calibri"/>
              <a:cs typeface="Calibri"/>
            </a:endParaRPr>
          </a:p>
          <a:p>
            <a:pPr marL="698500" marR="474345" lvl="1" indent="-228600">
              <a:lnSpc>
                <a:spcPct val="70000"/>
              </a:lnSpc>
              <a:spcBef>
                <a:spcPts val="650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5" dirty="0">
                <a:latin typeface="Calibri"/>
                <a:cs typeface="Calibri"/>
              </a:rPr>
              <a:t>When multiple </a:t>
            </a:r>
            <a:r>
              <a:rPr sz="2200" spc="-10" dirty="0">
                <a:latin typeface="Calibri"/>
                <a:cs typeface="Calibri"/>
              </a:rPr>
              <a:t>processes </a:t>
            </a:r>
            <a:r>
              <a:rPr sz="2200" spc="-5" dirty="0">
                <a:latin typeface="Calibri"/>
                <a:cs typeface="Calibri"/>
              </a:rPr>
              <a:t>map the same object </a:t>
            </a:r>
            <a:r>
              <a:rPr sz="2200" spc="-20" dirty="0">
                <a:latin typeface="Calibri"/>
                <a:cs typeface="Calibri"/>
              </a:rPr>
              <a:t>into </a:t>
            </a:r>
            <a:r>
              <a:rPr sz="2200" spc="-25" dirty="0">
                <a:latin typeface="Calibri"/>
                <a:cs typeface="Calibri"/>
              </a:rPr>
              <a:t>memory, </a:t>
            </a:r>
            <a:r>
              <a:rPr sz="2200" spc="-5" dirty="0">
                <a:latin typeface="Calibri"/>
                <a:cs typeface="Calibri"/>
              </a:rPr>
              <a:t>the </a:t>
            </a:r>
            <a:r>
              <a:rPr sz="2200" spc="-20" dirty="0">
                <a:latin typeface="Calibri"/>
                <a:cs typeface="Calibri"/>
              </a:rPr>
              <a:t>data </a:t>
            </a:r>
            <a:r>
              <a:rPr sz="2200" spc="-5" dirty="0">
                <a:latin typeface="Calibri"/>
                <a:cs typeface="Calibri"/>
              </a:rPr>
              <a:t>is </a:t>
            </a:r>
            <a:r>
              <a:rPr sz="2200" spc="-10" dirty="0">
                <a:latin typeface="Calibri"/>
                <a:cs typeface="Calibri"/>
              </a:rPr>
              <a:t>shared </a:t>
            </a:r>
            <a:r>
              <a:rPr sz="2200" spc="-5" dirty="0">
                <a:latin typeface="Calibri"/>
                <a:cs typeface="Calibri"/>
              </a:rPr>
              <a:t>among </a:t>
            </a:r>
            <a:r>
              <a:rPr sz="2200" dirty="0">
                <a:latin typeface="Calibri"/>
                <a:cs typeface="Calibri"/>
              </a:rPr>
              <a:t>all </a:t>
            </a:r>
            <a:r>
              <a:rPr sz="2200" spc="-5" dirty="0">
                <a:latin typeface="Calibri"/>
                <a:cs typeface="Calibri"/>
              </a:rPr>
              <a:t>of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them.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34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5" dirty="0">
                <a:latin typeface="Calibri"/>
                <a:cs typeface="Calibri"/>
              </a:rPr>
              <a:t>Seeking </a:t>
            </a:r>
            <a:r>
              <a:rPr lang="en-US" sz="2200" spc="-5" dirty="0">
                <a:latin typeface="Calibri"/>
                <a:cs typeface="Calibri"/>
              </a:rPr>
              <a:t>through the content </a:t>
            </a:r>
            <a:r>
              <a:rPr sz="2200" spc="-15" dirty="0">
                <a:latin typeface="Calibri"/>
                <a:cs typeface="Calibri"/>
              </a:rPr>
              <a:t>involves </a:t>
            </a:r>
            <a:r>
              <a:rPr sz="2200" spc="-5" dirty="0">
                <a:latin typeface="Calibri"/>
                <a:cs typeface="Calibri"/>
              </a:rPr>
              <a:t>trivial </a:t>
            </a:r>
            <a:r>
              <a:rPr sz="2200" spc="-15" dirty="0">
                <a:latin typeface="Calibri"/>
                <a:cs typeface="Calibri"/>
              </a:rPr>
              <a:t>pointer </a:t>
            </a:r>
            <a:r>
              <a:rPr sz="2200" spc="-5" dirty="0">
                <a:latin typeface="Calibri"/>
                <a:cs typeface="Calibri"/>
              </a:rPr>
              <a:t>manipulations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(faster)</a:t>
            </a:r>
            <a:r>
              <a:rPr lang="en-US" sz="2200" spc="-15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241300" indent="-228600">
              <a:lnSpc>
                <a:spcPts val="2970"/>
              </a:lnSpc>
              <a:spcBef>
                <a:spcPts val="7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10" dirty="0">
                <a:latin typeface="Calibri"/>
                <a:cs typeface="Calibri"/>
              </a:rPr>
              <a:t>Disadvantages:</a:t>
            </a:r>
            <a:endParaRPr sz="2600" dirty="0">
              <a:latin typeface="Calibri"/>
              <a:cs typeface="Calibri"/>
            </a:endParaRPr>
          </a:p>
          <a:p>
            <a:pPr marL="698500" lvl="1" indent="-229235">
              <a:lnSpc>
                <a:spcPts val="235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20" dirty="0">
                <a:latin typeface="Calibri"/>
                <a:cs typeface="Calibri"/>
              </a:rPr>
              <a:t>“Wasted” </a:t>
            </a:r>
            <a:r>
              <a:rPr sz="2200" spc="-5" dirty="0">
                <a:latin typeface="Calibri"/>
                <a:cs typeface="Calibri"/>
              </a:rPr>
              <a:t>space </a:t>
            </a:r>
            <a:r>
              <a:rPr sz="2200" spc="-10" dirty="0">
                <a:latin typeface="Calibri"/>
                <a:cs typeface="Calibri"/>
              </a:rPr>
              <a:t>between </a:t>
            </a:r>
            <a:r>
              <a:rPr sz="2200" spc="-5" dirty="0">
                <a:latin typeface="Calibri"/>
                <a:cs typeface="Calibri"/>
              </a:rPr>
              <a:t>a small </a:t>
            </a:r>
            <a:r>
              <a:rPr sz="2200" dirty="0">
                <a:latin typeface="Calibri"/>
                <a:cs typeface="Calibri"/>
              </a:rPr>
              <a:t>file </a:t>
            </a:r>
            <a:r>
              <a:rPr sz="2200" spc="-5" dirty="0">
                <a:latin typeface="Calibri"/>
                <a:cs typeface="Calibri"/>
              </a:rPr>
              <a:t>and the </a:t>
            </a:r>
            <a:r>
              <a:rPr sz="2200" spc="-15" dirty="0">
                <a:latin typeface="Calibri"/>
                <a:cs typeface="Calibri"/>
              </a:rPr>
              <a:t>integer </a:t>
            </a:r>
            <a:r>
              <a:rPr sz="2200" spc="-10" dirty="0">
                <a:latin typeface="Calibri"/>
                <a:cs typeface="Calibri"/>
              </a:rPr>
              <a:t>number </a:t>
            </a:r>
            <a:r>
              <a:rPr sz="2200" spc="-5" dirty="0">
                <a:latin typeface="Calibri"/>
                <a:cs typeface="Calibri"/>
              </a:rPr>
              <a:t>of </a:t>
            </a:r>
            <a:r>
              <a:rPr sz="2200" spc="-10" dirty="0">
                <a:latin typeface="Calibri"/>
                <a:cs typeface="Calibri"/>
              </a:rPr>
              <a:t>pages</a:t>
            </a:r>
            <a:r>
              <a:rPr sz="2200" spc="1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(4K)</a:t>
            </a:r>
            <a:r>
              <a:rPr lang="en-US"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marR="254635" lvl="1" indent="-228600">
              <a:lnSpc>
                <a:spcPct val="70000"/>
              </a:lnSpc>
              <a:spcBef>
                <a:spcPts val="645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15" dirty="0">
                <a:latin typeface="Calibri"/>
                <a:cs typeface="Calibri"/>
              </a:rPr>
              <a:t>Large </a:t>
            </a:r>
            <a:r>
              <a:rPr sz="2200" spc="-5" dirty="0">
                <a:latin typeface="Calibri"/>
                <a:cs typeface="Calibri"/>
              </a:rPr>
              <a:t># of mappings </a:t>
            </a:r>
            <a:r>
              <a:rPr sz="2200" spc="-15" dirty="0">
                <a:latin typeface="Calibri"/>
                <a:cs typeface="Calibri"/>
              </a:rPr>
              <a:t>may </a:t>
            </a:r>
            <a:r>
              <a:rPr sz="2200" spc="-10" dirty="0">
                <a:latin typeface="Calibri"/>
                <a:cs typeface="Calibri"/>
              </a:rPr>
              <a:t>increase </a:t>
            </a:r>
            <a:r>
              <a:rPr sz="2200" spc="-15" dirty="0">
                <a:latin typeface="Calibri"/>
                <a:cs typeface="Calibri"/>
              </a:rPr>
              <a:t>fragmentation </a:t>
            </a:r>
            <a:r>
              <a:rPr sz="2200" spc="-5" dirty="0">
                <a:latin typeface="Calibri"/>
                <a:cs typeface="Calibri"/>
              </a:rPr>
              <a:t>of the </a:t>
            </a:r>
            <a:r>
              <a:rPr sz="2200" spc="-10" dirty="0">
                <a:latin typeface="Calibri"/>
                <a:cs typeface="Calibri"/>
              </a:rPr>
              <a:t>address </a:t>
            </a:r>
            <a:r>
              <a:rPr sz="2200" spc="-5" dirty="0">
                <a:latin typeface="Calibri"/>
                <a:cs typeface="Calibri"/>
              </a:rPr>
              <a:t>space</a:t>
            </a:r>
            <a:r>
              <a:rPr lang="en-US" sz="2200" spc="-2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marR="5080" lvl="1" indent="-228600">
              <a:lnSpc>
                <a:spcPct val="70000"/>
              </a:lnSpc>
              <a:spcBef>
                <a:spcPts val="509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10" dirty="0">
                <a:latin typeface="Calibri"/>
                <a:cs typeface="Calibri"/>
              </a:rPr>
              <a:t>Overhead </a:t>
            </a:r>
            <a:r>
              <a:rPr sz="2200" spc="-5" dirty="0">
                <a:latin typeface="Calibri"/>
                <a:cs typeface="Calibri"/>
              </a:rPr>
              <a:t>in </a:t>
            </a:r>
            <a:r>
              <a:rPr sz="2200" spc="-10" dirty="0">
                <a:latin typeface="Calibri"/>
                <a:cs typeface="Calibri"/>
              </a:rPr>
              <a:t>creating/maintaining </a:t>
            </a:r>
            <a:r>
              <a:rPr sz="2200" spc="-5" dirty="0">
                <a:latin typeface="Calibri"/>
                <a:cs typeface="Calibri"/>
              </a:rPr>
              <a:t>mappings and </a:t>
            </a:r>
            <a:r>
              <a:rPr sz="2200" spc="-10" dirty="0">
                <a:latin typeface="Calibri"/>
                <a:cs typeface="Calibri"/>
              </a:rPr>
              <a:t>associated </a:t>
            </a:r>
            <a:r>
              <a:rPr sz="2200" spc="-20" dirty="0">
                <a:latin typeface="Calibri"/>
                <a:cs typeface="Calibri"/>
              </a:rPr>
              <a:t>data </a:t>
            </a:r>
            <a:r>
              <a:rPr sz="2200" spc="-10" dirty="0">
                <a:latin typeface="Calibri"/>
                <a:cs typeface="Calibri"/>
              </a:rPr>
              <a:t>structures </a:t>
            </a:r>
            <a:r>
              <a:rPr sz="2200" spc="-5" dirty="0">
                <a:latin typeface="Calibri"/>
                <a:cs typeface="Calibri"/>
              </a:rPr>
              <a:t>in </a:t>
            </a:r>
            <a:r>
              <a:rPr sz="2200" spc="-15" dirty="0">
                <a:latin typeface="Calibri"/>
                <a:cs typeface="Calibri"/>
              </a:rPr>
              <a:t>kernel, </a:t>
            </a:r>
            <a:r>
              <a:rPr sz="2200" spc="-5" dirty="0">
                <a:latin typeface="Calibri"/>
                <a:cs typeface="Calibri"/>
              </a:rPr>
              <a:t>though the </a:t>
            </a:r>
            <a:r>
              <a:rPr sz="2200" spc="-10" dirty="0">
                <a:latin typeface="Calibri"/>
                <a:cs typeface="Calibri"/>
              </a:rPr>
              <a:t>elimination </a:t>
            </a:r>
            <a:r>
              <a:rPr sz="2200" spc="-5" dirty="0">
                <a:latin typeface="Calibri"/>
                <a:cs typeface="Calibri"/>
              </a:rPr>
              <a:t>of </a:t>
            </a:r>
            <a:r>
              <a:rPr sz="2200" spc="-10" dirty="0">
                <a:latin typeface="Calibri"/>
                <a:cs typeface="Calibri"/>
              </a:rPr>
              <a:t>double </a:t>
            </a:r>
            <a:r>
              <a:rPr sz="2200" spc="-15" dirty="0">
                <a:latin typeface="Calibri"/>
                <a:cs typeface="Calibri"/>
              </a:rPr>
              <a:t>copy</a:t>
            </a:r>
            <a:r>
              <a:rPr sz="2200" spc="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helps</a:t>
            </a:r>
            <a:r>
              <a:rPr lang="en-US" sz="2200" spc="-10" dirty="0">
                <a:latin typeface="Calibri"/>
                <a:cs typeface="Calibri"/>
              </a:rPr>
              <a:t> reducing the overhead.</a:t>
            </a:r>
            <a:endParaRPr sz="2200" dirty="0">
              <a:latin typeface="Calibri"/>
              <a:cs typeface="Calibri"/>
            </a:endParaRPr>
          </a:p>
          <a:p>
            <a:pPr marL="241300" marR="309880" indent="-228600">
              <a:lnSpc>
                <a:spcPct val="80000"/>
              </a:lnSpc>
              <a:spcBef>
                <a:spcPts val="99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600" spc="-5" dirty="0">
                <a:latin typeface="Calibri"/>
                <a:cs typeface="Calibri"/>
              </a:rPr>
              <a:t>Using memory mapping is, therefore, advised </a:t>
            </a:r>
            <a:r>
              <a:rPr sz="2600" spc="-5" dirty="0">
                <a:latin typeface="Calibri"/>
                <a:cs typeface="Calibri"/>
              </a:rPr>
              <a:t>whe</a:t>
            </a:r>
            <a:r>
              <a:rPr lang="en-US" sz="2600" spc="-5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lang="en-US" sz="2600" spc="-5" dirty="0">
                <a:latin typeface="Calibri"/>
                <a:cs typeface="Calibri"/>
              </a:rPr>
              <a:t>(1) </a:t>
            </a:r>
            <a:r>
              <a:rPr sz="2600" dirty="0">
                <a:latin typeface="Calibri"/>
                <a:cs typeface="Calibri"/>
              </a:rPr>
              <a:t>the mapped </a:t>
            </a:r>
            <a:r>
              <a:rPr sz="2600" spc="-5" dirty="0">
                <a:latin typeface="Calibri"/>
                <a:cs typeface="Calibri"/>
              </a:rPr>
              <a:t>file </a:t>
            </a:r>
            <a:r>
              <a:rPr sz="2600" dirty="0">
                <a:latin typeface="Calibri"/>
                <a:cs typeface="Calibri"/>
              </a:rPr>
              <a:t>is </a:t>
            </a:r>
            <a:r>
              <a:rPr lang="en-US" sz="2600" dirty="0">
                <a:latin typeface="Calibri"/>
                <a:cs typeface="Calibri"/>
              </a:rPr>
              <a:t>relatively </a:t>
            </a:r>
            <a:r>
              <a:rPr sz="2600" spc="-10" dirty="0">
                <a:latin typeface="Calibri"/>
                <a:cs typeface="Calibri"/>
              </a:rPr>
              <a:t>large, </a:t>
            </a:r>
            <a:r>
              <a:rPr lang="en-US" sz="2600" spc="-10" dirty="0">
                <a:latin typeface="Calibri"/>
                <a:cs typeface="Calibri"/>
              </a:rPr>
              <a:t>(2)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15" dirty="0">
                <a:latin typeface="Calibri"/>
                <a:cs typeface="Calibri"/>
              </a:rPr>
              <a:t>total size </a:t>
            </a:r>
            <a:r>
              <a:rPr sz="2600" spc="-5" dirty="0">
                <a:latin typeface="Calibri"/>
                <a:cs typeface="Calibri"/>
              </a:rPr>
              <a:t>of</a:t>
            </a:r>
            <a:r>
              <a:rPr lang="en-US" sz="2600" spc="-5" dirty="0">
                <a:latin typeface="Calibri"/>
                <a:cs typeface="Calibri"/>
              </a:rPr>
              <a:t> the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mappings is </a:t>
            </a:r>
            <a:r>
              <a:rPr lang="en-US" sz="2600" dirty="0">
                <a:latin typeface="Calibri"/>
                <a:cs typeface="Calibri"/>
              </a:rPr>
              <a:t>a </a:t>
            </a:r>
            <a:r>
              <a:rPr sz="2600" dirty="0">
                <a:latin typeface="Calibri"/>
                <a:cs typeface="Calibri"/>
              </a:rPr>
              <a:t>multiple of </a:t>
            </a:r>
            <a:r>
              <a:rPr lang="en-US" sz="2600" dirty="0">
                <a:latin typeface="Calibri"/>
                <a:cs typeface="Calibri"/>
              </a:rPr>
              <a:t>the </a:t>
            </a:r>
            <a:r>
              <a:rPr sz="2600" spc="-10" dirty="0">
                <a:latin typeface="Calibri"/>
                <a:cs typeface="Calibri"/>
              </a:rPr>
              <a:t>page </a:t>
            </a:r>
            <a:r>
              <a:rPr sz="2600" spc="-15" dirty="0">
                <a:latin typeface="Calibri"/>
                <a:cs typeface="Calibri"/>
              </a:rPr>
              <a:t>size, </a:t>
            </a:r>
            <a:r>
              <a:rPr sz="2600" dirty="0">
                <a:latin typeface="Calibri"/>
                <a:cs typeface="Calibri"/>
              </a:rPr>
              <a:t>and </a:t>
            </a:r>
            <a:r>
              <a:rPr lang="en-US" sz="2600" dirty="0">
                <a:latin typeface="Calibri"/>
                <a:cs typeface="Calibri"/>
              </a:rPr>
              <a:t>(3) the </a:t>
            </a:r>
            <a:r>
              <a:rPr sz="2600" spc="-5" dirty="0">
                <a:latin typeface="Calibri"/>
                <a:cs typeface="Calibri"/>
              </a:rPr>
              <a:t>file </a:t>
            </a:r>
            <a:r>
              <a:rPr sz="2600" dirty="0">
                <a:latin typeface="Calibri"/>
                <a:cs typeface="Calibri"/>
              </a:rPr>
              <a:t>is </a:t>
            </a:r>
            <a:r>
              <a:rPr sz="2600" spc="-5" dirty="0">
                <a:latin typeface="Calibri"/>
                <a:cs typeface="Calibri"/>
              </a:rPr>
              <a:t>frequently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accessed</a:t>
            </a:r>
            <a:r>
              <a:rPr lang="en-US" sz="260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2621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Resizing </a:t>
            </a:r>
            <a:r>
              <a:rPr dirty="0"/>
              <a:t>a</a:t>
            </a:r>
            <a:r>
              <a:rPr spc="-165" dirty="0"/>
              <a:t> </a:t>
            </a:r>
            <a:r>
              <a:rPr spc="-35" dirty="0"/>
              <a:t>Mapping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59661"/>
            <a:ext cx="10360661" cy="4298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Linux-specific </a:t>
            </a:r>
            <a:r>
              <a:rPr sz="2400" spc="-5" dirty="0">
                <a:solidFill>
                  <a:srgbClr val="0070C0"/>
                </a:solidFill>
                <a:latin typeface="Consolas"/>
              </a:rPr>
              <a:t>mremap()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system</a:t>
            </a:r>
            <a:r>
              <a:rPr sz="2800" spc="1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call:</a:t>
            </a:r>
            <a:endParaRPr sz="2800" dirty="0">
              <a:latin typeface="Calibri"/>
              <a:cs typeface="Calibri"/>
            </a:endParaRPr>
          </a:p>
          <a:p>
            <a:pPr marL="469900" marR="6707505">
              <a:lnSpc>
                <a:spcPct val="100499"/>
              </a:lnSpc>
              <a:spcBef>
                <a:spcPts val="50"/>
              </a:spcBef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#define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_GNU_SOURCE 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#include</a:t>
            </a:r>
            <a:r>
              <a:rPr sz="2000" spc="-4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&lt;sys/mman.h&gt;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927100" marR="5080" indent="-457200">
              <a:lnSpc>
                <a:spcPts val="1920"/>
              </a:lnSpc>
              <a:spcBef>
                <a:spcPts val="484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void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*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mremap (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void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*addr, 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size_t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old_size, 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size_t </a:t>
            </a:r>
            <a:r>
              <a:rPr sz="2000" spc="-5" dirty="0" err="1">
                <a:solidFill>
                  <a:srgbClr val="0070C0"/>
                </a:solidFill>
                <a:latin typeface="Consolas"/>
                <a:cs typeface="Consolas"/>
              </a:rPr>
              <a:t>new_size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,</a:t>
            </a:r>
            <a:endParaRPr lang="en-US" sz="2000" spc="-5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927100" marR="5080" indent="-457200">
              <a:lnSpc>
                <a:spcPts val="1920"/>
              </a:lnSpc>
              <a:spcBef>
                <a:spcPts val="484"/>
              </a:spcBef>
            </a:pPr>
            <a:r>
              <a:rPr lang="en-US" sz="2000" b="1" spc="-5" dirty="0">
                <a:solidFill>
                  <a:srgbClr val="0070C0"/>
                </a:solidFill>
                <a:latin typeface="Consolas"/>
                <a:cs typeface="Consolas"/>
              </a:rPr>
              <a:t>               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unsigned</a:t>
            </a:r>
            <a:r>
              <a:rPr lang="en-US" sz="2000" b="1" spc="-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long</a:t>
            </a:r>
            <a:r>
              <a:rPr sz="2000" b="1" spc="-1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flags);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241300" indent="-228600">
              <a:lnSpc>
                <a:spcPct val="100000"/>
              </a:lnSpc>
              <a:spcBef>
                <a:spcPts val="31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It </a:t>
            </a:r>
            <a:r>
              <a:rPr sz="2800" spc="-15" dirty="0">
                <a:latin typeface="Calibri"/>
                <a:cs typeface="Calibri"/>
              </a:rPr>
              <a:t>expands/shrinks </a:t>
            </a:r>
            <a:r>
              <a:rPr sz="2800" spc="-5" dirty="0">
                <a:latin typeface="Calibri"/>
                <a:cs typeface="Calibri"/>
              </a:rPr>
              <a:t>mapping </a:t>
            </a:r>
            <a:r>
              <a:rPr sz="2800" spc="-20" dirty="0">
                <a:latin typeface="Calibri"/>
                <a:cs typeface="Calibri"/>
              </a:rPr>
              <a:t>from </a:t>
            </a:r>
            <a:r>
              <a:rPr sz="2800" spc="-55" dirty="0">
                <a:latin typeface="Calibri"/>
                <a:cs typeface="Calibri"/>
              </a:rPr>
              <a:t>[</a:t>
            </a:r>
            <a:r>
              <a:rPr sz="2400" spc="-5" dirty="0">
                <a:solidFill>
                  <a:srgbClr val="0070C0"/>
                </a:solidFill>
                <a:latin typeface="Consolas"/>
              </a:rPr>
              <a:t>addr</a:t>
            </a:r>
            <a:r>
              <a:rPr sz="2800" spc="-55" dirty="0">
                <a:latin typeface="Calibri"/>
                <a:cs typeface="Calibri"/>
              </a:rPr>
              <a:t>, </a:t>
            </a:r>
            <a:r>
              <a:rPr sz="2400" spc="-5" dirty="0">
                <a:solidFill>
                  <a:srgbClr val="0070C0"/>
                </a:solidFill>
                <a:latin typeface="Consolas"/>
              </a:rPr>
              <a:t>addr</a:t>
            </a:r>
            <a:r>
              <a:rPr sz="2800" spc="-10" dirty="0">
                <a:latin typeface="Calibri"/>
                <a:cs typeface="Calibri"/>
              </a:rPr>
              <a:t>+</a:t>
            </a:r>
            <a:r>
              <a:rPr sz="2400" spc="-5" dirty="0">
                <a:solidFill>
                  <a:srgbClr val="0070C0"/>
                </a:solidFill>
                <a:latin typeface="Consolas"/>
              </a:rPr>
              <a:t>old_size</a:t>
            </a:r>
            <a:r>
              <a:rPr sz="2800" spc="-10" dirty="0">
                <a:latin typeface="Calibri"/>
                <a:cs typeface="Calibri"/>
              </a:rPr>
              <a:t>) </a:t>
            </a:r>
            <a:r>
              <a:rPr sz="2800" spc="-15" dirty="0">
                <a:latin typeface="Calibri"/>
                <a:cs typeface="Calibri"/>
              </a:rPr>
              <a:t>to</a:t>
            </a:r>
            <a:r>
              <a:rPr sz="2800" spc="315" dirty="0">
                <a:latin typeface="Calibri"/>
                <a:cs typeface="Calibri"/>
              </a:rPr>
              <a:t> </a:t>
            </a:r>
            <a:r>
              <a:rPr sz="2400" spc="-5" dirty="0" err="1">
                <a:solidFill>
                  <a:srgbClr val="0070C0"/>
                </a:solidFill>
                <a:latin typeface="Consolas"/>
              </a:rPr>
              <a:t>new_size</a:t>
            </a:r>
            <a:r>
              <a:rPr lang="en-US" sz="2800" spc="-10" dirty="0">
                <a:latin typeface="Calibri"/>
                <a:cs typeface="Calibri"/>
              </a:rPr>
              <a:t>.</a:t>
            </a:r>
            <a:endParaRPr sz="2800" spc="-10" dirty="0">
              <a:latin typeface="Calibri"/>
              <a:cs typeface="Calibri"/>
            </a:endParaRPr>
          </a:p>
          <a:p>
            <a:pPr marL="241300" marR="939800" indent="-228600">
              <a:lnSpc>
                <a:spcPts val="2690"/>
              </a:lnSpc>
              <a:spcBef>
                <a:spcPts val="98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5" dirty="0">
                <a:latin typeface="Calibri"/>
                <a:cs typeface="Calibri"/>
              </a:rPr>
              <a:t>kernel </a:t>
            </a:r>
            <a:r>
              <a:rPr sz="2800" spc="-20" dirty="0">
                <a:latin typeface="Calibri"/>
                <a:cs typeface="Calibri"/>
              </a:rPr>
              <a:t>may </a:t>
            </a:r>
            <a:r>
              <a:rPr sz="2800" spc="-15" dirty="0">
                <a:latin typeface="Calibri"/>
                <a:cs typeface="Calibri"/>
              </a:rPr>
              <a:t>move </a:t>
            </a:r>
            <a:r>
              <a:rPr sz="2800" spc="-5" dirty="0">
                <a:latin typeface="Calibri"/>
                <a:cs typeface="Calibri"/>
              </a:rPr>
              <a:t>the mapping </a:t>
            </a:r>
            <a:r>
              <a:rPr sz="2800" spc="-15" dirty="0">
                <a:latin typeface="Calibri"/>
                <a:cs typeface="Calibri"/>
              </a:rPr>
              <a:t>(</a:t>
            </a:r>
            <a:r>
              <a:rPr sz="2400" spc="-5" dirty="0">
                <a:solidFill>
                  <a:srgbClr val="0070C0"/>
                </a:solidFill>
                <a:latin typeface="Consolas"/>
              </a:rPr>
              <a:t>addr</a:t>
            </a:r>
            <a:r>
              <a:rPr sz="2800" spc="-15" dirty="0">
                <a:latin typeface="Calibri"/>
                <a:cs typeface="Calibri"/>
              </a:rPr>
              <a:t>) </a:t>
            </a:r>
            <a:r>
              <a:rPr sz="2800" spc="-10" dirty="0">
                <a:latin typeface="Calibri"/>
                <a:cs typeface="Calibri"/>
              </a:rPr>
              <a:t>depending </a:t>
            </a:r>
            <a:r>
              <a:rPr sz="2800" spc="-5" dirty="0">
                <a:latin typeface="Calibri"/>
                <a:cs typeface="Calibri"/>
              </a:rPr>
              <a:t>on </a:t>
            </a:r>
            <a:r>
              <a:rPr lang="en-US" sz="2800" spc="-5" dirty="0">
                <a:latin typeface="Calibri"/>
                <a:cs typeface="Calibri"/>
              </a:rPr>
              <a:t>how much </a:t>
            </a:r>
            <a:r>
              <a:rPr sz="2800" spc="-10" dirty="0">
                <a:latin typeface="Calibri"/>
                <a:cs typeface="Calibri"/>
              </a:rPr>
              <a:t>space </a:t>
            </a:r>
            <a:r>
              <a:rPr lang="en-US" sz="2800" spc="-10" dirty="0">
                <a:latin typeface="Calibri"/>
                <a:cs typeface="Calibri"/>
              </a:rPr>
              <a:t>is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available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lang="en-US" sz="2800" spc="-5" dirty="0">
                <a:latin typeface="Calibri"/>
                <a:cs typeface="Calibri"/>
              </a:rPr>
              <a:t> what was passed in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70C0"/>
                </a:solidFill>
                <a:latin typeface="Consolas"/>
              </a:rPr>
              <a:t>flags</a:t>
            </a:r>
            <a:r>
              <a:rPr lang="en-US" sz="2400" spc="-10" dirty="0">
                <a:latin typeface="Calibri"/>
                <a:cs typeface="Calibri"/>
              </a:rPr>
              <a:t>.</a:t>
            </a:r>
            <a:endParaRPr sz="2400" spc="-5" dirty="0">
              <a:solidFill>
                <a:srgbClr val="0070C0"/>
              </a:solidFill>
              <a:latin typeface="Consolas"/>
            </a:endParaRPr>
          </a:p>
          <a:p>
            <a:pPr marL="241300" indent="-228600">
              <a:spcBef>
                <a:spcPts val="35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The </a:t>
            </a:r>
            <a:r>
              <a:rPr sz="2400" spc="-5" dirty="0">
                <a:solidFill>
                  <a:srgbClr val="0070C0"/>
                </a:solidFill>
                <a:latin typeface="Consolas"/>
              </a:rPr>
              <a:t>flags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lang="en-US" sz="2800" spc="-5" dirty="0">
                <a:latin typeface="Calibri"/>
                <a:cs typeface="Calibri"/>
              </a:rPr>
              <a:t>parameter </a:t>
            </a:r>
            <a:r>
              <a:rPr sz="2800" spc="-10" dirty="0">
                <a:latin typeface="Calibri"/>
                <a:cs typeface="Calibri"/>
              </a:rPr>
              <a:t>can </a:t>
            </a:r>
            <a:r>
              <a:rPr sz="2800" spc="-5" dirty="0">
                <a:latin typeface="Calibri"/>
                <a:cs typeface="Calibri"/>
              </a:rPr>
              <a:t>be either 0 or</a:t>
            </a:r>
            <a:r>
              <a:rPr sz="2800" spc="55" dirty="0">
                <a:latin typeface="Calibri"/>
                <a:cs typeface="Calibri"/>
              </a:rPr>
              <a:t> </a:t>
            </a:r>
            <a:r>
              <a:rPr sz="2400" spc="-5" dirty="0" err="1">
                <a:latin typeface="Courier New" panose="02070309020205020404" pitchFamily="49" charset="0"/>
                <a:cs typeface="Courier New" panose="02070309020205020404" pitchFamily="49" charset="0"/>
              </a:rPr>
              <a:t>MREMAP_MAYMOVE</a:t>
            </a:r>
            <a:r>
              <a:rPr lang="en-US" sz="2400" spc="-10" dirty="0">
                <a:latin typeface="Calibri"/>
                <a:cs typeface="Calibri"/>
              </a:rPr>
              <a:t>.</a:t>
            </a:r>
            <a:endParaRPr sz="2400" spc="-5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41300" marR="1353820" indent="-228600">
              <a:lnSpc>
                <a:spcPct val="8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Returns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5" dirty="0">
                <a:latin typeface="Calibri"/>
                <a:cs typeface="Calibri"/>
              </a:rPr>
              <a:t>pointer to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newly </a:t>
            </a:r>
            <a:r>
              <a:rPr sz="2800" spc="-20" dirty="0">
                <a:latin typeface="Calibri"/>
                <a:cs typeface="Calibri"/>
              </a:rPr>
              <a:t>sized </a:t>
            </a:r>
            <a:r>
              <a:rPr sz="2800" dirty="0">
                <a:latin typeface="Calibri"/>
                <a:cs typeface="Calibri"/>
              </a:rPr>
              <a:t>memory </a:t>
            </a:r>
            <a:r>
              <a:rPr sz="2800" spc="-5" dirty="0">
                <a:latin typeface="Calibri"/>
                <a:cs typeface="Calibri"/>
              </a:rPr>
              <a:t>on </a:t>
            </a:r>
            <a:r>
              <a:rPr lang="en-US" sz="2800" spc="-5" dirty="0">
                <a:latin typeface="Calibri"/>
                <a:cs typeface="Calibri"/>
              </a:rPr>
              <a:t>success and returns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70C0"/>
                </a:solidFill>
                <a:latin typeface="Consolas"/>
              </a:rPr>
              <a:t>MAP_FAILED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on </a:t>
            </a:r>
            <a:r>
              <a:rPr sz="2800" spc="-20" dirty="0">
                <a:latin typeface="Calibri"/>
                <a:cs typeface="Calibri"/>
              </a:rPr>
              <a:t>failure </a:t>
            </a:r>
            <a:r>
              <a:rPr sz="2800" spc="-5" dirty="0">
                <a:latin typeface="Calibri"/>
                <a:cs typeface="Calibri"/>
              </a:rPr>
              <a:t>and </a:t>
            </a:r>
            <a:r>
              <a:rPr sz="2800" spc="-10" dirty="0">
                <a:latin typeface="Calibri"/>
                <a:cs typeface="Calibri"/>
              </a:rPr>
              <a:t>sets</a:t>
            </a:r>
            <a:r>
              <a:rPr sz="2800" spc="85" dirty="0">
                <a:latin typeface="Calibri"/>
                <a:cs typeface="Calibri"/>
              </a:rPr>
              <a:t> </a:t>
            </a:r>
            <a:r>
              <a:rPr sz="28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lang="en-US" sz="2800" spc="-10" dirty="0">
                <a:latin typeface="Calibri"/>
                <a:cs typeface="Calibri"/>
              </a:rPr>
              <a:t>.</a:t>
            </a:r>
            <a:endParaRPr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8" y="609676"/>
            <a:ext cx="556006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Other Use </a:t>
            </a:r>
            <a:r>
              <a:rPr spc="-50" dirty="0"/>
              <a:t>for</a:t>
            </a:r>
            <a:r>
              <a:rPr spc="-290" dirty="0"/>
              <a:t> </a:t>
            </a:r>
            <a:r>
              <a:rPr spc="-50" dirty="0">
                <a:latin typeface="Consolas" panose="020B0609020204030204" pitchFamily="49" charset="0"/>
              </a:rPr>
              <a:t>mremap()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189"/>
            <a:ext cx="10022840" cy="4292842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1300" marR="374650" indent="-228600">
              <a:lnSpc>
                <a:spcPts val="3030"/>
              </a:lnSpc>
              <a:spcBef>
                <a:spcPts val="4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i="1" spc="-5" dirty="0">
                <a:latin typeface="Calibri"/>
                <a:cs typeface="Calibri"/>
              </a:rPr>
              <a:t>glibc </a:t>
            </a:r>
            <a:r>
              <a:rPr sz="2800" spc="-10" dirty="0">
                <a:latin typeface="Calibri"/>
                <a:cs typeface="Calibri"/>
              </a:rPr>
              <a:t>often uses </a:t>
            </a:r>
            <a:r>
              <a:rPr sz="2400" spc="-1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mremap()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 </a:t>
            </a:r>
            <a:r>
              <a:rPr sz="2800" spc="-10" dirty="0">
                <a:latin typeface="Calibri"/>
                <a:cs typeface="Calibri"/>
              </a:rPr>
              <a:t>implement </a:t>
            </a:r>
            <a:r>
              <a:rPr sz="2400" spc="-1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realloc()</a:t>
            </a:r>
            <a:r>
              <a:rPr sz="2800" spc="-10" dirty="0">
                <a:latin typeface="Calibri"/>
                <a:cs typeface="Calibri"/>
              </a:rPr>
              <a:t>, </a:t>
            </a:r>
            <a:r>
              <a:rPr sz="2800" spc="-5" dirty="0">
                <a:latin typeface="Calibri"/>
                <a:cs typeface="Calibri"/>
              </a:rPr>
              <a:t>which </a:t>
            </a:r>
            <a:r>
              <a:rPr sz="2800" spc="-20" dirty="0">
                <a:latin typeface="Calibri"/>
                <a:cs typeface="Calibri"/>
              </a:rPr>
              <a:t>resizes </a:t>
            </a:r>
            <a:r>
              <a:rPr sz="2800" spc="-5" dirty="0">
                <a:latin typeface="Calibri"/>
                <a:cs typeface="Calibri"/>
              </a:rPr>
              <a:t>a block of </a:t>
            </a:r>
            <a:r>
              <a:rPr sz="2800" dirty="0">
                <a:latin typeface="Calibri"/>
                <a:cs typeface="Calibri"/>
              </a:rPr>
              <a:t>memory </a:t>
            </a:r>
            <a:r>
              <a:rPr sz="2800" spc="-10" dirty="0">
                <a:latin typeface="Calibri"/>
                <a:cs typeface="Calibri"/>
              </a:rPr>
              <a:t>obtained </a:t>
            </a:r>
            <a:r>
              <a:rPr sz="2800" spc="-5" dirty="0">
                <a:latin typeface="Calibri"/>
                <a:cs typeface="Calibri"/>
              </a:rPr>
              <a:t>via</a:t>
            </a:r>
            <a:r>
              <a:rPr sz="2800" spc="50" dirty="0"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malloc()</a:t>
            </a:r>
            <a:r>
              <a:rPr lang="en-US" sz="2800" spc="-5" dirty="0">
                <a:latin typeface="Calibri"/>
                <a:cs typeface="Calibri"/>
              </a:rPr>
              <a:t>.</a:t>
            </a:r>
          </a:p>
          <a:p>
            <a:pPr marL="241300" marR="374650" indent="-228600">
              <a:lnSpc>
                <a:spcPts val="3030"/>
              </a:lnSpc>
              <a:spcBef>
                <a:spcPts val="475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spc="-5" dirty="0">
                <a:latin typeface="Calibri"/>
                <a:cs typeface="Calibri"/>
              </a:rPr>
              <a:t>Here is a possible definition of </a:t>
            </a:r>
            <a:r>
              <a:rPr lang="en-US" sz="2400" spc="-10" dirty="0" err="1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realloc</a:t>
            </a:r>
            <a:r>
              <a:rPr lang="en-US" sz="2400" spc="-1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()</a:t>
            </a:r>
            <a:r>
              <a:rPr lang="en-US" sz="2800" spc="-5" dirty="0">
                <a:latin typeface="Calibri"/>
                <a:cs typeface="Calibri"/>
              </a:rPr>
              <a:t> using </a:t>
            </a:r>
            <a:r>
              <a:rPr lang="en-US" sz="2400" spc="-10" dirty="0" err="1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mremap</a:t>
            </a:r>
            <a:r>
              <a:rPr lang="en-US" sz="2400" spc="-1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()</a:t>
            </a:r>
            <a:r>
              <a:rPr lang="en-US" sz="2800" spc="-5" dirty="0">
                <a:latin typeface="Calibri"/>
                <a:cs typeface="Calibri"/>
              </a:rPr>
              <a:t>:</a:t>
            </a:r>
            <a:r>
              <a:rPr lang="en-US" sz="2800" spc="-10" dirty="0">
                <a:latin typeface="Calibri"/>
                <a:cs typeface="Calibri"/>
              </a:rPr>
              <a:t> </a:t>
            </a:r>
            <a:endParaRPr lang="en-US" sz="2800" spc="-5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250"/>
              </a:spcBef>
            </a:pPr>
            <a:r>
              <a:rPr lang="en-US" sz="2000" spc="-1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void * </a:t>
            </a:r>
            <a:r>
              <a:rPr lang="en-US" sz="2000" spc="-10" dirty="0" err="1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realloc</a:t>
            </a:r>
            <a:r>
              <a:rPr lang="en-US" sz="2000" spc="-1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 (void *</a:t>
            </a:r>
            <a:r>
              <a:rPr lang="en-US" sz="2000" spc="-10" dirty="0" err="1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addr</a:t>
            </a:r>
            <a:r>
              <a:rPr lang="en-US" sz="2000" spc="-1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, </a:t>
            </a:r>
            <a:r>
              <a:rPr lang="en-US" sz="2000" spc="-10" dirty="0" err="1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size_t</a:t>
            </a:r>
            <a:r>
              <a:rPr lang="en-US" sz="2000" spc="-1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 </a:t>
            </a:r>
            <a:r>
              <a:rPr lang="en-US" sz="2000" spc="-10" dirty="0" err="1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len</a:t>
            </a:r>
            <a:r>
              <a:rPr lang="en-US" sz="2000" spc="-1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)</a:t>
            </a:r>
          </a:p>
          <a:p>
            <a:pPr marL="469900">
              <a:lnSpc>
                <a:spcPct val="100000"/>
              </a:lnSpc>
              <a:spcBef>
                <a:spcPts val="225"/>
              </a:spcBef>
            </a:pPr>
            <a:r>
              <a:rPr sz="2000" spc="-1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{</a:t>
            </a:r>
          </a:p>
          <a:p>
            <a:pPr marL="927100">
              <a:lnSpc>
                <a:spcPct val="100000"/>
              </a:lnSpc>
              <a:spcBef>
                <a:spcPts val="245"/>
              </a:spcBef>
            </a:pPr>
            <a:r>
              <a:rPr sz="2000" spc="-1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size_t old_size = look_up_mapping_size (addr); </a:t>
            </a:r>
            <a:r>
              <a:rPr sz="2000" i="1" spc="-10" dirty="0">
                <a:latin typeface="Consolas" panose="020B0609020204030204" pitchFamily="49" charset="0"/>
                <a:cs typeface="Calibri"/>
              </a:rPr>
              <a:t>// from libc</a:t>
            </a:r>
          </a:p>
          <a:p>
            <a:pPr marL="927100">
              <a:lnSpc>
                <a:spcPct val="100000"/>
              </a:lnSpc>
              <a:spcBef>
                <a:spcPts val="240"/>
              </a:spcBef>
            </a:pPr>
            <a:r>
              <a:rPr sz="2000" spc="-1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void *p;</a:t>
            </a:r>
          </a:p>
          <a:p>
            <a:pPr marL="927100">
              <a:lnSpc>
                <a:spcPct val="100000"/>
              </a:lnSpc>
              <a:spcBef>
                <a:spcPts val="225"/>
              </a:spcBef>
            </a:pPr>
            <a:r>
              <a:rPr sz="2000" spc="-1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p = mremap (addr, old_size, len, MREMAP_MAYMOVE);</a:t>
            </a:r>
          </a:p>
          <a:p>
            <a:pPr marL="927100">
              <a:lnSpc>
                <a:spcPct val="100000"/>
              </a:lnSpc>
              <a:spcBef>
                <a:spcPts val="240"/>
              </a:spcBef>
            </a:pPr>
            <a:r>
              <a:rPr sz="2000" spc="-1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if (p == MAP_FAILED)</a:t>
            </a:r>
          </a:p>
          <a:p>
            <a:pPr marL="1841500">
              <a:lnSpc>
                <a:spcPct val="100000"/>
              </a:lnSpc>
              <a:spcBef>
                <a:spcPts val="245"/>
              </a:spcBef>
            </a:pPr>
            <a:r>
              <a:rPr sz="2000" spc="-1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return NULL;</a:t>
            </a:r>
          </a:p>
          <a:p>
            <a:pPr marL="927100">
              <a:lnSpc>
                <a:spcPct val="100000"/>
              </a:lnSpc>
              <a:spcBef>
                <a:spcPts val="229"/>
              </a:spcBef>
            </a:pPr>
            <a:r>
              <a:rPr sz="2000" spc="-1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return p;</a:t>
            </a:r>
          </a:p>
          <a:p>
            <a:pPr marL="469900">
              <a:lnSpc>
                <a:spcPct val="100000"/>
              </a:lnSpc>
              <a:spcBef>
                <a:spcPts val="240"/>
              </a:spcBef>
            </a:pPr>
            <a:r>
              <a:rPr sz="2000" spc="-1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}</a:t>
            </a:r>
            <a:endParaRPr sz="2400" spc="-10" dirty="0">
              <a:solidFill>
                <a:srgbClr val="0070C0"/>
              </a:solidFill>
              <a:latin typeface="Consolas" panose="020B0609020204030204" pitchFamily="49" charset="0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83883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Changing </a:t>
            </a:r>
            <a:r>
              <a:rPr spc="-20" dirty="0"/>
              <a:t>the </a:t>
            </a:r>
            <a:r>
              <a:rPr spc="-45" dirty="0"/>
              <a:t>Protection </a:t>
            </a:r>
            <a:r>
              <a:rPr spc="-15" dirty="0"/>
              <a:t>of </a:t>
            </a:r>
            <a:r>
              <a:rPr dirty="0"/>
              <a:t>a</a:t>
            </a:r>
            <a:r>
              <a:rPr spc="-350" dirty="0"/>
              <a:t> </a:t>
            </a:r>
            <a:r>
              <a:rPr spc="-35" dirty="0"/>
              <a:t>Mapping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80006"/>
            <a:ext cx="9431655" cy="428643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365"/>
              </a:spcBef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#include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 &lt;sys/mman.h&gt;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265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mprotect (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const void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*addr, 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size_t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len, 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int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prot);</a:t>
            </a:r>
          </a:p>
          <a:p>
            <a:pPr marL="241300" marR="5080" indent="-228600">
              <a:lnSpc>
                <a:spcPts val="3020"/>
              </a:lnSpc>
              <a:spcBef>
                <a:spcPts val="9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It changes the </a:t>
            </a:r>
            <a:r>
              <a:rPr sz="2800" spc="-10" dirty="0">
                <a:latin typeface="Calibri"/>
                <a:cs typeface="Calibri"/>
              </a:rPr>
              <a:t>protection </a:t>
            </a:r>
            <a:r>
              <a:rPr sz="2800" spc="-5" dirty="0">
                <a:latin typeface="Calibri"/>
                <a:cs typeface="Calibri"/>
              </a:rPr>
              <a:t>mode </a:t>
            </a:r>
            <a:r>
              <a:rPr sz="2800" spc="-25" dirty="0">
                <a:latin typeface="Calibri"/>
                <a:cs typeface="Calibri"/>
              </a:rPr>
              <a:t>for </a:t>
            </a:r>
            <a:r>
              <a:rPr lang="en-US" sz="2800" spc="-25" dirty="0">
                <a:latin typeface="Calibri"/>
                <a:cs typeface="Calibri"/>
              </a:rPr>
              <a:t>the </a:t>
            </a:r>
            <a:r>
              <a:rPr sz="2800" spc="-15" dirty="0">
                <a:latin typeface="Calibri"/>
                <a:cs typeface="Calibri"/>
              </a:rPr>
              <a:t>page-aligned </a:t>
            </a:r>
            <a:r>
              <a:rPr sz="2800" spc="-5" dirty="0">
                <a:latin typeface="Calibri"/>
                <a:cs typeface="Calibri"/>
              </a:rPr>
              <a:t>memory</a:t>
            </a:r>
            <a:r>
              <a:rPr lang="en-US" sz="2800" spc="-5" dirty="0">
                <a:latin typeface="Calibri"/>
                <a:cs typeface="Calibri"/>
              </a:rPr>
              <a:t> in the addresses range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45" dirty="0">
                <a:latin typeface="Calibri"/>
                <a:cs typeface="Calibri"/>
              </a:rPr>
              <a:t>[</a:t>
            </a:r>
            <a:r>
              <a:rPr sz="2400" spc="-1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addr</a:t>
            </a:r>
            <a:r>
              <a:rPr sz="2800" spc="-45" dirty="0">
                <a:latin typeface="Calibri"/>
                <a:cs typeface="Calibri"/>
              </a:rPr>
              <a:t>,  </a:t>
            </a:r>
            <a:r>
              <a:rPr sz="2400" spc="-10" dirty="0" err="1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addr</a:t>
            </a:r>
            <a:r>
              <a:rPr sz="2800" spc="-5" dirty="0" err="1">
                <a:latin typeface="Calibri"/>
                <a:cs typeface="Calibri"/>
              </a:rPr>
              <a:t>+</a:t>
            </a:r>
            <a:r>
              <a:rPr sz="2400" spc="-10" dirty="0" err="1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len</a:t>
            </a:r>
            <a:r>
              <a:rPr sz="2800" spc="-5" dirty="0">
                <a:latin typeface="Calibri"/>
                <a:cs typeface="Calibri"/>
              </a:rPr>
              <a:t>)</a:t>
            </a:r>
            <a:r>
              <a:rPr lang="en-US" sz="2800" spc="-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33020" indent="-228600">
              <a:lnSpc>
                <a:spcPts val="3020"/>
              </a:lnSpc>
              <a:spcBef>
                <a:spcPts val="1015"/>
              </a:spcBef>
              <a:buClr>
                <a:schemeClr val="tx1"/>
              </a:buClr>
              <a:buFont typeface="Arial"/>
              <a:buChar char="•"/>
              <a:tabLst>
                <a:tab pos="241300" algn="l"/>
                <a:tab pos="3015615" algn="l"/>
              </a:tabLst>
            </a:pPr>
            <a:r>
              <a:rPr sz="2400" spc="-1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prot</a:t>
            </a:r>
            <a:r>
              <a:rPr sz="2800" i="1" spc="-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 the </a:t>
            </a:r>
            <a:r>
              <a:rPr sz="2800" spc="-10" dirty="0">
                <a:latin typeface="Calibri"/>
                <a:cs typeface="Calibri"/>
              </a:rPr>
              <a:t>same </a:t>
            </a:r>
            <a:r>
              <a:rPr sz="2800" dirty="0">
                <a:latin typeface="Calibri"/>
                <a:cs typeface="Calibri"/>
              </a:rPr>
              <a:t>as </a:t>
            </a:r>
            <a:r>
              <a:rPr sz="2800" spc="-10" dirty="0">
                <a:latin typeface="Calibri"/>
                <a:cs typeface="Calibri"/>
              </a:rPr>
              <a:t>given </a:t>
            </a:r>
            <a:r>
              <a:rPr sz="2800" spc="-20" dirty="0">
                <a:latin typeface="Calibri"/>
                <a:cs typeface="Calibri"/>
              </a:rPr>
              <a:t>to </a:t>
            </a:r>
            <a:r>
              <a:rPr sz="2400" spc="-1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mmap()</a:t>
            </a:r>
            <a:r>
              <a:rPr sz="2800" spc="-5" dirty="0">
                <a:latin typeface="Calibri"/>
                <a:cs typeface="Calibri"/>
              </a:rPr>
              <a:t>: </a:t>
            </a:r>
            <a:r>
              <a:rPr sz="24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PROT_NONE</a:t>
            </a:r>
            <a:r>
              <a:rPr sz="2800" spc="-20" dirty="0">
                <a:latin typeface="Calibri"/>
                <a:cs typeface="Calibri"/>
              </a:rPr>
              <a:t>, </a:t>
            </a:r>
            <a:r>
              <a:rPr sz="24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PROT_READ</a:t>
            </a:r>
            <a:r>
              <a:rPr sz="2800" spc="-25" dirty="0">
                <a:latin typeface="Calibri"/>
                <a:cs typeface="Calibri"/>
              </a:rPr>
              <a:t>,  </a:t>
            </a:r>
            <a:r>
              <a:rPr sz="24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PROT_WRITE</a:t>
            </a:r>
            <a:r>
              <a:rPr sz="2800" spc="-15" dirty="0">
                <a:latin typeface="Calibri"/>
                <a:cs typeface="Calibri"/>
              </a:rPr>
              <a:t>,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lang="en-US" sz="2800" spc="-5" dirty="0">
                <a:latin typeface="Calibri"/>
                <a:cs typeface="Calibri"/>
              </a:rPr>
              <a:t> </a:t>
            </a:r>
            <a:r>
              <a:rPr sz="2400" spc="-1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PROT_EXEC</a:t>
            </a:r>
            <a:r>
              <a:rPr lang="en-US" sz="2400" spc="-5" dirty="0">
                <a:latin typeface="Calibri"/>
                <a:cs typeface="Calibri"/>
              </a:rPr>
              <a:t>.</a:t>
            </a:r>
            <a:endParaRPr sz="2400" spc="-10" dirty="0">
              <a:solidFill>
                <a:srgbClr val="0070C0"/>
              </a:solidFill>
              <a:latin typeface="Consolas" panose="020B0609020204030204" pitchFamily="49" charset="0"/>
              <a:cs typeface="Calibri"/>
            </a:endParaRPr>
          </a:p>
          <a:p>
            <a:pPr marL="241300" marR="481965" indent="-228600">
              <a:lnSpc>
                <a:spcPts val="303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On </a:t>
            </a:r>
            <a:r>
              <a:rPr sz="2800" spc="-10" dirty="0">
                <a:latin typeface="Calibri"/>
                <a:cs typeface="Calibri"/>
              </a:rPr>
              <a:t>Linux, </a:t>
            </a:r>
            <a:r>
              <a:rPr sz="2400" spc="-1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mprotect()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can </a:t>
            </a:r>
            <a:r>
              <a:rPr sz="2800" spc="-20" dirty="0">
                <a:latin typeface="Calibri"/>
                <a:cs typeface="Calibri"/>
              </a:rPr>
              <a:t>operate </a:t>
            </a:r>
            <a:r>
              <a:rPr sz="2800" spc="-5" dirty="0">
                <a:latin typeface="Calibri"/>
                <a:cs typeface="Calibri"/>
              </a:rPr>
              <a:t>on </a:t>
            </a:r>
            <a:r>
              <a:rPr sz="2800" spc="-20" dirty="0">
                <a:latin typeface="Calibri"/>
                <a:cs typeface="Calibri"/>
              </a:rPr>
              <a:t>any </a:t>
            </a:r>
            <a:r>
              <a:rPr sz="2800" spc="-10" dirty="0">
                <a:latin typeface="Calibri"/>
                <a:cs typeface="Calibri"/>
              </a:rPr>
              <a:t>regions </a:t>
            </a:r>
            <a:r>
              <a:rPr sz="2800" spc="-5" dirty="0">
                <a:latin typeface="Calibri"/>
                <a:cs typeface="Calibri"/>
              </a:rPr>
              <a:t>of </a:t>
            </a:r>
            <a:r>
              <a:rPr sz="2800" spc="-35" dirty="0">
                <a:latin typeface="Calibri"/>
                <a:cs typeface="Calibri"/>
              </a:rPr>
              <a:t>memory,  </a:t>
            </a:r>
            <a:r>
              <a:rPr sz="2800" spc="-15" dirty="0">
                <a:latin typeface="Calibri"/>
                <a:cs typeface="Calibri"/>
              </a:rPr>
              <a:t>regardless </a:t>
            </a:r>
            <a:r>
              <a:rPr sz="2800" spc="-5" dirty="0">
                <a:latin typeface="Calibri"/>
                <a:cs typeface="Calibri"/>
              </a:rPr>
              <a:t>if </a:t>
            </a:r>
            <a:r>
              <a:rPr sz="2400" spc="-1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addr</a:t>
            </a:r>
            <a:r>
              <a:rPr sz="2800" i="1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was </a:t>
            </a:r>
            <a:r>
              <a:rPr sz="2800" spc="-5" dirty="0">
                <a:latin typeface="Calibri"/>
                <a:cs typeface="Calibri"/>
              </a:rPr>
              <a:t>mapped </a:t>
            </a:r>
            <a:r>
              <a:rPr sz="2800" spc="-15" dirty="0">
                <a:latin typeface="Calibri"/>
                <a:cs typeface="Calibri"/>
              </a:rPr>
              <a:t>through </a:t>
            </a:r>
            <a:r>
              <a:rPr sz="2400" spc="-1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mmap()</a:t>
            </a:r>
            <a:r>
              <a:rPr sz="2800" spc="-5" dirty="0">
                <a:latin typeface="Calibri"/>
                <a:cs typeface="Calibri"/>
              </a:rPr>
              <a:t> or</a:t>
            </a:r>
            <a:r>
              <a:rPr sz="2800" spc="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not</a:t>
            </a:r>
            <a:r>
              <a:rPr lang="en-US"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1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Returns </a:t>
            </a:r>
            <a:r>
              <a:rPr sz="2800" spc="-5" dirty="0">
                <a:latin typeface="Calibri"/>
                <a:cs typeface="Calibri"/>
              </a:rPr>
              <a:t>0 on success</a:t>
            </a:r>
            <a:r>
              <a:rPr lang="en-US" sz="2800" spc="-5" dirty="0">
                <a:latin typeface="Calibri"/>
                <a:cs typeface="Calibri"/>
              </a:rPr>
              <a:t> and</a:t>
            </a:r>
            <a:r>
              <a:rPr sz="2800" spc="-5" dirty="0">
                <a:latin typeface="Calibri"/>
                <a:cs typeface="Calibri"/>
              </a:rPr>
              <a:t> -1 on</a:t>
            </a:r>
            <a:r>
              <a:rPr sz="2800" spc="10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failure</a:t>
            </a:r>
            <a:r>
              <a:rPr lang="en-US" sz="2800" spc="-5" dirty="0">
                <a:latin typeface="Calibri"/>
                <a:cs typeface="Calibri"/>
              </a:rPr>
              <a:t> and </a:t>
            </a:r>
            <a:r>
              <a:rPr lang="en-US" sz="2800" spc="-10" dirty="0">
                <a:latin typeface="Calibri"/>
                <a:cs typeface="Calibri"/>
              </a:rPr>
              <a:t>sets</a:t>
            </a:r>
            <a:r>
              <a:rPr lang="en-US" sz="2800" spc="85" dirty="0">
                <a:latin typeface="Calibri"/>
                <a:cs typeface="Calibri"/>
              </a:rPr>
              <a:t> </a:t>
            </a:r>
            <a:r>
              <a:rPr lang="en-US" sz="28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lang="en-US" sz="2800" spc="-2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78955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Synchronizing </a:t>
            </a:r>
            <a:r>
              <a:rPr dirty="0"/>
              <a:t>a </a:t>
            </a:r>
            <a:r>
              <a:rPr spc="-15" dirty="0"/>
              <a:t>File </a:t>
            </a:r>
            <a:r>
              <a:rPr spc="-20" dirty="0"/>
              <a:t>with </a:t>
            </a:r>
            <a:r>
              <a:rPr dirty="0"/>
              <a:t>a</a:t>
            </a:r>
            <a:r>
              <a:rPr spc="-375" dirty="0"/>
              <a:t> </a:t>
            </a:r>
            <a:r>
              <a:rPr spc="-35" dirty="0"/>
              <a:t>Mapping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8" y="1745945"/>
            <a:ext cx="10436861" cy="4604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ts val="283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Calibri"/>
                <a:cs typeface="Calibri"/>
              </a:rPr>
              <a:t>The equivalent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1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fsync()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for </a:t>
            </a:r>
            <a:r>
              <a:rPr sz="2400" dirty="0">
                <a:latin typeface="Calibri"/>
                <a:cs typeface="Calibri"/>
              </a:rPr>
              <a:t>memory</a:t>
            </a:r>
            <a:r>
              <a:rPr lang="en-US" sz="2400" dirty="0">
                <a:latin typeface="Calibri"/>
                <a:cs typeface="Calibri"/>
              </a:rPr>
              <a:t>-</a:t>
            </a:r>
            <a:r>
              <a:rPr sz="2400" dirty="0">
                <a:latin typeface="Calibri"/>
                <a:cs typeface="Calibri"/>
              </a:rPr>
              <a:t>mapped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file</a:t>
            </a:r>
            <a:r>
              <a:rPr lang="en-US" sz="2400" spc="-5" dirty="0">
                <a:latin typeface="Calibri"/>
                <a:cs typeface="Calibri"/>
              </a:rPr>
              <a:t>s</a:t>
            </a:r>
            <a:r>
              <a:rPr sz="2400" spc="-5" dirty="0">
                <a:latin typeface="Calibri"/>
                <a:cs typeface="Calibri"/>
              </a:rPr>
              <a:t>:</a:t>
            </a:r>
            <a:endParaRPr sz="2400" dirty="0">
              <a:latin typeface="Calibri"/>
              <a:cs typeface="Calibri"/>
            </a:endParaRPr>
          </a:p>
          <a:p>
            <a:pPr marL="469900"/>
            <a:r>
              <a:rPr sz="2000" spc="-1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#include &lt;sys/mman.h&gt;</a:t>
            </a:r>
          </a:p>
          <a:p>
            <a:pPr marL="469900"/>
            <a:r>
              <a:rPr sz="2000" spc="-1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int msync (void *addr, size_t len, int flags);</a:t>
            </a:r>
          </a:p>
          <a:p>
            <a:pPr marL="469900"/>
            <a:r>
              <a:rPr sz="2000" spc="-1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if (msync (addr, len, MS_ASYNC) == −1) perror ("</a:t>
            </a:r>
            <a:r>
              <a:rPr sz="2000" spc="-10" dirty="0" err="1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msync</a:t>
            </a:r>
            <a:r>
              <a:rPr sz="2000" spc="-1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");</a:t>
            </a:r>
            <a:r>
              <a:rPr lang="en-US" sz="2000" spc="-1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 </a:t>
            </a:r>
            <a:r>
              <a:rPr lang="en-US" sz="2000" i="1" spc="-10" dirty="0">
                <a:latin typeface="Consolas" panose="020B0609020204030204" pitchFamily="49" charset="0"/>
                <a:cs typeface="Calibri"/>
              </a:rPr>
              <a:t>/* Example */</a:t>
            </a:r>
            <a:endParaRPr sz="2000" i="1" spc="-10" dirty="0">
              <a:latin typeface="Consolas" panose="020B0609020204030204" pitchFamily="49" charset="0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2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Calibri"/>
                <a:cs typeface="Calibri"/>
              </a:rPr>
              <a:t>Flushes back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5" dirty="0">
                <a:latin typeface="Calibri"/>
                <a:cs typeface="Calibri"/>
              </a:rPr>
              <a:t>disk </a:t>
            </a:r>
            <a:r>
              <a:rPr sz="2400" spc="-15" dirty="0">
                <a:latin typeface="Calibri"/>
                <a:cs typeface="Calibri"/>
              </a:rPr>
              <a:t>any </a:t>
            </a:r>
            <a:r>
              <a:rPr sz="2400" spc="-5" dirty="0">
                <a:latin typeface="Calibri"/>
                <a:cs typeface="Calibri"/>
              </a:rPr>
              <a:t>changes </a:t>
            </a:r>
            <a:r>
              <a:rPr sz="2400" dirty="0">
                <a:latin typeface="Calibri"/>
                <a:cs typeface="Calibri"/>
              </a:rPr>
              <a:t>made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5" dirty="0">
                <a:latin typeface="Calibri"/>
                <a:cs typeface="Calibri"/>
              </a:rPr>
              <a:t>file </a:t>
            </a:r>
            <a:r>
              <a:rPr sz="2400" dirty="0">
                <a:latin typeface="Calibri"/>
                <a:cs typeface="Calibri"/>
              </a:rPr>
              <a:t>mapped via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200" spc="-10" dirty="0" err="1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mmap</a:t>
            </a:r>
            <a:r>
              <a:rPr sz="2200" spc="-1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()</a:t>
            </a:r>
            <a:r>
              <a:rPr lang="en-US" sz="240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45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Calibri"/>
                <a:cs typeface="Calibri"/>
              </a:rPr>
              <a:t>Could be </a:t>
            </a:r>
            <a:r>
              <a:rPr sz="2400" spc="-10" dirty="0">
                <a:latin typeface="Calibri"/>
                <a:cs typeface="Calibri"/>
              </a:rPr>
              <a:t>just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5" dirty="0">
                <a:latin typeface="Calibri"/>
                <a:cs typeface="Calibri"/>
              </a:rPr>
              <a:t>subset of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file </a:t>
            </a:r>
            <a:r>
              <a:rPr lang="en-US" sz="2400" spc="-15" dirty="0">
                <a:latin typeface="Calibri"/>
                <a:cs typeface="Calibri"/>
              </a:rPr>
              <a:t>that is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mapped</a:t>
            </a:r>
            <a:r>
              <a:rPr lang="en-US" sz="2400" spc="-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marR="5080" indent="-228600">
              <a:lnSpc>
                <a:spcPct val="8000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400" spc="-10" dirty="0">
                <a:latin typeface="Calibri"/>
                <a:cs typeface="Calibri"/>
              </a:rPr>
              <a:t>There is no guarantee that w</a:t>
            </a:r>
            <a:r>
              <a:rPr sz="2400" spc="-10" dirty="0">
                <a:latin typeface="Calibri"/>
                <a:cs typeface="Calibri"/>
              </a:rPr>
              <a:t>riting </a:t>
            </a:r>
            <a:r>
              <a:rPr sz="2400" spc="-15" dirty="0">
                <a:latin typeface="Calibri"/>
                <a:cs typeface="Calibri"/>
              </a:rPr>
              <a:t>into </a:t>
            </a:r>
            <a:r>
              <a:rPr sz="2400" dirty="0">
                <a:latin typeface="Calibri"/>
                <a:cs typeface="Calibri"/>
              </a:rPr>
              <a:t>a memory </a:t>
            </a:r>
            <a:r>
              <a:rPr lang="en-US" sz="2400" spc="-5" dirty="0">
                <a:latin typeface="Calibri"/>
                <a:cs typeface="Calibri"/>
              </a:rPr>
              <a:t>mapped file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lang="en-US" sz="2400" spc="-5" dirty="0">
                <a:latin typeface="Calibri"/>
                <a:cs typeface="Calibri"/>
              </a:rPr>
              <a:t>backed up to </a:t>
            </a:r>
            <a:r>
              <a:rPr sz="2400" spc="-5" dirty="0">
                <a:latin typeface="Calibri"/>
                <a:cs typeface="Calibri"/>
              </a:rPr>
              <a:t>disk, </a:t>
            </a:r>
            <a:r>
              <a:rPr lang="en-US" sz="2400" spc="-5" dirty="0">
                <a:latin typeface="Calibri"/>
                <a:cs typeface="Calibri"/>
              </a:rPr>
              <a:t>so use </a:t>
            </a:r>
            <a:r>
              <a:rPr sz="2400" dirty="0">
                <a:latin typeface="Calibri"/>
                <a:cs typeface="Calibri"/>
              </a:rPr>
              <a:t>this </a:t>
            </a:r>
            <a:r>
              <a:rPr sz="2400" spc="-5" dirty="0">
                <a:latin typeface="Calibri"/>
                <a:cs typeface="Calibri"/>
              </a:rPr>
              <a:t>function </a:t>
            </a:r>
            <a:r>
              <a:rPr lang="en-US" sz="2400" spc="-5" dirty="0">
                <a:latin typeface="Calibri"/>
                <a:cs typeface="Calibri"/>
              </a:rPr>
              <a:t>to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force </a:t>
            </a:r>
            <a:r>
              <a:rPr sz="2400" spc="-10" dirty="0">
                <a:latin typeface="Calibri"/>
                <a:cs typeface="Calibri"/>
              </a:rPr>
              <a:t>synchronization</a:t>
            </a:r>
            <a:r>
              <a:rPr lang="en-US" sz="2400" spc="-10" dirty="0">
                <a:latin typeface="Calibri"/>
                <a:cs typeface="Calibri"/>
              </a:rPr>
              <a:t> to disk.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ts val="2775"/>
              </a:lnSpc>
              <a:spcBef>
                <a:spcPts val="13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Calibri"/>
                <a:cs typeface="Calibri"/>
              </a:rPr>
              <a:t>The </a:t>
            </a:r>
            <a:r>
              <a:rPr sz="2000" spc="-1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flags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parameters </a:t>
            </a:r>
            <a:r>
              <a:rPr sz="2400" spc="-15" dirty="0">
                <a:latin typeface="Calibri"/>
                <a:cs typeface="Calibri"/>
              </a:rPr>
              <a:t>control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behavior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synchronization</a:t>
            </a:r>
            <a:r>
              <a:rPr lang="en-US"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marR="130175" lvl="1" indent="-228600">
              <a:lnSpc>
                <a:spcPct val="70000"/>
              </a:lnSpc>
              <a:spcBef>
                <a:spcPts val="615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MS_SYNC</a:t>
            </a:r>
            <a:r>
              <a:rPr sz="2000" spc="-5" dirty="0">
                <a:latin typeface="Calibri"/>
                <a:cs typeface="Calibri"/>
              </a:rPr>
              <a:t>: </a:t>
            </a:r>
            <a:r>
              <a:rPr spc="-1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msync()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won’t return </a:t>
            </a:r>
            <a:r>
              <a:rPr lang="en-US" sz="2000" spc="-10" dirty="0">
                <a:latin typeface="Calibri"/>
                <a:cs typeface="Calibri"/>
              </a:rPr>
              <a:t>(= will block) </a:t>
            </a:r>
            <a:r>
              <a:rPr sz="2000" spc="-5" dirty="0">
                <a:latin typeface="Calibri"/>
                <a:cs typeface="Calibri"/>
              </a:rPr>
              <a:t>until </a:t>
            </a:r>
            <a:r>
              <a:rPr sz="2000" dirty="0">
                <a:latin typeface="Calibri"/>
                <a:cs typeface="Calibri"/>
              </a:rPr>
              <a:t>all </a:t>
            </a:r>
            <a:r>
              <a:rPr lang="en-US" sz="2000" dirty="0">
                <a:latin typeface="Calibri"/>
                <a:cs typeface="Calibri"/>
              </a:rPr>
              <a:t>the </a:t>
            </a:r>
            <a:r>
              <a:rPr sz="2000" spc="-5" dirty="0">
                <a:latin typeface="Calibri"/>
                <a:cs typeface="Calibri"/>
              </a:rPr>
              <a:t>pages </a:t>
            </a:r>
            <a:r>
              <a:rPr sz="2000" spc="-10" dirty="0">
                <a:latin typeface="Calibri"/>
                <a:cs typeface="Calibri"/>
              </a:rPr>
              <a:t>are written </a:t>
            </a:r>
            <a:r>
              <a:rPr sz="2000" dirty="0">
                <a:latin typeface="Calibri"/>
                <a:cs typeface="Calibri"/>
              </a:rPr>
              <a:t>back </a:t>
            </a:r>
            <a:r>
              <a:rPr sz="2000" spc="-15" dirty="0">
                <a:latin typeface="Calibri"/>
                <a:cs typeface="Calibri"/>
              </a:rPr>
              <a:t>to </a:t>
            </a:r>
            <a:r>
              <a:rPr sz="2000" spc="-5" dirty="0">
                <a:latin typeface="Calibri"/>
                <a:cs typeface="Calibri"/>
              </a:rPr>
              <a:t>disk </a:t>
            </a:r>
            <a:r>
              <a:rPr sz="2000" spc="-10" dirty="0">
                <a:latin typeface="Calibri"/>
                <a:cs typeface="Calibri"/>
              </a:rPr>
              <a:t>(</a:t>
            </a:r>
            <a:r>
              <a:rPr lang="en-US" sz="2000" spc="-10" dirty="0">
                <a:latin typeface="Calibri"/>
                <a:cs typeface="Calibri"/>
              </a:rPr>
              <a:t>you </a:t>
            </a:r>
            <a:r>
              <a:rPr sz="2000" spc="-10" dirty="0">
                <a:latin typeface="Calibri"/>
                <a:cs typeface="Calibri"/>
              </a:rPr>
              <a:t>must </a:t>
            </a:r>
            <a:r>
              <a:rPr sz="2000" spc="-5" dirty="0">
                <a:latin typeface="Calibri"/>
                <a:cs typeface="Calibri"/>
              </a:rPr>
              <a:t>choose one of </a:t>
            </a:r>
            <a:r>
              <a:rPr sz="2000" dirty="0">
                <a:latin typeface="Calibri"/>
                <a:cs typeface="Calibri"/>
              </a:rPr>
              <a:t>either </a:t>
            </a:r>
            <a:r>
              <a:rPr sz="20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MS_SYNC</a:t>
            </a:r>
            <a:r>
              <a:rPr sz="2000" spc="-5" dirty="0">
                <a:latin typeface="+mj-lt"/>
                <a:cs typeface="Courier New" panose="02070309020205020404" pitchFamily="49" charset="0"/>
              </a:rPr>
              <a:t> </a:t>
            </a:r>
            <a:r>
              <a:rPr sz="2000" spc="-5" dirty="0">
                <a:latin typeface="Calibri"/>
                <a:cs typeface="Calibri"/>
              </a:rPr>
              <a:t>or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 err="1">
                <a:latin typeface="Courier New" panose="02070309020205020404" pitchFamily="49" charset="0"/>
                <a:cs typeface="Courier New" panose="02070309020205020404" pitchFamily="49" charset="0"/>
              </a:rPr>
              <a:t>MS_ASYNC</a:t>
            </a:r>
            <a:r>
              <a:rPr lang="en-US" sz="2000" spc="-5" dirty="0">
                <a:latin typeface="Calibri"/>
                <a:cs typeface="Calibri"/>
              </a:rPr>
              <a:t>.</a:t>
            </a:r>
            <a:r>
              <a:rPr sz="2000" spc="-5" dirty="0">
                <a:latin typeface="Calibri"/>
                <a:cs typeface="Calibri"/>
              </a:rPr>
              <a:t>)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ts val="207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MS_ASYNC</a:t>
            </a:r>
            <a:r>
              <a:rPr sz="2000" spc="-5" dirty="0">
                <a:latin typeface="Calibri"/>
                <a:cs typeface="Calibri"/>
              </a:rPr>
              <a:t>: returns immediately </a:t>
            </a:r>
            <a:r>
              <a:rPr sz="2000" dirty="0">
                <a:latin typeface="Calibri"/>
                <a:cs typeface="Calibri"/>
              </a:rPr>
              <a:t>without </a:t>
            </a:r>
            <a:r>
              <a:rPr sz="2000" spc="-5" dirty="0">
                <a:latin typeface="Calibri"/>
                <a:cs typeface="Calibri"/>
              </a:rPr>
              <a:t>waiting </a:t>
            </a:r>
            <a:r>
              <a:rPr sz="2000" spc="-15" dirty="0">
                <a:latin typeface="Calibri"/>
                <a:cs typeface="Calibri"/>
              </a:rPr>
              <a:t>for </a:t>
            </a:r>
            <a:r>
              <a:rPr sz="2000" spc="-5" dirty="0">
                <a:latin typeface="Calibri"/>
                <a:cs typeface="Calibri"/>
              </a:rPr>
              <a:t>writes </a:t>
            </a:r>
            <a:r>
              <a:rPr sz="2000" spc="-15" dirty="0">
                <a:latin typeface="Calibri"/>
                <a:cs typeface="Calibri"/>
              </a:rPr>
              <a:t>to </a:t>
            </a:r>
            <a:r>
              <a:rPr sz="2000" spc="-20" dirty="0">
                <a:latin typeface="Calibri"/>
                <a:cs typeface="Calibri"/>
              </a:rPr>
              <a:t>take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place</a:t>
            </a:r>
            <a:r>
              <a:rPr lang="en-US" sz="2000" spc="-5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ts val="2285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MS_INVALIDATE</a:t>
            </a:r>
            <a:r>
              <a:rPr sz="2000" spc="-20" dirty="0">
                <a:latin typeface="Calibri"/>
                <a:cs typeface="Calibri"/>
              </a:rPr>
              <a:t>: </a:t>
            </a:r>
            <a:r>
              <a:rPr sz="2000" spc="-15" dirty="0">
                <a:latin typeface="Calibri"/>
                <a:cs typeface="Calibri"/>
              </a:rPr>
              <a:t>invalidates </a:t>
            </a:r>
            <a:r>
              <a:rPr sz="2000" dirty="0">
                <a:latin typeface="Calibri"/>
                <a:cs typeface="Calibri"/>
              </a:rPr>
              <a:t>all </a:t>
            </a:r>
            <a:r>
              <a:rPr sz="2000" spc="-5" dirty="0">
                <a:latin typeface="Calibri"/>
                <a:cs typeface="Calibri"/>
              </a:rPr>
              <a:t>other </a:t>
            </a:r>
            <a:r>
              <a:rPr sz="2000" dirty="0">
                <a:latin typeface="Calibri"/>
                <a:cs typeface="Calibri"/>
              </a:rPr>
              <a:t>cached mappings </a:t>
            </a:r>
            <a:r>
              <a:rPr sz="2000" spc="-5" dirty="0">
                <a:latin typeface="Calibri"/>
                <a:cs typeface="Calibri"/>
              </a:rPr>
              <a:t>of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5" dirty="0">
                <a:latin typeface="Calibri"/>
                <a:cs typeface="Calibri"/>
              </a:rPr>
              <a:t>same file </a:t>
            </a:r>
            <a:r>
              <a:rPr sz="2000" spc="-10" dirty="0">
                <a:latin typeface="Calibri"/>
                <a:cs typeface="Calibri"/>
              </a:rPr>
              <a:t>(to </a:t>
            </a:r>
            <a:r>
              <a:rPr sz="2000" spc="-15" dirty="0">
                <a:latin typeface="Calibri"/>
                <a:cs typeface="Calibri"/>
              </a:rPr>
              <a:t>force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updating</a:t>
            </a:r>
            <a:r>
              <a:rPr lang="en-US" sz="2000" spc="-5" dirty="0">
                <a:latin typeface="Calibri"/>
                <a:cs typeface="Calibri"/>
              </a:rPr>
              <a:t>.</a:t>
            </a:r>
            <a:r>
              <a:rPr sz="2000" spc="-5" dirty="0">
                <a:latin typeface="Calibri"/>
                <a:cs typeface="Calibri"/>
              </a:rPr>
              <a:t>)</a:t>
            </a:r>
            <a:endParaRPr sz="20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4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Calibri"/>
                <a:cs typeface="Calibri"/>
              </a:rPr>
              <a:t>Returns </a:t>
            </a:r>
            <a:r>
              <a:rPr sz="2400" dirty="0">
                <a:latin typeface="Calibri"/>
                <a:cs typeface="Calibri"/>
              </a:rPr>
              <a:t>0 </a:t>
            </a:r>
            <a:r>
              <a:rPr sz="2400" spc="-5" dirty="0">
                <a:latin typeface="Calibri"/>
                <a:cs typeface="Calibri"/>
              </a:rPr>
              <a:t>on </a:t>
            </a:r>
            <a:r>
              <a:rPr sz="2400" dirty="0">
                <a:latin typeface="Calibri"/>
                <a:cs typeface="Calibri"/>
              </a:rPr>
              <a:t>success</a:t>
            </a:r>
            <a:r>
              <a:rPr lang="en-US" sz="2400" dirty="0">
                <a:latin typeface="Calibri"/>
                <a:cs typeface="Calibri"/>
              </a:rPr>
              <a:t> and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-1 on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failure</a:t>
            </a:r>
            <a:r>
              <a:rPr lang="en-US" sz="2400" spc="-5" dirty="0">
                <a:latin typeface="Calibri"/>
                <a:cs typeface="Calibri"/>
              </a:rPr>
              <a:t> and </a:t>
            </a:r>
            <a:r>
              <a:rPr lang="en-US" sz="2400" spc="-10" dirty="0">
                <a:latin typeface="Calibri"/>
                <a:cs typeface="Calibri"/>
              </a:rPr>
              <a:t>sets</a:t>
            </a:r>
            <a:r>
              <a:rPr lang="en-US" sz="2400" spc="85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lang="en-US" sz="2400" spc="-15" dirty="0">
                <a:latin typeface="Calibri"/>
                <a:cs typeface="Calibri"/>
              </a:rPr>
              <a:t>.</a:t>
            </a:r>
            <a:endParaRPr sz="2400" spc="-15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61474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Giving </a:t>
            </a:r>
            <a:r>
              <a:rPr spc="-30" dirty="0"/>
              <a:t>Advice </a:t>
            </a:r>
            <a:r>
              <a:rPr spc="-15" dirty="0"/>
              <a:t>on </a:t>
            </a:r>
            <a:r>
              <a:rPr dirty="0"/>
              <a:t>a</a:t>
            </a:r>
            <a:r>
              <a:rPr spc="-300" dirty="0"/>
              <a:t> </a:t>
            </a:r>
            <a:r>
              <a:rPr spc="-35" dirty="0"/>
              <a:t>Mapping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45945"/>
            <a:ext cx="9674861" cy="4483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ts val="283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Calibri"/>
                <a:cs typeface="Calibri"/>
              </a:rPr>
              <a:t>Hints on </a:t>
            </a:r>
            <a:r>
              <a:rPr sz="2400" spc="-10" dirty="0">
                <a:latin typeface="Calibri"/>
                <a:cs typeface="Calibri"/>
              </a:rPr>
              <a:t>how </a:t>
            </a:r>
            <a:r>
              <a:rPr sz="2400" dirty="0">
                <a:latin typeface="Calibri"/>
                <a:cs typeface="Calibri"/>
              </a:rPr>
              <a:t>mapping will </a:t>
            </a:r>
            <a:r>
              <a:rPr sz="2400" spc="-5" dirty="0">
                <a:latin typeface="Calibri"/>
                <a:cs typeface="Calibri"/>
              </a:rPr>
              <a:t>be used </a:t>
            </a:r>
            <a:r>
              <a:rPr lang="en-US" sz="2400" spc="-5" dirty="0">
                <a:latin typeface="Calibri"/>
                <a:cs typeface="Calibri"/>
              </a:rPr>
              <a:t>to </a:t>
            </a:r>
            <a:r>
              <a:rPr sz="2400" spc="-5" dirty="0">
                <a:latin typeface="Calibri"/>
                <a:cs typeface="Calibri"/>
              </a:rPr>
              <a:t>allow </a:t>
            </a:r>
            <a:r>
              <a:rPr sz="2400" spc="-15" dirty="0">
                <a:latin typeface="Calibri"/>
                <a:cs typeface="Calibri"/>
              </a:rPr>
              <a:t>kernel to </a:t>
            </a:r>
            <a:r>
              <a:rPr sz="2400" spc="-10" dirty="0">
                <a:latin typeface="Calibri"/>
                <a:cs typeface="Calibri"/>
              </a:rPr>
              <a:t>optimize </a:t>
            </a:r>
            <a:r>
              <a:rPr sz="2400" dirty="0">
                <a:latin typeface="Calibri"/>
                <a:cs typeface="Calibri"/>
              </a:rPr>
              <a:t>its</a:t>
            </a:r>
            <a:r>
              <a:rPr sz="2400" spc="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behavior</a:t>
            </a:r>
            <a:r>
              <a:rPr lang="en-US" sz="2400" spc="-10" dirty="0">
                <a:latin typeface="Calibri"/>
                <a:cs typeface="Calibri"/>
              </a:rPr>
              <a:t>:</a:t>
            </a:r>
            <a:endParaRPr sz="2400" dirty="0">
              <a:latin typeface="Calibri"/>
              <a:cs typeface="Calibri"/>
            </a:endParaRPr>
          </a:p>
          <a:p>
            <a:pPr marL="469900"/>
            <a:r>
              <a:rPr sz="2000" spc="-1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#include &lt;sys/mman.h&gt;</a:t>
            </a:r>
          </a:p>
          <a:p>
            <a:pPr marL="469900"/>
            <a:r>
              <a:rPr sz="2000" spc="-1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int madvise (void *addr, size_t len, int advice);</a:t>
            </a:r>
          </a:p>
          <a:p>
            <a:pPr>
              <a:spcBef>
                <a:spcPts val="55"/>
              </a:spcBef>
            </a:pPr>
            <a:endParaRPr sz="2000" spc="-10" dirty="0">
              <a:solidFill>
                <a:srgbClr val="0070C0"/>
              </a:solidFill>
              <a:latin typeface="Consolas" panose="020B0609020204030204" pitchFamily="49" charset="0"/>
              <a:cs typeface="Calibri"/>
            </a:endParaRPr>
          </a:p>
          <a:p>
            <a:pPr marL="469900"/>
            <a:r>
              <a:rPr sz="2000" spc="-1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int ret = madvise (addr, len, </a:t>
            </a:r>
            <a:r>
              <a:rPr sz="2000" spc="-10" dirty="0" err="1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MADV_SEQUENTIAL</a:t>
            </a:r>
            <a:r>
              <a:rPr sz="2000" spc="-1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);</a:t>
            </a:r>
            <a:r>
              <a:rPr lang="en-US" sz="2000" spc="-1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 </a:t>
            </a:r>
            <a:r>
              <a:rPr lang="en-US" sz="2000" i="1" spc="-10" dirty="0">
                <a:latin typeface="Consolas" panose="020B0609020204030204" pitchFamily="49" charset="0"/>
                <a:cs typeface="Calibri"/>
              </a:rPr>
              <a:t>/* Example */</a:t>
            </a:r>
            <a:endParaRPr sz="2000" i="1" spc="-10" dirty="0">
              <a:latin typeface="Consolas" panose="020B0609020204030204" pitchFamily="49" charset="0"/>
              <a:cs typeface="Calibri"/>
            </a:endParaRPr>
          </a:p>
          <a:p>
            <a:pPr marL="469900"/>
            <a:r>
              <a:rPr sz="2000" spc="-1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if (ret &lt; 0) perror ("madvise");</a:t>
            </a:r>
          </a:p>
          <a:p>
            <a:pPr marL="241300" indent="-228600">
              <a:lnSpc>
                <a:spcPct val="100000"/>
              </a:lnSpc>
              <a:spcBef>
                <a:spcPts val="13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If </a:t>
            </a:r>
            <a:r>
              <a:rPr sz="2200" spc="-1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len</a:t>
            </a:r>
            <a:r>
              <a:rPr sz="2400" i="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5" dirty="0">
                <a:latin typeface="Calibri"/>
                <a:cs typeface="Calibri"/>
              </a:rPr>
              <a:t>0, </a:t>
            </a:r>
            <a:r>
              <a:rPr sz="2400" spc="-15" dirty="0">
                <a:latin typeface="Calibri"/>
                <a:cs typeface="Calibri"/>
              </a:rPr>
              <a:t>kernel </a:t>
            </a:r>
            <a:r>
              <a:rPr sz="2400" dirty="0">
                <a:latin typeface="Calibri"/>
                <a:cs typeface="Calibri"/>
              </a:rPr>
              <a:t>applies the advice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entire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mapping</a:t>
            </a:r>
            <a:r>
              <a:rPr lang="en-US" sz="2400" spc="-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ts val="2775"/>
              </a:lnSpc>
              <a:spcBef>
                <a:spcPts val="135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25" dirty="0">
                <a:latin typeface="Calibri"/>
                <a:cs typeface="Calibri"/>
              </a:rPr>
              <a:t>Values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advice</a:t>
            </a:r>
            <a:r>
              <a:rPr sz="2400" spc="-5" dirty="0">
                <a:latin typeface="Calibri"/>
                <a:cs typeface="Calibri"/>
              </a:rPr>
              <a:t>: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ts val="218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MADV_NORMAL</a:t>
            </a:r>
            <a:r>
              <a:rPr sz="2000" spc="-5" dirty="0">
                <a:latin typeface="Calibri"/>
                <a:cs typeface="Calibri"/>
              </a:rPr>
              <a:t>: </a:t>
            </a:r>
            <a:r>
              <a:rPr sz="2000" spc="-10" dirty="0">
                <a:latin typeface="Calibri"/>
                <a:cs typeface="Calibri"/>
              </a:rPr>
              <a:t>kernel </a:t>
            </a:r>
            <a:r>
              <a:rPr lang="en-US" sz="2000" spc="-10" dirty="0">
                <a:latin typeface="Calibri"/>
                <a:cs typeface="Calibri"/>
              </a:rPr>
              <a:t>performs a</a:t>
            </a:r>
            <a:r>
              <a:rPr sz="2000" spc="-10" dirty="0">
                <a:latin typeface="Calibri"/>
                <a:cs typeface="Calibri"/>
              </a:rPr>
              <a:t> moderate </a:t>
            </a:r>
            <a:r>
              <a:rPr sz="2000" spc="-5" dirty="0">
                <a:latin typeface="Calibri"/>
                <a:cs typeface="Calibri"/>
              </a:rPr>
              <a:t>amount of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readahead</a:t>
            </a:r>
            <a:r>
              <a:rPr lang="en-US" sz="2000" spc="-5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ts val="218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MADV_RANDAM</a:t>
            </a:r>
            <a:r>
              <a:rPr sz="2000" spc="-5" dirty="0">
                <a:latin typeface="Calibri"/>
                <a:cs typeface="Calibri"/>
              </a:rPr>
              <a:t>: random </a:t>
            </a:r>
            <a:r>
              <a:rPr sz="2000" dirty="0">
                <a:latin typeface="Calibri"/>
                <a:cs typeface="Calibri"/>
              </a:rPr>
              <a:t>access</a:t>
            </a:r>
            <a:r>
              <a:rPr lang="en-US" sz="2000" dirty="0">
                <a:latin typeface="Calibri"/>
                <a:cs typeface="Calibri"/>
              </a:rPr>
              <a:t>;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kernel </a:t>
            </a:r>
            <a:r>
              <a:rPr sz="2000" spc="-5" dirty="0">
                <a:latin typeface="Calibri"/>
                <a:cs typeface="Calibri"/>
              </a:rPr>
              <a:t>disables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readahead</a:t>
            </a:r>
            <a:r>
              <a:rPr lang="en-US" sz="2000" spc="-5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ts val="2185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MADV_SEQUENTIAL</a:t>
            </a:r>
            <a:r>
              <a:rPr sz="2000" spc="-5" dirty="0">
                <a:latin typeface="Calibri"/>
                <a:cs typeface="Calibri"/>
              </a:rPr>
              <a:t>: </a:t>
            </a:r>
            <a:r>
              <a:rPr sz="2000" spc="-10" dirty="0">
                <a:latin typeface="Calibri"/>
                <a:cs typeface="Calibri"/>
              </a:rPr>
              <a:t>kernel performs </a:t>
            </a:r>
            <a:r>
              <a:rPr sz="2000" spc="-5" dirty="0">
                <a:latin typeface="Calibri"/>
                <a:cs typeface="Calibri"/>
              </a:rPr>
              <a:t>aggressive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readahead</a:t>
            </a:r>
            <a:r>
              <a:rPr lang="en-US" sz="2000" spc="-5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ts val="218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MADV_WILLNEED</a:t>
            </a:r>
            <a:r>
              <a:rPr sz="2000" spc="-5" dirty="0">
                <a:latin typeface="Calibri"/>
                <a:cs typeface="Calibri"/>
              </a:rPr>
              <a:t>: </a:t>
            </a:r>
            <a:r>
              <a:rPr sz="2000" dirty="0">
                <a:latin typeface="Calibri"/>
                <a:cs typeface="Calibri"/>
              </a:rPr>
              <a:t>access </a:t>
            </a:r>
            <a:r>
              <a:rPr lang="en-US" sz="2000" dirty="0">
                <a:latin typeface="Calibri"/>
                <a:cs typeface="Calibri"/>
              </a:rPr>
              <a:t>foreseen </a:t>
            </a:r>
            <a:r>
              <a:rPr sz="2000" dirty="0">
                <a:latin typeface="Calibri"/>
                <a:cs typeface="Calibri"/>
              </a:rPr>
              <a:t>in the </a:t>
            </a:r>
            <a:r>
              <a:rPr sz="2000" spc="-5" dirty="0">
                <a:latin typeface="Calibri"/>
                <a:cs typeface="Calibri"/>
              </a:rPr>
              <a:t>near future</a:t>
            </a:r>
            <a:r>
              <a:rPr lang="en-US" sz="2000" spc="-5" dirty="0">
                <a:latin typeface="Calibri"/>
                <a:cs typeface="Calibri"/>
              </a:rPr>
              <a:t>;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kernel initiates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readahead</a:t>
            </a:r>
            <a:r>
              <a:rPr lang="en-US" sz="2000" spc="-5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ts val="2285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MADV_DONTNEED</a:t>
            </a:r>
            <a:r>
              <a:rPr sz="2000" spc="-5" dirty="0">
                <a:latin typeface="Calibri"/>
                <a:cs typeface="Calibri"/>
              </a:rPr>
              <a:t>: </a:t>
            </a:r>
            <a:r>
              <a:rPr lang="en-US" sz="2000" spc="-5" dirty="0">
                <a:latin typeface="Calibri"/>
                <a:cs typeface="Calibri"/>
              </a:rPr>
              <a:t>access </a:t>
            </a:r>
            <a:r>
              <a:rPr sz="2000" spc="-5" dirty="0">
                <a:latin typeface="Calibri"/>
                <a:cs typeface="Calibri"/>
              </a:rPr>
              <a:t>not </a:t>
            </a:r>
            <a:r>
              <a:rPr lang="en-US" sz="2000" spc="-5" dirty="0">
                <a:latin typeface="Calibri"/>
                <a:cs typeface="Calibri"/>
              </a:rPr>
              <a:t>foreseen </a:t>
            </a:r>
            <a:r>
              <a:rPr sz="2000" spc="-5" dirty="0">
                <a:latin typeface="Calibri"/>
                <a:cs typeface="Calibri"/>
              </a:rPr>
              <a:t>in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5" dirty="0">
                <a:latin typeface="Calibri"/>
                <a:cs typeface="Calibri"/>
              </a:rPr>
              <a:t>near future</a:t>
            </a:r>
            <a:r>
              <a:rPr lang="en-US" sz="2000" spc="-5" dirty="0">
                <a:latin typeface="Calibri"/>
                <a:cs typeface="Calibri"/>
              </a:rPr>
              <a:t>; </a:t>
            </a:r>
            <a:r>
              <a:rPr sz="2000" spc="-10" dirty="0">
                <a:latin typeface="Calibri"/>
                <a:cs typeface="Calibri"/>
              </a:rPr>
              <a:t>kernel </a:t>
            </a:r>
            <a:r>
              <a:rPr sz="2000" spc="-5" dirty="0">
                <a:latin typeface="Calibri"/>
                <a:cs typeface="Calibri"/>
              </a:rPr>
              <a:t>frees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resources</a:t>
            </a:r>
            <a:r>
              <a:rPr lang="en-US" sz="2000" spc="-5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4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Calibri"/>
                <a:cs typeface="Calibri"/>
              </a:rPr>
              <a:t>Returns </a:t>
            </a:r>
            <a:r>
              <a:rPr sz="2400" dirty="0">
                <a:latin typeface="Calibri"/>
                <a:cs typeface="Calibri"/>
              </a:rPr>
              <a:t>0 </a:t>
            </a:r>
            <a:r>
              <a:rPr sz="2400" spc="-5" dirty="0">
                <a:latin typeface="Calibri"/>
                <a:cs typeface="Calibri"/>
              </a:rPr>
              <a:t>on </a:t>
            </a:r>
            <a:r>
              <a:rPr sz="2400" dirty="0">
                <a:latin typeface="Calibri"/>
                <a:cs typeface="Calibri"/>
              </a:rPr>
              <a:t>success</a:t>
            </a:r>
            <a:r>
              <a:rPr lang="en-US" sz="2400" dirty="0">
                <a:latin typeface="Calibri"/>
                <a:cs typeface="Calibri"/>
              </a:rPr>
              <a:t> and </a:t>
            </a:r>
            <a:r>
              <a:rPr lang="en-US" sz="2400" spc="-5" dirty="0">
                <a:latin typeface="Calibri"/>
                <a:cs typeface="Calibri"/>
              </a:rPr>
              <a:t>-1 on</a:t>
            </a:r>
            <a:r>
              <a:rPr lang="en-US" sz="2400" spc="-105" dirty="0">
                <a:latin typeface="Calibri"/>
                <a:cs typeface="Calibri"/>
              </a:rPr>
              <a:t> </a:t>
            </a:r>
            <a:r>
              <a:rPr lang="en-US" sz="2400" spc="-15" dirty="0">
                <a:latin typeface="Calibri"/>
                <a:cs typeface="Calibri"/>
              </a:rPr>
              <a:t>failure</a:t>
            </a:r>
            <a:r>
              <a:rPr lang="en-US" sz="2400" spc="-5" dirty="0">
                <a:latin typeface="Calibri"/>
                <a:cs typeface="Calibri"/>
              </a:rPr>
              <a:t> and </a:t>
            </a:r>
            <a:r>
              <a:rPr lang="en-US" sz="2400" spc="-10" dirty="0">
                <a:latin typeface="Calibri"/>
                <a:cs typeface="Calibri"/>
              </a:rPr>
              <a:t>sets</a:t>
            </a:r>
            <a:r>
              <a:rPr lang="en-US" sz="2400" spc="85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lang="en-US" sz="2400" spc="-1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219</TotalTime>
  <Words>2384</Words>
  <Application>Microsoft Office PowerPoint</Application>
  <PresentationFormat>Widescreen</PresentationFormat>
  <Paragraphs>185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Consolas</vt:lpstr>
      <vt:lpstr>Courier New</vt:lpstr>
      <vt:lpstr>Office Theme</vt:lpstr>
      <vt:lpstr>Linux System Programming Talking directly to the kernel and C library</vt:lpstr>
      <vt:lpstr>Ch4 – Advanced File I/O</vt:lpstr>
      <vt:lpstr>Scatter/Gather I/O</vt:lpstr>
      <vt:lpstr>Scatter/Gather I/O: Analogy</vt:lpstr>
      <vt:lpstr>PowerPoint Presentation</vt:lpstr>
      <vt:lpstr>readv() and writev()</vt:lpstr>
      <vt:lpstr>writev() example</vt:lpstr>
      <vt:lpstr>readv() example</vt:lpstr>
      <vt:lpstr>Mapping Files into Memory</vt:lpstr>
      <vt:lpstr>Example of mmap()</vt:lpstr>
      <vt:lpstr>Page Size</vt:lpstr>
      <vt:lpstr>Removing a Mapping Made by mmap()</vt:lpstr>
      <vt:lpstr>Mapping Example</vt:lpstr>
      <vt:lpstr>Advantages/Disadvantages of mmap()</vt:lpstr>
      <vt:lpstr>Resizing a Mapping</vt:lpstr>
      <vt:lpstr>Other Use for mremap()</vt:lpstr>
      <vt:lpstr>Changing the Protection of a Mapping</vt:lpstr>
      <vt:lpstr>Synchronizing a File with a Mapping</vt:lpstr>
      <vt:lpstr>Giving Advice on a Mapping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System Programming</dc:title>
  <dc:creator>xiang</dc:creator>
  <cp:lastModifiedBy>Miriam Briskman</cp:lastModifiedBy>
  <cp:revision>89</cp:revision>
  <dcterms:created xsi:type="dcterms:W3CDTF">2021-02-04T00:51:04Z</dcterms:created>
  <dcterms:modified xsi:type="dcterms:W3CDTF">2023-03-08T12:12:56Z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2020-02-26T00:00:00Z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2021-02-04T00:00:00Z</vt:filetime>
  </property>
</Properties>
</file>