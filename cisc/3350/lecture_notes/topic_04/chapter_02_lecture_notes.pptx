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7" autoAdjust="0"/>
    <p:restoredTop sz="91737" autoAdjust="0"/>
  </p:normalViewPr>
  <p:slideViewPr>
    <p:cSldViewPr>
      <p:cViewPr varScale="1">
        <p:scale>
          <a:sx n="59" d="100"/>
          <a:sy n="59" d="100"/>
        </p:scale>
        <p:origin x="8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824F3-B1EE-46C7-BEBA-583F40465B73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D883-F338-42A9-8D68-07E3FA9C2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9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0,1,2, one could also use the already-defined constants: </a:t>
            </a:r>
            <a:r>
              <a:rPr lang="en-US" sz="1800" b="0" i="0" u="none" strike="noStrike" baseline="0" dirty="0" err="1">
                <a:latin typeface="UbuntuMono-Regular"/>
              </a:rPr>
              <a:t>STDIN_FILENO</a:t>
            </a:r>
            <a:r>
              <a:rPr lang="en-US" sz="1800" b="0" i="0" u="none" strike="noStrike" baseline="0" dirty="0">
                <a:latin typeface="MinionPro-Regular"/>
              </a:rPr>
              <a:t>, </a:t>
            </a:r>
            <a:r>
              <a:rPr lang="en-US" sz="1800" b="0" i="0" u="none" strike="noStrike" baseline="0" dirty="0" err="1">
                <a:latin typeface="UbuntuMono-Regular"/>
              </a:rPr>
              <a:t>STDOUT_FILENO</a:t>
            </a:r>
            <a:r>
              <a:rPr lang="en-US" sz="1800" b="0" i="0" u="none" strike="noStrike" baseline="0" dirty="0">
                <a:latin typeface="MinionPro-Regular"/>
              </a:rPr>
              <a:t>, and </a:t>
            </a:r>
            <a:r>
              <a:rPr lang="en-US" sz="1800" b="0" i="0" u="none" strike="noStrike" baseline="0" dirty="0" err="1">
                <a:latin typeface="UbuntuMono-Regular"/>
              </a:rPr>
              <a:t>STDERR_FILENO</a:t>
            </a:r>
            <a:r>
              <a:rPr lang="en-US" sz="1800" b="0" i="0" u="none" strike="noStrike" baseline="0" dirty="0">
                <a:latin typeface="UbuntuMono-Regular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4D883-F338-42A9-8D68-07E3FA9C2D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98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1244" y="609676"/>
            <a:ext cx="650951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661"/>
            <a:ext cx="10358120" cy="4294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7809" y="4534027"/>
            <a:ext cx="1517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File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I/O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BB281-006A-5867-DA0F-E98F580BFC21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919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Chapter </a:t>
            </a:r>
            <a:r>
              <a:rPr dirty="0"/>
              <a:t>2 – </a:t>
            </a:r>
            <a:r>
              <a:rPr spc="-15" dirty="0"/>
              <a:t>File</a:t>
            </a:r>
            <a:r>
              <a:rPr spc="-345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232390" cy="472821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The k</a:t>
            </a:r>
            <a:r>
              <a:rPr sz="2800" spc="-10" dirty="0">
                <a:latin typeface="Calibri"/>
                <a:cs typeface="Calibri"/>
              </a:rPr>
              <a:t>ernel maintains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per-process list </a:t>
            </a:r>
            <a:r>
              <a:rPr sz="2800" spc="-5" dirty="0">
                <a:latin typeface="Calibri"/>
                <a:cs typeface="Calibri"/>
              </a:rPr>
              <a:t>of open files – </a:t>
            </a:r>
            <a:r>
              <a:rPr sz="2800" i="1" spc="-5" dirty="0">
                <a:latin typeface="Calibri"/>
                <a:cs typeface="Calibri"/>
              </a:rPr>
              <a:t>file</a:t>
            </a:r>
            <a:r>
              <a:rPr sz="2800" i="1" spc="165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table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5" dirty="0">
                <a:latin typeface="Calibri"/>
                <a:cs typeface="Calibri"/>
              </a:rPr>
              <a:t>indexed </a:t>
            </a:r>
            <a:r>
              <a:rPr sz="2800" spc="-5" dirty="0">
                <a:latin typeface="Calibri"/>
                <a:cs typeface="Calibri"/>
              </a:rPr>
              <a:t>via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15" dirty="0">
                <a:latin typeface="Calibri"/>
                <a:cs typeface="Calibri"/>
              </a:rPr>
              <a:t>descriptors </a:t>
            </a:r>
            <a:r>
              <a:rPr sz="2800" spc="-20" dirty="0">
                <a:latin typeface="Calibri"/>
                <a:cs typeface="Calibri"/>
              </a:rPr>
              <a:t>(</a:t>
            </a:r>
            <a:r>
              <a:rPr sz="2800" i="1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20" dirty="0">
                <a:latin typeface="Calibri"/>
                <a:cs typeface="Calibri"/>
              </a:rPr>
              <a:t>s), </a:t>
            </a:r>
            <a:r>
              <a:rPr sz="2800" spc="-10" dirty="0">
                <a:latin typeface="Calibri"/>
                <a:cs typeface="Calibri"/>
              </a:rPr>
              <a:t>used both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user-space and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5" dirty="0">
                <a:latin typeface="Calibri"/>
                <a:cs typeface="Calibri"/>
              </a:rPr>
              <a:t>space in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primary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 </a:t>
            </a:r>
            <a:r>
              <a:rPr sz="2800" spc="-5" dirty="0">
                <a:latin typeface="Calibri"/>
                <a:cs typeface="Calibri"/>
              </a:rPr>
              <a:t>entry in the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includes a </a:t>
            </a:r>
            <a:r>
              <a:rPr sz="2800" spc="-15" dirty="0">
                <a:latin typeface="Calibri"/>
                <a:cs typeface="Calibri"/>
              </a:rPr>
              <a:t>pointer to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in-memory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inode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7343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process has </a:t>
            </a:r>
            <a:r>
              <a:rPr lang="en-US" sz="2800" spc="-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configurable </a:t>
            </a:r>
            <a:r>
              <a:rPr sz="2800" spc="-10" dirty="0">
                <a:latin typeface="Calibri"/>
                <a:cs typeface="Calibri"/>
              </a:rPr>
              <a:t>upper </a:t>
            </a:r>
            <a:r>
              <a:rPr sz="2800" spc="-5" dirty="0">
                <a:latin typeface="Calibri"/>
                <a:cs typeface="Calibri"/>
              </a:rPr>
              <a:t>limit of </a:t>
            </a:r>
            <a:r>
              <a:rPr sz="2800" spc="-10" dirty="0">
                <a:latin typeface="Calibri"/>
                <a:cs typeface="Calibri"/>
              </a:rPr>
              <a:t>open files </a:t>
            </a:r>
            <a:r>
              <a:rPr sz="2800" dirty="0">
                <a:latin typeface="Calibri"/>
                <a:cs typeface="Calibri"/>
              </a:rPr>
              <a:t>(1k </a:t>
            </a:r>
            <a:r>
              <a:rPr lang="en-US" sz="2800" spc="-5" dirty="0">
                <a:latin typeface="Calibri"/>
                <a:cs typeface="Calibri"/>
              </a:rPr>
              <a:t>by</a:t>
            </a:r>
            <a:r>
              <a:rPr sz="2800" spc="-5" dirty="0">
                <a:latin typeface="Calibri"/>
                <a:cs typeface="Calibri"/>
              </a:rPr>
              <a:t>  </a:t>
            </a:r>
            <a:r>
              <a:rPr sz="2800" spc="-15" dirty="0">
                <a:latin typeface="Calibri"/>
                <a:cs typeface="Calibri"/>
              </a:rPr>
              <a:t>default), </a:t>
            </a:r>
            <a:r>
              <a:rPr sz="2800" spc="-5" dirty="0">
                <a:latin typeface="Calibri"/>
                <a:cs typeface="Calibri"/>
              </a:rPr>
              <a:t>so -1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often used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indicate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71780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Conventionally</a:t>
            </a:r>
            <a:r>
              <a:rPr lang="en-US" sz="2800" spc="-1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30" dirty="0">
                <a:latin typeface="Calibri"/>
                <a:cs typeface="Calibri"/>
              </a:rPr>
              <a:t>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0, 1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and 2 </a:t>
            </a:r>
            <a:r>
              <a:rPr sz="2800" spc="-15" dirty="0">
                <a:latin typeface="Calibri"/>
                <a:cs typeface="Calibri"/>
              </a:rPr>
              <a:t>represent 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stdin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(keyboard)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2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(display)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stderr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(display) </a:t>
            </a:r>
            <a:r>
              <a:rPr sz="2800" spc="-10" dirty="0">
                <a:latin typeface="Calibri"/>
                <a:cs typeface="Calibri"/>
              </a:rPr>
              <a:t>respectively (they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open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default</a:t>
            </a:r>
            <a:r>
              <a:rPr lang="en-US" sz="2800" spc="-15" dirty="0"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30" dirty="0">
                <a:latin typeface="Calibri"/>
                <a:cs typeface="Calibri"/>
              </a:rPr>
              <a:t>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also </a:t>
            </a:r>
            <a:r>
              <a:rPr sz="2800" spc="-30" dirty="0">
                <a:latin typeface="Calibri"/>
                <a:cs typeface="Calibri"/>
              </a:rPr>
              <a:t>refer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special files (</a:t>
            </a:r>
            <a:r>
              <a:rPr lang="en-US" sz="2800" spc="-10" dirty="0">
                <a:latin typeface="Calibri"/>
                <a:cs typeface="Calibri"/>
              </a:rPr>
              <a:t>“E</a:t>
            </a:r>
            <a:r>
              <a:rPr sz="2800" spc="-10" dirty="0">
                <a:latin typeface="Calibri"/>
                <a:cs typeface="Calibri"/>
              </a:rPr>
              <a:t>verything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Linux</a:t>
            </a:r>
            <a:r>
              <a:rPr lang="en-US" sz="2800" spc="-10" dirty="0">
                <a:latin typeface="Calibri"/>
                <a:cs typeface="Calibri"/>
              </a:rPr>
              <a:t>."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child </a:t>
            </a:r>
            <a:r>
              <a:rPr sz="2800" spc="-10" dirty="0">
                <a:latin typeface="Calibri"/>
                <a:cs typeface="Calibri"/>
              </a:rPr>
              <a:t>process receives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copy </a:t>
            </a:r>
            <a:r>
              <a:rPr sz="2800" spc="-5" dirty="0">
                <a:latin typeface="Calibri"/>
                <a:cs typeface="Calibri"/>
              </a:rPr>
              <a:t>of its </a:t>
            </a:r>
            <a:r>
              <a:rPr sz="2800" spc="-20" dirty="0">
                <a:latin typeface="Calibri"/>
                <a:cs typeface="Calibri"/>
              </a:rPr>
              <a:t>parent’s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D393E2-5957-4753-8494-C02C8230F3D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0591800" y="2971800"/>
            <a:ext cx="557529" cy="304800"/>
          </a:xfrm>
          <a:prstGeom prst="straightConnector1">
            <a:avLst/>
          </a:prstGeom>
          <a:ln w="12700"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CD64242-F333-4FB6-A2DF-12E03F96C3EE}"/>
              </a:ext>
            </a:extLst>
          </p:cNvPr>
          <p:cNvSpPr/>
          <p:nvPr/>
        </p:nvSpPr>
        <p:spPr>
          <a:xfrm>
            <a:off x="11149329" y="2590800"/>
            <a:ext cx="737871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09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Opening</a:t>
            </a:r>
            <a:r>
              <a:rPr spc="-170" dirty="0"/>
              <a:t> </a:t>
            </a:r>
            <a:r>
              <a:rPr spc="-15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8925" y="1517771"/>
            <a:ext cx="3262075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sz="2600" spc="-10" dirty="0">
                <a:latin typeface="Calibri"/>
                <a:cs typeface="Calibri"/>
              </a:rPr>
              <a:t>/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creat()</a:t>
            </a:r>
            <a:endParaRPr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1940680"/>
            <a:ext cx="290957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6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&lt;sys/</a:t>
            </a:r>
            <a:r>
              <a:rPr sz="1600" spc="-5" dirty="0" err="1">
                <a:solidFill>
                  <a:srgbClr val="0070C0"/>
                </a:solidFill>
                <a:latin typeface="Consolas"/>
                <a:cs typeface="Consolas"/>
              </a:rPr>
              <a:t>stat.h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&lt;fcntl.h&gt;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1400" y="1940679"/>
            <a:ext cx="66294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nsolas"/>
                <a:cs typeface="Consolas"/>
              </a:rPr>
              <a:t>// </a:t>
            </a:r>
            <a:r>
              <a:rPr sz="1600" i="1" spc="-5" dirty="0">
                <a:latin typeface="Consolas"/>
                <a:cs typeface="Consolas"/>
              </a:rPr>
              <a:t>defines types </a:t>
            </a:r>
            <a:r>
              <a:rPr sz="1600" i="1" spc="-10" dirty="0">
                <a:latin typeface="Consolas"/>
                <a:cs typeface="Consolas"/>
              </a:rPr>
              <a:t>such </a:t>
            </a:r>
            <a:r>
              <a:rPr sz="1600" i="1" dirty="0">
                <a:latin typeface="Consolas"/>
                <a:cs typeface="Consolas"/>
              </a:rPr>
              <a:t>as </a:t>
            </a:r>
            <a:r>
              <a:rPr sz="1600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sz="1600" i="1" spc="-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(usually </a:t>
            </a:r>
            <a:r>
              <a:rPr sz="1600" i="1" spc="-5" dirty="0">
                <a:latin typeface="Consolas"/>
                <a:cs typeface="Consolas"/>
              </a:rPr>
              <a:t>unsigned</a:t>
            </a:r>
            <a:r>
              <a:rPr sz="1600" i="1" spc="-20" dirty="0">
                <a:latin typeface="Consolas"/>
                <a:cs typeface="Consolas"/>
              </a:rPr>
              <a:t> </a:t>
            </a:r>
            <a:r>
              <a:rPr sz="1600" i="1" spc="-5" dirty="0">
                <a:latin typeface="Consolas"/>
                <a:cs typeface="Consolas"/>
              </a:rPr>
              <a:t>integer)</a:t>
            </a:r>
            <a:endParaRPr sz="1600" i="1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600" spc="-5" dirty="0">
                <a:latin typeface="Consolas"/>
                <a:cs typeface="Consolas"/>
              </a:rPr>
              <a:t>// </a:t>
            </a:r>
            <a:r>
              <a:rPr sz="1600" i="1" spc="-5" dirty="0">
                <a:latin typeface="Consolas"/>
                <a:cs typeface="Consolas"/>
              </a:rPr>
              <a:t>defines modes </a:t>
            </a:r>
            <a:r>
              <a:rPr sz="1600" i="1" spc="-10" dirty="0">
                <a:latin typeface="Consolas"/>
                <a:cs typeface="Consolas"/>
              </a:rPr>
              <a:t>such </a:t>
            </a:r>
            <a:r>
              <a:rPr sz="1600" i="1" dirty="0">
                <a:latin typeface="Consolas"/>
                <a:cs typeface="Consolas"/>
              </a:rPr>
              <a:t>as </a:t>
            </a:r>
            <a:r>
              <a:rPr sz="1600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S_IRUSR </a:t>
            </a:r>
            <a:r>
              <a:rPr sz="1600" i="1" spc="-5" dirty="0">
                <a:latin typeface="Consolas"/>
                <a:cs typeface="Consolas"/>
              </a:rPr>
              <a:t>(=0000400, r for</a:t>
            </a:r>
            <a:r>
              <a:rPr sz="1600" i="1" spc="-50" dirty="0">
                <a:latin typeface="Consolas"/>
                <a:cs typeface="Consolas"/>
              </a:rPr>
              <a:t> </a:t>
            </a:r>
            <a:r>
              <a:rPr sz="1600" i="1" spc="-5" dirty="0">
                <a:latin typeface="Consolas"/>
                <a:cs typeface="Consolas"/>
              </a:rPr>
              <a:t>owner)</a:t>
            </a:r>
            <a:endParaRPr lang="en-US" sz="1600" i="1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600" spc="-5" dirty="0">
                <a:latin typeface="Consolas"/>
                <a:cs typeface="Consolas"/>
              </a:rPr>
              <a:t>// </a:t>
            </a:r>
            <a:r>
              <a:rPr sz="1600" i="1" spc="-5" dirty="0">
                <a:latin typeface="Consolas"/>
                <a:cs typeface="Consolas"/>
              </a:rPr>
              <a:t>defines flags </a:t>
            </a:r>
            <a:r>
              <a:rPr sz="1600" i="1" spc="-10" dirty="0">
                <a:latin typeface="Consolas"/>
                <a:cs typeface="Consolas"/>
              </a:rPr>
              <a:t>such </a:t>
            </a:r>
            <a:r>
              <a:rPr sz="1600" i="1" dirty="0">
                <a:latin typeface="Consolas"/>
                <a:cs typeface="Consolas"/>
              </a:rPr>
              <a:t>as</a:t>
            </a:r>
            <a:r>
              <a:rPr sz="1600" i="1" spc="-40" dirty="0">
                <a:latin typeface="Consolas"/>
                <a:cs typeface="Consolas"/>
              </a:rPr>
              <a:t> </a:t>
            </a:r>
            <a:r>
              <a:rPr sz="1600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O_RDONLY</a:t>
            </a:r>
            <a:endParaRPr sz="16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3000" y="2705880"/>
            <a:ext cx="10940295" cy="356225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40"/>
              </a:spcBef>
              <a:tabLst>
                <a:tab pos="241300" algn="l"/>
              </a:tabLst>
            </a:pPr>
            <a:r>
              <a:rPr lang="en-US" sz="1600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1600" i="1" dirty="0">
                <a:latin typeface="Consolas" panose="020B0609020204030204" pitchFamily="49" charset="0"/>
                <a:cs typeface="Calibri"/>
              </a:rPr>
              <a:t>Returns -1 for error; ‘flags’ should match permissions:</a:t>
            </a:r>
            <a:endParaRPr lang="en-US" sz="1600" i="1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12700">
              <a:spcBef>
                <a:spcPts val="40"/>
              </a:spcBef>
              <a:tabLst>
                <a:tab pos="241300" algn="l"/>
              </a:tabLst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 open (const char *name, int flags);</a:t>
            </a:r>
          </a:p>
          <a:p>
            <a:pPr marL="12700">
              <a:spcBef>
                <a:spcPts val="40"/>
              </a:spcBef>
              <a:tabLst>
                <a:tab pos="241300" algn="l"/>
              </a:tabLst>
            </a:pPr>
            <a:r>
              <a:rPr lang="en-US" sz="1600" dirty="0">
                <a:latin typeface="Consolas" panose="020B0609020204030204" pitchFamily="49" charset="0"/>
                <a:cs typeface="Calibri"/>
              </a:rPr>
              <a:t>// ‘</a:t>
            </a:r>
            <a:r>
              <a:rPr lang="en-US" sz="1600" i="1" dirty="0">
                <a:latin typeface="Consolas" panose="020B0609020204030204" pitchFamily="49" charset="0"/>
                <a:cs typeface="Calibri"/>
              </a:rPr>
              <a:t>mode’ is a permission </a:t>
            </a:r>
            <a:r>
              <a:rPr lang="en-US" sz="1600" i="1" dirty="0" err="1">
                <a:latin typeface="Consolas" panose="020B0609020204030204" pitchFamily="49" charset="0"/>
                <a:cs typeface="Calibri"/>
              </a:rPr>
              <a:t>bitset</a:t>
            </a:r>
            <a:r>
              <a:rPr lang="en-US" sz="1600" i="1" dirty="0">
                <a:latin typeface="Consolas" panose="020B0609020204030204" pitchFamily="49" charset="0"/>
                <a:cs typeface="Calibri"/>
              </a:rPr>
              <a:t> argument only used when 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O_CREATE</a:t>
            </a:r>
            <a:r>
              <a:rPr lang="en-US" sz="1600" i="1" dirty="0">
                <a:latin typeface="Consolas" panose="020B0609020204030204" pitchFamily="49" charset="0"/>
                <a:cs typeface="Calibri"/>
              </a:rPr>
              <a:t> is given in ‘flags’:</a:t>
            </a:r>
          </a:p>
          <a:p>
            <a:pPr marL="12700">
              <a:spcBef>
                <a:spcPts val="60"/>
              </a:spcBef>
              <a:tabLst>
                <a:tab pos="241300" algn="l"/>
              </a:tabLst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 open (const char *name, int flags,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mode_t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 mode); </a:t>
            </a:r>
            <a:endParaRPr lang="en-US" sz="1600" dirty="0">
              <a:latin typeface="Consolas" panose="020B0609020204030204" pitchFamily="49" charset="0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flags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(bi</a:t>
            </a:r>
            <a:r>
              <a:rPr lang="en-US" sz="2600" spc="-5" dirty="0">
                <a:latin typeface="Calibri"/>
                <a:cs typeface="Calibri"/>
              </a:rPr>
              <a:t>twise</a:t>
            </a:r>
            <a:r>
              <a:rPr sz="2600" spc="-5" dirty="0">
                <a:latin typeface="Calibri"/>
                <a:cs typeface="Calibri"/>
              </a:rPr>
              <a:t>-</a:t>
            </a:r>
            <a:r>
              <a:rPr sz="2600" spc="-5" dirty="0" err="1">
                <a:latin typeface="Calibri"/>
                <a:cs typeface="Calibri"/>
              </a:rPr>
              <a:t>ORed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50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O_RDONLY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O_WRONLY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O_RDWR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O_APPEND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O_CREAT (O_EXCL)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O_TRUNC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effective </a:t>
            </a:r>
            <a:r>
              <a:rPr sz="2600" spc="-10" dirty="0">
                <a:latin typeface="Calibri"/>
                <a:cs typeface="Calibri"/>
              </a:rPr>
              <a:t>uid/gid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will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uid/gid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created</a:t>
            </a:r>
            <a:r>
              <a:rPr sz="2600" spc="-1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mode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(binary-ORed)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500"/>
              </a:lnSpc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S_IRWXU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(owner</a:t>
            </a:r>
            <a:r>
              <a:rPr lang="en-US" spc="-10" dirty="0">
                <a:latin typeface="Calibri"/>
                <a:cs typeface="Calibri"/>
              </a:rPr>
              <a:t>: </a:t>
            </a:r>
            <a:r>
              <a:rPr spc="-5" dirty="0" err="1">
                <a:latin typeface="Calibri"/>
                <a:cs typeface="Calibri"/>
              </a:rPr>
              <a:t>rwx</a:t>
            </a:r>
            <a:r>
              <a:rPr spc="-5" dirty="0">
                <a:latin typeface="Calibri"/>
                <a:cs typeface="Calibri"/>
              </a:rPr>
              <a:t>), </a:t>
            </a:r>
            <a:r>
              <a:rPr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S_IRUSR</a:t>
            </a:r>
            <a:r>
              <a:rPr spc="-10" dirty="0">
                <a:latin typeface="Calibri"/>
                <a:cs typeface="Calibri"/>
              </a:rPr>
              <a:t> (own</a:t>
            </a:r>
            <a:r>
              <a:rPr lang="en-US" spc="-10" dirty="0">
                <a:latin typeface="Calibri"/>
                <a:cs typeface="Calibri"/>
              </a:rPr>
              <a:t>er: 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lang="en-US" spc="-5" dirty="0">
                <a:latin typeface="Calibri"/>
                <a:cs typeface="Calibri"/>
              </a:rPr>
              <a:t>ead</a:t>
            </a:r>
            <a:r>
              <a:rPr spc="-5" dirty="0">
                <a:latin typeface="Calibri"/>
                <a:cs typeface="Calibri"/>
              </a:rPr>
              <a:t>), </a:t>
            </a:r>
            <a:r>
              <a:rPr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S_IRGRP</a:t>
            </a:r>
            <a:r>
              <a:rPr lang="en-US" spc="-10" dirty="0">
                <a:latin typeface="Calibri"/>
                <a:cs typeface="Calibri"/>
              </a:rPr>
              <a:t> (group: read</a:t>
            </a:r>
            <a:r>
              <a:rPr lang="en-US" spc="-5" dirty="0">
                <a:latin typeface="Calibri"/>
                <a:cs typeface="Calibri"/>
              </a:rPr>
              <a:t>)</a:t>
            </a:r>
            <a:r>
              <a:rPr spc="-45" dirty="0">
                <a:latin typeface="Calibri"/>
                <a:cs typeface="Calibri"/>
              </a:rPr>
              <a:t>, </a:t>
            </a:r>
            <a:r>
              <a:rPr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_I</a:t>
            </a:r>
            <a:r>
              <a:rPr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ROTH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</a:t>
            </a:r>
            <a:r>
              <a:rPr lang="en-US" spc="-10" dirty="0">
                <a:latin typeface="Calibri"/>
                <a:cs typeface="Calibri"/>
              </a:rPr>
              <a:t>others: read</a:t>
            </a:r>
            <a:r>
              <a:rPr spc="-5" dirty="0">
                <a:latin typeface="Calibri"/>
                <a:cs typeface="Calibri"/>
              </a:rPr>
              <a:t>)</a:t>
            </a:r>
            <a:r>
              <a:rPr lang="en-US" spc="-5" dirty="0">
                <a:latin typeface="Calibri"/>
                <a:cs typeface="Calibri"/>
              </a:rPr>
              <a:t>, etc.</a:t>
            </a:r>
            <a:endParaRPr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actual bits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disk </a:t>
            </a:r>
            <a:r>
              <a:rPr sz="2600" spc="-10" dirty="0">
                <a:latin typeface="Calibri"/>
                <a:cs typeface="Calibri"/>
              </a:rPr>
              <a:t>are from </a:t>
            </a:r>
            <a:r>
              <a:rPr sz="2600" spc="-5" dirty="0">
                <a:latin typeface="Calibri"/>
                <a:cs typeface="Calibri"/>
              </a:rPr>
              <a:t>binary-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sz="2600" spc="-5" dirty="0">
                <a:latin typeface="Calibri"/>
                <a:cs typeface="Calibri"/>
              </a:rPr>
              <a:t>ing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mode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sz="2600" spc="-10" dirty="0">
                <a:latin typeface="Calibri"/>
                <a:cs typeface="Calibri"/>
              </a:rPr>
              <a:t>(umask)  </a:t>
            </a:r>
            <a:r>
              <a:rPr sz="2600" spc="-5" dirty="0">
                <a:latin typeface="Calibri"/>
                <a:cs typeface="Calibri"/>
              </a:rPr>
              <a:t>(umask specifies </a:t>
            </a:r>
            <a:r>
              <a:rPr sz="2600" dirty="0">
                <a:latin typeface="Calibri"/>
                <a:cs typeface="Calibri"/>
              </a:rPr>
              <a:t>which </a:t>
            </a:r>
            <a:r>
              <a:rPr sz="2600" spc="-5" dirty="0">
                <a:latin typeface="Calibri"/>
                <a:cs typeface="Calibri"/>
              </a:rPr>
              <a:t>bits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turned </a:t>
            </a:r>
            <a:r>
              <a:rPr sz="2600" spc="-50" dirty="0">
                <a:latin typeface="Calibri"/>
                <a:cs typeface="Calibri"/>
              </a:rPr>
              <a:t>off, </a:t>
            </a:r>
            <a:r>
              <a:rPr sz="2600" spc="-10" dirty="0">
                <a:latin typeface="Calibri"/>
                <a:cs typeface="Calibri"/>
              </a:rPr>
              <a:t>often defaults to </a:t>
            </a:r>
            <a:r>
              <a:rPr sz="2600" spc="-5" dirty="0">
                <a:latin typeface="Calibri"/>
                <a:cs typeface="Calibri"/>
              </a:rPr>
              <a:t>022 </a:t>
            </a:r>
            <a:r>
              <a:rPr sz="2600" dirty="0">
                <a:latin typeface="Calibri"/>
                <a:cs typeface="Calibri"/>
              </a:rPr>
              <a:t>(=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5" dirty="0" err="1">
                <a:latin typeface="Calibri"/>
                <a:cs typeface="Calibri"/>
              </a:rPr>
              <a:t>rwxr</a:t>
            </a:r>
            <a:r>
              <a:rPr sz="2600" spc="-5" dirty="0">
                <a:latin typeface="Calibri"/>
                <a:cs typeface="Calibri"/>
              </a:rPr>
              <a:t>-</a:t>
            </a:r>
            <a:r>
              <a:rPr sz="2600" spc="-5" dirty="0" err="1">
                <a:latin typeface="Calibri"/>
                <a:cs typeface="Calibri"/>
              </a:rPr>
              <a:t>xr</a:t>
            </a:r>
            <a:r>
              <a:rPr sz="2600" spc="-5" dirty="0">
                <a:latin typeface="Calibri"/>
                <a:cs typeface="Calibri"/>
              </a:rPr>
              <a:t>-x)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34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</a:t>
            </a:r>
            <a:r>
              <a:rPr spc="-140" dirty="0"/>
              <a:t> </a:t>
            </a:r>
            <a:r>
              <a:rPr spc="-55" dirty="0"/>
              <a:t>open/creat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825751"/>
            <a:ext cx="5724525" cy="4351020"/>
          </a:xfrm>
          <a:custGeom>
            <a:avLst/>
            <a:gdLst/>
            <a:ahLst/>
            <a:cxnLst/>
            <a:rect l="l" t="t" r="r" b="b"/>
            <a:pathLst>
              <a:path w="5724525" h="4351020">
                <a:moveTo>
                  <a:pt x="0" y="4351020"/>
                </a:moveTo>
                <a:lnTo>
                  <a:pt x="5724144" y="4351020"/>
                </a:lnTo>
                <a:lnTo>
                  <a:pt x="5724144" y="0"/>
                </a:lnTo>
                <a:lnTo>
                  <a:pt x="0" y="0"/>
                </a:lnTo>
                <a:lnTo>
                  <a:pt x="0" y="435102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40" y="1723923"/>
            <a:ext cx="5519420" cy="4499437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6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fd;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R="64135">
              <a:lnSpc>
                <a:spcPct val="80000"/>
              </a:lnSpc>
              <a:spcBef>
                <a:spcPts val="100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fd 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open (file, O_WRONLY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O_CREAT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O_TRUNC,  S_IWUSR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S_IRUSR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S_IWGRP | S_IRGRP |</a:t>
            </a:r>
            <a:r>
              <a:rPr sz="16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S_IROTH);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1600" spc="-5" dirty="0">
                <a:latin typeface="Consolas"/>
                <a:cs typeface="Consolas"/>
              </a:rPr>
              <a:t>// </a:t>
            </a:r>
            <a:r>
              <a:rPr lang="en-US" sz="1600" spc="-5" dirty="0">
                <a:latin typeface="Consolas"/>
                <a:cs typeface="Consolas"/>
              </a:rPr>
              <a:t>Note that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S_IWUSR</a:t>
            </a:r>
            <a:r>
              <a:rPr lang="en-US" i="1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S_IRUSR</a:t>
            </a:r>
            <a:r>
              <a:rPr lang="en-US" i="1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S_IWGRP</a:t>
            </a:r>
            <a:r>
              <a:rPr lang="en-US" i="1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S_IRGRP</a:t>
            </a:r>
            <a:r>
              <a:rPr lang="en-US" i="1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S_IROTH</a:t>
            </a:r>
            <a:r>
              <a:rPr lang="en-US" sz="1600" i="1" spc="-10" dirty="0">
                <a:latin typeface="Consolas"/>
              </a:rPr>
              <a:t> = </a:t>
            </a:r>
            <a:r>
              <a:rPr sz="1600" i="1" spc="-10" dirty="0">
                <a:latin typeface="Consolas"/>
                <a:cs typeface="Consolas"/>
              </a:rPr>
              <a:t>110 110 100 </a:t>
            </a:r>
            <a:r>
              <a:rPr sz="1600" i="1" spc="-5" dirty="0">
                <a:latin typeface="Consolas"/>
                <a:cs typeface="Consolas"/>
              </a:rPr>
              <a:t>=</a:t>
            </a:r>
            <a:r>
              <a:rPr sz="1600" i="1" spc="-1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0664</a:t>
            </a:r>
            <a:endParaRPr lang="en-US" sz="1600" i="1" spc="-1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lang="en-US" sz="1600" spc="-10" dirty="0">
                <a:latin typeface="Consolas"/>
                <a:cs typeface="Consolas"/>
              </a:rPr>
              <a:t>// </a:t>
            </a:r>
            <a:r>
              <a:rPr lang="en-US" sz="1600" i="1" spc="-10" dirty="0">
                <a:latin typeface="Consolas"/>
                <a:cs typeface="Consolas"/>
              </a:rPr>
              <a:t>The ‘</a:t>
            </a:r>
            <a:r>
              <a:rPr lang="en-US" sz="1600" spc="-10" dirty="0">
                <a:latin typeface="Consolas"/>
                <a:cs typeface="Consolas"/>
              </a:rPr>
              <a:t>|</a:t>
            </a:r>
            <a:r>
              <a:rPr lang="en-US" sz="1600" i="1" spc="-10" dirty="0">
                <a:latin typeface="Consolas"/>
                <a:cs typeface="Consolas"/>
              </a:rPr>
              <a:t>’ symbols are bitwise </a:t>
            </a:r>
            <a:r>
              <a:rPr lang="en-US" sz="1600" b="1" i="1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1600" i="1" spc="-10" dirty="0">
                <a:latin typeface="Consolas"/>
                <a:cs typeface="Consolas"/>
              </a:rPr>
              <a:t>s.</a:t>
            </a:r>
            <a:endParaRPr sz="1600" i="1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tabLst>
                <a:tab pos="1828800" algn="l"/>
              </a:tabLst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(fd</a:t>
            </a:r>
            <a:r>
              <a:rPr sz="16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6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−1)	</a:t>
            </a:r>
            <a:r>
              <a:rPr sz="1600" spc="-5" dirty="0">
                <a:latin typeface="Consolas"/>
                <a:cs typeface="Consolas"/>
              </a:rPr>
              <a:t>/*</a:t>
            </a:r>
            <a:r>
              <a:rPr sz="1600" i="1" spc="-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error</a:t>
            </a:r>
            <a:r>
              <a:rPr sz="1600" i="1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*/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lang="en-US" sz="1800" spc="-5" dirty="0">
                <a:latin typeface="Calibri"/>
                <a:cs typeface="Calibri"/>
              </a:rPr>
              <a:t>// </a:t>
            </a:r>
            <a:r>
              <a:rPr sz="1800" i="1" spc="-5" dirty="0">
                <a:latin typeface="Calibri"/>
                <a:cs typeface="Calibri"/>
              </a:rPr>
              <a:t>Or equivalently (using numeric</a:t>
            </a:r>
            <a:r>
              <a:rPr sz="1800" i="1" spc="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mode):</a:t>
            </a:r>
          </a:p>
          <a:p>
            <a:pPr>
              <a:lnSpc>
                <a:spcPct val="100000"/>
              </a:lnSpc>
              <a:spcBef>
                <a:spcPts val="635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6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fd;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R="397510">
              <a:lnSpc>
                <a:spcPts val="1540"/>
              </a:lnSpc>
              <a:spcBef>
                <a:spcPts val="98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fd 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open (file, O_WRONLY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O_CREAT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O_TRUNC,  0664);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1828800" algn="l"/>
              </a:tabLst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if (fd ==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−1)	</a:t>
            </a:r>
            <a:r>
              <a:rPr sz="1600" spc="-5" dirty="0">
                <a:latin typeface="Consolas"/>
                <a:cs typeface="Consolas"/>
              </a:rPr>
              <a:t>/*</a:t>
            </a:r>
            <a:r>
              <a:rPr sz="1600" i="1" spc="-5" dirty="0">
                <a:latin typeface="Consolas"/>
                <a:cs typeface="Consolas"/>
              </a:rPr>
              <a:t> error</a:t>
            </a:r>
            <a:r>
              <a:rPr sz="1600" i="1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*/</a:t>
            </a:r>
            <a:endParaRPr sz="1600" dirty="0">
              <a:latin typeface="Times New Roman"/>
              <a:cs typeface="Times New Roman"/>
            </a:endParaRPr>
          </a:p>
          <a:p>
            <a:pPr marR="5080">
              <a:lnSpc>
                <a:spcPct val="80000"/>
              </a:lnSpc>
            </a:pPr>
            <a:endParaRPr lang="en-US" sz="1450" dirty="0">
              <a:latin typeface="Times New Roman"/>
              <a:cs typeface="Times New Roman"/>
            </a:endParaRPr>
          </a:p>
          <a:p>
            <a:pPr marR="5080">
              <a:lnSpc>
                <a:spcPct val="80000"/>
              </a:lnSpc>
            </a:pPr>
            <a:r>
              <a:rPr lang="en-US" spc="-5" dirty="0">
                <a:latin typeface="Calibri" panose="020F0502020204030204" pitchFamily="34" charset="0"/>
                <a:cs typeface="Calibri" panose="020F0502020204030204" pitchFamily="34" charset="0"/>
              </a:rPr>
              <a:t>/*</a:t>
            </a:r>
            <a:r>
              <a:rPr lang="en-US" sz="1450" spc="-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Calibri"/>
                <a:cs typeface="Calibri"/>
              </a:rPr>
              <a:t>Handling </a:t>
            </a:r>
            <a:r>
              <a:rPr sz="1800" i="1" spc="-15" dirty="0">
                <a:latin typeface="Calibri"/>
                <a:cs typeface="Calibri"/>
              </a:rPr>
              <a:t>errors </a:t>
            </a:r>
            <a:r>
              <a:rPr sz="1800" i="1" spc="-5" dirty="0">
                <a:latin typeface="Calibri"/>
                <a:cs typeface="Calibri"/>
              </a:rPr>
              <a:t>on file open is usually simple. </a:t>
            </a:r>
            <a:r>
              <a:rPr lang="en-US" sz="1800" i="1" spc="-15" dirty="0">
                <a:latin typeface="Calibri"/>
                <a:cs typeface="Calibri"/>
              </a:rPr>
              <a:t>Typically,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 </a:t>
            </a:r>
            <a:r>
              <a:rPr sz="1800" i="1" spc="-15" dirty="0">
                <a:latin typeface="Calibri"/>
                <a:cs typeface="Calibri"/>
              </a:rPr>
              <a:t>program </a:t>
            </a:r>
            <a:r>
              <a:rPr sz="1800" i="1" dirty="0">
                <a:latin typeface="Calibri"/>
                <a:cs typeface="Calibri"/>
              </a:rPr>
              <a:t>either </a:t>
            </a:r>
            <a:r>
              <a:rPr sz="1800" i="1" spc="-5" dirty="0">
                <a:latin typeface="Calibri"/>
                <a:cs typeface="Calibri"/>
              </a:rPr>
              <a:t>asks </a:t>
            </a:r>
            <a:r>
              <a:rPr sz="1800" i="1" dirty="0">
                <a:latin typeface="Calibri"/>
                <a:cs typeface="Calibri"/>
              </a:rPr>
              <a:t>the </a:t>
            </a:r>
            <a:r>
              <a:rPr sz="1800" i="1" spc="-5" dirty="0">
                <a:latin typeface="Calibri"/>
                <a:cs typeface="Calibri"/>
              </a:rPr>
              <a:t>user </a:t>
            </a:r>
            <a:r>
              <a:rPr sz="1800" i="1" spc="-15" dirty="0">
                <a:latin typeface="Calibri"/>
                <a:cs typeface="Calibri"/>
              </a:rPr>
              <a:t>for </a:t>
            </a:r>
            <a:r>
              <a:rPr sz="1800" i="1" dirty="0">
                <a:latin typeface="Calibri"/>
                <a:cs typeface="Calibri"/>
              </a:rPr>
              <a:t>a </a:t>
            </a:r>
            <a:r>
              <a:rPr sz="1800" i="1" spc="-15" dirty="0">
                <a:latin typeface="Calibri"/>
                <a:cs typeface="Calibri"/>
              </a:rPr>
              <a:t>different </a:t>
            </a:r>
            <a:r>
              <a:rPr sz="1800" i="1" spc="-5" dirty="0">
                <a:latin typeface="Calibri"/>
                <a:cs typeface="Calibri"/>
              </a:rPr>
              <a:t>filename or </a:t>
            </a:r>
            <a:r>
              <a:rPr sz="1800" i="1" spc="-10" dirty="0">
                <a:latin typeface="Calibri"/>
                <a:cs typeface="Calibri"/>
              </a:rPr>
              <a:t>just terminates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25" dirty="0">
                <a:latin typeface="Calibri"/>
                <a:cs typeface="Calibri"/>
              </a:rPr>
              <a:t> </a:t>
            </a:r>
            <a:r>
              <a:rPr sz="1800" i="1" spc="-15" dirty="0">
                <a:latin typeface="Calibri"/>
                <a:cs typeface="Calibri"/>
              </a:rPr>
              <a:t>program</a:t>
            </a:r>
            <a:r>
              <a:rPr lang="en-US" i="1" spc="-15" dirty="0">
                <a:latin typeface="Calibri"/>
                <a:cs typeface="Calibri"/>
              </a:rPr>
              <a:t>. </a:t>
            </a:r>
            <a:r>
              <a:rPr lang="en-US" sz="1800" spc="-15" dirty="0">
                <a:latin typeface="Calibri"/>
                <a:cs typeface="Calibri"/>
              </a:rPr>
              <a:t>*/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1928" y="1825751"/>
            <a:ext cx="5724525" cy="4351020"/>
          </a:xfrm>
          <a:custGeom>
            <a:avLst/>
            <a:gdLst/>
            <a:ahLst/>
            <a:cxnLst/>
            <a:rect l="l" t="t" r="r" b="b"/>
            <a:pathLst>
              <a:path w="5724525" h="4351020">
                <a:moveTo>
                  <a:pt x="0" y="4351020"/>
                </a:moveTo>
                <a:lnTo>
                  <a:pt x="5724144" y="4351020"/>
                </a:lnTo>
                <a:lnTo>
                  <a:pt x="5724144" y="0"/>
                </a:lnTo>
                <a:lnTo>
                  <a:pt x="0" y="0"/>
                </a:lnTo>
                <a:lnTo>
                  <a:pt x="0" y="435102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74638" y="1720874"/>
            <a:ext cx="4792980" cy="147027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5"/>
              </a:spcBef>
            </a:pP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/* </a:t>
            </a:r>
            <a:r>
              <a:rPr lang="en-US" i="1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creat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i="1" spc="-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equivalent </a:t>
            </a:r>
            <a:r>
              <a:rPr lang="en-US" i="1" spc="-5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open() with</a:t>
            </a:r>
            <a:r>
              <a:rPr lang="en-US" i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flags: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O_WRONLY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5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i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O_CREAT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5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i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O_TRUNC</a:t>
            </a:r>
            <a:r>
              <a:rPr lang="en-US" i="1" spc="-1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*/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lang="en-US" sz="16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600" spc="-10" dirty="0" err="1">
                <a:solidFill>
                  <a:srgbClr val="0070C0"/>
                </a:solidFill>
                <a:latin typeface="Consolas"/>
                <a:cs typeface="Consolas"/>
              </a:rPr>
              <a:t>fd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endParaRPr lang="en-US"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20"/>
              </a:spcBef>
            </a:pPr>
            <a:r>
              <a:rPr lang="en-US" sz="1600" spc="-5" dirty="0" err="1">
                <a:solidFill>
                  <a:srgbClr val="0070C0"/>
                </a:solidFill>
                <a:latin typeface="Consolas"/>
                <a:cs typeface="Consolas"/>
              </a:rPr>
              <a:t>fd</a:t>
            </a:r>
            <a:r>
              <a:rPr lang="en-US" sz="1600" spc="-5" dirty="0">
                <a:solidFill>
                  <a:srgbClr val="0070C0"/>
                </a:solidFill>
                <a:latin typeface="Consolas"/>
                <a:cs typeface="Consolas"/>
              </a:rPr>
              <a:t> = </a:t>
            </a:r>
            <a:r>
              <a:rPr lang="en-US" sz="1600" spc="-10" dirty="0" err="1">
                <a:solidFill>
                  <a:srgbClr val="0070C0"/>
                </a:solidFill>
                <a:latin typeface="Consolas"/>
                <a:cs typeface="Consolas"/>
              </a:rPr>
              <a:t>creat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 (file, </a:t>
            </a:r>
            <a:r>
              <a:rPr lang="en-US" sz="1600" spc="-5" dirty="0">
                <a:solidFill>
                  <a:srgbClr val="0070C0"/>
                </a:solidFill>
                <a:latin typeface="Consolas"/>
                <a:cs typeface="Consolas"/>
              </a:rPr>
              <a:t>0644); </a:t>
            </a:r>
            <a:r>
              <a:rPr lang="en-US" sz="1600" spc="-5" dirty="0">
                <a:latin typeface="Consolas"/>
                <a:cs typeface="Consolas"/>
              </a:rPr>
              <a:t>// </a:t>
            </a:r>
            <a:r>
              <a:rPr lang="en-US" sz="1600" i="1" spc="-5" dirty="0">
                <a:latin typeface="Consolas"/>
                <a:cs typeface="Consolas"/>
              </a:rPr>
              <a:t>much</a:t>
            </a:r>
            <a:r>
              <a:rPr lang="en-US" sz="1600" i="1" spc="-50" dirty="0">
                <a:latin typeface="Consolas"/>
                <a:cs typeface="Consolas"/>
              </a:rPr>
              <a:t> </a:t>
            </a:r>
            <a:r>
              <a:rPr lang="en-US" sz="1600" i="1" spc="-5" dirty="0">
                <a:latin typeface="Consolas"/>
                <a:cs typeface="Consolas"/>
              </a:rPr>
              <a:t>simpler</a:t>
            </a:r>
            <a:endParaRPr lang="en-US" sz="1600" i="1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4638" y="3202278"/>
            <a:ext cx="3302762" cy="103938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5080">
              <a:lnSpc>
                <a:spcPct val="139200"/>
              </a:lnSpc>
              <a:spcBef>
                <a:spcPts val="2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if (fd ==</a:t>
            </a:r>
            <a:r>
              <a:rPr sz="1600" spc="-1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−1)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    </a:t>
            </a:r>
            <a:r>
              <a:rPr lang="en-US" sz="1600" spc="-5" dirty="0">
                <a:latin typeface="Consolas"/>
                <a:cs typeface="Consolas"/>
              </a:rPr>
              <a:t>/*</a:t>
            </a:r>
            <a:r>
              <a:rPr lang="en-US" sz="1600" i="1" spc="-5" dirty="0">
                <a:latin typeface="Consolas"/>
                <a:cs typeface="Consolas"/>
              </a:rPr>
              <a:t> error</a:t>
            </a:r>
            <a:r>
              <a:rPr lang="en-US" sz="1600" i="1" spc="-25" dirty="0">
                <a:latin typeface="Consolas"/>
                <a:cs typeface="Consolas"/>
              </a:rPr>
              <a:t> </a:t>
            </a:r>
            <a:r>
              <a:rPr lang="en-US" sz="1600" spc="-10" dirty="0">
                <a:latin typeface="Consolas"/>
                <a:cs typeface="Consolas"/>
              </a:rPr>
              <a:t>*/</a:t>
            </a:r>
          </a:p>
          <a:p>
            <a:pPr marR="5080">
              <a:lnSpc>
                <a:spcPct val="139200"/>
              </a:lnSpc>
              <a:spcBef>
                <a:spcPts val="20"/>
              </a:spcBef>
            </a:pPr>
            <a:r>
              <a:rPr lang="en-US" sz="1800" spc="-10" dirty="0">
                <a:latin typeface="Calibri"/>
                <a:cs typeface="Calibri"/>
              </a:rPr>
              <a:t>// </a:t>
            </a:r>
            <a:r>
              <a:rPr sz="1800" i="1" spc="-10" dirty="0">
                <a:latin typeface="Calibri"/>
                <a:cs typeface="Calibri"/>
              </a:rPr>
              <a:t>Equivalently:  </a:t>
            </a:r>
            <a:endParaRPr lang="en-US" sz="1800" i="1" spc="-10" dirty="0">
              <a:latin typeface="Calibri"/>
              <a:cs typeface="Calibri"/>
            </a:endParaRPr>
          </a:p>
          <a:p>
            <a:pPr marR="5080">
              <a:lnSpc>
                <a:spcPct val="139200"/>
              </a:lnSpc>
              <a:spcBef>
                <a:spcPts val="20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6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fd;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4638" y="4276725"/>
            <a:ext cx="5360162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fd 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open (file, O_WRONLY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O_CREAT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|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O_TRUNC,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ts val="1825"/>
              </a:lnSpc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0644);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tabLst>
                <a:tab pos="1828164" algn="l"/>
              </a:tabLst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(fd</a:t>
            </a:r>
            <a:r>
              <a:rPr sz="16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6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−1)	</a:t>
            </a:r>
            <a:r>
              <a:rPr sz="1600" spc="-5" dirty="0">
                <a:latin typeface="Consolas"/>
                <a:cs typeface="Consolas"/>
              </a:rPr>
              <a:t>/*</a:t>
            </a:r>
            <a:r>
              <a:rPr sz="1600" i="1" spc="-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error</a:t>
            </a:r>
            <a:r>
              <a:rPr sz="1600" i="1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*/</a:t>
            </a:r>
            <a:endParaRPr sz="1600" dirty="0">
              <a:latin typeface="Consolas"/>
              <a:cs typeface="Consolas"/>
            </a:endParaRPr>
          </a:p>
          <a:p>
            <a:pPr marR="166370">
              <a:lnSpc>
                <a:spcPts val="1939"/>
              </a:lnSpc>
              <a:spcBef>
                <a:spcPts val="1010"/>
              </a:spcBef>
            </a:pPr>
            <a:r>
              <a:rPr lang="en-US" sz="1800" spc="-5" dirty="0">
                <a:latin typeface="Calibri"/>
                <a:cs typeface="Calibri"/>
              </a:rPr>
              <a:t>/* </a:t>
            </a:r>
            <a:r>
              <a:rPr sz="1800" i="1" spc="-5" dirty="0">
                <a:latin typeface="Calibri"/>
                <a:cs typeface="Calibri"/>
              </a:rPr>
              <a:t>This </a:t>
            </a:r>
            <a:r>
              <a:rPr sz="1800" i="1" dirty="0">
                <a:latin typeface="Calibri"/>
                <a:cs typeface="Calibri"/>
              </a:rPr>
              <a:t>means </a:t>
            </a:r>
            <a:r>
              <a:rPr sz="1800" i="1" spc="-10" dirty="0">
                <a:latin typeface="Calibri"/>
                <a:cs typeface="Calibri"/>
              </a:rPr>
              <a:t>creat() could </a:t>
            </a:r>
            <a:r>
              <a:rPr sz="1800" i="1" spc="-5" dirty="0">
                <a:latin typeface="Calibri"/>
                <a:cs typeface="Calibri"/>
              </a:rPr>
              <a:t>be implemented</a:t>
            </a:r>
            <a:r>
              <a:rPr lang="en-US" sz="1800" i="1" spc="-5" dirty="0">
                <a:latin typeface="Calibri"/>
                <a:cs typeface="Calibri"/>
              </a:rPr>
              <a:t>, in some architectures,</a:t>
            </a:r>
            <a:r>
              <a:rPr sz="1800" i="1" spc="-5" dirty="0">
                <a:latin typeface="Calibri"/>
                <a:cs typeface="Calibri"/>
              </a:rPr>
              <a:t> by </a:t>
            </a:r>
            <a:r>
              <a:rPr sz="1800" i="1" spc="-10" dirty="0">
                <a:latin typeface="Calibri"/>
                <a:cs typeface="Calibri"/>
              </a:rPr>
              <a:t>invoking </a:t>
            </a:r>
            <a:r>
              <a:rPr sz="1800" i="1" spc="-5" dirty="0">
                <a:latin typeface="Calibri"/>
                <a:cs typeface="Calibri"/>
              </a:rPr>
              <a:t>open()</a:t>
            </a:r>
            <a:r>
              <a:rPr lang="en-US" sz="1800" i="1" spc="-5" dirty="0">
                <a:latin typeface="Calibri"/>
                <a:cs typeface="Calibri"/>
              </a:rPr>
              <a:t>. </a:t>
            </a:r>
            <a:r>
              <a:rPr lang="en-US" sz="1800" spc="-5" dirty="0">
                <a:latin typeface="Calibri"/>
                <a:cs typeface="Calibri"/>
              </a:rPr>
              <a:t>*/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8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spc="-15" dirty="0"/>
              <a:t>via</a:t>
            </a:r>
            <a:r>
              <a:rPr spc="-185" dirty="0"/>
              <a:t> </a:t>
            </a:r>
            <a:r>
              <a:rPr spc="-35" dirty="0"/>
              <a:t>read()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1784349"/>
            <a:ext cx="9141206" cy="57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5"/>
              </a:lnSpc>
              <a:spcBef>
                <a:spcPts val="95"/>
              </a:spcBef>
              <a:spcAft>
                <a:spcPts val="600"/>
              </a:spcAft>
            </a:pP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#include &lt;unistd.h&gt;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//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standard symbolic constants and</a:t>
            </a:r>
            <a:r>
              <a:rPr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types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ts val="1885"/>
              </a:lnSpc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read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len);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//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= signed</a:t>
            </a:r>
            <a:r>
              <a:rPr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endParaRPr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8" y="2661030"/>
            <a:ext cx="10208262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spc="-10" dirty="0">
                <a:latin typeface="Calibri"/>
                <a:cs typeface="Calibri"/>
              </a:rPr>
              <a:t>reads </a:t>
            </a:r>
            <a:r>
              <a:rPr sz="2400" spc="-5" dirty="0">
                <a:latin typeface="Calibri"/>
                <a:cs typeface="Calibri"/>
              </a:rPr>
              <a:t>up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offset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position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advanced 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dirty="0">
                <a:latin typeface="Calibri"/>
                <a:cs typeface="Calibri"/>
              </a:rPr>
              <a:t>number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bytes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lang="en-US" sz="2400" spc="5" dirty="0">
                <a:latin typeface="Calibri"/>
                <a:cs typeface="Calibri"/>
              </a:rPr>
              <a:t>that are </a:t>
            </a:r>
            <a:r>
              <a:rPr sz="2400" spc="-10" dirty="0">
                <a:latin typeface="Calibri"/>
                <a:cs typeface="Calibri"/>
              </a:rPr>
              <a:t>read</a:t>
            </a:r>
            <a:r>
              <a:rPr lang="en-US" sz="2400" spc="-10" dirty="0">
                <a:latin typeface="Calibri"/>
                <a:cs typeface="Calibri"/>
              </a:rPr>
              <a:t> in.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MUST 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allocated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10" dirty="0">
                <a:latin typeface="Calibri"/>
                <a:cs typeface="Calibri"/>
              </a:rPr>
              <a:t>length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before calling 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sz="2400" spc="-10" dirty="0">
                <a:latin typeface="Calibri"/>
                <a:cs typeface="Calibri"/>
              </a:rPr>
              <a:t>!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 success, </a:t>
            </a:r>
            <a:r>
              <a:rPr lang="en-US" sz="2400" spc="-5" dirty="0">
                <a:latin typeface="Calibri"/>
                <a:cs typeface="Calibri"/>
              </a:rPr>
              <a:t>the syscall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dirty="0">
                <a:latin typeface="Calibri"/>
                <a:cs typeface="Calibri"/>
              </a:rPr>
              <a:t>number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bytes </a:t>
            </a:r>
            <a:r>
              <a:rPr sz="2400" spc="-10" dirty="0">
                <a:latin typeface="Calibri"/>
                <a:cs typeface="Calibri"/>
              </a:rPr>
              <a:t>read (maybe </a:t>
            </a:r>
            <a:r>
              <a:rPr lang="en-US" sz="2400" dirty="0">
                <a:latin typeface="Calibri"/>
                <a:cs typeface="Calibri"/>
              </a:rPr>
              <a:t>less than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40" dirty="0">
                <a:latin typeface="Calibri"/>
                <a:cs typeface="Calibri"/>
              </a:rPr>
              <a:t>error</a:t>
            </a:r>
            <a:r>
              <a:rPr lang="en-US" sz="2400" spc="-40" dirty="0">
                <a:latin typeface="Calibri"/>
                <a:cs typeface="Calibri"/>
              </a:rPr>
              <a:t> 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returns -1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344" y="4651021"/>
            <a:ext cx="9465056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0"/>
              </a:lnSpc>
              <a:spcBef>
                <a:spcPts val="95"/>
              </a:spcBef>
              <a:spcAft>
                <a:spcPts val="600"/>
              </a:spcAft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unsigned long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word; </a:t>
            </a:r>
            <a:r>
              <a:rPr spc="-5" dirty="0">
                <a:latin typeface="Consolas"/>
                <a:cs typeface="Consolas"/>
              </a:rPr>
              <a:t>// </a:t>
            </a:r>
            <a:r>
              <a:rPr i="1" spc="-10" dirty="0">
                <a:latin typeface="Consolas"/>
                <a:cs typeface="Consolas"/>
              </a:rPr>
              <a:t>4-byte </a:t>
            </a:r>
            <a:r>
              <a:rPr i="1" spc="-5" dirty="0">
                <a:latin typeface="Consolas"/>
                <a:cs typeface="Consolas"/>
              </a:rPr>
              <a:t>on 32-bit </a:t>
            </a:r>
            <a:r>
              <a:rPr i="1" spc="-10" dirty="0">
                <a:latin typeface="Consolas"/>
                <a:cs typeface="Consolas"/>
              </a:rPr>
              <a:t>Linux, </a:t>
            </a:r>
            <a:r>
              <a:rPr i="1" spc="-5" dirty="0">
                <a:latin typeface="Consolas"/>
                <a:cs typeface="Consolas"/>
              </a:rPr>
              <a:t>8-byte on </a:t>
            </a:r>
            <a:r>
              <a:rPr i="1" spc="-10" dirty="0">
                <a:latin typeface="Consolas"/>
                <a:cs typeface="Consolas"/>
              </a:rPr>
              <a:t>64-bit</a:t>
            </a:r>
            <a:r>
              <a:rPr i="1" spc="25" dirty="0">
                <a:latin typeface="Consolas"/>
                <a:cs typeface="Consolas"/>
              </a:rPr>
              <a:t> </a:t>
            </a:r>
            <a:r>
              <a:rPr i="1" spc="-10" dirty="0">
                <a:latin typeface="Consolas"/>
                <a:cs typeface="Consolas"/>
              </a:rPr>
              <a:t>systems</a:t>
            </a:r>
            <a:endParaRPr i="1" dirty="0">
              <a:latin typeface="Consolas"/>
              <a:cs typeface="Consolas"/>
            </a:endParaRPr>
          </a:p>
          <a:p>
            <a:pPr marL="12700">
              <a:lnSpc>
                <a:spcPts val="1880"/>
              </a:lnSpc>
              <a:spcAft>
                <a:spcPts val="600"/>
              </a:spcAft>
            </a:pPr>
            <a:r>
              <a:rPr b="1" spc="-10" dirty="0">
                <a:solidFill>
                  <a:srgbClr val="0070C0"/>
                </a:solidFill>
                <a:latin typeface="Consolas"/>
                <a:cs typeface="Consolas"/>
              </a:rPr>
              <a:t>ssize_t</a:t>
            </a:r>
            <a:r>
              <a:rPr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/>
                <a:cs typeface="Consolas"/>
              </a:rPr>
              <a:t>nr;</a:t>
            </a:r>
            <a:endParaRPr lang="en-US" spc="-1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ts val="1880"/>
              </a:lnSpc>
              <a:spcAft>
                <a:spcPts val="600"/>
              </a:spcAft>
            </a:pPr>
            <a:r>
              <a:rPr lang="en-US" spc="-10" dirty="0">
                <a:latin typeface="Consolas"/>
                <a:cs typeface="Consolas"/>
              </a:rPr>
              <a:t>/* </a:t>
            </a:r>
            <a:r>
              <a:rPr lang="en-US" i="1" spc="-10" dirty="0">
                <a:latin typeface="Consolas"/>
                <a:cs typeface="Consolas"/>
              </a:rPr>
              <a:t>read a couple bytes into ‘word’ from ‘</a:t>
            </a:r>
            <a:r>
              <a:rPr lang="en-US" i="1" spc="-10" dirty="0" err="1">
                <a:latin typeface="Consolas"/>
                <a:cs typeface="Consolas"/>
              </a:rPr>
              <a:t>fd</a:t>
            </a:r>
            <a:r>
              <a:rPr lang="en-US" i="1" spc="-10" dirty="0">
                <a:latin typeface="Consolas"/>
                <a:cs typeface="Consolas"/>
              </a:rPr>
              <a:t>’ </a:t>
            </a:r>
            <a:r>
              <a:rPr lang="en-US" spc="-10" dirty="0">
                <a:latin typeface="Consolas"/>
                <a:cs typeface="Consolas"/>
              </a:rPr>
              <a:t>*/</a:t>
            </a:r>
          </a:p>
          <a:p>
            <a:pPr marL="12700">
              <a:lnSpc>
                <a:spcPts val="1880"/>
              </a:lnSpc>
              <a:spcAft>
                <a:spcPts val="600"/>
              </a:spcAft>
            </a:pP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nr = read (</a:t>
            </a:r>
            <a:r>
              <a:rPr lang="en-US" spc="-10" dirty="0" err="1">
                <a:solidFill>
                  <a:srgbClr val="0070C0"/>
                </a:solidFill>
                <a:latin typeface="Consolas"/>
                <a:cs typeface="Consolas"/>
              </a:rPr>
              <a:t>fd</a:t>
            </a: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, &amp;word, </a:t>
            </a:r>
            <a:r>
              <a:rPr lang="en-US" spc="-10" dirty="0" err="1">
                <a:solidFill>
                  <a:srgbClr val="0070C0"/>
                </a:solidFill>
                <a:latin typeface="Consolas"/>
                <a:cs typeface="Consolas"/>
              </a:rPr>
              <a:t>sizeof</a:t>
            </a: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(unsigned long));</a:t>
            </a:r>
          </a:p>
          <a:p>
            <a:pPr marL="12700">
              <a:lnSpc>
                <a:spcPts val="1880"/>
              </a:lnSpc>
              <a:spcAft>
                <a:spcPts val="600"/>
              </a:spcAft>
            </a:pPr>
            <a:r>
              <a:rPr lang="en-US" spc="-10" dirty="0">
                <a:solidFill>
                  <a:srgbClr val="0070C0"/>
                </a:solidFill>
                <a:latin typeface="Consolas"/>
                <a:cs typeface="Consolas"/>
              </a:rPr>
              <a:t>if (nr == -1)      </a:t>
            </a:r>
            <a:r>
              <a:rPr lang="en-US" spc="-10" dirty="0">
                <a:latin typeface="Consolas"/>
                <a:cs typeface="Consolas"/>
              </a:rPr>
              <a:t>/* </a:t>
            </a:r>
            <a:r>
              <a:rPr lang="en-US" i="1" spc="-10" dirty="0">
                <a:latin typeface="Consolas"/>
                <a:cs typeface="Consolas"/>
              </a:rPr>
              <a:t>error</a:t>
            </a:r>
            <a:r>
              <a:rPr lang="en-US" spc="-10" dirty="0">
                <a:latin typeface="Consolas"/>
                <a:cs typeface="Consolas"/>
              </a:rPr>
              <a:t> */</a:t>
            </a:r>
            <a:endParaRPr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89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Return </a:t>
            </a:r>
            <a:r>
              <a:rPr spc="-70" dirty="0"/>
              <a:t>Values </a:t>
            </a:r>
            <a:r>
              <a:rPr spc="-15" dirty="0"/>
              <a:t>of</a:t>
            </a:r>
            <a:r>
              <a:rPr spc="-190" dirty="0"/>
              <a:t> </a:t>
            </a:r>
            <a:r>
              <a:rPr spc="-35" dirty="0"/>
              <a:t>read()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29745"/>
            <a:ext cx="10741662" cy="4463913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30" dirty="0">
                <a:latin typeface="Calibri"/>
                <a:cs typeface="Calibri"/>
              </a:rPr>
              <a:t>The </a:t>
            </a:r>
            <a:r>
              <a:rPr lang="en-US" sz="2200" spc="-5" dirty="0">
                <a:latin typeface="Calibri"/>
                <a:cs typeface="Calibri"/>
              </a:rPr>
              <a:t>results are as</a:t>
            </a:r>
            <a:r>
              <a:rPr lang="en-US" sz="2200" spc="20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intended</a:t>
            </a:r>
            <a:r>
              <a:rPr lang="en-US" sz="2200" spc="-30" dirty="0">
                <a:latin typeface="Calibri"/>
                <a:cs typeface="Calibri"/>
              </a:rPr>
              <a:t> if the returned value (</a:t>
            </a:r>
            <a:r>
              <a:rPr lang="en-US" sz="2000" spc="-10" dirty="0">
                <a:solidFill>
                  <a:srgbClr val="0070C0"/>
                </a:solidFill>
                <a:latin typeface="Consolas"/>
                <a:cs typeface="Consolas"/>
              </a:rPr>
              <a:t>nr</a:t>
            </a:r>
            <a:r>
              <a:rPr lang="en-US" sz="2200" spc="-30" dirty="0">
                <a:latin typeface="Calibri"/>
                <a:cs typeface="Calibri"/>
              </a:rPr>
              <a:t> on the previous slide) is equal 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lang="en-US" sz="2200" spc="-30" dirty="0">
                <a:latin typeface="Calibri"/>
                <a:cs typeface="Calibri"/>
              </a:rPr>
              <a:t>.</a:t>
            </a:r>
            <a:endParaRPr sz="2200" spc="-30" dirty="0">
              <a:latin typeface="Calibri"/>
              <a:cs typeface="Calibri"/>
            </a:endParaRPr>
          </a:p>
          <a:p>
            <a:pPr marL="241300" indent="-228600">
              <a:lnSpc>
                <a:spcPts val="255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5" dirty="0">
                <a:latin typeface="Calibri"/>
                <a:cs typeface="Calibri"/>
              </a:rPr>
              <a:t>Otherwise, if </a:t>
            </a:r>
            <a:r>
              <a:rPr lang="en-US" sz="2200" spc="-30" dirty="0">
                <a:latin typeface="Calibri"/>
                <a:cs typeface="Calibri"/>
              </a:rPr>
              <a:t>the returned value is between </a:t>
            </a:r>
            <a:r>
              <a:rPr sz="2200" spc="-5" dirty="0">
                <a:latin typeface="Calibri"/>
                <a:cs typeface="Calibri"/>
              </a:rPr>
              <a:t>0 </a:t>
            </a:r>
            <a:r>
              <a:rPr lang="en-US" sz="2200" spc="-5" dirty="0">
                <a:latin typeface="Calibri"/>
                <a:cs typeface="Calibri"/>
              </a:rPr>
              <a:t>and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len</a:t>
            </a:r>
            <a:r>
              <a:rPr lang="en-US" sz="2200" spc="-5" dirty="0">
                <a:latin typeface="Calibri"/>
                <a:cs typeface="Calibri"/>
              </a:rPr>
              <a:t>, then either: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10" dirty="0">
                <a:latin typeface="Calibri"/>
                <a:cs typeface="Calibri"/>
              </a:rPr>
              <a:t>Less </a:t>
            </a:r>
            <a:r>
              <a:rPr sz="1900" spc="-5" dirty="0">
                <a:latin typeface="Calibri"/>
                <a:cs typeface="Calibri"/>
              </a:rPr>
              <a:t>than len </a:t>
            </a:r>
            <a:r>
              <a:rPr sz="1900" spc="-10" dirty="0">
                <a:latin typeface="Calibri"/>
                <a:cs typeface="Calibri"/>
              </a:rPr>
              <a:t>bytes </a:t>
            </a:r>
            <a:r>
              <a:rPr lang="en-US" sz="1900" spc="-15" dirty="0">
                <a:latin typeface="Calibri"/>
                <a:cs typeface="Calibri"/>
              </a:rPr>
              <a:t>were read in, or</a:t>
            </a:r>
            <a:endParaRPr sz="19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alibri"/>
                <a:cs typeface="Calibri"/>
              </a:rPr>
              <a:t>A signal </a:t>
            </a:r>
            <a:r>
              <a:rPr sz="1900" spc="-10" dirty="0">
                <a:latin typeface="Calibri"/>
                <a:cs typeface="Calibri"/>
              </a:rPr>
              <a:t>interrupted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read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midway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5" dirty="0">
                <a:latin typeface="Calibri"/>
                <a:cs typeface="Calibri"/>
              </a:rPr>
              <a:t>If it is </a:t>
            </a:r>
            <a:r>
              <a:rPr sz="2200" spc="-5" dirty="0">
                <a:latin typeface="Calibri"/>
                <a:cs typeface="Calibri"/>
              </a:rPr>
              <a:t>0</a:t>
            </a:r>
            <a:r>
              <a:rPr lang="en-US" sz="2200" spc="-5" dirty="0">
                <a:latin typeface="Calibri"/>
                <a:cs typeface="Calibri"/>
              </a:rPr>
              <a:t>, then</a:t>
            </a:r>
            <a:r>
              <a:rPr sz="2200" spc="-5" dirty="0">
                <a:latin typeface="Calibri"/>
                <a:cs typeface="Calibri"/>
              </a:rPr>
              <a:t> end-of-file </a:t>
            </a:r>
            <a:r>
              <a:rPr sz="2200" spc="-15" dirty="0">
                <a:latin typeface="Calibri"/>
                <a:cs typeface="Calibri"/>
              </a:rPr>
              <a:t>(</a:t>
            </a:r>
            <a:r>
              <a:rPr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200" spc="-15" dirty="0">
                <a:latin typeface="Calibri"/>
                <a:cs typeface="Calibri"/>
              </a:rPr>
              <a:t>) </a:t>
            </a:r>
            <a:r>
              <a:rPr sz="2200" spc="-5" dirty="0">
                <a:latin typeface="Calibri"/>
                <a:cs typeface="Calibri"/>
              </a:rPr>
              <a:t>has </a:t>
            </a:r>
            <a:r>
              <a:rPr sz="2200" spc="-10" dirty="0">
                <a:latin typeface="Calibri"/>
                <a:cs typeface="Calibri"/>
              </a:rPr>
              <a:t>been reached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no bytes </a:t>
            </a:r>
            <a:r>
              <a:rPr sz="2200" spc="-15" dirty="0">
                <a:latin typeface="Calibri"/>
                <a:cs typeface="Calibri"/>
              </a:rPr>
              <a:t>were </a:t>
            </a:r>
            <a:r>
              <a:rPr sz="2200" spc="-10" dirty="0">
                <a:latin typeface="Calibri"/>
                <a:cs typeface="Calibri"/>
              </a:rPr>
              <a:t>read (not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error)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432434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When </a:t>
            </a:r>
            <a:r>
              <a:rPr sz="2200" spc="-10" dirty="0">
                <a:latin typeface="Calibri"/>
                <a:cs typeface="Calibri"/>
              </a:rPr>
              <a:t>reading from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socket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device file, </a:t>
            </a:r>
            <a:r>
              <a:rPr lang="en-US" sz="2200" spc="-10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he call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block (</a:t>
            </a:r>
            <a:r>
              <a:rPr lang="en-US" sz="2200" spc="-10" dirty="0">
                <a:latin typeface="Calibri"/>
                <a:cs typeface="Calibri"/>
              </a:rPr>
              <a:t>wait</a:t>
            </a:r>
            <a:r>
              <a:rPr sz="2200" spc="-10" dirty="0">
                <a:latin typeface="Calibri"/>
                <a:cs typeface="Calibri"/>
              </a:rPr>
              <a:t>) </a:t>
            </a:r>
            <a:r>
              <a:rPr sz="2200" spc="-5" dirty="0">
                <a:latin typeface="Calibri"/>
                <a:cs typeface="Calibri"/>
              </a:rPr>
              <a:t>if no </a:t>
            </a:r>
            <a:r>
              <a:rPr sz="2200" spc="-10" dirty="0">
                <a:latin typeface="Calibri"/>
                <a:cs typeface="Calibri"/>
              </a:rPr>
              <a:t>bytes are available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reading </a:t>
            </a:r>
            <a:r>
              <a:rPr sz="2200" spc="-15" dirty="0">
                <a:latin typeface="Calibri"/>
                <a:cs typeface="Calibri"/>
              </a:rPr>
              <a:t>yet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lang="en-US" sz="2200" spc="-5" dirty="0">
                <a:latin typeface="Calibri"/>
                <a:cs typeface="Calibri"/>
              </a:rPr>
              <a:t>if </a:t>
            </a:r>
            <a:r>
              <a:rPr sz="2200" spc="-5" dirty="0">
                <a:latin typeface="Calibri"/>
                <a:cs typeface="Calibri"/>
              </a:rPr>
              <a:t>the open file </a:t>
            </a:r>
            <a:r>
              <a:rPr sz="2200" spc="-10" dirty="0">
                <a:latin typeface="Calibri"/>
                <a:cs typeface="Calibri"/>
              </a:rPr>
              <a:t>allows blocking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lang="en-US" sz="2200" spc="-5" dirty="0">
                <a:latin typeface="Calibri"/>
                <a:cs typeface="Calibri"/>
              </a:rPr>
              <a:t>i.e.,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O_NONBLOCK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wasn’t</a:t>
            </a:r>
            <a:r>
              <a:rPr sz="2200" spc="-5" dirty="0">
                <a:latin typeface="Calibri"/>
                <a:cs typeface="Calibri"/>
              </a:rPr>
              <a:t> used</a:t>
            </a:r>
            <a:r>
              <a:rPr lang="en-US" sz="2200" spc="-5" dirty="0">
                <a:latin typeface="Calibri"/>
                <a:cs typeface="Calibri"/>
              </a:rPr>
              <a:t> as a flag inside the call to </a:t>
            </a:r>
            <a:r>
              <a:rPr lang="en-US"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55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5" dirty="0">
                <a:latin typeface="Calibri"/>
                <a:cs typeface="Calibri"/>
              </a:rPr>
              <a:t>If the returned value is </a:t>
            </a:r>
            <a:r>
              <a:rPr sz="2200" spc="-5" dirty="0">
                <a:latin typeface="Calibri"/>
                <a:cs typeface="Calibri"/>
              </a:rPr>
              <a:t>-1</a:t>
            </a:r>
            <a:r>
              <a:rPr lang="en-US" sz="2200" spc="-5" dirty="0">
                <a:latin typeface="Calibri"/>
                <a:cs typeface="Calibri"/>
              </a:rPr>
              <a:t>, maybe a </a:t>
            </a:r>
            <a:r>
              <a:rPr lang="en-US" sz="2200" spc="-15" dirty="0">
                <a:cs typeface="Calibri"/>
              </a:rPr>
              <a:t>recoverable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 </a:t>
            </a:r>
            <a:r>
              <a:rPr lang="en-US" sz="2200" spc="-10" dirty="0">
                <a:latin typeface="Calibri"/>
                <a:cs typeface="Calibri"/>
              </a:rPr>
              <a:t>occurred.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18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1900" spc="-10" dirty="0">
                <a:latin typeface="Calibri"/>
                <a:cs typeface="Calibri"/>
              </a:rPr>
              <a:t>Maybe it was i</a:t>
            </a:r>
            <a:r>
              <a:rPr sz="1900" spc="-10" dirty="0">
                <a:latin typeface="Calibri"/>
                <a:cs typeface="Calibri"/>
              </a:rPr>
              <a:t>nterrupted by </a:t>
            </a:r>
            <a:r>
              <a:rPr sz="1900" spc="-5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signal </a:t>
            </a:r>
            <a:r>
              <a:rPr sz="1900" spc="-20" dirty="0">
                <a:latin typeface="Calibri"/>
                <a:cs typeface="Calibri"/>
              </a:rPr>
              <a:t>before </a:t>
            </a:r>
            <a:r>
              <a:rPr sz="1900" spc="-15" dirty="0">
                <a:latin typeface="Calibri"/>
                <a:cs typeface="Calibri"/>
              </a:rPr>
              <a:t>any </a:t>
            </a:r>
            <a:r>
              <a:rPr sz="1900" spc="-10" dirty="0">
                <a:latin typeface="Calibri"/>
                <a:cs typeface="Calibri"/>
              </a:rPr>
              <a:t>bytes </a:t>
            </a:r>
            <a:r>
              <a:rPr sz="1900" spc="-15" dirty="0">
                <a:latin typeface="Calibri"/>
                <a:cs typeface="Calibri"/>
              </a:rPr>
              <a:t>are </a:t>
            </a:r>
            <a:r>
              <a:rPr sz="1900" spc="-10" dirty="0">
                <a:latin typeface="Calibri"/>
                <a:cs typeface="Calibri"/>
              </a:rPr>
              <a:t>read.</a:t>
            </a:r>
            <a:r>
              <a:rPr lang="en-US" sz="1900" spc="-10" dirty="0">
                <a:latin typeface="Calibri"/>
                <a:cs typeface="Calibri"/>
              </a:rPr>
              <a:t> If so,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1900" i="1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will be set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EINTR</a:t>
            </a:r>
            <a:r>
              <a:rPr sz="1900" spc="-5" dirty="0">
                <a:latin typeface="Calibri"/>
                <a:cs typeface="Calibri"/>
              </a:rPr>
              <a:t>, and </a:t>
            </a:r>
            <a:r>
              <a:rPr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sz="19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900" spc="-5" dirty="0">
                <a:latin typeface="Calibri"/>
                <a:cs typeface="Calibri"/>
              </a:rPr>
              <a:t>can</a:t>
            </a:r>
            <a:r>
              <a:rPr sz="1900" spc="28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resubmitted</a:t>
            </a:r>
            <a:r>
              <a:rPr lang="en-US" sz="1900" spc="-1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1900" spc="-10" dirty="0">
                <a:latin typeface="Calibri"/>
                <a:cs typeface="Calibri"/>
              </a:rPr>
              <a:t>Or maybe t</a:t>
            </a:r>
            <a:r>
              <a:rPr sz="1900" spc="-10" dirty="0">
                <a:latin typeface="Calibri"/>
                <a:cs typeface="Calibri"/>
              </a:rPr>
              <a:t>he read would block because </a:t>
            </a:r>
            <a:r>
              <a:rPr sz="1900" spc="-5" dirty="0">
                <a:latin typeface="Calibri"/>
                <a:cs typeface="Calibri"/>
              </a:rPr>
              <a:t>no </a:t>
            </a:r>
            <a:r>
              <a:rPr sz="1900" spc="-15" dirty="0">
                <a:latin typeface="Calibri"/>
                <a:cs typeface="Calibri"/>
              </a:rPr>
              <a:t>data </a:t>
            </a:r>
            <a:r>
              <a:rPr sz="1900" spc="-5" dirty="0">
                <a:latin typeface="Calibri"/>
                <a:cs typeface="Calibri"/>
              </a:rPr>
              <a:t>is </a:t>
            </a:r>
            <a:r>
              <a:rPr sz="1900" spc="-10" dirty="0">
                <a:latin typeface="Calibri"/>
                <a:cs typeface="Calibri"/>
              </a:rPr>
              <a:t>currently available, but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 opened in </a:t>
            </a:r>
            <a:r>
              <a:rPr sz="1900" spc="-10" dirty="0">
                <a:latin typeface="Calibri"/>
                <a:cs typeface="Calibri"/>
              </a:rPr>
              <a:t>nonblocking mode.</a:t>
            </a:r>
            <a:r>
              <a:rPr lang="en-US" sz="1900" spc="-10" dirty="0">
                <a:latin typeface="Calibri"/>
                <a:cs typeface="Calibri"/>
              </a:rPr>
              <a:t> If so,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1900" i="1" spc="-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 set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EAGAIN</a:t>
            </a:r>
            <a:r>
              <a:rPr lang="en-US" sz="1900" spc="-5" dirty="0">
                <a:latin typeface="Calibri"/>
                <a:cs typeface="Calibri"/>
              </a:rPr>
              <a:t>,</a:t>
            </a:r>
            <a:r>
              <a:rPr sz="1900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 the </a:t>
            </a:r>
            <a:r>
              <a:rPr lang="en-US" sz="1900" spc="-10" dirty="0">
                <a:latin typeface="Calibri"/>
                <a:cs typeface="Calibri"/>
              </a:rPr>
              <a:t>call</a:t>
            </a:r>
            <a:r>
              <a:rPr sz="1900" spc="-10" dirty="0">
                <a:latin typeface="Calibri"/>
                <a:cs typeface="Calibri"/>
              </a:rPr>
              <a:t> should </a:t>
            </a:r>
            <a:r>
              <a:rPr sz="1900" spc="-5" dirty="0">
                <a:latin typeface="Calibri"/>
                <a:cs typeface="Calibri"/>
              </a:rPr>
              <a:t>be re</a:t>
            </a:r>
            <a:r>
              <a:rPr lang="en-US" sz="1900" spc="-5" dirty="0">
                <a:latin typeface="Calibri"/>
                <a:cs typeface="Calibri"/>
              </a:rPr>
              <a:t>-</a:t>
            </a:r>
            <a:r>
              <a:rPr sz="1900" spc="-5" dirty="0">
                <a:latin typeface="Calibri"/>
                <a:cs typeface="Calibri"/>
              </a:rPr>
              <a:t>issued</a:t>
            </a:r>
            <a:r>
              <a:rPr sz="1900" spc="1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later</a:t>
            </a:r>
            <a:r>
              <a:rPr lang="en-US"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41300" marR="4114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5" dirty="0">
                <a:latin typeface="Calibri"/>
                <a:cs typeface="Calibri"/>
              </a:rPr>
              <a:t>Otherwise, if the returned value is -1, a fatal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 </a:t>
            </a:r>
            <a:r>
              <a:rPr lang="en-US" sz="2200" spc="-5" dirty="0">
                <a:latin typeface="Calibri"/>
                <a:cs typeface="Calibri"/>
              </a:rPr>
              <a:t>occurred</a:t>
            </a:r>
            <a:r>
              <a:rPr sz="2200" spc="-15" dirty="0">
                <a:latin typeface="Calibri"/>
                <a:cs typeface="Calibri"/>
              </a:rPr>
              <a:t>.</a:t>
            </a:r>
            <a:r>
              <a:rPr lang="en-US" sz="2200" spc="-15" dirty="0">
                <a:latin typeface="Calibri"/>
                <a:cs typeface="Calibri"/>
              </a:rPr>
              <a:t> In such a case,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spc="-5" dirty="0">
                <a:latin typeface="Calibri"/>
                <a:cs typeface="Calibri"/>
              </a:rPr>
              <a:t>other than </a:t>
            </a:r>
            <a:r>
              <a:rPr sz="19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EINTR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19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EAGAIN</a:t>
            </a:r>
            <a:r>
              <a:rPr sz="2200" spc="-15" dirty="0">
                <a:latin typeface="Calibri"/>
                <a:cs typeface="Calibri"/>
              </a:rPr>
              <a:t>. </a:t>
            </a:r>
            <a:r>
              <a:rPr sz="2200" spc="-10" dirty="0">
                <a:latin typeface="Calibri"/>
                <a:cs typeface="Calibri"/>
              </a:rPr>
              <a:t>This indicates </a:t>
            </a:r>
            <a:r>
              <a:rPr sz="2200" spc="-5" dirty="0">
                <a:latin typeface="Calibri"/>
                <a:cs typeface="Calibri"/>
              </a:rPr>
              <a:t>a more serious</a:t>
            </a:r>
            <a:r>
              <a:rPr lang="en-US" sz="2200" spc="-5" dirty="0">
                <a:latin typeface="Calibri"/>
                <a:cs typeface="Calibri"/>
              </a:rPr>
              <a:t>, irrecoverable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error.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45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spc="-15" dirty="0"/>
              <a:t>All </a:t>
            </a:r>
            <a:r>
              <a:rPr spc="-20" dirty="0"/>
              <a:t>the</a:t>
            </a:r>
            <a:r>
              <a:rPr spc="-215" dirty="0"/>
              <a:t> </a:t>
            </a:r>
            <a:r>
              <a:rPr spc="-40" dirty="0"/>
              <a:t>Bytes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1787116"/>
            <a:ext cx="9030335" cy="8013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ssize_t</a:t>
            </a:r>
            <a:r>
              <a:rPr sz="16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while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(len != 0 &amp;&amp;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read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(fd, buf,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len))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!= 0) {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//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len bytes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filled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or</a:t>
            </a:r>
            <a:r>
              <a:rPr sz="1600" spc="-6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EOF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15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−1)</a:t>
            </a:r>
            <a:r>
              <a:rPr sz="16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175" y="2578735"/>
            <a:ext cx="616902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Consolas"/>
                <a:cs typeface="Consolas"/>
              </a:rPr>
              <a:t>// </a:t>
            </a:r>
            <a:r>
              <a:rPr lang="en-US" sz="1600" i="1" spc="-10" dirty="0">
                <a:latin typeface="Consolas"/>
                <a:cs typeface="Consolas"/>
              </a:rPr>
              <a:t>S</a:t>
            </a:r>
            <a:r>
              <a:rPr sz="1600" i="1" spc="-10" dirty="0">
                <a:latin typeface="Consolas"/>
                <a:cs typeface="Consolas"/>
              </a:rPr>
              <a:t>ignal interrupt</a:t>
            </a:r>
            <a:r>
              <a:rPr lang="en-US" sz="1600" i="1" spc="-10" dirty="0">
                <a:latin typeface="Consolas"/>
                <a:cs typeface="Consolas"/>
              </a:rPr>
              <a:t>:</a:t>
            </a:r>
            <a:r>
              <a:rPr sz="1600" i="1" spc="-10" dirty="0">
                <a:latin typeface="Consolas"/>
                <a:cs typeface="Consolas"/>
              </a:rPr>
              <a:t> continue </a:t>
            </a:r>
            <a:r>
              <a:rPr lang="en-US" sz="1600" i="1" spc="-10" dirty="0">
                <a:latin typeface="Consolas"/>
                <a:cs typeface="Consolas"/>
              </a:rPr>
              <a:t>without</a:t>
            </a:r>
            <a:r>
              <a:rPr sz="1600" i="1" spc="-10" dirty="0">
                <a:latin typeface="Consolas"/>
                <a:cs typeface="Consolas"/>
              </a:rPr>
              <a:t> updating</a:t>
            </a:r>
            <a:r>
              <a:rPr sz="1600" i="1" spc="30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len/</a:t>
            </a:r>
            <a:r>
              <a:rPr sz="1600" i="1" spc="-10" dirty="0" err="1">
                <a:latin typeface="Consolas"/>
                <a:cs typeface="Consolas"/>
              </a:rPr>
              <a:t>buf</a:t>
            </a:r>
            <a:r>
              <a:rPr lang="en-US" sz="1600" i="1" spc="-10" dirty="0">
                <a:latin typeface="Consolas"/>
                <a:cs typeface="Consolas"/>
              </a:rPr>
              <a:t>.</a:t>
            </a:r>
            <a:endParaRPr sz="1600" i="1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175" y="3095370"/>
            <a:ext cx="63214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Consolas"/>
                <a:cs typeface="Consolas"/>
              </a:rPr>
              <a:t>// </a:t>
            </a:r>
            <a:r>
              <a:rPr lang="en-US" sz="1600" i="1" spc="-10" dirty="0">
                <a:latin typeface="Consolas"/>
                <a:cs typeface="Consolas"/>
              </a:rPr>
              <a:t>Ir</a:t>
            </a:r>
            <a:r>
              <a:rPr sz="1600" i="1" spc="-10" dirty="0">
                <a:latin typeface="Consolas"/>
                <a:cs typeface="Consolas"/>
              </a:rPr>
              <a:t>recoverable error</a:t>
            </a:r>
            <a:r>
              <a:rPr lang="en-US" sz="1600" i="1" spc="-10" dirty="0">
                <a:latin typeface="Consolas"/>
                <a:cs typeface="Consolas"/>
              </a:rPr>
              <a:t>:</a:t>
            </a:r>
            <a:r>
              <a:rPr sz="1600" i="1" spc="-10" dirty="0">
                <a:latin typeface="Consolas"/>
                <a:cs typeface="Consolas"/>
              </a:rPr>
              <a:t> print error, get</a:t>
            </a:r>
            <a:r>
              <a:rPr sz="1600" i="1" spc="25" dirty="0">
                <a:latin typeface="Consolas"/>
                <a:cs typeface="Consolas"/>
              </a:rPr>
              <a:t> </a:t>
            </a:r>
            <a:r>
              <a:rPr sz="1600" i="1" spc="-15" dirty="0">
                <a:latin typeface="Consolas"/>
                <a:cs typeface="Consolas"/>
              </a:rPr>
              <a:t>out</a:t>
            </a:r>
            <a:r>
              <a:rPr lang="en-US" sz="1600" i="1" spc="-15" dirty="0">
                <a:latin typeface="Consolas"/>
                <a:cs typeface="Consolas"/>
              </a:rPr>
              <a:t> of the loop.</a:t>
            </a:r>
            <a:endParaRPr sz="1600" i="1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601" y="2562885"/>
            <a:ext cx="2138680" cy="1060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(errno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600" spc="-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EINTR)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 marR="338455" indent="469265">
              <a:lnSpc>
                <a:spcPct val="1059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continue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;  perror</a:t>
            </a:r>
            <a:r>
              <a:rPr sz="1600" spc="-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("read");  </a:t>
            </a: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break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8" y="3599459"/>
            <a:ext cx="9827261" cy="23315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204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 marR="7449184">
              <a:lnSpc>
                <a:spcPts val="2039"/>
              </a:lnSpc>
              <a:spcBef>
                <a:spcPts val="80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len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-=</a:t>
            </a:r>
            <a:r>
              <a:rPr sz="1600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ret;  buf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+=</a:t>
            </a:r>
            <a:r>
              <a:rPr sz="1600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ct val="8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code handles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conditions </a:t>
            </a:r>
            <a:r>
              <a:rPr sz="2800" spc="-5" dirty="0">
                <a:latin typeface="Calibri"/>
                <a:cs typeface="Calibri"/>
              </a:rPr>
              <a:t>mentioned in </a:t>
            </a:r>
            <a:r>
              <a:rPr sz="2800" spc="-15" dirty="0">
                <a:latin typeface="Calibri"/>
                <a:cs typeface="Calibri"/>
              </a:rPr>
              <a:t>previous </a:t>
            </a:r>
            <a:r>
              <a:rPr sz="2800" spc="-10" dirty="0">
                <a:latin typeface="Calibri"/>
                <a:cs typeface="Calibri"/>
              </a:rPr>
              <a:t>slide  </a:t>
            </a:r>
            <a:r>
              <a:rPr sz="2800" spc="-5" dirty="0">
                <a:latin typeface="Calibri"/>
                <a:cs typeface="Calibri"/>
              </a:rPr>
              <a:t>(assuming blocking is </a:t>
            </a:r>
            <a:r>
              <a:rPr sz="2800" spc="-10" dirty="0">
                <a:latin typeface="Calibri"/>
                <a:cs typeface="Calibri"/>
              </a:rPr>
              <a:t>allowed </a:t>
            </a:r>
            <a:r>
              <a:rPr sz="2800" spc="-5" dirty="0">
                <a:latin typeface="Calibri"/>
                <a:cs typeface="Calibri"/>
              </a:rPr>
              <a:t>so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will </a:t>
            </a:r>
            <a:r>
              <a:rPr sz="2800" spc="-10" dirty="0">
                <a:latin typeface="Calibri"/>
                <a:cs typeface="Calibri"/>
              </a:rPr>
              <a:t>not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0070C0"/>
                </a:solidFill>
                <a:latin typeface="Consolas"/>
              </a:rPr>
              <a:t>EAGAIN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Partial reads </a:t>
            </a:r>
            <a:r>
              <a:rPr sz="2800" spc="-15" dirty="0">
                <a:latin typeface="Calibri"/>
                <a:cs typeface="Calibri"/>
              </a:rPr>
              <a:t>are properly checked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handled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13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Nonblocking</a:t>
            </a:r>
            <a:r>
              <a:rPr spc="-140" dirty="0"/>
              <a:t> </a:t>
            </a:r>
            <a:r>
              <a:rPr spc="-45" dirty="0"/>
              <a:t>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9663"/>
            <a:ext cx="10665462" cy="413125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Nonblocking </a:t>
            </a:r>
            <a:r>
              <a:rPr sz="2400" spc="-10" dirty="0">
                <a:latin typeface="Calibri"/>
                <a:cs typeface="Calibri"/>
              </a:rPr>
              <a:t>reads return </a:t>
            </a:r>
            <a:r>
              <a:rPr sz="2400" spc="-5" dirty="0">
                <a:latin typeface="Calibri"/>
                <a:cs typeface="Calibri"/>
              </a:rPr>
              <a:t>immediately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doesn’t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achieved </a:t>
            </a:r>
            <a:r>
              <a:rPr sz="2400" dirty="0">
                <a:latin typeface="Calibri"/>
                <a:cs typeface="Calibri"/>
              </a:rPr>
              <a:t>via checking </a:t>
            </a:r>
            <a:r>
              <a:rPr sz="2400" spc="-10" dirty="0">
                <a:solidFill>
                  <a:srgbClr val="0070C0"/>
                </a:solidFill>
                <a:latin typeface="Consolas"/>
              </a:rPr>
              <a:t>errno</a:t>
            </a:r>
            <a:r>
              <a:rPr sz="2400" spc="-10" dirty="0">
                <a:solidFill>
                  <a:srgbClr val="0070C0"/>
                </a:solidFill>
                <a:latin typeface="+mj-lt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onsolas"/>
              </a:rPr>
              <a:t>=</a:t>
            </a:r>
            <a:r>
              <a:rPr sz="2400" spc="-10" dirty="0">
                <a:solidFill>
                  <a:srgbClr val="0070C0"/>
                </a:solidFill>
                <a:latin typeface="+mj-lt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onsolas"/>
              </a:rPr>
              <a:t>EAGAIN</a:t>
            </a:r>
            <a:r>
              <a:rPr sz="2400" spc="-10" dirty="0">
                <a:solidFill>
                  <a:srgbClr val="0070C0"/>
                </a:solidFill>
                <a:latin typeface="+mj-lt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spc="-10" dirty="0">
                <a:solidFill>
                  <a:srgbClr val="0070C0"/>
                </a:solidFill>
                <a:latin typeface="Consolas"/>
              </a:rPr>
              <a:t>O_NONBLOCK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This approach is u</a:t>
            </a:r>
            <a:r>
              <a:rPr sz="2400" spc="-5" dirty="0">
                <a:latin typeface="Calibri"/>
                <a:cs typeface="Calibri"/>
              </a:rPr>
              <a:t>seful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lang="en-US" sz="2400" spc="-5" dirty="0">
                <a:latin typeface="Calibri"/>
                <a:cs typeface="Calibri"/>
              </a:rPr>
              <a:t>you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15" dirty="0">
                <a:latin typeface="Calibri"/>
                <a:cs typeface="Calibri"/>
              </a:rPr>
              <a:t>move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read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other files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69900" marR="7766684">
              <a:lnSpc>
                <a:spcPct val="106300"/>
              </a:lnSpc>
              <a:spcBef>
                <a:spcPts val="20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buf[BUFSIZ];  </a:t>
            </a: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nr;</a:t>
            </a:r>
            <a:endParaRPr lang="en-US" sz="1600" i="1" spc="-10" dirty="0">
              <a:latin typeface="Consolas"/>
            </a:endParaRPr>
          </a:p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lang="en-US" sz="1600" spc="-5" dirty="0">
                <a:solidFill>
                  <a:srgbClr val="0070C0"/>
                </a:solidFill>
                <a:latin typeface="Consolas"/>
                <a:cs typeface="Consolas"/>
              </a:rPr>
              <a:t>nr = 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read (</a:t>
            </a:r>
            <a:r>
              <a:rPr lang="en-US" sz="1600" spc="-10" dirty="0" err="1">
                <a:solidFill>
                  <a:srgbClr val="0070C0"/>
                </a:solidFill>
                <a:latin typeface="Consolas"/>
                <a:cs typeface="Consolas"/>
              </a:rPr>
              <a:t>fd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lang="en-US" sz="1600" spc="-10" dirty="0" err="1">
                <a:solidFill>
                  <a:srgbClr val="0070C0"/>
                </a:solidFill>
                <a:latin typeface="Consolas"/>
                <a:cs typeface="Consolas"/>
              </a:rPr>
              <a:t>buf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,</a:t>
            </a:r>
            <a:r>
              <a:rPr lang="en-US"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600" spc="-10" dirty="0" err="1">
                <a:solidFill>
                  <a:srgbClr val="0070C0"/>
                </a:solidFill>
                <a:latin typeface="Consolas"/>
                <a:cs typeface="Consolas"/>
              </a:rPr>
              <a:t>BUFSIZ</a:t>
            </a:r>
            <a:r>
              <a:rPr lang="en-US" sz="1600" spc="-1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endParaRPr lang="en-US"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(nr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 −1)</a:t>
            </a:r>
            <a:r>
              <a:rPr sz="16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(errno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EINTR)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372235">
              <a:lnSpc>
                <a:spcPct val="100000"/>
              </a:lnSpc>
              <a:spcBef>
                <a:spcPts val="11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goto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start; </a:t>
            </a:r>
            <a:r>
              <a:rPr sz="1600" i="1" spc="-5" dirty="0">
                <a:latin typeface="Consolas"/>
                <a:cs typeface="Consolas"/>
              </a:rPr>
              <a:t>/* oh shush</a:t>
            </a:r>
            <a:r>
              <a:rPr sz="1600" i="1" spc="-4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*/</a:t>
            </a:r>
            <a:endParaRPr sz="16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12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(errno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EAGAIN)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841500">
              <a:lnSpc>
                <a:spcPct val="100000"/>
              </a:lnSpc>
              <a:spcBef>
                <a:spcPts val="120"/>
              </a:spcBef>
            </a:pPr>
            <a:r>
              <a:rPr sz="1600" i="1" spc="-5" dirty="0">
                <a:latin typeface="Consolas"/>
                <a:cs typeface="Consolas"/>
              </a:rPr>
              <a:t>/* </a:t>
            </a:r>
            <a:r>
              <a:rPr sz="1600" i="1" spc="-10" dirty="0">
                <a:latin typeface="Consolas"/>
                <a:cs typeface="Consolas"/>
              </a:rPr>
              <a:t>resubmit later */</a:t>
            </a:r>
            <a:endParaRPr sz="16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else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841500">
              <a:lnSpc>
                <a:spcPct val="100000"/>
              </a:lnSpc>
              <a:spcBef>
                <a:spcPts val="120"/>
              </a:spcBef>
            </a:pPr>
            <a:r>
              <a:rPr sz="1600" i="1" spc="-5" dirty="0">
                <a:latin typeface="Consolas"/>
                <a:cs typeface="Consolas"/>
              </a:rPr>
              <a:t>/* </a:t>
            </a:r>
            <a:r>
              <a:rPr sz="1600" i="1" spc="-10" dirty="0">
                <a:latin typeface="Consolas"/>
                <a:cs typeface="Consolas"/>
              </a:rPr>
              <a:t>error</a:t>
            </a:r>
            <a:r>
              <a:rPr sz="1600" i="1" spc="-15" dirty="0">
                <a:latin typeface="Consolas"/>
                <a:cs typeface="Consolas"/>
              </a:rPr>
              <a:t> </a:t>
            </a:r>
            <a:r>
              <a:rPr sz="1600" i="1" spc="-10" dirty="0">
                <a:latin typeface="Consolas"/>
                <a:cs typeface="Consolas"/>
              </a:rPr>
              <a:t>*/</a:t>
            </a:r>
            <a:endParaRPr sz="16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37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Writing </a:t>
            </a:r>
            <a:r>
              <a:rPr spc="-20" dirty="0"/>
              <a:t>with</a:t>
            </a:r>
            <a:r>
              <a:rPr spc="-190" dirty="0"/>
              <a:t> </a:t>
            </a:r>
            <a:r>
              <a:rPr spc="-35" dirty="0"/>
              <a:t>write()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017"/>
            <a:ext cx="10350500" cy="4083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write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const void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sz="18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1800" b="1" spc="-6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count);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10" dirty="0">
                <a:latin typeface="Calibri"/>
                <a:cs typeface="Calibri"/>
              </a:rPr>
              <a:t>position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 up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count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spc="-2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</a:t>
            </a:r>
            <a:r>
              <a:rPr lang="en-US" sz="2800" spc="-5" dirty="0">
                <a:latin typeface="Calibri"/>
                <a:cs typeface="Calibri"/>
              </a:rPr>
              <a:t>the number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10" dirty="0">
                <a:latin typeface="Calibri"/>
                <a:cs typeface="Calibri"/>
              </a:rPr>
              <a:t>bytes written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returned</a:t>
            </a:r>
            <a:r>
              <a:rPr lang="en-US" sz="2800" spc="-1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 position </a:t>
            </a:r>
            <a:r>
              <a:rPr lang="en-US" sz="2800" spc="-10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updated by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5" dirty="0">
                <a:latin typeface="Calibri"/>
                <a:cs typeface="Calibri"/>
              </a:rPr>
              <a:t>number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5" dirty="0">
                <a:latin typeface="Calibri"/>
                <a:cs typeface="Calibri"/>
              </a:rPr>
              <a:t>actually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written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55" dirty="0">
                <a:latin typeface="Calibri"/>
                <a:cs typeface="Calibri"/>
              </a:rPr>
              <a:t>error</a:t>
            </a:r>
            <a:r>
              <a:rPr lang="en-US" sz="2800" spc="-55" dirty="0">
                <a:latin typeface="Calibri"/>
                <a:cs typeface="Calibri"/>
              </a:rPr>
              <a:t> 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330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*buf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"My ship is</a:t>
            </a:r>
            <a:r>
              <a:rPr sz="18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solid!";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75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nr;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1800" i="1" spc="-5" dirty="0">
                <a:latin typeface="Consolas"/>
                <a:cs typeface="Consolas"/>
              </a:rPr>
              <a:t>/* write the string in 'buf' to </a:t>
            </a:r>
            <a:r>
              <a:rPr sz="1800" i="1" spc="-10" dirty="0">
                <a:latin typeface="Consolas"/>
                <a:cs typeface="Consolas"/>
              </a:rPr>
              <a:t>'fd'</a:t>
            </a:r>
            <a:r>
              <a:rPr sz="1800" i="1" spc="-35" dirty="0">
                <a:latin typeface="Consolas"/>
                <a:cs typeface="Consolas"/>
              </a:rPr>
              <a:t> </a:t>
            </a:r>
            <a:r>
              <a:rPr sz="1800" i="1" spc="-5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nr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write (fd, buf, strlen</a:t>
            </a:r>
            <a:r>
              <a:rPr sz="18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(buf));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75"/>
              </a:spcBef>
              <a:tabLst>
                <a:tab pos="2348865" algn="l"/>
              </a:tabLst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(nr</a:t>
            </a:r>
            <a:r>
              <a:rPr sz="18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−1)	</a:t>
            </a:r>
            <a:r>
              <a:rPr sz="1800" i="1" spc="-5" dirty="0">
                <a:latin typeface="Consolas"/>
                <a:cs typeface="Consolas"/>
              </a:rPr>
              <a:t>/* error */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88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Partial</a:t>
            </a:r>
            <a:r>
              <a:rPr spc="-130" dirty="0"/>
              <a:t> </a:t>
            </a:r>
            <a:r>
              <a:rPr spc="-60" dirty="0"/>
              <a:t>Writes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9714"/>
            <a:ext cx="10009505" cy="442967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000" spc="-5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spc="-15" dirty="0">
                <a:latin typeface="Calibri"/>
                <a:cs typeface="Calibri"/>
              </a:rPr>
              <a:t>syscall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less </a:t>
            </a:r>
            <a:r>
              <a:rPr sz="2000" spc="-15" dirty="0">
                <a:latin typeface="Calibri"/>
                <a:cs typeface="Calibri"/>
              </a:rPr>
              <a:t>likely to </a:t>
            </a:r>
            <a:r>
              <a:rPr sz="2000" spc="-5" dirty="0">
                <a:latin typeface="Calibri"/>
                <a:cs typeface="Calibri"/>
              </a:rPr>
              <a:t>return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partial </a:t>
            </a:r>
            <a:r>
              <a:rPr sz="2000" spc="-10" dirty="0">
                <a:latin typeface="Calibri"/>
                <a:cs typeface="Calibri"/>
              </a:rPr>
              <a:t>write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sz="2000" spc="-5" dirty="0">
                <a:latin typeface="Calibri"/>
                <a:cs typeface="Calibri"/>
              </a:rPr>
              <a:t> is.</a:t>
            </a:r>
            <a:endParaRPr sz="2000" spc="-5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is no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condition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000" spc="-5" dirty="0">
                <a:latin typeface="Calibri"/>
                <a:cs typeface="Calibri"/>
              </a:rPr>
              <a:t>, so </a:t>
            </a:r>
            <a:r>
              <a:rPr sz="2000" dirty="0">
                <a:latin typeface="Calibri"/>
                <a:cs typeface="Calibri"/>
              </a:rPr>
              <a:t>partial </a:t>
            </a:r>
            <a:r>
              <a:rPr sz="2000" spc="-5" dirty="0">
                <a:latin typeface="Calibri"/>
                <a:cs typeface="Calibri"/>
              </a:rPr>
              <a:t>writes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typically </a:t>
            </a:r>
            <a:r>
              <a:rPr sz="2000" dirty="0">
                <a:latin typeface="Calibri"/>
                <a:cs typeface="Calibri"/>
              </a:rPr>
              <a:t>not a </a:t>
            </a:r>
            <a:r>
              <a:rPr sz="2000" spc="-5" dirty="0">
                <a:latin typeface="Calibri"/>
                <a:cs typeface="Calibri"/>
              </a:rPr>
              <a:t>problem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writing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regular files</a:t>
            </a:r>
            <a:r>
              <a:rPr lang="en-US" sz="2000" spc="-5" dirty="0">
                <a:latin typeface="Calibri"/>
                <a:cs typeface="Calibri"/>
              </a:rPr>
              <a:t> or to the display.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But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special </a:t>
            </a:r>
            <a:r>
              <a:rPr sz="2000" spc="-5" dirty="0">
                <a:latin typeface="Calibri"/>
                <a:cs typeface="Calibri"/>
              </a:rPr>
              <a:t>files </a:t>
            </a:r>
            <a:r>
              <a:rPr sz="2000" spc="-20" dirty="0">
                <a:latin typeface="Calibri"/>
                <a:cs typeface="Calibri"/>
              </a:rPr>
              <a:t>like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socket,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write </a:t>
            </a:r>
            <a:r>
              <a:rPr sz="2000" dirty="0">
                <a:latin typeface="Calibri"/>
                <a:cs typeface="Calibri"/>
              </a:rPr>
              <a:t>loop </a:t>
            </a:r>
            <a:r>
              <a:rPr sz="2000" spc="-1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be needed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write </a:t>
            </a:r>
            <a:r>
              <a:rPr sz="2000" dirty="0">
                <a:latin typeface="Calibri"/>
                <a:cs typeface="Calibri"/>
              </a:rPr>
              <a:t>out </a:t>
            </a:r>
            <a:r>
              <a:rPr lang="en-US"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requested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bytes</a:t>
            </a:r>
            <a:r>
              <a:rPr lang="en-US" sz="2000" spc="-5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469900">
              <a:lnSpc>
                <a:spcPts val="2090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ret, nr;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14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while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(len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!= 0 &amp;&amp;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write (fd,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buf,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len)) != 0)</a:t>
            </a:r>
            <a:r>
              <a:rPr sz="1800" spc="-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7100">
              <a:lnSpc>
                <a:spcPts val="2010"/>
              </a:lnSpc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(ret == −1)</a:t>
            </a:r>
            <a:r>
              <a:rPr sz="18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1426845">
              <a:lnSpc>
                <a:spcPts val="2010"/>
              </a:lnSpc>
            </a:pPr>
            <a:r>
              <a:rPr sz="18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(errno ==</a:t>
            </a:r>
            <a:r>
              <a:rPr sz="1800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EINTR)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426845" marR="6442075" indent="414020">
              <a:lnSpc>
                <a:spcPct val="93100"/>
              </a:lnSpc>
              <a:spcBef>
                <a:spcPts val="75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continue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;  perror</a:t>
            </a:r>
            <a:r>
              <a:rPr sz="1800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("write"); 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break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1689"/>
              </a:lnSpc>
            </a:pPr>
            <a:r>
              <a:rPr sz="1500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</a:p>
          <a:p>
            <a:pPr marL="927100" marR="7695565">
              <a:lnSpc>
                <a:spcPts val="2000"/>
              </a:lnSpc>
              <a:spcBef>
                <a:spcPts val="130"/>
              </a:spcBef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len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-=</a:t>
            </a:r>
            <a:r>
              <a:rPr sz="1800" spc="-9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ret; 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buf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+=</a:t>
            </a:r>
            <a:r>
              <a:rPr sz="1800" spc="-1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80"/>
              </a:lnSpc>
            </a:pP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1027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lang="en-US" spc="-45" dirty="0"/>
              <a:t>Information </a:t>
            </a:r>
            <a:r>
              <a:rPr lang="en-US" spc="-15" dirty="0"/>
              <a:t>about</a:t>
            </a:r>
            <a:r>
              <a:rPr spc="-195" dirty="0"/>
              <a:t> </a:t>
            </a:r>
            <a:r>
              <a:rPr spc="-60" dirty="0"/>
              <a:t>Writes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945"/>
            <a:ext cx="10741661" cy="4215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7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Append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</a:t>
            </a: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Applied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file</a:t>
            </a:r>
            <a:r>
              <a:rPr lang="en-US" sz="2000" spc="-5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 opened with </a:t>
            </a:r>
            <a:r>
              <a:rPr sz="2000" dirty="0">
                <a:latin typeface="Calibri"/>
                <a:cs typeface="Calibri"/>
              </a:rPr>
              <a:t>the append mode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O_APPEND</a:t>
            </a:r>
            <a:r>
              <a:rPr sz="2000" spc="-5" dirty="0">
                <a:latin typeface="Calibri"/>
                <a:cs typeface="Calibri"/>
              </a:rPr>
              <a:t>)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Guarantees </a:t>
            </a:r>
            <a:r>
              <a:rPr lang="en-US" sz="2000" spc="-10" dirty="0">
                <a:latin typeface="Calibri"/>
                <a:cs typeface="Calibri"/>
              </a:rPr>
              <a:t>that </a:t>
            </a:r>
            <a:r>
              <a:rPr sz="2000" spc="-5" dirty="0">
                <a:latin typeface="Calibri"/>
                <a:cs typeface="Calibri"/>
              </a:rPr>
              <a:t>writes occur </a:t>
            </a:r>
            <a:r>
              <a:rPr sz="2000" spc="-15" dirty="0">
                <a:latin typeface="Calibri"/>
                <a:cs typeface="Calibri"/>
              </a:rPr>
              <a:t>at </a:t>
            </a:r>
            <a:r>
              <a:rPr sz="2000" dirty="0">
                <a:latin typeface="Calibri"/>
                <a:cs typeface="Calibri"/>
              </a:rPr>
              <a:t>the end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193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dirty="0">
                <a:latin typeface="Calibri"/>
                <a:cs typeface="Calibri"/>
              </a:rPr>
              <a:t>Without it, two </a:t>
            </a:r>
            <a:r>
              <a:rPr sz="1700" spc="-5" dirty="0">
                <a:latin typeface="Calibri"/>
                <a:cs typeface="Calibri"/>
              </a:rPr>
              <a:t>processes writing to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same </a:t>
            </a:r>
            <a:r>
              <a:rPr sz="1700" dirty="0">
                <a:latin typeface="Calibri"/>
                <a:cs typeface="Calibri"/>
              </a:rPr>
              <a:t>log </a:t>
            </a:r>
            <a:r>
              <a:rPr sz="1700" spc="-5" dirty="0">
                <a:latin typeface="Calibri"/>
                <a:cs typeface="Calibri"/>
              </a:rPr>
              <a:t>file </a:t>
            </a:r>
            <a:r>
              <a:rPr sz="1700" spc="-10" dirty="0">
                <a:latin typeface="Calibri"/>
                <a:cs typeface="Calibri"/>
              </a:rPr>
              <a:t>have </a:t>
            </a:r>
            <a:r>
              <a:rPr sz="1700" dirty="0">
                <a:latin typeface="Calibri"/>
                <a:cs typeface="Calibri"/>
              </a:rPr>
              <a:t>a </a:t>
            </a:r>
            <a:r>
              <a:rPr sz="1700" spc="-10" dirty="0">
                <a:latin typeface="Calibri"/>
                <a:cs typeface="Calibri"/>
              </a:rPr>
              <a:t>race</a:t>
            </a:r>
            <a:r>
              <a:rPr sz="1700" spc="-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condition</a:t>
            </a:r>
            <a:r>
              <a:rPr lang="en-US" sz="1700" dirty="0">
                <a:latin typeface="Calibri"/>
                <a:cs typeface="Calibri"/>
              </a:rPr>
              <a:t> = unexpected results.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93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1700" dirty="0">
                <a:latin typeface="Calibri"/>
                <a:cs typeface="Calibri"/>
              </a:rPr>
              <a:t>The a</a:t>
            </a:r>
            <a:r>
              <a:rPr sz="1700" dirty="0">
                <a:latin typeface="Calibri"/>
                <a:cs typeface="Calibri"/>
              </a:rPr>
              <a:t>ppend </a:t>
            </a:r>
            <a:r>
              <a:rPr sz="1700" spc="-5" dirty="0">
                <a:latin typeface="Calibri"/>
                <a:cs typeface="Calibri"/>
              </a:rPr>
              <a:t>mode </a:t>
            </a:r>
            <a:r>
              <a:rPr sz="1700" spc="-10" dirty="0">
                <a:latin typeface="Calibri"/>
                <a:cs typeface="Calibri"/>
              </a:rPr>
              <a:t>avoids </a:t>
            </a:r>
            <a:r>
              <a:rPr sz="1700" dirty="0">
                <a:latin typeface="Calibri"/>
                <a:cs typeface="Calibri"/>
              </a:rPr>
              <a:t>this </a:t>
            </a:r>
            <a:r>
              <a:rPr sz="1700" spc="-5" dirty="0">
                <a:latin typeface="Calibri"/>
                <a:cs typeface="Calibri"/>
              </a:rPr>
              <a:t>problem </a:t>
            </a:r>
            <a:r>
              <a:rPr sz="1700" dirty="0">
                <a:latin typeface="Calibri"/>
                <a:cs typeface="Calibri"/>
              </a:rPr>
              <a:t>so </a:t>
            </a:r>
            <a:r>
              <a:rPr lang="en-US" sz="1700" dirty="0">
                <a:latin typeface="Calibri"/>
                <a:cs typeface="Calibri"/>
              </a:rPr>
              <a:t>that </a:t>
            </a:r>
            <a:r>
              <a:rPr sz="1700" dirty="0">
                <a:latin typeface="Calibri"/>
                <a:cs typeface="Calibri"/>
              </a:rPr>
              <a:t>one </a:t>
            </a:r>
            <a:r>
              <a:rPr sz="1700" spc="-5" dirty="0">
                <a:latin typeface="Calibri"/>
                <a:cs typeface="Calibri"/>
              </a:rPr>
              <a:t>process doesn’t overwrite </a:t>
            </a:r>
            <a:r>
              <a:rPr sz="1700" dirty="0">
                <a:latin typeface="Calibri"/>
                <a:cs typeface="Calibri"/>
              </a:rPr>
              <a:t>the </a:t>
            </a:r>
            <a:r>
              <a:rPr sz="1700" spc="-5" dirty="0">
                <a:latin typeface="Calibri"/>
                <a:cs typeface="Calibri"/>
              </a:rPr>
              <a:t>other’s</a:t>
            </a:r>
            <a:r>
              <a:rPr sz="1700" spc="-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lang="en-US" sz="170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98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1700" spc="-5" dirty="0">
                <a:latin typeface="Calibri"/>
                <a:cs typeface="Calibri"/>
              </a:rPr>
              <a:t>The f</a:t>
            </a:r>
            <a:r>
              <a:rPr sz="1700" spc="-5" dirty="0">
                <a:latin typeface="Calibri"/>
                <a:cs typeface="Calibri"/>
              </a:rPr>
              <a:t>ile </a:t>
            </a:r>
            <a:r>
              <a:rPr sz="1700" dirty="0">
                <a:latin typeface="Calibri"/>
                <a:cs typeface="Calibri"/>
              </a:rPr>
              <a:t>position is </a:t>
            </a:r>
            <a:r>
              <a:rPr sz="1700" spc="-5" dirty="0">
                <a:latin typeface="Calibri"/>
                <a:cs typeface="Calibri"/>
              </a:rPr>
              <a:t>updated automatically </a:t>
            </a:r>
            <a:r>
              <a:rPr sz="1700" spc="-15" dirty="0">
                <a:latin typeface="Calibri"/>
                <a:cs typeface="Calibri"/>
              </a:rPr>
              <a:t>for </a:t>
            </a:r>
            <a:r>
              <a:rPr sz="17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1700" spc="-5" dirty="0">
                <a:latin typeface="Calibri"/>
                <a:cs typeface="Calibri"/>
              </a:rPr>
              <a:t>, not </a:t>
            </a:r>
            <a:r>
              <a:rPr sz="1700" spc="-15" dirty="0">
                <a:latin typeface="Calibri"/>
                <a:cs typeface="Calibri"/>
              </a:rPr>
              <a:t>for </a:t>
            </a:r>
            <a:r>
              <a:rPr sz="17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sz="1700" spc="-95" dirty="0">
                <a:latin typeface="+mj-lt"/>
                <a:cs typeface="Courier New" panose="02070309020205020404" pitchFamily="49" charset="0"/>
              </a:rPr>
              <a:t> </a:t>
            </a:r>
            <a:r>
              <a:rPr sz="1700" dirty="0">
                <a:latin typeface="Calibri"/>
                <a:cs typeface="Calibri"/>
              </a:rPr>
              <a:t>though</a:t>
            </a:r>
            <a:r>
              <a:rPr lang="en-US" sz="170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241300" indent="-228600">
              <a:lnSpc>
                <a:spcPts val="277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Nonblocking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Writes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Same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lang="en-US" sz="2000" dirty="0">
                <a:latin typeface="Calibri"/>
                <a:cs typeface="Calibri"/>
              </a:rPr>
              <a:t> with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sz="2000" spc="-5" dirty="0">
                <a:latin typeface="Calibri"/>
                <a:cs typeface="Calibri"/>
              </a:rPr>
              <a:t>, via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O_NONBLOCK</a:t>
            </a:r>
            <a:r>
              <a:rPr lang="en-US" sz="2000" spc="-5" dirty="0">
                <a:latin typeface="Calibri"/>
                <a:cs typeface="Calibri"/>
              </a:rPr>
              <a:t>, and is usually </a:t>
            </a:r>
            <a:r>
              <a:rPr lang="en-US" sz="2000" dirty="0">
                <a:latin typeface="Calibri"/>
                <a:cs typeface="Calibri"/>
              </a:rPr>
              <a:t>used with non-</a:t>
            </a:r>
            <a:r>
              <a:rPr sz="2000" spc="-5" dirty="0">
                <a:latin typeface="Calibri"/>
                <a:cs typeface="Calibri"/>
              </a:rPr>
              <a:t>regular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files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000" spc="-10" dirty="0">
                <a:latin typeface="Calibri"/>
                <a:cs typeface="Calibri"/>
              </a:rPr>
              <a:t>Instead of blocking, it r</a:t>
            </a:r>
            <a:r>
              <a:rPr sz="2000" spc="-10" dirty="0">
                <a:latin typeface="Calibri"/>
                <a:cs typeface="Calibri"/>
              </a:rPr>
              <a:t>eturns </a:t>
            </a:r>
            <a:r>
              <a:rPr sz="2000" spc="-5" dirty="0">
                <a:latin typeface="Calibri"/>
                <a:cs typeface="Calibri"/>
              </a:rPr>
              <a:t>-1 </a:t>
            </a:r>
            <a:r>
              <a:rPr sz="2000" spc="-10" dirty="0">
                <a:latin typeface="Calibri"/>
                <a:cs typeface="Calibri"/>
              </a:rPr>
              <a:t>immediately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lang="en-US" sz="2000" spc="-1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pc="-5" dirty="0" err="1">
                <a:solidFill>
                  <a:srgbClr val="0070C0"/>
                </a:solidFill>
                <a:latin typeface="Consolas"/>
              </a:rPr>
              <a:t>EAGAIN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0" dirty="0">
                <a:latin typeface="Calibri"/>
                <a:cs typeface="Calibri"/>
              </a:rPr>
              <a:t>Error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Codes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2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pc="-5" dirty="0">
                <a:solidFill>
                  <a:srgbClr val="0070C0"/>
                </a:solidFill>
                <a:latin typeface="Consolas"/>
              </a:rPr>
              <a:t>EBADF</a:t>
            </a:r>
            <a:r>
              <a:rPr sz="2000" spc="-40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EFAULT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(bad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buf</a:t>
            </a:r>
            <a:r>
              <a:rPr sz="2000" spc="5" dirty="0">
                <a:latin typeface="Calibri"/>
                <a:cs typeface="Calibri"/>
              </a:rPr>
              <a:t>),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EFBIG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EINVAL</a:t>
            </a:r>
            <a:r>
              <a:rPr sz="2000" spc="-15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EIO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ENOSPC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EPIPE</a:t>
            </a:r>
            <a:r>
              <a:rPr sz="2000" spc="-5" dirty="0">
                <a:latin typeface="Calibri"/>
                <a:cs typeface="Calibri"/>
              </a:rPr>
              <a:t> (reading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closed)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Size </a:t>
            </a:r>
            <a:r>
              <a:rPr sz="2400" spc="-5" dirty="0">
                <a:latin typeface="Calibri"/>
                <a:cs typeface="Calibri"/>
              </a:rPr>
              <a:t>Limits 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If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count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larger </a:t>
            </a:r>
            <a:r>
              <a:rPr sz="2000" dirty="0">
                <a:latin typeface="Calibri"/>
                <a:cs typeface="Calibri"/>
              </a:rPr>
              <a:t>than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SSIZE_MAX</a:t>
            </a:r>
            <a:r>
              <a:rPr sz="2000" dirty="0">
                <a:latin typeface="Calibri"/>
                <a:cs typeface="Calibri"/>
              </a:rPr>
              <a:t>, the </a:t>
            </a:r>
            <a:r>
              <a:rPr sz="2000" spc="-5" dirty="0">
                <a:latin typeface="Calibri"/>
                <a:cs typeface="Calibri"/>
              </a:rPr>
              <a:t>results of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000" spc="-5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undefined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If </a:t>
            </a:r>
            <a:r>
              <a:rPr spc="-5" dirty="0">
                <a:solidFill>
                  <a:srgbClr val="0070C0"/>
                </a:solidFill>
                <a:latin typeface="Consolas"/>
              </a:rPr>
              <a:t>count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0, the </a:t>
            </a:r>
            <a:r>
              <a:rPr sz="2000" spc="-5" dirty="0">
                <a:latin typeface="Calibri"/>
                <a:cs typeface="Calibri"/>
              </a:rPr>
              <a:t>call </a:t>
            </a:r>
            <a:r>
              <a:rPr sz="2000" spc="-10" dirty="0">
                <a:latin typeface="Calibri"/>
                <a:cs typeface="Calibri"/>
              </a:rPr>
              <a:t>returns immediately </a:t>
            </a:r>
            <a:r>
              <a:rPr sz="2000" dirty="0">
                <a:latin typeface="Calibri"/>
                <a:cs typeface="Calibri"/>
              </a:rPr>
              <a:t>with a </a:t>
            </a:r>
            <a:r>
              <a:rPr sz="2000" spc="-10" dirty="0">
                <a:latin typeface="Calibri"/>
                <a:cs typeface="Calibri"/>
              </a:rPr>
              <a:t>return value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912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Details </a:t>
            </a:r>
            <a:r>
              <a:rPr spc="-25" dirty="0"/>
              <a:t>about </a:t>
            </a:r>
            <a:r>
              <a:rPr spc="-20" dirty="0"/>
              <a:t>the </a:t>
            </a:r>
            <a:r>
              <a:rPr spc="-40" dirty="0"/>
              <a:t>Behavior </a:t>
            </a:r>
            <a:r>
              <a:rPr spc="-15" dirty="0"/>
              <a:t>of</a:t>
            </a:r>
            <a:r>
              <a:rPr spc="-330" dirty="0"/>
              <a:t> </a:t>
            </a:r>
            <a:r>
              <a:rPr spc="-3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75205"/>
            <a:ext cx="10513061" cy="44042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83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1800" spc="-10" dirty="0">
                <a:latin typeface="+mj-lt"/>
                <a:cs typeface="Courier New" panose="02070309020205020404" pitchFamily="49" charset="0"/>
              </a:rPr>
              <a:t> </a:t>
            </a:r>
            <a:r>
              <a:rPr sz="1800" spc="-5" dirty="0">
                <a:latin typeface="Calibri"/>
                <a:cs typeface="Calibri"/>
              </a:rPr>
              <a:t>only </a:t>
            </a:r>
            <a:r>
              <a:rPr sz="1800" spc="-10" dirty="0">
                <a:latin typeface="Calibri"/>
                <a:cs typeface="Calibri"/>
              </a:rPr>
              <a:t>guarantees copying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spc="-10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user </a:t>
            </a:r>
            <a:r>
              <a:rPr sz="1800" spc="-5" dirty="0">
                <a:latin typeface="Calibri"/>
                <a:cs typeface="Calibri"/>
              </a:rPr>
              <a:t>space </a:t>
            </a:r>
            <a:r>
              <a:rPr sz="16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buf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kernel </a:t>
            </a:r>
            <a:r>
              <a:rPr sz="1800" spc="-35" dirty="0">
                <a:latin typeface="Calibri"/>
                <a:cs typeface="Calibri"/>
              </a:rPr>
              <a:t>buffer, </a:t>
            </a:r>
            <a:r>
              <a:rPr sz="1800" spc="-5" dirty="0">
                <a:latin typeface="Calibri"/>
                <a:cs typeface="Calibri"/>
              </a:rPr>
              <a:t>but no </a:t>
            </a:r>
            <a:r>
              <a:rPr sz="1800" spc="-10" dirty="0">
                <a:latin typeface="Calibri"/>
                <a:cs typeface="Calibri"/>
              </a:rPr>
              <a:t>guarantee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lang="en-US" sz="1800" spc="-5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written </a:t>
            </a:r>
            <a:r>
              <a:rPr sz="1800" spc="-5" dirty="0">
                <a:latin typeface="Calibri"/>
                <a:cs typeface="Calibri"/>
              </a:rPr>
              <a:t>out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disk</a:t>
            </a:r>
            <a:r>
              <a:rPr lang="en-US" spc="-5" dirty="0">
                <a:latin typeface="Calibri"/>
                <a:cs typeface="Calibri"/>
              </a:rPr>
              <a:t> immediately</a:t>
            </a:r>
            <a:r>
              <a:rPr lang="en-US" sz="1800" spc="-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241300" marR="18669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 the </a:t>
            </a:r>
            <a:r>
              <a:rPr sz="1800" spc="-5" dirty="0">
                <a:latin typeface="Calibri"/>
                <a:cs typeface="Calibri"/>
              </a:rPr>
              <a:t>background,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kernel </a:t>
            </a:r>
            <a:r>
              <a:rPr sz="1800" spc="-15" dirty="0">
                <a:latin typeface="Calibri"/>
                <a:cs typeface="Calibri"/>
              </a:rPr>
              <a:t>gathers </a:t>
            </a:r>
            <a:r>
              <a:rPr sz="1800" dirty="0">
                <a:latin typeface="Calibri"/>
                <a:cs typeface="Calibri"/>
              </a:rPr>
              <a:t>up all </a:t>
            </a:r>
            <a:r>
              <a:rPr sz="1800" i="1" spc="-5" dirty="0">
                <a:latin typeface="Calibri"/>
                <a:cs typeface="Calibri"/>
              </a:rPr>
              <a:t>dirty </a:t>
            </a:r>
            <a:r>
              <a:rPr sz="1800" i="1" spc="-10" dirty="0">
                <a:latin typeface="Calibri"/>
                <a:cs typeface="Calibri"/>
              </a:rPr>
              <a:t>buffers</a:t>
            </a:r>
            <a:r>
              <a:rPr sz="1800" spc="-10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those </a:t>
            </a:r>
            <a:r>
              <a:rPr sz="1800" spc="-10" dirty="0">
                <a:latin typeface="Calibri"/>
                <a:cs typeface="Calibri"/>
              </a:rPr>
              <a:t>containing data </a:t>
            </a:r>
            <a:r>
              <a:rPr sz="1800" spc="-5" dirty="0">
                <a:latin typeface="Calibri"/>
                <a:cs typeface="Calibri"/>
              </a:rPr>
              <a:t>newer </a:t>
            </a:r>
            <a:r>
              <a:rPr sz="1800" dirty="0">
                <a:latin typeface="Calibri"/>
                <a:cs typeface="Calibri"/>
              </a:rPr>
              <a:t>than </a:t>
            </a:r>
            <a:r>
              <a:rPr sz="1800" spc="-15" dirty="0">
                <a:latin typeface="Calibri"/>
                <a:cs typeface="Calibri"/>
              </a:rPr>
              <a:t>what’s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disk,  </a:t>
            </a:r>
            <a:r>
              <a:rPr sz="1800" spc="-5" dirty="0">
                <a:latin typeface="Calibri"/>
                <a:cs typeface="Calibri"/>
              </a:rPr>
              <a:t>sorts </a:t>
            </a:r>
            <a:r>
              <a:rPr sz="1800" dirty="0">
                <a:latin typeface="Calibri"/>
                <a:cs typeface="Calibri"/>
              </a:rPr>
              <a:t>them </a:t>
            </a:r>
            <a:r>
              <a:rPr sz="1800" spc="-20" dirty="0">
                <a:latin typeface="Calibri"/>
                <a:cs typeface="Calibri"/>
              </a:rPr>
              <a:t>optimally, </a:t>
            </a:r>
            <a:r>
              <a:rPr lang="en-US" spc="-2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writes </a:t>
            </a:r>
            <a:r>
              <a:rPr sz="1800" dirty="0">
                <a:latin typeface="Calibri"/>
                <a:cs typeface="Calibri"/>
              </a:rPr>
              <a:t>them </a:t>
            </a:r>
            <a:r>
              <a:rPr sz="1800" spc="-5" dirty="0">
                <a:latin typeface="Calibri"/>
                <a:cs typeface="Calibri"/>
              </a:rPr>
              <a:t>out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disk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i="1" spc="-10" dirty="0">
                <a:latin typeface="Calibri"/>
                <a:cs typeface="Calibri"/>
              </a:rPr>
              <a:t>writeback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lang="en-US" sz="1800" spc="-10" dirty="0">
                <a:latin typeface="Calibri"/>
                <a:cs typeface="Calibri"/>
              </a:rPr>
              <a:t> at some later point in time.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14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Why?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ts val="1764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10" dirty="0">
                <a:latin typeface="Calibri"/>
                <a:cs typeface="Calibri"/>
              </a:rPr>
              <a:t>Delayed </a:t>
            </a:r>
            <a:r>
              <a:rPr sz="1500" spc="-5" dirty="0">
                <a:latin typeface="Calibri"/>
                <a:cs typeface="Calibri"/>
              </a:rPr>
              <a:t>writes </a:t>
            </a:r>
            <a:r>
              <a:rPr sz="1500" dirty="0">
                <a:latin typeface="Calibri"/>
                <a:cs typeface="Calibri"/>
              </a:rPr>
              <a:t>allow </a:t>
            </a:r>
            <a:r>
              <a:rPr sz="15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to return</a:t>
            </a:r>
            <a:r>
              <a:rPr sz="1500" spc="-5" dirty="0">
                <a:latin typeface="Calibri"/>
                <a:cs typeface="Calibri"/>
              </a:rPr>
              <a:t> immediately</a:t>
            </a:r>
            <a:r>
              <a:rPr lang="en-US" sz="1500" spc="-5" dirty="0">
                <a:latin typeface="Calibri"/>
                <a:cs typeface="Calibri"/>
              </a:rPr>
              <a:t>, without waiting for the data to be written to disk.</a:t>
            </a:r>
            <a:endParaRPr sz="1500" dirty="0">
              <a:latin typeface="Calibri"/>
              <a:cs typeface="Calibri"/>
            </a:endParaRPr>
          </a:p>
          <a:p>
            <a:pPr marL="698500" lvl="1" indent="-229235">
              <a:lnSpc>
                <a:spcPts val="176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5" dirty="0">
                <a:latin typeface="Calibri"/>
                <a:cs typeface="Calibri"/>
              </a:rPr>
              <a:t>Actual writes can </a:t>
            </a:r>
            <a:r>
              <a:rPr sz="1500" spc="-20" dirty="0">
                <a:latin typeface="Calibri"/>
                <a:cs typeface="Calibri"/>
              </a:rPr>
              <a:t>take </a:t>
            </a:r>
            <a:r>
              <a:rPr sz="1500" dirty="0">
                <a:latin typeface="Calibri"/>
                <a:cs typeface="Calibri"/>
              </a:rPr>
              <a:t>place in idle </a:t>
            </a:r>
            <a:r>
              <a:rPr sz="1500" spc="-5" dirty="0">
                <a:latin typeface="Calibri"/>
                <a:cs typeface="Calibri"/>
              </a:rPr>
              <a:t>periods </a:t>
            </a:r>
            <a:r>
              <a:rPr lang="en-US" sz="1500" spc="-5" dirty="0">
                <a:latin typeface="Calibri"/>
                <a:cs typeface="Calibri"/>
              </a:rPr>
              <a:t>(when Linux is not doing much) </a:t>
            </a:r>
            <a:r>
              <a:rPr sz="1500" dirty="0">
                <a:latin typeface="Calibri"/>
                <a:cs typeface="Calibri"/>
              </a:rPr>
              <a:t>and </a:t>
            </a:r>
            <a:r>
              <a:rPr sz="1500" spc="-10" dirty="0">
                <a:latin typeface="Calibri"/>
                <a:cs typeface="Calibri"/>
              </a:rPr>
              <a:t>are </a:t>
            </a:r>
            <a:r>
              <a:rPr sz="1500" spc="-5" dirty="0">
                <a:latin typeface="Calibri"/>
                <a:cs typeface="Calibri"/>
              </a:rPr>
              <a:t>batched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lang="en-US" sz="1500" spc="-40" dirty="0">
                <a:latin typeface="Calibri"/>
                <a:cs typeface="Calibri"/>
              </a:rPr>
              <a:t>= grouped </a:t>
            </a:r>
            <a:r>
              <a:rPr sz="1500" spc="-5" dirty="0">
                <a:latin typeface="Calibri"/>
                <a:cs typeface="Calibri"/>
              </a:rPr>
              <a:t>optimally</a:t>
            </a:r>
            <a:r>
              <a:rPr lang="en-US" sz="1500" spc="-5" dirty="0">
                <a:latin typeface="Calibri"/>
                <a:cs typeface="Calibri"/>
              </a:rPr>
              <a:t>.</a:t>
            </a:r>
            <a:endParaRPr sz="1500" dirty="0">
              <a:latin typeface="Calibri"/>
              <a:cs typeface="Calibri"/>
            </a:endParaRPr>
          </a:p>
          <a:p>
            <a:pPr marL="698500" lvl="1" indent="-229235">
              <a:lnSpc>
                <a:spcPts val="177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5" dirty="0">
                <a:latin typeface="Calibri"/>
                <a:cs typeface="Calibri"/>
              </a:rPr>
              <a:t>Reads </a:t>
            </a:r>
            <a:r>
              <a:rPr lang="en-US" sz="1500" spc="-5" dirty="0">
                <a:latin typeface="Calibri"/>
                <a:cs typeface="Calibri"/>
              </a:rPr>
              <a:t>from such a file </a:t>
            </a:r>
            <a:r>
              <a:rPr sz="1500" spc="-10" dirty="0">
                <a:latin typeface="Calibri"/>
                <a:cs typeface="Calibri"/>
              </a:rPr>
              <a:t>are </a:t>
            </a:r>
            <a:r>
              <a:rPr sz="1500" spc="-5" dirty="0">
                <a:latin typeface="Calibri"/>
                <a:cs typeface="Calibri"/>
              </a:rPr>
              <a:t>also </a:t>
            </a:r>
            <a:r>
              <a:rPr sz="1500" spc="-10" dirty="0">
                <a:latin typeface="Calibri"/>
                <a:cs typeface="Calibri"/>
              </a:rPr>
              <a:t>faster (</a:t>
            </a:r>
            <a:r>
              <a:rPr lang="en-US" sz="1500" spc="-10" dirty="0">
                <a:latin typeface="Calibri"/>
                <a:cs typeface="Calibri"/>
              </a:rPr>
              <a:t>reading </a:t>
            </a:r>
            <a:r>
              <a:rPr sz="1500" spc="-10" dirty="0">
                <a:latin typeface="Calibri"/>
                <a:cs typeface="Calibri"/>
              </a:rPr>
              <a:t>from </a:t>
            </a:r>
            <a:r>
              <a:rPr lang="en-US" sz="1500" spc="-10" dirty="0">
                <a:latin typeface="Calibri"/>
                <a:cs typeface="Calibri"/>
              </a:rPr>
              <a:t>the dirty </a:t>
            </a:r>
            <a:r>
              <a:rPr sz="1500" spc="-30" dirty="0">
                <a:latin typeface="Calibri"/>
                <a:cs typeface="Calibri"/>
              </a:rPr>
              <a:t>buffer, </a:t>
            </a:r>
            <a:r>
              <a:rPr sz="1500" spc="-5" dirty="0">
                <a:latin typeface="Calibri"/>
                <a:cs typeface="Calibri"/>
              </a:rPr>
              <a:t>not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lang="en-US" sz="1500" spc="5" dirty="0">
                <a:latin typeface="Calibri"/>
                <a:cs typeface="Calibri"/>
              </a:rPr>
              <a:t>from the </a:t>
            </a:r>
            <a:r>
              <a:rPr sz="1500" dirty="0">
                <a:latin typeface="Calibri"/>
                <a:cs typeface="Calibri"/>
              </a:rPr>
              <a:t>disk</a:t>
            </a:r>
            <a:r>
              <a:rPr lang="en-US" sz="1500" dirty="0">
                <a:latin typeface="Calibri"/>
                <a:cs typeface="Calibri"/>
              </a:rPr>
              <a:t>.</a:t>
            </a:r>
            <a:r>
              <a:rPr sz="15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ts val="2135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Problems?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ts val="176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15" dirty="0">
                <a:latin typeface="Calibri"/>
                <a:cs typeface="Calibri"/>
              </a:rPr>
              <a:t>System </a:t>
            </a:r>
            <a:r>
              <a:rPr sz="1500" spc="-10" dirty="0">
                <a:latin typeface="Calibri"/>
                <a:cs typeface="Calibri"/>
              </a:rPr>
              <a:t>crash </a:t>
            </a:r>
            <a:r>
              <a:rPr sz="1500" dirty="0">
                <a:latin typeface="Calibri"/>
                <a:cs typeface="Calibri"/>
              </a:rPr>
              <a:t>– </a:t>
            </a:r>
            <a:r>
              <a:rPr sz="1500" spc="-10" dirty="0">
                <a:latin typeface="Calibri"/>
                <a:cs typeface="Calibri"/>
              </a:rPr>
              <a:t>data may never </a:t>
            </a:r>
            <a:r>
              <a:rPr sz="1500" spc="-15" dirty="0">
                <a:latin typeface="Calibri"/>
                <a:cs typeface="Calibri"/>
              </a:rPr>
              <a:t>make </a:t>
            </a:r>
            <a:r>
              <a:rPr sz="1500" dirty="0">
                <a:latin typeface="Calibri"/>
                <a:cs typeface="Calibri"/>
              </a:rPr>
              <a:t>it </a:t>
            </a:r>
            <a:r>
              <a:rPr sz="1500" spc="-10" dirty="0">
                <a:latin typeface="Calibri"/>
                <a:cs typeface="Calibri"/>
              </a:rPr>
              <a:t>to</a:t>
            </a:r>
            <a:r>
              <a:rPr sz="1500" spc="-5" dirty="0">
                <a:latin typeface="Calibri"/>
                <a:cs typeface="Calibri"/>
              </a:rPr>
              <a:t> disk</a:t>
            </a:r>
            <a:r>
              <a:rPr lang="en-US" sz="1500" spc="-5" dirty="0">
                <a:latin typeface="Calibri"/>
                <a:cs typeface="Calibri"/>
              </a:rPr>
              <a:t> if the writing is delayed.</a:t>
            </a:r>
            <a:endParaRPr sz="1500" dirty="0">
              <a:latin typeface="Calibri"/>
              <a:cs typeface="Calibri"/>
            </a:endParaRPr>
          </a:p>
          <a:p>
            <a:pPr marL="698500" marR="674370" lvl="1" indent="-228600">
              <a:lnSpc>
                <a:spcPct val="7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15" dirty="0">
                <a:latin typeface="Calibri"/>
                <a:cs typeface="Calibri"/>
              </a:rPr>
              <a:t>Application’s </a:t>
            </a:r>
            <a:r>
              <a:rPr sz="1500" spc="-5" dirty="0">
                <a:latin typeface="Calibri"/>
                <a:cs typeface="Calibri"/>
              </a:rPr>
              <a:t>own </a:t>
            </a:r>
            <a:r>
              <a:rPr sz="1500" i="1" spc="-5" dirty="0">
                <a:latin typeface="Calibri"/>
                <a:cs typeface="Calibri"/>
              </a:rPr>
              <a:t>write ordering </a:t>
            </a:r>
            <a:r>
              <a:rPr sz="1500" spc="-5" dirty="0">
                <a:latin typeface="Calibri"/>
                <a:cs typeface="Calibri"/>
              </a:rPr>
              <a:t>can’t </a:t>
            </a:r>
            <a:r>
              <a:rPr sz="1500" dirty="0">
                <a:latin typeface="Calibri"/>
                <a:cs typeface="Calibri"/>
              </a:rPr>
              <a:t>be </a:t>
            </a:r>
            <a:r>
              <a:rPr sz="1500" spc="-10" dirty="0">
                <a:latin typeface="Calibri"/>
                <a:cs typeface="Calibri"/>
              </a:rPr>
              <a:t>enforced </a:t>
            </a:r>
            <a:r>
              <a:rPr sz="1500" dirty="0">
                <a:latin typeface="Calibri"/>
                <a:cs typeface="Calibri"/>
              </a:rPr>
              <a:t>as the </a:t>
            </a:r>
            <a:r>
              <a:rPr sz="1500" spc="-10" dirty="0">
                <a:latin typeface="Calibri"/>
                <a:cs typeface="Calibri"/>
              </a:rPr>
              <a:t>kernel reorders </a:t>
            </a:r>
            <a:r>
              <a:rPr sz="1500" spc="-5" dirty="0">
                <a:latin typeface="Calibri"/>
                <a:cs typeface="Calibri"/>
              </a:rPr>
              <a:t>write requests on </a:t>
            </a:r>
            <a:r>
              <a:rPr sz="1500" dirty="0">
                <a:latin typeface="Calibri"/>
                <a:cs typeface="Calibri"/>
              </a:rPr>
              <a:t>its </a:t>
            </a:r>
            <a:r>
              <a:rPr sz="1500" spc="-5" dirty="0">
                <a:latin typeface="Calibri"/>
                <a:cs typeface="Calibri"/>
              </a:rPr>
              <a:t>own </a:t>
            </a:r>
            <a:r>
              <a:rPr lang="en-US" sz="1500" spc="-20" dirty="0">
                <a:latin typeface="Calibri"/>
                <a:cs typeface="Calibri"/>
              </a:rPr>
              <a:t>to increase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performance</a:t>
            </a:r>
            <a:r>
              <a:rPr sz="1500" spc="-10" dirty="0">
                <a:latin typeface="Calibri"/>
                <a:cs typeface="Calibri"/>
              </a:rPr>
              <a:t>. </a:t>
            </a:r>
            <a:r>
              <a:rPr sz="1500" spc="-15" dirty="0">
                <a:latin typeface="Calibri"/>
                <a:cs typeface="Calibri"/>
              </a:rPr>
              <a:t>Write </a:t>
            </a:r>
            <a:r>
              <a:rPr sz="1500" spc="-5" dirty="0">
                <a:latin typeface="Calibri"/>
                <a:cs typeface="Calibri"/>
              </a:rPr>
              <a:t>ordering </a:t>
            </a:r>
            <a:r>
              <a:rPr sz="1500" dirty="0">
                <a:latin typeface="Calibri"/>
                <a:cs typeface="Calibri"/>
              </a:rPr>
              <a:t>is </a:t>
            </a:r>
            <a:r>
              <a:rPr sz="1500" spc="-5" dirty="0">
                <a:latin typeface="Calibri"/>
                <a:cs typeface="Calibri"/>
              </a:rPr>
              <a:t>usually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5" dirty="0">
                <a:latin typeface="Calibri"/>
                <a:cs typeface="Calibri"/>
              </a:rPr>
              <a:t>concern </a:t>
            </a:r>
            <a:r>
              <a:rPr sz="1500" spc="-15" dirty="0">
                <a:latin typeface="Calibri"/>
                <a:cs typeface="Calibri"/>
              </a:rPr>
              <a:t>for </a:t>
            </a:r>
            <a:r>
              <a:rPr sz="1500" spc="-5" dirty="0">
                <a:latin typeface="Calibri"/>
                <a:cs typeface="Calibri"/>
              </a:rPr>
              <a:t>databases </a:t>
            </a:r>
            <a:r>
              <a:rPr sz="1500" spc="-10" dirty="0">
                <a:latin typeface="Calibri"/>
                <a:cs typeface="Calibri"/>
              </a:rPr>
              <a:t>to </a:t>
            </a:r>
            <a:r>
              <a:rPr sz="1500" spc="-15" dirty="0">
                <a:latin typeface="Calibri"/>
                <a:cs typeface="Calibri"/>
              </a:rPr>
              <a:t>avoid </a:t>
            </a:r>
            <a:r>
              <a:rPr sz="1500" spc="-5" dirty="0">
                <a:latin typeface="Calibri"/>
                <a:cs typeface="Calibri"/>
              </a:rPr>
              <a:t>inconsistent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states</a:t>
            </a:r>
            <a:r>
              <a:rPr lang="en-US" sz="1500" spc="-15" dirty="0">
                <a:latin typeface="Calibri"/>
                <a:cs typeface="Calibri"/>
              </a:rPr>
              <a:t>.</a:t>
            </a:r>
            <a:endParaRPr sz="15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10" dirty="0">
                <a:latin typeface="Calibri"/>
                <a:cs typeface="Calibri"/>
              </a:rPr>
              <a:t>Any </a:t>
            </a:r>
            <a:r>
              <a:rPr sz="1500" spc="-5" dirty="0">
                <a:latin typeface="Calibri"/>
                <a:cs typeface="Calibri"/>
              </a:rPr>
              <a:t>I/O error due </a:t>
            </a:r>
            <a:r>
              <a:rPr sz="1500" spc="-10" dirty="0">
                <a:latin typeface="Calibri"/>
                <a:cs typeface="Calibri"/>
              </a:rPr>
              <a:t>to physical </a:t>
            </a:r>
            <a:r>
              <a:rPr sz="1500" spc="-5" dirty="0">
                <a:latin typeface="Calibri"/>
                <a:cs typeface="Calibri"/>
              </a:rPr>
              <a:t>drive </a:t>
            </a:r>
            <a:r>
              <a:rPr sz="1500" spc="-10" dirty="0">
                <a:latin typeface="Calibri"/>
                <a:cs typeface="Calibri"/>
              </a:rPr>
              <a:t>failure </a:t>
            </a:r>
            <a:r>
              <a:rPr sz="1500" spc="-5" dirty="0">
                <a:latin typeface="Calibri"/>
                <a:cs typeface="Calibri"/>
              </a:rPr>
              <a:t>can’t </a:t>
            </a:r>
            <a:r>
              <a:rPr sz="1500" dirty="0">
                <a:latin typeface="Calibri"/>
                <a:cs typeface="Calibri"/>
              </a:rPr>
              <a:t>be </a:t>
            </a:r>
            <a:r>
              <a:rPr sz="1500" spc="-5" dirty="0">
                <a:latin typeface="Calibri"/>
                <a:cs typeface="Calibri"/>
              </a:rPr>
              <a:t>reported </a:t>
            </a:r>
            <a:r>
              <a:rPr sz="1500" dirty="0">
                <a:latin typeface="Calibri"/>
                <a:cs typeface="Calibri"/>
              </a:rPr>
              <a:t>back </a:t>
            </a:r>
            <a:r>
              <a:rPr sz="1500" spc="-10" dirty="0">
                <a:latin typeface="Calibri"/>
                <a:cs typeface="Calibri"/>
              </a:rPr>
              <a:t>to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10" dirty="0">
                <a:latin typeface="Calibri"/>
                <a:cs typeface="Calibri"/>
              </a:rPr>
              <a:t>process </a:t>
            </a:r>
            <a:r>
              <a:rPr sz="1500" dirty="0">
                <a:latin typeface="Calibri"/>
                <a:cs typeface="Calibri"/>
              </a:rPr>
              <a:t>issuing the </a:t>
            </a:r>
            <a:r>
              <a:rPr sz="1500" spc="-5" dirty="0">
                <a:latin typeface="Calibri"/>
                <a:cs typeface="Calibri"/>
              </a:rPr>
              <a:t>write, </a:t>
            </a:r>
            <a:r>
              <a:rPr sz="1500" dirty="0">
                <a:latin typeface="Calibri"/>
                <a:cs typeface="Calibri"/>
              </a:rPr>
              <a:t>as the </a:t>
            </a:r>
            <a:r>
              <a:rPr sz="1500" spc="-20" dirty="0">
                <a:latin typeface="Calibri"/>
                <a:cs typeface="Calibri"/>
              </a:rPr>
              <a:t>kernel’s </a:t>
            </a:r>
            <a:r>
              <a:rPr sz="1500" dirty="0">
                <a:latin typeface="Calibri"/>
                <a:cs typeface="Calibri"/>
              </a:rPr>
              <a:t>dirty </a:t>
            </a:r>
            <a:r>
              <a:rPr sz="1500" spc="-10" dirty="0">
                <a:latin typeface="Calibri"/>
                <a:cs typeface="Calibri"/>
              </a:rPr>
              <a:t>buffers  are </a:t>
            </a:r>
            <a:r>
              <a:rPr sz="1500" spc="-5" dirty="0">
                <a:latin typeface="Calibri"/>
                <a:cs typeface="Calibri"/>
              </a:rPr>
              <a:t>not associated with </a:t>
            </a:r>
            <a:r>
              <a:rPr sz="1500" spc="-10" dirty="0">
                <a:latin typeface="Calibri"/>
                <a:cs typeface="Calibri"/>
              </a:rPr>
              <a:t>processes </a:t>
            </a:r>
            <a:r>
              <a:rPr sz="1500" spc="-5" dirty="0">
                <a:latin typeface="Calibri"/>
                <a:cs typeface="Calibri"/>
              </a:rPr>
              <a:t>which </a:t>
            </a:r>
            <a:r>
              <a:rPr sz="1500" spc="-10" dirty="0">
                <a:latin typeface="Calibri"/>
                <a:cs typeface="Calibri"/>
              </a:rPr>
              <a:t>may </a:t>
            </a:r>
            <a:r>
              <a:rPr sz="1500" spc="-15" dirty="0">
                <a:latin typeface="Calibri"/>
                <a:cs typeface="Calibri"/>
              </a:rPr>
              <a:t>have </a:t>
            </a:r>
            <a:r>
              <a:rPr sz="1500" spc="-10" dirty="0">
                <a:latin typeface="Calibri"/>
                <a:cs typeface="Calibri"/>
              </a:rPr>
              <a:t>exited</a:t>
            </a:r>
            <a:r>
              <a:rPr sz="1500" dirty="0">
                <a:latin typeface="Calibri"/>
                <a:cs typeface="Calibri"/>
              </a:rPr>
              <a:t> earlier</a:t>
            </a:r>
            <a:r>
              <a:rPr lang="en-US" sz="1500" dirty="0">
                <a:latin typeface="Calibri"/>
                <a:cs typeface="Calibri"/>
              </a:rPr>
              <a:t>. Again, the data will never make it to disk in this case.</a:t>
            </a:r>
            <a:endParaRPr sz="1500" dirty="0">
              <a:latin typeface="Calibri"/>
              <a:cs typeface="Calibri"/>
            </a:endParaRPr>
          </a:p>
          <a:p>
            <a:pPr marL="241300" indent="-228600">
              <a:lnSpc>
                <a:spcPts val="214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80" dirty="0">
                <a:latin typeface="Calibri"/>
                <a:cs typeface="Calibri"/>
              </a:rPr>
              <a:t>To </a:t>
            </a:r>
            <a:r>
              <a:rPr lang="en-US" sz="1800" spc="-10" dirty="0">
                <a:latin typeface="Calibri"/>
                <a:cs typeface="Calibri"/>
              </a:rPr>
              <a:t>address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lang="en-US" sz="1800" dirty="0">
                <a:latin typeface="Calibri"/>
                <a:cs typeface="Calibri"/>
              </a:rPr>
              <a:t>se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issues</a:t>
            </a:r>
            <a:r>
              <a:rPr lang="en-US" sz="180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698500" marR="824865" lvl="1" indent="-228600">
              <a:lnSpc>
                <a:spcPct val="7000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1500" spc="-5" dirty="0">
                <a:latin typeface="Calibri"/>
                <a:cs typeface="Calibri"/>
              </a:rPr>
              <a:t>The k</a:t>
            </a:r>
            <a:r>
              <a:rPr sz="1500" spc="-5" dirty="0">
                <a:latin typeface="Calibri"/>
                <a:cs typeface="Calibri"/>
              </a:rPr>
              <a:t>ernel institutes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i="1" spc="-5" dirty="0">
                <a:latin typeface="Calibri"/>
                <a:cs typeface="Calibri"/>
              </a:rPr>
              <a:t>maximum </a:t>
            </a:r>
            <a:r>
              <a:rPr sz="1500" i="1" spc="-10" dirty="0">
                <a:latin typeface="Calibri"/>
                <a:cs typeface="Calibri"/>
              </a:rPr>
              <a:t>buffer </a:t>
            </a:r>
            <a:r>
              <a:rPr lang="en-US" sz="1500" i="1" spc="-5" dirty="0">
                <a:latin typeface="Calibri"/>
                <a:cs typeface="Calibri"/>
              </a:rPr>
              <a:t>age</a:t>
            </a:r>
            <a:r>
              <a:rPr lang="en-US" sz="1500" spc="-5" dirty="0">
                <a:latin typeface="Calibri"/>
                <a:cs typeface="Calibri"/>
              </a:rPr>
              <a:t> and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writes out </a:t>
            </a:r>
            <a:r>
              <a:rPr sz="1500" dirty="0">
                <a:latin typeface="Calibri"/>
                <a:cs typeface="Calibri"/>
              </a:rPr>
              <a:t>all </a:t>
            </a:r>
            <a:r>
              <a:rPr lang="en-US" sz="1500" dirty="0">
                <a:latin typeface="Calibri"/>
                <a:cs typeface="Calibri"/>
              </a:rPr>
              <a:t>the </a:t>
            </a:r>
            <a:r>
              <a:rPr sz="1500" dirty="0">
                <a:latin typeface="Calibri"/>
                <a:cs typeface="Calibri"/>
              </a:rPr>
              <a:t>dirty </a:t>
            </a:r>
            <a:r>
              <a:rPr sz="1500" spc="-15" dirty="0">
                <a:latin typeface="Calibri"/>
                <a:cs typeface="Calibri"/>
              </a:rPr>
              <a:t>buffers before </a:t>
            </a:r>
            <a:r>
              <a:rPr sz="1500" spc="-5" dirty="0">
                <a:latin typeface="Calibri"/>
                <a:cs typeface="Calibri"/>
              </a:rPr>
              <a:t>they </a:t>
            </a:r>
            <a:r>
              <a:rPr lang="en-US" sz="1500" spc="-5" dirty="0">
                <a:latin typeface="Calibri"/>
                <a:cs typeface="Calibri"/>
              </a:rPr>
              <a:t>grow</a:t>
            </a:r>
            <a:r>
              <a:rPr sz="1500" spc="-5" dirty="0">
                <a:latin typeface="Calibri"/>
                <a:cs typeface="Calibri"/>
              </a:rPr>
              <a:t> past </a:t>
            </a:r>
            <a:r>
              <a:rPr lang="en-US" sz="1500" dirty="0">
                <a:latin typeface="Calibri"/>
                <a:cs typeface="Calibri"/>
              </a:rPr>
              <a:t>this max </a:t>
            </a:r>
            <a:r>
              <a:rPr lang="en-US" sz="1500" spc="-5" dirty="0">
                <a:latin typeface="Calibri"/>
                <a:cs typeface="Calibri"/>
              </a:rPr>
              <a:t>age</a:t>
            </a:r>
            <a:r>
              <a:rPr sz="1500" spc="-5" dirty="0">
                <a:latin typeface="Calibri"/>
                <a:cs typeface="Calibri"/>
              </a:rPr>
              <a:t>. The </a:t>
            </a:r>
            <a:r>
              <a:rPr sz="1500" spc="-10" dirty="0">
                <a:latin typeface="Calibri"/>
                <a:cs typeface="Calibri"/>
              </a:rPr>
              <a:t>configuration </a:t>
            </a:r>
            <a:r>
              <a:rPr sz="1500" spc="-5" dirty="0">
                <a:latin typeface="Calibri"/>
                <a:cs typeface="Calibri"/>
              </a:rPr>
              <a:t>file </a:t>
            </a:r>
            <a:r>
              <a:rPr lang="en-US" sz="1500" spc="-5" dirty="0">
                <a:latin typeface="Calibri"/>
                <a:cs typeface="Calibri"/>
              </a:rPr>
              <a:t>where the max age is set </a:t>
            </a:r>
            <a:r>
              <a:rPr sz="1500" dirty="0">
                <a:latin typeface="Calibri"/>
                <a:cs typeface="Calibri"/>
              </a:rPr>
              <a:t>is: </a:t>
            </a:r>
            <a:r>
              <a:rPr sz="15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/proc/sys/vm/</a:t>
            </a:r>
            <a:r>
              <a:rPr sz="15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dirty_expire_centisecs</a:t>
            </a:r>
            <a:r>
              <a:rPr lang="en-US" sz="1500" spc="-5" dirty="0">
                <a:latin typeface="Calibri"/>
                <a:cs typeface="Calibri"/>
              </a:rPr>
              <a:t>.</a:t>
            </a:r>
            <a:endParaRPr sz="15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17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500" spc="-15" dirty="0">
                <a:latin typeface="Calibri"/>
                <a:cs typeface="Calibri"/>
              </a:rPr>
              <a:t>It</a:t>
            </a:r>
            <a:r>
              <a:rPr lang="en-US" sz="1500" spc="-15" dirty="0">
                <a:latin typeface="Calibri"/>
                <a:cs typeface="Calibri"/>
              </a:rPr>
              <a:t> 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possible </a:t>
            </a:r>
            <a:r>
              <a:rPr sz="1500" spc="-10" dirty="0">
                <a:latin typeface="Calibri"/>
                <a:cs typeface="Calibri"/>
              </a:rPr>
              <a:t>to </a:t>
            </a:r>
            <a:r>
              <a:rPr sz="1500" spc="-15" dirty="0">
                <a:latin typeface="Calibri"/>
                <a:cs typeface="Calibri"/>
              </a:rPr>
              <a:t>force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5" dirty="0">
                <a:latin typeface="Calibri"/>
                <a:cs typeface="Calibri"/>
              </a:rPr>
              <a:t>write </a:t>
            </a:r>
            <a:r>
              <a:rPr sz="1500" dirty="0">
                <a:latin typeface="Calibri"/>
                <a:cs typeface="Calibri"/>
              </a:rPr>
              <a:t>back</a:t>
            </a:r>
            <a:r>
              <a:rPr lang="en-US" sz="1500" dirty="0">
                <a:latin typeface="Calibri"/>
                <a:cs typeface="Calibri"/>
              </a:rPr>
              <a:t> (i.e., </a:t>
            </a:r>
            <a:r>
              <a:rPr sz="1500" spc="-15" dirty="0">
                <a:latin typeface="Calibri"/>
                <a:cs typeface="Calibri"/>
              </a:rPr>
              <a:t>make </a:t>
            </a:r>
            <a:r>
              <a:rPr sz="1500" dirty="0">
                <a:latin typeface="Calibri"/>
                <a:cs typeface="Calibri"/>
              </a:rPr>
              <a:t>all </a:t>
            </a:r>
            <a:r>
              <a:rPr sz="1500" spc="-5" dirty="0">
                <a:latin typeface="Calibri"/>
                <a:cs typeface="Calibri"/>
              </a:rPr>
              <a:t>writes synchronous</a:t>
            </a:r>
            <a:r>
              <a:rPr lang="en-US" sz="1500" spc="-5" dirty="0">
                <a:latin typeface="Calibri"/>
                <a:cs typeface="Calibri"/>
              </a:rPr>
              <a:t>.)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lang="en-US" sz="1500" spc="-5" dirty="0">
                <a:latin typeface="Calibri"/>
                <a:cs typeface="Calibri"/>
              </a:rPr>
              <a:t>S</a:t>
            </a:r>
            <a:r>
              <a:rPr sz="1500" spc="-5" dirty="0">
                <a:latin typeface="Calibri"/>
                <a:cs typeface="Calibri"/>
              </a:rPr>
              <a:t>ee </a:t>
            </a:r>
            <a:r>
              <a:rPr sz="1500" spc="-10" dirty="0">
                <a:latin typeface="Calibri"/>
                <a:cs typeface="Calibri"/>
              </a:rPr>
              <a:t>next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slide</a:t>
            </a:r>
            <a:r>
              <a:rPr lang="en-US" sz="1500" spc="-5" dirty="0">
                <a:latin typeface="Calibri"/>
                <a:cs typeface="Calibri"/>
              </a:rPr>
              <a:t> for details.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63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Synchronized</a:t>
            </a:r>
            <a:r>
              <a:rPr spc="-175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945"/>
            <a:ext cx="11275061" cy="3414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30" dirty="0">
                <a:latin typeface="Calibri"/>
                <a:cs typeface="Calibri"/>
              </a:rPr>
              <a:t>There is a trade-off between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performance </a:t>
            </a:r>
            <a:r>
              <a:rPr lang="en-US" sz="2400" spc="-20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control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lang="en-US" sz="2400" spc="-5" dirty="0">
                <a:latin typeface="Calibri"/>
                <a:cs typeface="Calibri"/>
              </a:rPr>
              <a:t>reaches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30" dirty="0">
                <a:latin typeface="Calibri"/>
                <a:cs typeface="Calibri"/>
              </a:rPr>
              <a:t>The system calls </a:t>
            </a:r>
            <a:r>
              <a:rPr sz="24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fdatasync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spc="-30" dirty="0">
                <a:latin typeface="Calibri"/>
                <a:cs typeface="Calibri"/>
              </a:rPr>
              <a:t>:</a:t>
            </a:r>
            <a:endParaRPr sz="2400" spc="-30" dirty="0">
              <a:latin typeface="Calibri"/>
              <a:cs typeface="Calibri"/>
            </a:endParaRPr>
          </a:p>
          <a:p>
            <a:pPr marL="698500" marR="358775" lvl="1" indent="-228600">
              <a:lnSpc>
                <a:spcPct val="7000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fsync()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flushes both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metadata </a:t>
            </a:r>
            <a:r>
              <a:rPr lang="en-US" sz="2000" spc="-10" dirty="0">
                <a:latin typeface="Calibri"/>
                <a:cs typeface="Calibri"/>
              </a:rPr>
              <a:t>to disk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returns </a:t>
            </a:r>
            <a:r>
              <a:rPr lang="en-US" sz="2000" spc="-5" dirty="0">
                <a:cs typeface="Calibri"/>
              </a:rPr>
              <a:t>only </a:t>
            </a:r>
            <a:r>
              <a:rPr sz="2000" spc="-10" dirty="0">
                <a:latin typeface="Calibri"/>
                <a:cs typeface="Calibri"/>
              </a:rPr>
              <a:t>after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hard </a:t>
            </a:r>
            <a:r>
              <a:rPr sz="2000" spc="-10" dirty="0">
                <a:latin typeface="Calibri"/>
                <a:cs typeface="Calibri"/>
              </a:rPr>
              <a:t>drive </a:t>
            </a:r>
            <a:r>
              <a:rPr lang="en-US" sz="2000" spc="-15" dirty="0">
                <a:latin typeface="Calibri"/>
                <a:cs typeface="Calibri"/>
              </a:rPr>
              <a:t>confirms that</a:t>
            </a:r>
            <a:r>
              <a:rPr sz="2000" spc="-15" dirty="0">
                <a:latin typeface="Calibri"/>
                <a:cs typeface="Calibri"/>
              </a:rPr>
              <a:t> data </a:t>
            </a:r>
            <a:r>
              <a:rPr lang="en-US" sz="2000" spc="-10" dirty="0">
                <a:latin typeface="Calibri"/>
                <a:cs typeface="Calibri"/>
              </a:rPr>
              <a:t>were successfully copied 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disk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18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Disks </a:t>
            </a:r>
            <a:r>
              <a:rPr sz="2000" spc="-5" dirty="0">
                <a:latin typeface="Calibri"/>
                <a:cs typeface="Calibri"/>
              </a:rPr>
              <a:t>usually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lang="en-US" sz="2000" spc="-20" dirty="0">
                <a:latin typeface="Calibri"/>
                <a:cs typeface="Calibri"/>
              </a:rPr>
              <a:t>'</a:t>
            </a:r>
            <a:r>
              <a:rPr sz="2000" spc="-10" dirty="0">
                <a:latin typeface="Calibri"/>
                <a:cs typeface="Calibri"/>
              </a:rPr>
              <a:t>write</a:t>
            </a:r>
            <a:r>
              <a:rPr lang="en-US" sz="2000" spc="-10" dirty="0">
                <a:latin typeface="Calibri"/>
                <a:cs typeface="Calibri"/>
              </a:rPr>
              <a:t>'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caches, </a:t>
            </a:r>
            <a:r>
              <a:rPr sz="2000" spc="-5" dirty="0">
                <a:latin typeface="Calibri"/>
                <a:cs typeface="Calibri"/>
              </a:rPr>
              <a:t>so </a:t>
            </a:r>
            <a:r>
              <a:rPr sz="2000" spc="-15" dirty="0">
                <a:latin typeface="Calibri"/>
                <a:cs typeface="Calibri"/>
              </a:rPr>
              <a:t>data may </a:t>
            </a:r>
            <a:r>
              <a:rPr sz="2000" spc="-5" dirty="0">
                <a:latin typeface="Calibri"/>
                <a:cs typeface="Calibri"/>
              </a:rPr>
              <a:t>not be </a:t>
            </a:r>
            <a:r>
              <a:rPr sz="2000" spc="-10" dirty="0">
                <a:latin typeface="Calibri"/>
                <a:cs typeface="Calibri"/>
              </a:rPr>
              <a:t>physically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disk, </a:t>
            </a:r>
            <a:r>
              <a:rPr sz="2000" dirty="0">
                <a:latin typeface="Calibri"/>
                <a:cs typeface="Calibri"/>
              </a:rPr>
              <a:t>though </a:t>
            </a:r>
            <a:r>
              <a:rPr lang="en-US" sz="2000" spc="-15" dirty="0">
                <a:latin typeface="Calibri"/>
                <a:cs typeface="Calibri"/>
              </a:rPr>
              <a:t>it is a matter of a very short time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write </a:t>
            </a:r>
            <a:r>
              <a:rPr sz="2000" dirty="0">
                <a:latin typeface="Calibri"/>
                <a:cs typeface="Calibri"/>
              </a:rPr>
              <a:t>cache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committed 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disk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marR="617220" lvl="1" indent="-228600">
              <a:lnSpc>
                <a:spcPct val="70000"/>
              </a:lnSpc>
              <a:spcBef>
                <a:spcPts val="6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fdatasync()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flushes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lang="en-US" sz="2000" spc="-5" dirty="0">
                <a:cs typeface="Calibri"/>
              </a:rPr>
              <a:t>only </a:t>
            </a:r>
            <a:r>
              <a:rPr sz="2000" spc="-5" dirty="0">
                <a:latin typeface="Calibri"/>
                <a:cs typeface="Calibri"/>
              </a:rPr>
              <a:t>essential </a:t>
            </a:r>
            <a:r>
              <a:rPr sz="2000" spc="-10" dirty="0">
                <a:latin typeface="Calibri"/>
                <a:cs typeface="Calibri"/>
              </a:rPr>
              <a:t>metadata required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properly </a:t>
            </a:r>
            <a:r>
              <a:rPr sz="2000" dirty="0">
                <a:latin typeface="Calibri"/>
                <a:cs typeface="Calibri"/>
              </a:rPr>
              <a:t>access the </a:t>
            </a:r>
            <a:r>
              <a:rPr sz="2000" spc="-5" dirty="0">
                <a:latin typeface="Calibri"/>
                <a:cs typeface="Calibri"/>
              </a:rPr>
              <a:t>file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5" dirty="0">
                <a:latin typeface="Calibri"/>
                <a:cs typeface="Calibri"/>
              </a:rPr>
              <a:t>future (such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25" dirty="0">
                <a:latin typeface="Calibri"/>
                <a:cs typeface="Calibri"/>
              </a:rPr>
              <a:t>file’s </a:t>
            </a:r>
            <a:r>
              <a:rPr sz="2000" spc="-15" dirty="0">
                <a:latin typeface="Calibri"/>
                <a:cs typeface="Calibri"/>
              </a:rPr>
              <a:t>size, </a:t>
            </a:r>
            <a:r>
              <a:rPr sz="2000" dirty="0">
                <a:latin typeface="Calibri"/>
                <a:cs typeface="Calibri"/>
              </a:rPr>
              <a:t>but </a:t>
            </a:r>
            <a:r>
              <a:rPr sz="2000" spc="-5" dirty="0">
                <a:latin typeface="Calibri"/>
                <a:cs typeface="Calibri"/>
              </a:rPr>
              <a:t>not </a:t>
            </a:r>
            <a:r>
              <a:rPr lang="en-US" sz="2000" spc="-5" dirty="0">
                <a:latin typeface="Calibri"/>
                <a:cs typeface="Calibri"/>
              </a:rPr>
              <a:t>the </a:t>
            </a:r>
            <a:r>
              <a:rPr lang="en-US" sz="2000" spc="-10" dirty="0">
                <a:latin typeface="Calibri"/>
                <a:cs typeface="Calibri"/>
              </a:rPr>
              <a:t>recent access timestamp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modification timestamp.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155700" marR="247015" lvl="2" indent="-228600">
              <a:lnSpc>
                <a:spcPct val="7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alibri"/>
                <a:cs typeface="Calibri"/>
              </a:rPr>
              <a:t>The performance boost comes </a:t>
            </a:r>
            <a:r>
              <a:rPr sz="1700" spc="-10" dirty="0">
                <a:latin typeface="Calibri"/>
                <a:cs typeface="Calibri"/>
              </a:rPr>
              <a:t>from </a:t>
            </a:r>
            <a:r>
              <a:rPr lang="en-US" sz="1700" spc="-10" dirty="0">
                <a:latin typeface="Calibri"/>
                <a:cs typeface="Calibri"/>
              </a:rPr>
              <a:t>the fact </a:t>
            </a:r>
            <a:r>
              <a:rPr sz="1700" spc="-5" dirty="0">
                <a:latin typeface="Calibri"/>
                <a:cs typeface="Calibri"/>
              </a:rPr>
              <a:t>that </a:t>
            </a:r>
            <a:r>
              <a:rPr sz="17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fsync()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need</a:t>
            </a:r>
            <a:r>
              <a:rPr lang="en-US" sz="1700" dirty="0">
                <a:latin typeface="Calibri"/>
                <a:cs typeface="Calibri"/>
              </a:rPr>
              <a:t>s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two </a:t>
            </a:r>
            <a:r>
              <a:rPr sz="1700" dirty="0">
                <a:latin typeface="Calibri"/>
                <a:cs typeface="Calibri"/>
              </a:rPr>
              <a:t>I/O </a:t>
            </a:r>
            <a:r>
              <a:rPr sz="1700" spc="-5" dirty="0">
                <a:latin typeface="Calibri"/>
                <a:cs typeface="Calibri"/>
              </a:rPr>
              <a:t>operations </a:t>
            </a:r>
            <a:r>
              <a:rPr sz="1700" dirty="0">
                <a:latin typeface="Calibri"/>
                <a:cs typeface="Calibri"/>
              </a:rPr>
              <a:t>(modif</a:t>
            </a:r>
            <a:r>
              <a:rPr lang="en-US" sz="1700" dirty="0">
                <a:latin typeface="Calibri"/>
                <a:cs typeface="Calibri"/>
              </a:rPr>
              <a:t>ying both the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file’s </a:t>
            </a:r>
            <a:r>
              <a:rPr sz="1700" spc="-10" dirty="0">
                <a:latin typeface="Calibri"/>
                <a:cs typeface="Calibri"/>
              </a:rPr>
              <a:t>data </a:t>
            </a:r>
            <a:r>
              <a:rPr sz="1700" dirty="0">
                <a:latin typeface="Calibri"/>
                <a:cs typeface="Calibri"/>
              </a:rPr>
              <a:t>and </a:t>
            </a:r>
            <a:r>
              <a:rPr lang="en-US" sz="1700" dirty="0">
                <a:latin typeface="Calibri"/>
                <a:cs typeface="Calibri"/>
              </a:rPr>
              <a:t>the data in the </a:t>
            </a:r>
            <a:r>
              <a:rPr sz="1700" dirty="0">
                <a:latin typeface="Calibri"/>
                <a:cs typeface="Calibri"/>
              </a:rPr>
              <a:t>inode) which </a:t>
            </a:r>
            <a:r>
              <a:rPr sz="1700" spc="-5" dirty="0">
                <a:latin typeface="Calibri"/>
                <a:cs typeface="Calibri"/>
              </a:rPr>
              <a:t>are </a:t>
            </a:r>
            <a:r>
              <a:rPr sz="1700" dirty="0">
                <a:latin typeface="Calibri"/>
                <a:cs typeface="Calibri"/>
              </a:rPr>
              <a:t>not </a:t>
            </a:r>
            <a:r>
              <a:rPr sz="1700" spc="-5" dirty="0">
                <a:latin typeface="Calibri"/>
                <a:cs typeface="Calibri"/>
              </a:rPr>
              <a:t>adjacent on </a:t>
            </a:r>
            <a:r>
              <a:rPr sz="1700" dirty="0">
                <a:latin typeface="Calibri"/>
                <a:cs typeface="Calibri"/>
              </a:rPr>
              <a:t>disk, so </a:t>
            </a:r>
            <a:r>
              <a:rPr sz="1700" spc="-10" dirty="0">
                <a:latin typeface="Calibri"/>
                <a:cs typeface="Calibri"/>
              </a:rPr>
              <a:t>extra </a:t>
            </a:r>
            <a:r>
              <a:rPr lang="en-US" sz="1700" dirty="0">
                <a:latin typeface="Calibri"/>
                <a:cs typeface="Calibri"/>
              </a:rPr>
              <a:t>search</a:t>
            </a:r>
            <a:r>
              <a:rPr sz="1700" dirty="0">
                <a:latin typeface="Calibri"/>
                <a:cs typeface="Calibri"/>
              </a:rPr>
              <a:t> time is</a:t>
            </a:r>
            <a:r>
              <a:rPr sz="1700" spc="-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needed</a:t>
            </a:r>
            <a:r>
              <a:rPr lang="en-US" sz="170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82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fdatasync</a:t>
            </a:r>
            <a:r>
              <a:rPr sz="17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likely </a:t>
            </a:r>
            <a:r>
              <a:rPr sz="1700" dirty="0">
                <a:latin typeface="Calibri"/>
                <a:cs typeface="Calibri"/>
              </a:rPr>
              <a:t>skips </a:t>
            </a:r>
            <a:r>
              <a:rPr sz="1700" spc="-5" dirty="0">
                <a:latin typeface="Calibri"/>
                <a:cs typeface="Calibri"/>
              </a:rPr>
              <a:t>synchronizing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100" dirty="0">
                <a:latin typeface="Calibri"/>
                <a:cs typeface="Calibri"/>
              </a:rPr>
              <a:t> </a:t>
            </a:r>
            <a:r>
              <a:rPr lang="en-US" sz="1700" spc="-5" dirty="0">
                <a:latin typeface="Calibri"/>
                <a:cs typeface="Calibri"/>
              </a:rPr>
              <a:t>non-essential </a:t>
            </a:r>
            <a:r>
              <a:rPr sz="1700" spc="-10" dirty="0">
                <a:latin typeface="Calibri"/>
                <a:cs typeface="Calibri"/>
              </a:rPr>
              <a:t>metadata</a:t>
            </a:r>
            <a:r>
              <a:rPr lang="en-US" sz="1700" spc="-10" dirty="0">
                <a:latin typeface="Calibri"/>
                <a:cs typeface="Calibri"/>
              </a:rPr>
              <a:t>, making it potentially faster than </a:t>
            </a:r>
            <a:r>
              <a:rPr lang="en-US" sz="17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r>
              <a:rPr lang="en-US" sz="17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700" spc="-1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1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Both </a:t>
            </a:r>
            <a:r>
              <a:rPr sz="2000" spc="-10" dirty="0">
                <a:latin typeface="Calibri"/>
                <a:cs typeface="Calibri"/>
              </a:rPr>
              <a:t>won’t guarantee </a:t>
            </a:r>
            <a:r>
              <a:rPr lang="en-US" sz="2000" spc="-10" dirty="0">
                <a:latin typeface="Calibri"/>
                <a:cs typeface="Calibri"/>
              </a:rPr>
              <a:t>sync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directory entries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T</a:t>
            </a:r>
            <a:r>
              <a:rPr sz="2000" spc="-15" dirty="0">
                <a:latin typeface="Calibri"/>
                <a:cs typeface="Calibri"/>
              </a:rPr>
              <a:t>o </a:t>
            </a:r>
            <a:r>
              <a:rPr sz="2000" spc="-5" dirty="0">
                <a:latin typeface="Calibri"/>
                <a:cs typeface="Calibri"/>
              </a:rPr>
              <a:t>ensure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fsync()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be called on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file’s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directory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5359095"/>
            <a:ext cx="2762885" cy="77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5"/>
              </a:lnSpc>
              <a:spcBef>
                <a:spcPts val="100"/>
              </a:spcBef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700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12700">
              <a:lnSpc>
                <a:spcPts val="1925"/>
              </a:lnSpc>
            </a:pP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fsync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700" b="1" spc="-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fd);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ts val="1980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fdatasync 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fd);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175" y="5334000"/>
            <a:ext cx="7388225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5"/>
              </a:spcBef>
            </a:pPr>
            <a:r>
              <a:rPr sz="1700" i="1" dirty="0">
                <a:latin typeface="Consolas"/>
                <a:cs typeface="Consolas"/>
              </a:rPr>
              <a:t>// </a:t>
            </a:r>
            <a:r>
              <a:rPr lang="en-US" sz="1700" i="1" spc="-5" dirty="0">
                <a:latin typeface="Consolas"/>
                <a:cs typeface="Consolas"/>
              </a:rPr>
              <a:t>B</a:t>
            </a:r>
            <a:r>
              <a:rPr sz="1700" i="1" spc="-5" dirty="0">
                <a:latin typeface="Consolas"/>
                <a:cs typeface="Consolas"/>
              </a:rPr>
              <a:t>oth </a:t>
            </a:r>
            <a:r>
              <a:rPr sz="1700" i="1" dirty="0">
                <a:latin typeface="Consolas"/>
                <a:cs typeface="Consolas"/>
              </a:rPr>
              <a:t>return 0 on success and -1 </a:t>
            </a:r>
            <a:r>
              <a:rPr sz="1700" i="1" spc="-5" dirty="0">
                <a:latin typeface="Consolas"/>
                <a:cs typeface="Consolas"/>
              </a:rPr>
              <a:t>on</a:t>
            </a:r>
            <a:r>
              <a:rPr sz="1700" i="1" spc="-35" dirty="0">
                <a:latin typeface="Consolas"/>
                <a:cs typeface="Consolas"/>
              </a:rPr>
              <a:t> </a:t>
            </a:r>
            <a:r>
              <a:rPr sz="1700" i="1" dirty="0">
                <a:latin typeface="Consolas"/>
                <a:cs typeface="Consolas"/>
              </a:rPr>
              <a:t>error</a:t>
            </a:r>
            <a:r>
              <a:rPr lang="en-US" sz="1700" i="1" dirty="0">
                <a:latin typeface="Consolas"/>
                <a:cs typeface="Consolas"/>
              </a:rPr>
              <a:t>.</a:t>
            </a:r>
            <a:endParaRPr sz="1700" i="1" dirty="0">
              <a:latin typeface="Consolas"/>
              <a:cs typeface="Consolas"/>
            </a:endParaRPr>
          </a:p>
          <a:p>
            <a:pPr marL="12700">
              <a:lnSpc>
                <a:spcPts val="1980"/>
              </a:lnSpc>
            </a:pPr>
            <a:r>
              <a:rPr sz="1700" i="1" spc="-5" dirty="0">
                <a:latin typeface="Consolas"/>
                <a:cs typeface="Consolas"/>
              </a:rPr>
              <a:t>// </a:t>
            </a:r>
            <a:r>
              <a:rPr lang="en-US" sz="1700" i="1" spc="-5" dirty="0">
                <a:latin typeface="Consolas"/>
                <a:cs typeface="Consolas"/>
              </a:rPr>
              <a:t>   In case of an error, </a:t>
            </a:r>
            <a:r>
              <a:rPr sz="1700" i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1700" i="1" spc="-5" dirty="0">
                <a:latin typeface="Consolas"/>
                <a:cs typeface="Consolas"/>
              </a:rPr>
              <a:t> is set to either of</a:t>
            </a:r>
            <a:r>
              <a:rPr sz="1700" i="1" spc="-5" dirty="0">
                <a:latin typeface="Consolas"/>
                <a:cs typeface="Consolas"/>
              </a:rPr>
              <a:t>:</a:t>
            </a:r>
            <a:endParaRPr lang="en-US" sz="1700" i="1" spc="-5" dirty="0">
              <a:latin typeface="Consolas"/>
              <a:cs typeface="Consolas"/>
            </a:endParaRPr>
          </a:p>
          <a:p>
            <a:pPr marL="12700">
              <a:lnSpc>
                <a:spcPts val="1980"/>
              </a:lnSpc>
            </a:pPr>
            <a:r>
              <a:rPr lang="en-US" sz="1700" i="1" spc="-5" dirty="0">
                <a:latin typeface="Consolas"/>
                <a:cs typeface="Consolas"/>
              </a:rPr>
              <a:t>//   </a:t>
            </a:r>
            <a:r>
              <a:rPr sz="1700" i="1" spc="-5" dirty="0">
                <a:latin typeface="Consolas"/>
                <a:cs typeface="Consolas"/>
              </a:rPr>
              <a:t> </a:t>
            </a:r>
            <a:r>
              <a:rPr sz="1700" i="1" dirty="0">
                <a:latin typeface="Consolas"/>
                <a:cs typeface="Consolas"/>
              </a:rPr>
              <a:t>EBADF, </a:t>
            </a:r>
            <a:r>
              <a:rPr lang="en-US" sz="1700" i="1" dirty="0" err="1">
                <a:latin typeface="Consolas"/>
                <a:cs typeface="Consolas"/>
              </a:rPr>
              <a:t>EIO</a:t>
            </a:r>
            <a:r>
              <a:rPr lang="en-US" sz="1700" i="1" dirty="0">
                <a:latin typeface="Consolas"/>
                <a:cs typeface="Consolas"/>
              </a:rPr>
              <a:t>, </a:t>
            </a:r>
            <a:r>
              <a:rPr lang="en-US" sz="1700" i="1" dirty="0" err="1">
                <a:latin typeface="Consolas"/>
                <a:cs typeface="Consolas"/>
              </a:rPr>
              <a:t>ENOSPC</a:t>
            </a:r>
            <a:r>
              <a:rPr lang="en-US" sz="1700" i="1" dirty="0">
                <a:latin typeface="Consolas"/>
                <a:cs typeface="Consolas"/>
              </a:rPr>
              <a:t>, or </a:t>
            </a:r>
            <a:r>
              <a:rPr sz="1700" i="1" spc="-5" dirty="0" err="1">
                <a:latin typeface="Consolas"/>
                <a:cs typeface="Consolas"/>
              </a:rPr>
              <a:t>EINVAL</a:t>
            </a:r>
            <a:r>
              <a:rPr lang="en-US" sz="1700" i="1" dirty="0">
                <a:latin typeface="Consolas"/>
                <a:cs typeface="Consolas"/>
              </a:rPr>
              <a:t>.</a:t>
            </a:r>
            <a:endParaRPr sz="1700" i="1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41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165" dirty="0"/>
              <a:t> </a:t>
            </a:r>
            <a:r>
              <a:rPr spc="-55" dirty="0"/>
              <a:t>Synchronization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621"/>
            <a:ext cx="11046461" cy="42926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spc="-25" dirty="0">
                <a:latin typeface="Calibri"/>
                <a:cs typeface="Calibri"/>
              </a:rPr>
              <a:t>synchronize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30" dirty="0">
                <a:latin typeface="Calibri"/>
                <a:cs typeface="Calibri"/>
              </a:rPr>
              <a:t>buffers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disk </a:t>
            </a:r>
            <a:r>
              <a:rPr sz="2800" spc="-5" dirty="0">
                <a:latin typeface="Calibri"/>
                <a:cs typeface="Calibri"/>
              </a:rPr>
              <a:t>(not tied up </a:t>
            </a:r>
            <a:r>
              <a:rPr lang="en-US" sz="2800" spc="-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3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r>
              <a:rPr sz="2800" spc="-3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#include &lt;unistd.h&gt;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sync (</a:t>
            </a: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39115" indent="-228600">
              <a:lnSpc>
                <a:spcPts val="2690"/>
              </a:lnSpc>
              <a:spcBef>
                <a:spcPts val="9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5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parameters</a:t>
            </a:r>
            <a:r>
              <a:rPr lang="en-US" sz="2800" spc="-15" dirty="0">
                <a:latin typeface="Calibri"/>
                <a:cs typeface="Calibri"/>
              </a:rPr>
              <a:t> or a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lang="en-US" sz="2800" spc="-15" dirty="0">
                <a:latin typeface="Calibri"/>
                <a:cs typeface="Calibri"/>
              </a:rPr>
              <a:t>value, </a:t>
            </a:r>
            <a:r>
              <a:rPr sz="2800" spc="-20" dirty="0">
                <a:latin typeface="Calibri"/>
                <a:cs typeface="Calibri"/>
              </a:rPr>
              <a:t>always </a:t>
            </a:r>
            <a:r>
              <a:rPr sz="2800" spc="-5" dirty="0">
                <a:latin typeface="Calibri"/>
                <a:cs typeface="Calibri"/>
              </a:rPr>
              <a:t>succeeds</a:t>
            </a:r>
            <a:r>
              <a:rPr lang="en-US" sz="2800" spc="-5" dirty="0">
                <a:latin typeface="Calibri"/>
                <a:cs typeface="Calibri"/>
              </a:rPr>
              <a:t>, and</a:t>
            </a:r>
            <a:r>
              <a:rPr sz="2800" spc="-5" dirty="0">
                <a:latin typeface="Calibri"/>
                <a:cs typeface="Calibri"/>
              </a:rPr>
              <a:t> will </a:t>
            </a:r>
            <a:r>
              <a:rPr sz="2800" spc="-10" dirty="0">
                <a:latin typeface="Calibri"/>
                <a:cs typeface="Calibri"/>
              </a:rPr>
              <a:t>only return after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lang="en-US" sz="2800" spc="-5" dirty="0">
                <a:latin typeface="Calibri"/>
                <a:cs typeface="Calibri"/>
              </a:rPr>
              <a:t>the dirty </a:t>
            </a:r>
            <a:r>
              <a:rPr sz="2800" spc="-25" dirty="0">
                <a:latin typeface="Calibri"/>
                <a:cs typeface="Calibri"/>
              </a:rPr>
              <a:t>buffers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saved to disk.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u="sng" spc="-5" dirty="0">
                <a:latin typeface="Calibri"/>
                <a:cs typeface="Calibri"/>
              </a:rPr>
              <a:t>It </a:t>
            </a:r>
            <a:r>
              <a:rPr sz="2800" u="sng" spc="-20" dirty="0">
                <a:latin typeface="Calibri"/>
                <a:cs typeface="Calibri"/>
              </a:rPr>
              <a:t>may </a:t>
            </a:r>
            <a:r>
              <a:rPr sz="2800" u="sng" spc="-35" dirty="0">
                <a:latin typeface="Calibri"/>
                <a:cs typeface="Calibri"/>
              </a:rPr>
              <a:t>take </a:t>
            </a:r>
            <a:r>
              <a:rPr sz="2800" u="sng" spc="-20" dirty="0">
                <a:latin typeface="Calibri"/>
                <a:cs typeface="Calibri"/>
              </a:rPr>
              <a:t>several </a:t>
            </a:r>
            <a:r>
              <a:rPr sz="2800" u="sng" spc="-10" dirty="0">
                <a:latin typeface="Calibri"/>
                <a:cs typeface="Calibri"/>
              </a:rPr>
              <a:t>minutes </a:t>
            </a:r>
            <a:r>
              <a:rPr sz="2800" u="sng" spc="-5" dirty="0">
                <a:latin typeface="Calibri"/>
                <a:cs typeface="Calibri"/>
              </a:rPr>
              <a:t>or longer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complete </a:t>
            </a:r>
            <a:r>
              <a:rPr sz="2800" dirty="0">
                <a:latin typeface="Calibri"/>
                <a:cs typeface="Calibri"/>
              </a:rPr>
              <a:t>on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busy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lang="en-US" sz="2800" spc="-3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10" dirty="0" err="1">
                <a:solidFill>
                  <a:srgbClr val="0070C0"/>
                </a:solidFill>
                <a:latin typeface="Consolas"/>
              </a:rPr>
              <a:t>O_SYNC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flag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2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45" dirty="0">
                <a:latin typeface="Calibri"/>
                <a:cs typeface="Calibri"/>
              </a:rPr>
              <a:t>Tells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should </a:t>
            </a:r>
            <a:r>
              <a:rPr lang="en-US" sz="2400" spc="-5" dirty="0">
                <a:latin typeface="Calibri"/>
                <a:cs typeface="Calibri"/>
              </a:rPr>
              <a:t>always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synchronized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Equivalent to </a:t>
            </a:r>
            <a:r>
              <a:rPr sz="2400" spc="-5" dirty="0">
                <a:latin typeface="Calibri"/>
                <a:cs typeface="Calibri"/>
              </a:rPr>
              <a:t>calling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fsync()</a:t>
            </a:r>
            <a:r>
              <a:rPr sz="2400" spc="-15" dirty="0">
                <a:latin typeface="+mj-lt"/>
                <a:cs typeface="Courier New" panose="02070309020205020404" pitchFamily="49" charset="0"/>
              </a:rPr>
              <a:t> </a:t>
            </a:r>
            <a:r>
              <a:rPr sz="2400" spc="-10" dirty="0">
                <a:latin typeface="Calibri"/>
                <a:cs typeface="Calibri"/>
              </a:rPr>
              <a:t>after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400" spc="-5" dirty="0">
                <a:latin typeface="Calibri"/>
                <a:cs typeface="Calibri"/>
              </a:rPr>
              <a:t> -&gt; </a:t>
            </a:r>
            <a:r>
              <a:rPr sz="2400" spc="-10" dirty="0">
                <a:latin typeface="Calibri"/>
                <a:cs typeface="Calibri"/>
              </a:rPr>
              <a:t>significantly </a:t>
            </a:r>
            <a:r>
              <a:rPr sz="2400" spc="-5" dirty="0">
                <a:latin typeface="Calibri"/>
                <a:cs typeface="Calibri"/>
              </a:rPr>
              <a:t>increase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time!</a:t>
            </a:r>
          </a:p>
          <a:p>
            <a:pPr marL="241300" indent="-228600">
              <a:lnSpc>
                <a:spcPts val="3329"/>
              </a:lnSpc>
              <a:spcBef>
                <a:spcPts val="30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0070C0"/>
                </a:solidFill>
                <a:latin typeface="Consolas"/>
              </a:rPr>
              <a:t>O_DSYNC</a:t>
            </a:r>
            <a:r>
              <a:rPr sz="2400" spc="-10" dirty="0">
                <a:solidFill>
                  <a:srgbClr val="0070C0"/>
                </a:solidFill>
                <a:latin typeface="+mj-lt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0070C0"/>
                </a:solidFill>
                <a:latin typeface="Consolas"/>
              </a:rPr>
              <a:t>O_RSYNC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85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On Linux, both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 </a:t>
            </a:r>
            <a:r>
              <a:rPr sz="2400" spc="-10" dirty="0">
                <a:latin typeface="Calibri"/>
                <a:cs typeface="Calibri"/>
              </a:rPr>
              <a:t>behavior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 err="1">
                <a:solidFill>
                  <a:srgbClr val="0070C0"/>
                </a:solidFill>
                <a:latin typeface="Consolas"/>
              </a:rPr>
              <a:t>O_SYNC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172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Direct</a:t>
            </a:r>
            <a:r>
              <a:rPr spc="-155" dirty="0"/>
              <a:t> </a:t>
            </a:r>
            <a:r>
              <a:rPr spc="-1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0272395" cy="423179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Generally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I/O </a:t>
            </a:r>
            <a:r>
              <a:rPr sz="2600" spc="-5" dirty="0">
                <a:latin typeface="Calibri"/>
                <a:cs typeface="Calibri"/>
              </a:rPr>
              <a:t>managed by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operating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spc="-5" dirty="0">
                <a:latin typeface="Calibri"/>
                <a:cs typeface="Calibri"/>
              </a:rPr>
              <a:t>has good </a:t>
            </a:r>
            <a:r>
              <a:rPr sz="2600" spc="-10" dirty="0">
                <a:latin typeface="Calibri"/>
                <a:cs typeface="Calibri"/>
              </a:rPr>
              <a:t>performance  </a:t>
            </a:r>
            <a:r>
              <a:rPr lang="en-US" sz="2600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its </a:t>
            </a:r>
            <a:r>
              <a:rPr sz="2600" spc="-5" dirty="0">
                <a:latin typeface="Calibri"/>
                <a:cs typeface="Calibri"/>
              </a:rPr>
              <a:t>caching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buffering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7274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40" dirty="0">
                <a:latin typeface="Calibri"/>
                <a:cs typeface="Calibri"/>
              </a:rPr>
              <a:t>However, </a:t>
            </a:r>
            <a:r>
              <a:rPr sz="2600" spc="-5" dirty="0">
                <a:latin typeface="Calibri"/>
                <a:cs typeface="Calibri"/>
              </a:rPr>
              <a:t>certain applications, </a:t>
            </a:r>
            <a:r>
              <a:rPr sz="2600" dirty="0">
                <a:latin typeface="Calibri"/>
                <a:cs typeface="Calibri"/>
              </a:rPr>
              <a:t>such as </a:t>
            </a:r>
            <a:r>
              <a:rPr sz="2600" spc="-5" dirty="0">
                <a:latin typeface="Calibri"/>
                <a:cs typeface="Calibri"/>
              </a:rPr>
              <a:t>database </a:t>
            </a:r>
            <a:r>
              <a:rPr sz="2600" spc="-15" dirty="0">
                <a:latin typeface="Calibri"/>
                <a:cs typeface="Calibri"/>
              </a:rPr>
              <a:t>systems, </a:t>
            </a:r>
            <a:r>
              <a:rPr sz="2600" spc="-10" dirty="0">
                <a:latin typeface="Calibri"/>
                <a:cs typeface="Calibri"/>
              </a:rPr>
              <a:t>often </a:t>
            </a:r>
            <a:r>
              <a:rPr sz="2600" spc="-20" dirty="0">
                <a:latin typeface="Calibri"/>
                <a:cs typeface="Calibri"/>
              </a:rPr>
              <a:t>prefer </a:t>
            </a:r>
            <a:r>
              <a:rPr sz="2600" spc="-10" dirty="0">
                <a:latin typeface="Calibri"/>
                <a:cs typeface="Calibri"/>
              </a:rPr>
              <a:t>to  perform </a:t>
            </a:r>
            <a:r>
              <a:rPr sz="2600" dirty="0">
                <a:latin typeface="Calibri"/>
                <a:cs typeface="Calibri"/>
              </a:rPr>
              <a:t>their </a:t>
            </a:r>
            <a:r>
              <a:rPr sz="2600" spc="-5" dirty="0">
                <a:latin typeface="Calibri"/>
                <a:cs typeface="Calibri"/>
              </a:rPr>
              <a:t>own </a:t>
            </a:r>
            <a:r>
              <a:rPr sz="2600" dirty="0">
                <a:latin typeface="Calibri"/>
                <a:cs typeface="Calibri"/>
              </a:rPr>
              <a:t>I/O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caching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25805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Using </a:t>
            </a:r>
            <a:r>
              <a:rPr sz="2400" spc="-10" dirty="0">
                <a:solidFill>
                  <a:srgbClr val="0070C0"/>
                </a:solidFill>
                <a:latin typeface="Consolas"/>
              </a:rPr>
              <a:t>O_DIRECT</a:t>
            </a:r>
            <a:r>
              <a:rPr sz="2400" spc="-10" dirty="0">
                <a:solidFill>
                  <a:srgbClr val="0070C0"/>
                </a:solidFill>
                <a:latin typeface="+mj-lt"/>
              </a:rPr>
              <a:t> </a:t>
            </a:r>
            <a:r>
              <a:rPr sz="2600" spc="-5" dirty="0">
                <a:latin typeface="Calibri"/>
                <a:cs typeface="Calibri"/>
              </a:rPr>
              <a:t>flag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 </a:t>
            </a:r>
            <a:r>
              <a:rPr sz="2600" spc="-5" dirty="0">
                <a:latin typeface="Calibri"/>
                <a:cs typeface="Calibri"/>
              </a:rPr>
              <a:t>instruct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minimize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presence of </a:t>
            </a:r>
            <a:r>
              <a:rPr sz="2600" spc="-20" dirty="0">
                <a:latin typeface="Calibri"/>
                <a:cs typeface="Calibri"/>
              </a:rPr>
              <a:t>system-level </a:t>
            </a:r>
            <a:r>
              <a:rPr sz="2600" dirty="0">
                <a:latin typeface="Calibri"/>
                <a:cs typeface="Calibri"/>
              </a:rPr>
              <a:t>I/O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management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390525" lvl="1" indent="-228600">
              <a:lnSpc>
                <a:spcPct val="7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I/O will </a:t>
            </a:r>
            <a:r>
              <a:rPr sz="2200" spc="-15" dirty="0">
                <a:latin typeface="Calibri"/>
                <a:cs typeface="Calibri"/>
              </a:rPr>
              <a:t>initiate </a:t>
            </a:r>
            <a:r>
              <a:rPr sz="2200" spc="-10" dirty="0">
                <a:latin typeface="Calibri"/>
                <a:cs typeface="Calibri"/>
              </a:rPr>
              <a:t>directly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user-space </a:t>
            </a:r>
            <a:r>
              <a:rPr sz="2200" spc="-25" dirty="0">
                <a:latin typeface="Calibri"/>
                <a:cs typeface="Calibri"/>
              </a:rPr>
              <a:t>buffers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device, </a:t>
            </a:r>
            <a:r>
              <a:rPr sz="2200" spc="-5" dirty="0">
                <a:latin typeface="Calibri"/>
                <a:cs typeface="Calibri"/>
              </a:rPr>
              <a:t>bypassing the </a:t>
            </a:r>
            <a:r>
              <a:rPr sz="2200" spc="-15" dirty="0">
                <a:latin typeface="Calibri"/>
                <a:cs typeface="Calibri"/>
              </a:rPr>
              <a:t>page  </a:t>
            </a:r>
            <a:r>
              <a:rPr sz="2200" spc="-10" dirty="0">
                <a:latin typeface="Calibri"/>
                <a:cs typeface="Calibri"/>
              </a:rPr>
              <a:t>cache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20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All I/O will be </a:t>
            </a:r>
            <a:r>
              <a:rPr sz="2200" spc="-10" dirty="0">
                <a:latin typeface="Calibri"/>
                <a:cs typeface="Calibri"/>
              </a:rPr>
              <a:t>synchronous </a:t>
            </a:r>
            <a:r>
              <a:rPr sz="2200" spc="-5" dirty="0">
                <a:latin typeface="Calibri"/>
                <a:cs typeface="Calibri"/>
              </a:rPr>
              <a:t>– </a:t>
            </a:r>
            <a:r>
              <a:rPr sz="2200" spc="-10" dirty="0">
                <a:latin typeface="Calibri"/>
                <a:cs typeface="Calibri"/>
              </a:rPr>
              <a:t>operations won’t return until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completed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379095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5" dirty="0">
                <a:latin typeface="Calibri"/>
                <a:cs typeface="Calibri"/>
              </a:rPr>
              <a:t>Request </a:t>
            </a:r>
            <a:r>
              <a:rPr sz="2200" spc="-10" dirty="0">
                <a:latin typeface="Calibri"/>
                <a:cs typeface="Calibri"/>
              </a:rPr>
              <a:t>length, </a:t>
            </a:r>
            <a:r>
              <a:rPr sz="2200" spc="-20" dirty="0">
                <a:latin typeface="Calibri"/>
                <a:cs typeface="Calibri"/>
              </a:rPr>
              <a:t>buffer </a:t>
            </a:r>
            <a:r>
              <a:rPr sz="2200" spc="-10" dirty="0">
                <a:latin typeface="Calibri"/>
                <a:cs typeface="Calibri"/>
              </a:rPr>
              <a:t>alignment, </a:t>
            </a:r>
            <a:r>
              <a:rPr sz="2200" spc="-5" dirty="0">
                <a:latin typeface="Calibri"/>
                <a:cs typeface="Calibri"/>
              </a:rPr>
              <a:t>and file </a:t>
            </a:r>
            <a:r>
              <a:rPr sz="2200" spc="-15" dirty="0">
                <a:latin typeface="Calibri"/>
                <a:cs typeface="Calibri"/>
              </a:rPr>
              <a:t>offsets </a:t>
            </a:r>
            <a:r>
              <a:rPr sz="2200" spc="-10" dirty="0">
                <a:latin typeface="Calibri"/>
                <a:cs typeface="Calibri"/>
              </a:rPr>
              <a:t>must </a:t>
            </a:r>
            <a:r>
              <a:rPr sz="2200" spc="-5" dirty="0">
                <a:latin typeface="Calibri"/>
                <a:cs typeface="Calibri"/>
              </a:rPr>
              <a:t>be multiples of </a:t>
            </a:r>
            <a:r>
              <a:rPr sz="2200" spc="-10" dirty="0">
                <a:latin typeface="Calibri"/>
                <a:cs typeface="Calibri"/>
              </a:rPr>
              <a:t>underlying  </a:t>
            </a:r>
            <a:r>
              <a:rPr sz="2200" spc="-25" dirty="0">
                <a:latin typeface="Calibri"/>
                <a:cs typeface="Calibri"/>
              </a:rPr>
              <a:t>device’s </a:t>
            </a:r>
            <a:r>
              <a:rPr sz="2200" spc="-10" dirty="0">
                <a:latin typeface="Calibri"/>
                <a:cs typeface="Calibri"/>
              </a:rPr>
              <a:t>sector </a:t>
            </a:r>
            <a:r>
              <a:rPr sz="2200" spc="-20" dirty="0">
                <a:latin typeface="Calibri"/>
                <a:cs typeface="Calibri"/>
              </a:rPr>
              <a:t>size </a:t>
            </a:r>
            <a:r>
              <a:rPr sz="2200" spc="-5" dirty="0">
                <a:latin typeface="Calibri"/>
                <a:cs typeface="Calibri"/>
              </a:rPr>
              <a:t>– </a:t>
            </a:r>
            <a:r>
              <a:rPr sz="2200" spc="-15" dirty="0">
                <a:latin typeface="Calibri"/>
                <a:cs typeface="Calibri"/>
              </a:rPr>
              <a:t>generally </a:t>
            </a:r>
            <a:r>
              <a:rPr sz="2200" spc="-5" dirty="0">
                <a:latin typeface="Calibri"/>
                <a:cs typeface="Calibri"/>
              </a:rPr>
              <a:t>512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322580" lvl="1" indent="-228600">
              <a:lnSpc>
                <a:spcPct val="7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Earlier </a:t>
            </a:r>
            <a:r>
              <a:rPr lang="en-US" sz="2200" spc="-15" dirty="0">
                <a:cs typeface="Calibri"/>
              </a:rPr>
              <a:t>kernels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lang="en-US" sz="2200" spc="-5" dirty="0">
                <a:latin typeface="Calibri"/>
                <a:cs typeface="Calibri"/>
              </a:rPr>
              <a:t>versions less than </a:t>
            </a:r>
            <a:r>
              <a:rPr sz="2200" spc="-5" dirty="0">
                <a:latin typeface="Calibri"/>
                <a:cs typeface="Calibri"/>
              </a:rPr>
              <a:t>2.6) </a:t>
            </a:r>
            <a:r>
              <a:rPr sz="2200" spc="-15" dirty="0">
                <a:latin typeface="Calibri"/>
                <a:cs typeface="Calibri"/>
              </a:rPr>
              <a:t>may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stricter: </a:t>
            </a:r>
            <a:r>
              <a:rPr lang="en-US" sz="2200" spc="-10" dirty="0">
                <a:latin typeface="Calibri"/>
                <a:cs typeface="Calibri"/>
              </a:rPr>
              <a:t>they may </a:t>
            </a:r>
            <a:r>
              <a:rPr sz="2200" spc="-5" dirty="0">
                <a:latin typeface="Calibri"/>
                <a:cs typeface="Calibri"/>
              </a:rPr>
              <a:t>align on </a:t>
            </a:r>
            <a:r>
              <a:rPr sz="2200" spc="-10" dirty="0">
                <a:latin typeface="Calibri"/>
                <a:cs typeface="Calibri"/>
              </a:rPr>
              <a:t>logical block </a:t>
            </a:r>
            <a:r>
              <a:rPr sz="2200" spc="-20" dirty="0">
                <a:latin typeface="Calibri"/>
                <a:cs typeface="Calibri"/>
              </a:rPr>
              <a:t>size </a:t>
            </a:r>
            <a:r>
              <a:rPr sz="2200" spc="-10" dirty="0">
                <a:latin typeface="Calibri"/>
                <a:cs typeface="Calibri"/>
              </a:rPr>
              <a:t>(usually </a:t>
            </a:r>
            <a:r>
              <a:rPr sz="2200" spc="-5" dirty="0">
                <a:latin typeface="Calibri"/>
                <a:cs typeface="Calibri"/>
              </a:rPr>
              <a:t>4KB), </a:t>
            </a:r>
            <a:r>
              <a:rPr sz="2200" spc="-10" dirty="0">
                <a:latin typeface="Calibri"/>
                <a:cs typeface="Calibri"/>
              </a:rPr>
              <a:t>so </a:t>
            </a:r>
            <a:r>
              <a:rPr lang="en-US" sz="2200" spc="-10" dirty="0">
                <a:latin typeface="Calibri"/>
                <a:cs typeface="Calibri"/>
              </a:rPr>
              <a:t>application should use </a:t>
            </a:r>
            <a:r>
              <a:rPr lang="en-US" sz="2200" spc="-5" dirty="0">
                <a:latin typeface="Calibri"/>
                <a:cs typeface="Calibri"/>
              </a:rPr>
              <a:t>the larger logical block size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maximum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compatibility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712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Closing</a:t>
            </a:r>
            <a:r>
              <a:rPr spc="-170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5205"/>
            <a:ext cx="10259695" cy="404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ts val="2080"/>
              </a:lnSpc>
              <a:spcBef>
                <a:spcPts val="100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080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close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800" b="1" spc="-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fd);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unmaps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open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disassociates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free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reuse </a:t>
            </a:r>
            <a:r>
              <a:rPr sz="2400" dirty="0">
                <a:latin typeface="Calibri"/>
                <a:cs typeface="Calibri"/>
              </a:rPr>
              <a:t>th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400" spc="-10" dirty="0">
                <a:latin typeface="Calibri"/>
                <a:cs typeface="Calibri"/>
              </a:rPr>
              <a:t> integer for other files that will be opened</a:t>
            </a:r>
            <a:r>
              <a:rPr lang="en-US" sz="2400" spc="-6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lang="en-US" sz="2400" dirty="0">
                <a:latin typeface="Calibri"/>
                <a:cs typeface="Calibri"/>
              </a:rPr>
              <a:t> and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 on </a:t>
            </a:r>
            <a:r>
              <a:rPr sz="2400" spc="-10" dirty="0">
                <a:latin typeface="Calibri"/>
                <a:cs typeface="Calibri"/>
              </a:rPr>
              <a:t>error</a:t>
            </a:r>
            <a:r>
              <a:rPr lang="en-US" sz="2400" spc="-10" dirty="0">
                <a:latin typeface="Calibri"/>
                <a:cs typeface="Calibri"/>
              </a:rPr>
              <a:t>, setting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65" dirty="0">
                <a:latin typeface="Calibri"/>
                <a:cs typeface="Calibri"/>
              </a:rPr>
              <a:t>.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Closing a </a:t>
            </a:r>
            <a:r>
              <a:rPr sz="2400" spc="-5" dirty="0">
                <a:latin typeface="Calibri"/>
                <a:cs typeface="Calibri"/>
              </a:rPr>
              <a:t>file doesn’t </a:t>
            </a:r>
            <a:r>
              <a:rPr sz="2400" spc="-15" dirty="0">
                <a:latin typeface="Calibri"/>
                <a:cs typeface="Calibri"/>
              </a:rPr>
              <a:t>affect </a:t>
            </a:r>
            <a:r>
              <a:rPr sz="2400" dirty="0">
                <a:latin typeface="Calibri"/>
                <a:cs typeface="Calibri"/>
              </a:rPr>
              <a:t>when 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5" dirty="0">
                <a:latin typeface="Calibri"/>
                <a:cs typeface="Calibri"/>
              </a:rPr>
              <a:t>be flushed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But it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result </a:t>
            </a:r>
            <a:r>
              <a:rPr sz="2400" dirty="0">
                <a:latin typeface="Calibri"/>
                <a:cs typeface="Calibri"/>
              </a:rPr>
              <a:t>in an </a:t>
            </a:r>
            <a:r>
              <a:rPr sz="2400" spc="-15" dirty="0">
                <a:latin typeface="Calibri"/>
                <a:cs typeface="Calibri"/>
              </a:rPr>
              <a:t>unlinked </a:t>
            </a:r>
            <a:r>
              <a:rPr sz="2400" spc="-5" dirty="0">
                <a:latin typeface="Calibri"/>
                <a:cs typeface="Calibri"/>
              </a:rPr>
              <a:t>file being finally </a:t>
            </a:r>
            <a:r>
              <a:rPr sz="2400" spc="-10" dirty="0">
                <a:latin typeface="Calibri"/>
                <a:cs typeface="Calibri"/>
              </a:rPr>
              <a:t>physically </a:t>
            </a:r>
            <a:r>
              <a:rPr lang="en-US" sz="2400" spc="-15" dirty="0">
                <a:latin typeface="Calibri"/>
                <a:cs typeface="Calibri"/>
              </a:rPr>
              <a:t>erased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1625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most common error value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EIO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5" dirty="0">
                <a:latin typeface="Calibri"/>
                <a:cs typeface="Calibri"/>
              </a:rPr>
              <a:t>indicating </a:t>
            </a:r>
            <a:r>
              <a:rPr sz="2400" spc="-10" dirty="0">
                <a:latin typeface="Calibri"/>
                <a:cs typeface="Calibri"/>
              </a:rPr>
              <a:t>low-level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spc="-10" dirty="0">
                <a:latin typeface="Calibri"/>
                <a:cs typeface="Calibri"/>
              </a:rPr>
              <a:t>error probably  </a:t>
            </a:r>
            <a:r>
              <a:rPr sz="2400" spc="-5" dirty="0">
                <a:latin typeface="Calibri"/>
                <a:cs typeface="Calibri"/>
              </a:rPr>
              <a:t>happen</a:t>
            </a:r>
            <a:r>
              <a:rPr lang="en-US" sz="2400" spc="-5" dirty="0">
                <a:latin typeface="Calibri"/>
                <a:cs typeface="Calibri"/>
              </a:rPr>
              <a:t>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earlier </a:t>
            </a:r>
            <a:r>
              <a:rPr sz="2400" spc="-5" dirty="0">
                <a:latin typeface="Calibri"/>
                <a:cs typeface="Calibri"/>
              </a:rPr>
              <a:t>(due </a:t>
            </a:r>
            <a:r>
              <a:rPr sz="2400" spc="-15" dirty="0">
                <a:latin typeface="Calibri"/>
                <a:cs typeface="Calibri"/>
              </a:rPr>
              <a:t>to delayed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writeback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But 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15" dirty="0">
                <a:latin typeface="Calibri"/>
                <a:cs typeface="Calibri"/>
              </a:rPr>
              <a:t>always</a:t>
            </a:r>
            <a:r>
              <a:rPr lang="en-US" sz="2400" spc="-15" dirty="0">
                <a:latin typeface="Calibri"/>
                <a:cs typeface="Calibri"/>
              </a:rPr>
              <a:t> gets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closed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50570" marR="6846570" indent="-280670">
              <a:lnSpc>
                <a:spcPts val="2170"/>
              </a:lnSpc>
              <a:spcBef>
                <a:spcPts val="15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(close (fd)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==</a:t>
            </a:r>
            <a:r>
              <a:rPr sz="20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−1) 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("close");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31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Seeking </a:t>
            </a:r>
            <a:r>
              <a:rPr spc="-20" dirty="0"/>
              <a:t>with</a:t>
            </a:r>
            <a:r>
              <a:rPr spc="-240" dirty="0"/>
              <a:t> </a:t>
            </a:r>
            <a:r>
              <a:rPr spc="-30" dirty="0">
                <a:latin typeface="Courier New" panose="02070309020205020404" pitchFamily="49" charset="0"/>
                <a:cs typeface="Courier New" panose="02070309020205020404" pitchFamily="49" charset="0"/>
              </a:rPr>
              <a:t>lseek()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9661"/>
            <a:ext cx="11046462" cy="457112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631825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Implicit </a:t>
            </a:r>
            <a:r>
              <a:rPr sz="2800" spc="-15" dirty="0">
                <a:latin typeface="Calibri"/>
                <a:cs typeface="Calibri"/>
              </a:rPr>
              <a:t>updates 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 position via read/write </a:t>
            </a:r>
            <a:r>
              <a:rPr sz="2800" spc="-5" dirty="0">
                <a:latin typeface="Calibri"/>
                <a:cs typeface="Calibri"/>
              </a:rPr>
              <a:t>lead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linear access</a:t>
            </a:r>
            <a:r>
              <a:rPr lang="en-US" sz="2800" spc="-5" dirty="0">
                <a:latin typeface="Calibri"/>
                <a:cs typeface="Calibri"/>
              </a:rPr>
              <a:t>.</a:t>
            </a:r>
          </a:p>
          <a:p>
            <a:pPr marL="698500" marR="631825" lvl="1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That means that, when you want to reach a byte inside the file, you will need to traverse all the bytes that come before it.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Random access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lseek()</a:t>
            </a:r>
            <a:r>
              <a:rPr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14"/>
              </a:spcBef>
            </a:pP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off_t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lseek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off_t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pos, </a:t>
            </a: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origin); </a:t>
            </a:r>
            <a:r>
              <a:rPr sz="1800" i="1" spc="-5" dirty="0">
                <a:latin typeface="Consolas"/>
                <a:cs typeface="Consolas"/>
              </a:rPr>
              <a:t>// </a:t>
            </a:r>
            <a:r>
              <a:rPr sz="1800" i="1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sz="1800" i="1" spc="-10" dirty="0">
                <a:latin typeface="Consolas"/>
                <a:cs typeface="Consolas"/>
              </a:rPr>
              <a:t> </a:t>
            </a:r>
            <a:r>
              <a:rPr lang="en-US" sz="1800" i="1" spc="-10" dirty="0">
                <a:latin typeface="Consolas"/>
                <a:cs typeface="Consolas"/>
              </a:rPr>
              <a:t>= </a:t>
            </a:r>
            <a:r>
              <a:rPr sz="1800" i="1" spc="-5" dirty="0">
                <a:latin typeface="Consolas"/>
                <a:cs typeface="Consolas"/>
              </a:rPr>
              <a:t>signed long</a:t>
            </a:r>
            <a:r>
              <a:rPr sz="1800" i="1" spc="65" dirty="0">
                <a:latin typeface="Consolas"/>
                <a:cs typeface="Consolas"/>
              </a:rPr>
              <a:t> </a:t>
            </a:r>
            <a:r>
              <a:rPr lang="en-US" sz="1800" i="1" dirty="0">
                <a:latin typeface="Consolas"/>
                <a:cs typeface="Consolas"/>
              </a:rPr>
              <a:t>integer</a:t>
            </a:r>
            <a:endParaRPr sz="1800" i="1" dirty="0">
              <a:latin typeface="Consolas"/>
              <a:cs typeface="Consolas"/>
            </a:endParaRPr>
          </a:p>
          <a:p>
            <a:pPr marL="241300" indent="-228600">
              <a:lnSpc>
                <a:spcPts val="3325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origin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</a:t>
            </a:r>
            <a:r>
              <a:rPr lang="en-US" sz="2800" spc="-10" dirty="0">
                <a:latin typeface="Calibri"/>
                <a:cs typeface="Calibri"/>
              </a:rPr>
              <a:t> can be either of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SEEK_CUR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fd</a:t>
            </a:r>
            <a:r>
              <a:rPr sz="2400" dirty="0">
                <a:latin typeface="+mj-lt"/>
              </a:rPr>
              <a:t>’s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current value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pos</a:t>
            </a:r>
            <a:r>
              <a:rPr sz="2400" spc="-5" dirty="0">
                <a:latin typeface="Calibri"/>
                <a:cs typeface="Calibri"/>
              </a:rPr>
              <a:t> (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pos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lang="en-US" sz="2400" spc="-5" dirty="0">
                <a:latin typeface="Calibri"/>
                <a:cs typeface="Calibri"/>
              </a:rPr>
              <a:t>any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SEEK_END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position </a:t>
            </a:r>
            <a:r>
              <a:rPr lang="en-US" sz="2400" spc="-5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set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end </a:t>
            </a:r>
            <a:r>
              <a:rPr sz="2400" spc="-5" dirty="0">
                <a:latin typeface="Calibri"/>
                <a:cs typeface="Calibri"/>
              </a:rPr>
              <a:t>of file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pos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spc="-10" dirty="0">
              <a:solidFill>
                <a:srgbClr val="0070C0"/>
              </a:solidFill>
              <a:latin typeface="Consolas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SEEK_SET</a:t>
            </a:r>
            <a:r>
              <a:rPr sz="2400" spc="-20" dirty="0">
                <a:latin typeface="Calibri"/>
                <a:cs typeface="Calibri"/>
              </a:rPr>
              <a:t>: </a:t>
            </a:r>
            <a:r>
              <a:rPr sz="2400" spc="-5" dirty="0">
                <a:latin typeface="Calibri"/>
                <a:cs typeface="Calibri"/>
              </a:rPr>
              <a:t>set</a:t>
            </a:r>
            <a:r>
              <a:rPr lang="en-US" sz="2400" spc="-5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fd</a:t>
            </a:r>
            <a:r>
              <a:rPr sz="2400" spc="-55" dirty="0">
                <a:latin typeface="Calibri"/>
                <a:cs typeface="Calibri"/>
              </a:rPr>
              <a:t>’s </a:t>
            </a:r>
            <a:r>
              <a:rPr sz="2400" spc="-5" dirty="0">
                <a:latin typeface="Calibri"/>
                <a:cs typeface="Calibri"/>
              </a:rPr>
              <a:t>position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Consolas"/>
              </a:rPr>
              <a:t>pos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spc="-10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new file position </a:t>
            </a:r>
            <a:r>
              <a:rPr sz="2800" spc="-5" dirty="0">
                <a:latin typeface="Calibri"/>
                <a:cs typeface="Calibri"/>
              </a:rPr>
              <a:t>on success, -1 on </a:t>
            </a:r>
            <a:r>
              <a:rPr sz="2800" spc="-15" dirty="0">
                <a:latin typeface="Calibri"/>
                <a:cs typeface="Calibri"/>
              </a:rPr>
              <a:t>error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39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</a:t>
            </a:r>
            <a:r>
              <a:rPr spc="-180" dirty="0"/>
              <a:t> </a:t>
            </a:r>
            <a:r>
              <a:rPr spc="-30" dirty="0">
                <a:latin typeface="Courier New" panose="02070309020205020404" pitchFamily="49" charset="0"/>
                <a:cs typeface="Courier New" panose="02070309020205020404" pitchFamily="49" charset="0"/>
              </a:rPr>
              <a:t>lseek()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241" y="1765757"/>
            <a:ext cx="5316753" cy="8136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position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lang="en-US" sz="2600" spc="75" dirty="0">
                <a:latin typeface="Calibri"/>
                <a:cs typeface="Calibri"/>
              </a:rPr>
              <a:t>byte </a:t>
            </a:r>
            <a:r>
              <a:rPr sz="2600" spc="-5" dirty="0">
                <a:latin typeface="Calibri"/>
                <a:cs typeface="Calibri"/>
              </a:rPr>
              <a:t>1825: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241" y="2707006"/>
            <a:ext cx="4909185" cy="10267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off_t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ret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lseek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(fd,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)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1825,</a:t>
            </a:r>
            <a:r>
              <a:rPr sz="1700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SEEK_SET);</a:t>
            </a: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== (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) −1) </a:t>
            </a:r>
            <a:r>
              <a:rPr sz="1700" i="1" dirty="0">
                <a:latin typeface="Consolas"/>
                <a:cs typeface="Consolas"/>
              </a:rPr>
              <a:t>/* </a:t>
            </a:r>
            <a:r>
              <a:rPr sz="1700" i="1" spc="-5" dirty="0">
                <a:latin typeface="Consolas"/>
                <a:cs typeface="Consolas"/>
              </a:rPr>
              <a:t>error</a:t>
            </a:r>
            <a:r>
              <a:rPr sz="1700" i="1" spc="-15" dirty="0">
                <a:latin typeface="Consolas"/>
                <a:cs typeface="Consolas"/>
              </a:rPr>
              <a:t> </a:t>
            </a:r>
            <a:r>
              <a:rPr sz="1700" i="1" spc="-5" dirty="0">
                <a:latin typeface="Consolas"/>
                <a:cs typeface="Consolas"/>
              </a:rPr>
              <a:t>*/</a:t>
            </a:r>
            <a:endParaRPr sz="17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241" y="3991736"/>
            <a:ext cx="5316752" cy="7397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25"/>
              </a:spcBef>
            </a:pP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position of </a:t>
            </a:r>
            <a:r>
              <a:rPr sz="26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end of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241" y="5045862"/>
            <a:ext cx="4073525" cy="10267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off_t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ret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lseek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(fd,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0,</a:t>
            </a:r>
            <a:r>
              <a:rPr sz="17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SEEK_END);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(ret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== (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) −1) </a:t>
            </a:r>
            <a:r>
              <a:rPr sz="1700" i="1" dirty="0">
                <a:latin typeface="Consolas"/>
                <a:cs typeface="Consolas"/>
              </a:rPr>
              <a:t>/* </a:t>
            </a:r>
            <a:r>
              <a:rPr sz="1700" i="1" spc="-5" dirty="0">
                <a:latin typeface="Consolas"/>
                <a:cs typeface="Consolas"/>
              </a:rPr>
              <a:t>error</a:t>
            </a:r>
            <a:r>
              <a:rPr sz="1700" i="1" spc="-20" dirty="0">
                <a:latin typeface="Consolas"/>
                <a:cs typeface="Consolas"/>
              </a:rPr>
              <a:t> </a:t>
            </a:r>
            <a:r>
              <a:rPr sz="1700" i="1" spc="-5" dirty="0">
                <a:latin typeface="Consolas"/>
                <a:cs typeface="Consolas"/>
              </a:rPr>
              <a:t>*/</a:t>
            </a:r>
            <a:endParaRPr sz="17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9502" y="1797761"/>
            <a:ext cx="5457698" cy="19627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obtain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current </a:t>
            </a:r>
            <a:r>
              <a:rPr sz="2600" spc="-5" dirty="0">
                <a:latin typeface="Calibri"/>
                <a:cs typeface="Calibri"/>
              </a:rPr>
              <a:t>file position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3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50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800"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pos;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pos </a:t>
            </a:r>
            <a:r>
              <a:rPr sz="1800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lseek </a:t>
            </a:r>
            <a:r>
              <a:rPr sz="1800" spc="-10" dirty="0">
                <a:solidFill>
                  <a:srgbClr val="0070C0"/>
                </a:solidFill>
                <a:latin typeface="Consolas"/>
                <a:cs typeface="Consolas"/>
              </a:rPr>
              <a:t>(fd,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0,</a:t>
            </a:r>
            <a:r>
              <a:rPr sz="18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SEEK_CUR);</a:t>
            </a:r>
            <a:endParaRPr sz="18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(ret == (</a:t>
            </a:r>
            <a:r>
              <a:rPr sz="1800" b="1" spc="-5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800" spc="-5" dirty="0">
                <a:solidFill>
                  <a:srgbClr val="0070C0"/>
                </a:solidFill>
                <a:latin typeface="Consolas"/>
                <a:cs typeface="Consolas"/>
              </a:rPr>
              <a:t>) −1) </a:t>
            </a:r>
            <a:r>
              <a:rPr sz="1800" i="1" dirty="0">
                <a:latin typeface="Consolas"/>
                <a:cs typeface="Consolas"/>
              </a:rPr>
              <a:t>/* </a:t>
            </a:r>
            <a:r>
              <a:rPr sz="1800" i="1" spc="-5" dirty="0">
                <a:latin typeface="Consolas"/>
                <a:cs typeface="Consolas"/>
              </a:rPr>
              <a:t>error</a:t>
            </a:r>
            <a:r>
              <a:rPr sz="1800" i="1" spc="-90" dirty="0">
                <a:latin typeface="Consolas"/>
                <a:cs typeface="Consolas"/>
              </a:rPr>
              <a:t> </a:t>
            </a:r>
            <a:r>
              <a:rPr sz="1800" i="1" spc="-5" dirty="0">
                <a:latin typeface="Consolas"/>
                <a:cs typeface="Consolas"/>
              </a:rPr>
              <a:t>*/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62EFD-43AD-3CE0-0002-F188AEC2032F}"/>
              </a:ext>
            </a:extLst>
          </p:cNvPr>
          <p:cNvSpPr txBox="1"/>
          <p:nvPr/>
        </p:nvSpPr>
        <p:spPr>
          <a:xfrm>
            <a:off x="6429502" y="4038600"/>
            <a:ext cx="5457698" cy="19627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normAutofit lnSpcReduction="10000"/>
          </a:bodyPr>
          <a:lstStyle/>
          <a:p>
            <a:r>
              <a:rPr lang="en-US" sz="2600" dirty="0">
                <a:latin typeface="Calibri"/>
                <a:cs typeface="Calibri"/>
              </a:rPr>
              <a:t>To prevent errors/warnings, we implicitly convert some number literals to the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lang="en-US" sz="2600" dirty="0">
                <a:latin typeface="Calibri"/>
                <a:cs typeface="Calibri"/>
              </a:rPr>
              <a:t> data type by including: </a:t>
            </a:r>
            <a:r>
              <a:rPr lang="en-US" sz="2600" b="1" spc="-5" dirty="0">
                <a:solidFill>
                  <a:srgbClr val="0070C0"/>
                </a:solidFill>
                <a:latin typeface="Consolas"/>
              </a:rPr>
              <a:t>(</a:t>
            </a:r>
            <a:r>
              <a:rPr lang="en-US" sz="2600" b="1" spc="-5" dirty="0" err="1">
                <a:solidFill>
                  <a:srgbClr val="0070C0"/>
                </a:solidFill>
                <a:latin typeface="Consolas"/>
              </a:rPr>
              <a:t>off_t</a:t>
            </a:r>
            <a:r>
              <a:rPr lang="en-US" sz="2600" b="1" spc="-5" dirty="0">
                <a:solidFill>
                  <a:srgbClr val="0070C0"/>
                </a:solidFill>
                <a:latin typeface="Consolas"/>
              </a:rPr>
              <a:t>)</a:t>
            </a:r>
            <a:r>
              <a:rPr lang="en-US" sz="2600" dirty="0">
                <a:latin typeface="Calibri"/>
                <a:cs typeface="Calibri"/>
              </a:rPr>
              <a:t> to the left of the number before comparing the results with </a:t>
            </a:r>
            <a:r>
              <a:rPr lang="en-US" sz="2600" b="1" spc="-5" dirty="0">
                <a:solidFill>
                  <a:srgbClr val="0070C0"/>
                </a:solidFill>
                <a:latin typeface="Consolas"/>
              </a:rPr>
              <a:t>ret</a:t>
            </a:r>
            <a:r>
              <a:rPr lang="en-US" sz="26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40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195" dirty="0"/>
              <a:t> </a:t>
            </a:r>
            <a:r>
              <a:rPr spc="-35" dirty="0">
                <a:latin typeface="Courier New" panose="02070309020205020404" pitchFamily="49" charset="0"/>
                <a:cs typeface="Courier New" panose="02070309020205020404" pitchFamily="49" charset="0"/>
              </a:rPr>
              <a:t>lseek()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58310"/>
            <a:ext cx="10741662" cy="41184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41300" indent="-229235">
              <a:spcBef>
                <a:spcPts val="290"/>
              </a:spcBef>
              <a:buFont typeface="Arial"/>
              <a:buChar char="•"/>
              <a:tabLst>
                <a:tab pos="1155700" algn="l"/>
                <a:tab pos="1156335" algn="l"/>
              </a:tabLst>
              <a:defRPr/>
            </a:pP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 can seek past the end of a file. In such a case:</a:t>
            </a:r>
            <a:endParaRPr lang="en-US" dirty="0"/>
          </a:p>
          <a:p>
            <a:pPr marL="800100" marR="4794885" lvl="2" indent="-342900">
              <a:spcBef>
                <a:spcPts val="260"/>
              </a:spcBef>
              <a:buFont typeface="Arial" panose="020B0604020202020204" pitchFamily="34" charset="0"/>
              <a:buChar char="•"/>
              <a:tabLst>
                <a:tab pos="227965" algn="l"/>
                <a:tab pos="228600" algn="l"/>
              </a:tabLst>
            </a:pPr>
            <a:r>
              <a:rPr lang="en-US" sz="2200" spc="-5" dirty="0">
                <a:latin typeface="Calibri"/>
                <a:cs typeface="Calibri"/>
              </a:rPr>
              <a:t>A </a:t>
            </a:r>
            <a:r>
              <a:rPr lang="en-US" sz="2200" spc="-10" dirty="0">
                <a:latin typeface="Calibri"/>
                <a:cs typeface="Calibri"/>
              </a:rPr>
              <a:t>subsequent read </a:t>
            </a:r>
            <a:r>
              <a:rPr lang="en-US" sz="2200" spc="-5" dirty="0">
                <a:latin typeface="Calibri"/>
                <a:cs typeface="Calibri"/>
              </a:rPr>
              <a:t>will </a:t>
            </a:r>
            <a:r>
              <a:rPr lang="en-US" sz="2200" spc="-10" dirty="0">
                <a:latin typeface="Calibri"/>
                <a:cs typeface="Calibri"/>
              </a:rPr>
              <a:t>return </a:t>
            </a:r>
            <a:r>
              <a:rPr lang="en-US" sz="2200" spc="-2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200" spc="-10" dirty="0">
                <a:latin typeface="Calibri"/>
                <a:cs typeface="Calibri"/>
              </a:rPr>
              <a:t>.</a:t>
            </a:r>
          </a:p>
          <a:p>
            <a:pPr marL="812165" lvl="1" indent="-342900"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A </a:t>
            </a:r>
            <a:r>
              <a:rPr lang="en-US" sz="2200" spc="-10" dirty="0">
                <a:latin typeface="Calibri"/>
                <a:cs typeface="Calibri"/>
              </a:rPr>
              <a:t>write request </a:t>
            </a:r>
            <a:r>
              <a:rPr lang="en-US" sz="2200" spc="-5" dirty="0">
                <a:latin typeface="Calibri"/>
                <a:cs typeface="Calibri"/>
              </a:rPr>
              <a:t>will </a:t>
            </a:r>
            <a:r>
              <a:rPr lang="en-US" sz="2200" spc="-10" dirty="0">
                <a:latin typeface="Calibri"/>
                <a:cs typeface="Calibri"/>
              </a:rPr>
              <a:t>automatically pad </a:t>
            </a:r>
            <a:r>
              <a:rPr lang="en-US" sz="2200" spc="-20" dirty="0">
                <a:latin typeface="Calibri"/>
                <a:cs typeface="Calibri"/>
              </a:rPr>
              <a:t>zeros (null characters) </a:t>
            </a:r>
            <a:r>
              <a:rPr lang="en-US" sz="2200" spc="-5" dirty="0">
                <a:latin typeface="Calibri"/>
                <a:cs typeface="Calibri"/>
              </a:rPr>
              <a:t>in </a:t>
            </a:r>
            <a:r>
              <a:rPr lang="en-US" sz="2200" spc="-10" dirty="0">
                <a:latin typeface="Calibri"/>
                <a:cs typeface="Calibri"/>
              </a:rPr>
              <a:t>the </a:t>
            </a:r>
            <a:r>
              <a:rPr lang="en-US" sz="2200" spc="-5" dirty="0">
                <a:latin typeface="Calibri"/>
                <a:cs typeface="Calibri"/>
              </a:rPr>
              <a:t>skipped</a:t>
            </a:r>
            <a:r>
              <a:rPr lang="en-US" sz="2200" spc="9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space.</a:t>
            </a:r>
            <a:endParaRPr lang="en-US"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Such </a:t>
            </a:r>
            <a:r>
              <a:rPr sz="1900" spc="-25" dirty="0">
                <a:latin typeface="Calibri"/>
                <a:cs typeface="Calibri"/>
              </a:rPr>
              <a:t>zero </a:t>
            </a:r>
            <a:r>
              <a:rPr sz="1900" spc="-10" dirty="0">
                <a:latin typeface="Calibri"/>
                <a:cs typeface="Calibri"/>
              </a:rPr>
              <a:t>padding </a:t>
            </a:r>
            <a:r>
              <a:rPr sz="1900" spc="-5" dirty="0">
                <a:latin typeface="Calibri"/>
                <a:cs typeface="Calibri"/>
              </a:rPr>
              <a:t>(called </a:t>
            </a:r>
            <a:r>
              <a:rPr sz="1900" i="1" spc="-10" dirty="0">
                <a:latin typeface="Calibri"/>
                <a:cs typeface="Calibri"/>
              </a:rPr>
              <a:t>hole</a:t>
            </a:r>
            <a:r>
              <a:rPr sz="1900" spc="-10" dirty="0">
                <a:latin typeface="Calibri"/>
                <a:cs typeface="Calibri"/>
              </a:rPr>
              <a:t>), doesn’t occupy </a:t>
            </a:r>
            <a:r>
              <a:rPr sz="1900" spc="-15" dirty="0">
                <a:latin typeface="Calibri"/>
                <a:cs typeface="Calibri"/>
              </a:rPr>
              <a:t>any physical </a:t>
            </a:r>
            <a:r>
              <a:rPr sz="1900" spc="-10" dirty="0">
                <a:latin typeface="Calibri"/>
                <a:cs typeface="Calibri"/>
              </a:rPr>
              <a:t>disk </a:t>
            </a:r>
            <a:r>
              <a:rPr sz="1900" spc="-5" dirty="0">
                <a:latin typeface="Calibri"/>
                <a:cs typeface="Calibri"/>
              </a:rPr>
              <a:t>space, which </a:t>
            </a:r>
            <a:r>
              <a:rPr sz="1900" spc="-20" dirty="0">
                <a:latin typeface="Calibri"/>
                <a:cs typeface="Calibri"/>
              </a:rPr>
              <a:t>saves</a:t>
            </a:r>
            <a:r>
              <a:rPr sz="1900" spc="26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space</a:t>
            </a:r>
            <a:r>
              <a:rPr lang="en-US" sz="1900" spc="-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read request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5" dirty="0">
                <a:latin typeface="Calibri"/>
                <a:cs typeface="Calibri"/>
              </a:rPr>
              <a:t>the hole will </a:t>
            </a:r>
            <a:r>
              <a:rPr sz="1900" spc="-10" dirty="0">
                <a:latin typeface="Calibri"/>
                <a:cs typeface="Calibri"/>
              </a:rPr>
              <a:t>return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correct number </a:t>
            </a:r>
            <a:r>
              <a:rPr sz="1900" spc="-5" dirty="0">
                <a:latin typeface="Calibri"/>
                <a:cs typeface="Calibri"/>
              </a:rPr>
              <a:t>of</a:t>
            </a:r>
            <a:r>
              <a:rPr sz="1900" spc="9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zeros</a:t>
            </a:r>
            <a:r>
              <a:rPr lang="en-US" sz="1900" spc="-25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Possible </a:t>
            </a:r>
            <a:r>
              <a:rPr lang="en-US"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10" dirty="0">
                <a:latin typeface="Calibri"/>
                <a:cs typeface="Calibri"/>
              </a:rPr>
              <a:t> </a:t>
            </a:r>
            <a:r>
              <a:rPr lang="en-US" sz="2600" spc="-25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alues</a:t>
            </a:r>
            <a:r>
              <a:rPr lang="en-US" sz="2600" spc="-25" dirty="0">
                <a:latin typeface="Calibri"/>
                <a:cs typeface="Calibri"/>
              </a:rPr>
              <a:t> in case of an error: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EBADF</a:t>
            </a:r>
            <a:r>
              <a:rPr sz="2200" spc="-10" dirty="0">
                <a:latin typeface="Calibri"/>
                <a:cs typeface="Calibri"/>
              </a:rPr>
              <a:t>: bad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6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200" spc="-6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EINVAL</a:t>
            </a:r>
            <a:r>
              <a:rPr sz="2200" spc="-20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invalid </a:t>
            </a:r>
            <a:r>
              <a:rPr sz="2200" spc="-20" dirty="0">
                <a:latin typeface="Calibri"/>
                <a:cs typeface="Calibri"/>
              </a:rPr>
              <a:t>parameters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origin</a:t>
            </a:r>
            <a:r>
              <a:rPr sz="2200" spc="-5" dirty="0">
                <a:latin typeface="Calibri"/>
                <a:cs typeface="Calibri"/>
              </a:rPr>
              <a:t>, or the resulting </a:t>
            </a:r>
            <a:r>
              <a:rPr sz="2200" spc="-10" dirty="0">
                <a:latin typeface="Calibri"/>
                <a:cs typeface="Calibri"/>
              </a:rPr>
              <a:t>file </a:t>
            </a:r>
            <a:r>
              <a:rPr sz="2200" spc="-5" dirty="0">
                <a:latin typeface="Calibri"/>
                <a:cs typeface="Calibri"/>
              </a:rPr>
              <a:t>position </a:t>
            </a:r>
            <a:r>
              <a:rPr sz="2200" spc="-10" dirty="0">
                <a:latin typeface="Calibri"/>
                <a:cs typeface="Calibri"/>
              </a:rPr>
              <a:t>would be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negative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8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EOVERFLOW</a:t>
            </a:r>
            <a:r>
              <a:rPr sz="2200" spc="-25" dirty="0">
                <a:latin typeface="Calibri"/>
                <a:cs typeface="Calibri"/>
              </a:rPr>
              <a:t>: </a:t>
            </a:r>
            <a:r>
              <a:rPr sz="2200" spc="-15" dirty="0">
                <a:latin typeface="Calibri"/>
                <a:cs typeface="Calibri"/>
              </a:rPr>
              <a:t>offset </a:t>
            </a:r>
            <a:r>
              <a:rPr sz="2200" spc="-10" dirty="0">
                <a:latin typeface="Calibri"/>
                <a:cs typeface="Calibri"/>
              </a:rPr>
              <a:t>can’t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represented </a:t>
            </a:r>
            <a:r>
              <a:rPr sz="2200" spc="-5" dirty="0">
                <a:latin typeface="Calibri"/>
                <a:cs typeface="Calibri"/>
              </a:rPr>
              <a:t>in an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(C </a:t>
            </a:r>
            <a:r>
              <a:rPr sz="2200" spc="-10" dirty="0">
                <a:latin typeface="Calibri"/>
                <a:cs typeface="Calibri"/>
              </a:rPr>
              <a:t>signed </a:t>
            </a:r>
            <a:r>
              <a:rPr sz="2200" spc="-5" dirty="0">
                <a:latin typeface="Calibri"/>
                <a:cs typeface="Calibri"/>
              </a:rPr>
              <a:t>long). </a:t>
            </a:r>
            <a:r>
              <a:rPr sz="2200" spc="-10" dirty="0">
                <a:latin typeface="Calibri"/>
                <a:cs typeface="Calibri"/>
              </a:rPr>
              <a:t>Internally</a:t>
            </a:r>
            <a:r>
              <a:rPr lang="en-US" sz="2200" spc="-10" dirty="0">
                <a:latin typeface="Calibri"/>
                <a:cs typeface="Calibri"/>
              </a:rPr>
              <a:t>, 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kernel stores offsets </a:t>
            </a:r>
            <a:r>
              <a:rPr sz="2200" spc="-5" dirty="0">
                <a:latin typeface="Calibri"/>
                <a:cs typeface="Calibri"/>
              </a:rPr>
              <a:t>in the C long long type, </a:t>
            </a:r>
            <a:r>
              <a:rPr sz="2200" spc="-10" dirty="0">
                <a:latin typeface="Calibri"/>
                <a:cs typeface="Calibri"/>
              </a:rPr>
              <a:t>causing </a:t>
            </a:r>
            <a:r>
              <a:rPr sz="2200" spc="-5" dirty="0">
                <a:latin typeface="Calibri"/>
                <a:cs typeface="Calibri"/>
              </a:rPr>
              <a:t>this </a:t>
            </a:r>
            <a:r>
              <a:rPr sz="2200" spc="-10" dirty="0">
                <a:latin typeface="Calibri"/>
                <a:cs typeface="Calibri"/>
              </a:rPr>
              <a:t>error </a:t>
            </a:r>
            <a:r>
              <a:rPr sz="2200" spc="-5" dirty="0">
                <a:latin typeface="Calibri"/>
                <a:cs typeface="Calibri"/>
              </a:rPr>
              <a:t>on 32-bit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systems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solidFill>
                  <a:srgbClr val="0070C0"/>
                </a:solidFill>
                <a:latin typeface="Consolas"/>
              </a:rPr>
              <a:t>ESPIPE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spc="-6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associated </a:t>
            </a:r>
            <a:r>
              <a:rPr sz="2200" spc="-5" dirty="0">
                <a:latin typeface="Calibri"/>
                <a:cs typeface="Calibri"/>
              </a:rPr>
              <a:t>with an </a:t>
            </a:r>
            <a:r>
              <a:rPr sz="2200" spc="-10" dirty="0">
                <a:latin typeface="Calibri"/>
                <a:cs typeface="Calibri"/>
              </a:rPr>
              <a:t>unseekable </a:t>
            </a:r>
            <a:r>
              <a:rPr sz="2200" spc="-5" dirty="0">
                <a:latin typeface="Calibri"/>
                <a:cs typeface="Calibri"/>
              </a:rPr>
              <a:t>object –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pipe/fifo/socket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117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Positional </a:t>
            </a:r>
            <a:r>
              <a:rPr spc="-45" dirty="0"/>
              <a:t>Reads </a:t>
            </a:r>
            <a:r>
              <a:rPr spc="-20" dirty="0"/>
              <a:t>and</a:t>
            </a:r>
            <a:r>
              <a:rPr spc="-225" dirty="0"/>
              <a:t> </a:t>
            </a:r>
            <a:r>
              <a:rPr spc="-55" dirty="0"/>
              <a:t>Writes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36801"/>
            <a:ext cx="10665462" cy="435196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104521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Both </a:t>
            </a:r>
            <a:r>
              <a:rPr lang="en-US" sz="2600" dirty="0">
                <a:latin typeface="Calibri"/>
                <a:cs typeface="Calibri"/>
              </a:rPr>
              <a:t>of the following system calls </a:t>
            </a:r>
            <a:r>
              <a:rPr sz="2600" dirty="0">
                <a:latin typeface="Calibri"/>
                <a:cs typeface="Calibri"/>
              </a:rPr>
              <a:t>access </a:t>
            </a:r>
            <a:r>
              <a:rPr sz="2600" spc="-5" dirty="0">
                <a:latin typeface="Calibri"/>
                <a:cs typeface="Calibri"/>
              </a:rPr>
              <a:t>files </a:t>
            </a:r>
            <a:r>
              <a:rPr sz="2600" spc="-10" dirty="0">
                <a:latin typeface="Calibri"/>
                <a:cs typeface="Calibri"/>
              </a:rPr>
              <a:t>at </a:t>
            </a:r>
            <a:r>
              <a:rPr sz="2600" dirty="0">
                <a:latin typeface="Calibri"/>
                <a:cs typeface="Calibri"/>
              </a:rPr>
              <a:t>specific position</a:t>
            </a:r>
            <a:r>
              <a:rPr lang="en-US" sz="2600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current </a:t>
            </a:r>
            <a:r>
              <a:rPr sz="2600" dirty="0">
                <a:latin typeface="Calibri"/>
                <a:cs typeface="Calibri"/>
              </a:rPr>
              <a:t>position is </a:t>
            </a:r>
            <a:r>
              <a:rPr sz="2600" spc="-20" dirty="0">
                <a:latin typeface="Calibri"/>
                <a:cs typeface="Calibri"/>
              </a:rPr>
              <a:t>NOT </a:t>
            </a:r>
            <a:r>
              <a:rPr sz="2600" spc="-10" dirty="0">
                <a:latin typeface="Calibri"/>
                <a:cs typeface="Calibri"/>
              </a:rPr>
              <a:t>updated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 marR="764540">
              <a:lnSpc>
                <a:spcPts val="1930"/>
              </a:lnSpc>
              <a:spcBef>
                <a:spcPts val="45"/>
              </a:spcBef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#define _XOPEN_SOURCE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500 </a:t>
            </a:r>
            <a:r>
              <a:rPr sz="1700" i="1" dirty="0">
                <a:latin typeface="Consolas"/>
                <a:cs typeface="Consolas"/>
              </a:rPr>
              <a:t>// </a:t>
            </a:r>
            <a:r>
              <a:rPr sz="1700" i="1" spc="-5" dirty="0">
                <a:latin typeface="Consolas"/>
                <a:cs typeface="Consolas"/>
              </a:rPr>
              <a:t>includes </a:t>
            </a:r>
            <a:r>
              <a:rPr sz="1700" i="1" dirty="0">
                <a:latin typeface="Consolas"/>
                <a:cs typeface="Consolas"/>
              </a:rPr>
              <a:t>extra function definitions from X/Open</a:t>
            </a:r>
            <a:r>
              <a:rPr lang="en-US" sz="1700" i="1" dirty="0">
                <a:latin typeface="Consolas"/>
                <a:cs typeface="Consolas"/>
              </a:rPr>
              <a:t>.</a:t>
            </a:r>
            <a:r>
              <a:rPr sz="1700" i="1" dirty="0">
                <a:latin typeface="Consolas"/>
                <a:cs typeface="Consolas"/>
              </a:rPr>
              <a:t> 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ts val="1820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pread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count, 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b="1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pos);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1985"/>
              </a:lnSpc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pwrite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700" b="1" spc="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1700" spc="5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1700" spc="5" dirty="0">
                <a:solidFill>
                  <a:srgbClr val="0070C0"/>
                </a:solidFill>
                <a:latin typeface="Consolas"/>
                <a:cs typeface="Consolas"/>
              </a:rPr>
              <a:t>count,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5" dirty="0">
                <a:solidFill>
                  <a:srgbClr val="0070C0"/>
                </a:solidFill>
                <a:latin typeface="Consolas"/>
                <a:cs typeface="Consolas"/>
              </a:rPr>
              <a:t>pos);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Otherwise</a:t>
            </a:r>
            <a:r>
              <a:rPr lang="en-US" sz="2600" dirty="0">
                <a:latin typeface="Calibri"/>
                <a:cs typeface="Calibri"/>
              </a:rPr>
              <a:t>,</a:t>
            </a:r>
            <a:r>
              <a:rPr sz="2600" dirty="0">
                <a:latin typeface="Calibri"/>
                <a:cs typeface="Calibri"/>
              </a:rPr>
              <a:t> they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identical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600" spc="-5" dirty="0">
                <a:latin typeface="Calibri"/>
                <a:cs typeface="Calibri"/>
              </a:rPr>
              <a:t>/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600" spc="-5" dirty="0">
                <a:latin typeface="Calibri"/>
                <a:cs typeface="Calibri"/>
              </a:rPr>
              <a:t> (as </a:t>
            </a:r>
            <a:r>
              <a:rPr sz="2600" dirty="0">
                <a:latin typeface="Calibri"/>
                <a:cs typeface="Calibri"/>
              </a:rPr>
              <a:t>if </a:t>
            </a:r>
            <a:r>
              <a:rPr sz="2600" spc="-5" dirty="0">
                <a:latin typeface="Calibri"/>
                <a:cs typeface="Calibri"/>
              </a:rPr>
              <a:t>doing </a:t>
            </a:r>
            <a:r>
              <a:rPr sz="2600" dirty="0">
                <a:latin typeface="Courier New" panose="02070309020205020404" pitchFamily="49" charset="0"/>
                <a:cs typeface="Courier New" panose="02070309020205020404" pitchFamily="49" charset="0"/>
              </a:rPr>
              <a:t>lseek</a:t>
            </a:r>
            <a:r>
              <a:rPr sz="2600" spc="-15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first)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Work </a:t>
            </a:r>
            <a:r>
              <a:rPr sz="2600" spc="-10" dirty="0">
                <a:latin typeface="Calibri"/>
                <a:cs typeface="Calibri"/>
              </a:rPr>
              <a:t>best </a:t>
            </a:r>
            <a:r>
              <a:rPr sz="2600" dirty="0">
                <a:latin typeface="Calibri"/>
                <a:cs typeface="Calibri"/>
              </a:rPr>
              <a:t>in multithreaded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applications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Threads share </a:t>
            </a:r>
            <a:r>
              <a:rPr sz="2200" spc="-5" dirty="0">
                <a:latin typeface="Calibri"/>
                <a:cs typeface="Calibri"/>
              </a:rPr>
              <a:t>file </a:t>
            </a:r>
            <a:r>
              <a:rPr sz="2200" spc="-10" dirty="0">
                <a:latin typeface="Calibri"/>
                <a:cs typeface="Calibri"/>
              </a:rPr>
              <a:t>tables </a:t>
            </a:r>
            <a:r>
              <a:rPr lang="en-US" sz="2200" spc="-5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include the </a:t>
            </a:r>
            <a:r>
              <a:rPr sz="2200" spc="-10" dirty="0">
                <a:latin typeface="Calibri"/>
                <a:cs typeface="Calibri"/>
              </a:rPr>
              <a:t>current </a:t>
            </a:r>
            <a:r>
              <a:rPr sz="2200" spc="-5" dirty="0">
                <a:latin typeface="Calibri"/>
                <a:cs typeface="Calibri"/>
              </a:rPr>
              <a:t>file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position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0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What </a:t>
            </a:r>
            <a:r>
              <a:rPr sz="2200" spc="-5" dirty="0">
                <a:latin typeface="Calibri"/>
                <a:cs typeface="Calibri"/>
              </a:rPr>
              <a:t>if </a:t>
            </a: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1 </a:t>
            </a:r>
            <a:r>
              <a:rPr sz="2200" spc="-15" dirty="0">
                <a:latin typeface="Calibri"/>
                <a:cs typeface="Calibri"/>
              </a:rPr>
              <a:t>updates </a:t>
            </a:r>
            <a:r>
              <a:rPr sz="2200" spc="-5" dirty="0">
                <a:latin typeface="Calibri"/>
                <a:cs typeface="Calibri"/>
              </a:rPr>
              <a:t>file position </a:t>
            </a:r>
            <a:r>
              <a:rPr sz="2200" spc="-15" dirty="0">
                <a:latin typeface="Calibri"/>
                <a:cs typeface="Calibri"/>
              </a:rPr>
              <a:t>after </a:t>
            </a:r>
            <a:r>
              <a:rPr sz="2200" spc="-10" dirty="0">
                <a:latin typeface="Calibri"/>
                <a:cs typeface="Calibri"/>
              </a:rPr>
              <a:t>Thread </a:t>
            </a:r>
            <a:r>
              <a:rPr sz="2200" spc="-5" dirty="0">
                <a:latin typeface="Calibri"/>
                <a:cs typeface="Calibri"/>
              </a:rPr>
              <a:t>2 finishes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lseek()</a:t>
            </a:r>
            <a:r>
              <a:rPr sz="2200" spc="-5" dirty="0">
                <a:latin typeface="Calibri"/>
                <a:cs typeface="Calibri"/>
              </a:rPr>
              <a:t> but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before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200" spc="-10" dirty="0">
                <a:latin typeface="Calibri"/>
                <a:cs typeface="Calibri"/>
              </a:rPr>
              <a:t>calling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sz="2200" spc="-10" dirty="0">
                <a:latin typeface="Calibri"/>
                <a:cs typeface="Calibri"/>
              </a:rPr>
              <a:t>/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200" spc="-10" dirty="0">
                <a:latin typeface="Calibri"/>
                <a:cs typeface="Calibri"/>
              </a:rPr>
              <a:t>?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Positional reads/writes </a:t>
            </a:r>
            <a:r>
              <a:rPr lang="en-US" sz="2200" spc="-15" dirty="0">
                <a:latin typeface="Calibri"/>
                <a:cs typeface="Calibri"/>
              </a:rPr>
              <a:t>eliminates accidental overwrites of one thread by the other.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Return </a:t>
            </a:r>
            <a:r>
              <a:rPr sz="2600" dirty="0">
                <a:latin typeface="Calibri"/>
                <a:cs typeface="Calibri"/>
              </a:rPr>
              <a:t># </a:t>
            </a:r>
            <a:r>
              <a:rPr sz="2600" spc="-5" dirty="0">
                <a:latin typeface="Calibri"/>
                <a:cs typeface="Calibri"/>
              </a:rPr>
              <a:t>of bytes </a:t>
            </a:r>
            <a:r>
              <a:rPr sz="2600" spc="-10" dirty="0">
                <a:latin typeface="Calibri"/>
                <a:cs typeface="Calibri"/>
              </a:rPr>
              <a:t>read/written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 </a:t>
            </a:r>
            <a:r>
              <a:rPr sz="2600" spc="-5" dirty="0">
                <a:latin typeface="Calibri"/>
                <a:cs typeface="Calibri"/>
              </a:rPr>
              <a:t>(0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sz="2600" spc="-5" dirty="0">
                <a:latin typeface="Calibri"/>
                <a:cs typeface="Calibri"/>
              </a:rPr>
              <a:t>)</a:t>
            </a:r>
            <a:r>
              <a:rPr lang="en-US" sz="2600" spc="-5" dirty="0">
                <a:latin typeface="Calibri"/>
                <a:cs typeface="Calibri"/>
              </a:rPr>
              <a:t> and</a:t>
            </a:r>
            <a:r>
              <a:rPr sz="2600" spc="-5" dirty="0">
                <a:latin typeface="Calibri"/>
                <a:cs typeface="Calibri"/>
              </a:rPr>
              <a:t> -1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error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sets  </a:t>
            </a:r>
            <a:r>
              <a:rPr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46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Truncating</a:t>
            </a:r>
            <a:r>
              <a:rPr spc="-165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76400"/>
            <a:ext cx="10358120" cy="4757969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45" dirty="0"/>
              <a:t>Two </a:t>
            </a:r>
            <a:r>
              <a:rPr sz="2600" spc="-20" dirty="0"/>
              <a:t>system</a:t>
            </a:r>
            <a:r>
              <a:rPr sz="2600" spc="-5" dirty="0"/>
              <a:t> calls</a:t>
            </a:r>
            <a:r>
              <a:rPr lang="en-US" sz="2600" spc="-5" dirty="0"/>
              <a:t> can truncate files:</a:t>
            </a:r>
            <a:endParaRPr sz="2600" dirty="0"/>
          </a:p>
          <a:p>
            <a:pPr marL="469900" marR="7260590">
              <a:lnSpc>
                <a:spcPct val="114700"/>
              </a:lnSpc>
              <a:spcBef>
                <a:spcPts val="65"/>
              </a:spcBef>
            </a:pP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&lt;unistd.h&gt; 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7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ftruncate (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b="1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len);</a:t>
            </a:r>
            <a:endParaRPr sz="17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700" spc="-5" dirty="0">
                <a:solidFill>
                  <a:srgbClr val="0070C0"/>
                </a:solidFill>
                <a:latin typeface="Consolas"/>
                <a:cs typeface="Consolas"/>
              </a:rPr>
              <a:t>truncate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17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700" b="1" spc="-5" dirty="0">
                <a:solidFill>
                  <a:srgbClr val="0070C0"/>
                </a:solidFill>
                <a:latin typeface="Consolas"/>
                <a:cs typeface="Consolas"/>
              </a:rPr>
              <a:t>off_t</a:t>
            </a:r>
            <a:r>
              <a:rPr sz="17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700" dirty="0">
                <a:solidFill>
                  <a:srgbClr val="0070C0"/>
                </a:solidFill>
                <a:latin typeface="Consolas"/>
                <a:cs typeface="Consolas"/>
              </a:rPr>
              <a:t>len);</a:t>
            </a:r>
          </a:p>
          <a:p>
            <a:pPr marL="241300" marR="5080" indent="-228600">
              <a:lnSpc>
                <a:spcPts val="281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/>
              <a:t>One </a:t>
            </a:r>
            <a:r>
              <a:rPr sz="2600" spc="-15" dirty="0"/>
              <a:t>operates </a:t>
            </a:r>
            <a:r>
              <a:rPr sz="2600" spc="-5" dirty="0"/>
              <a:t>on </a:t>
            </a:r>
            <a:r>
              <a:rPr sz="2600" dirty="0"/>
              <a:t>a</a:t>
            </a:r>
            <a:r>
              <a:rPr lang="en-US" sz="2600" dirty="0"/>
              <a:t>n</a:t>
            </a:r>
            <a:r>
              <a:rPr sz="2600" dirty="0"/>
              <a:t> </a:t>
            </a:r>
            <a:r>
              <a:rPr sz="26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25" dirty="0"/>
              <a:t>, </a:t>
            </a:r>
            <a:r>
              <a:rPr sz="2600" dirty="0"/>
              <a:t>the </a:t>
            </a:r>
            <a:r>
              <a:rPr sz="2600" spc="-5" dirty="0"/>
              <a:t>other </a:t>
            </a:r>
            <a:r>
              <a:rPr sz="2600" spc="-15" dirty="0"/>
              <a:t>operates </a:t>
            </a:r>
            <a:r>
              <a:rPr sz="2600" spc="-5" dirty="0"/>
              <a:t>on </a:t>
            </a:r>
            <a:r>
              <a:rPr sz="2600" dirty="0"/>
              <a:t>the </a:t>
            </a:r>
            <a:r>
              <a:rPr sz="2600" spc="-5" dirty="0"/>
              <a:t>filename </a:t>
            </a:r>
            <a:r>
              <a:rPr sz="2600" spc="5" dirty="0"/>
              <a:t>(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600" spc="5" dirty="0"/>
              <a:t>). </a:t>
            </a:r>
            <a:r>
              <a:rPr lang="en-US" sz="2600" spc="5" dirty="0"/>
              <a:t>In either case, the file</a:t>
            </a:r>
            <a:r>
              <a:rPr sz="2600" dirty="0"/>
              <a:t> </a:t>
            </a:r>
            <a:r>
              <a:rPr sz="2600" spc="-10" dirty="0"/>
              <a:t>need</a:t>
            </a:r>
            <a:r>
              <a:rPr lang="en-US" sz="2600" spc="-10" dirty="0"/>
              <a:t>s</a:t>
            </a:r>
            <a:r>
              <a:rPr sz="2600" spc="-10" dirty="0"/>
              <a:t> to </a:t>
            </a:r>
            <a:r>
              <a:rPr lang="en-US" sz="2600" spc="-5" dirty="0"/>
              <a:t>have been opened for</a:t>
            </a:r>
            <a:r>
              <a:rPr sz="2600" spc="-15" dirty="0"/>
              <a:t> </a:t>
            </a:r>
            <a:r>
              <a:rPr lang="en-US" sz="2600" spc="-15" dirty="0"/>
              <a:t>writing</a:t>
            </a:r>
            <a:r>
              <a:rPr lang="en-US" sz="2600" spc="-5" dirty="0"/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/>
              <a:t>On </a:t>
            </a:r>
            <a:r>
              <a:rPr sz="2600" spc="-5" dirty="0"/>
              <a:t>success, </a:t>
            </a:r>
            <a:r>
              <a:rPr lang="en-US" sz="2600" spc="-5" dirty="0"/>
              <a:t>they return the </a:t>
            </a:r>
            <a:r>
              <a:rPr sz="2600" spc="-30" dirty="0"/>
              <a:t>file’s </a:t>
            </a:r>
            <a:r>
              <a:rPr lang="en-US" sz="2600" spc="-30" dirty="0"/>
              <a:t>new </a:t>
            </a:r>
            <a:r>
              <a:rPr sz="2600" spc="-5" dirty="0"/>
              <a:t>length </a:t>
            </a:r>
            <a:r>
              <a:rPr lang="en-US" sz="2600" spc="-5" dirty="0"/>
              <a:t>(which </a:t>
            </a:r>
            <a:r>
              <a:rPr sz="2600" dirty="0"/>
              <a:t>is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len</a:t>
            </a:r>
            <a:r>
              <a:rPr sz="2600" dirty="0"/>
              <a:t>,</a:t>
            </a:r>
            <a:r>
              <a:rPr lang="en-US" sz="2600" dirty="0"/>
              <a:t>)</a:t>
            </a:r>
            <a:r>
              <a:rPr sz="2600" dirty="0"/>
              <a:t> and all </a:t>
            </a:r>
            <a:r>
              <a:rPr lang="en-US" sz="2600" spc="-15" dirty="0"/>
              <a:t>bytes beyond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len</a:t>
            </a:r>
            <a:r>
              <a:rPr sz="2600" spc="-15" dirty="0"/>
              <a:t> </a:t>
            </a:r>
            <a:r>
              <a:rPr sz="2600" spc="-10" dirty="0"/>
              <a:t>are</a:t>
            </a:r>
            <a:r>
              <a:rPr sz="2600" spc="-100" dirty="0"/>
              <a:t> </a:t>
            </a:r>
            <a:r>
              <a:rPr lang="en-US" sz="2600" spc="-10" dirty="0"/>
              <a:t>erased, thus cutting the file to the size of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len</a:t>
            </a:r>
            <a:r>
              <a:rPr lang="en-US" sz="2600" spc="-10" dirty="0"/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15265" indent="-228600">
              <a:lnSpc>
                <a:spcPts val="281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/>
              <a:t>While </a:t>
            </a:r>
            <a:r>
              <a:rPr sz="2600" spc="-20" dirty="0"/>
              <a:t>it’s </a:t>
            </a:r>
            <a:r>
              <a:rPr sz="2600" dirty="0"/>
              <a:t>less </a:t>
            </a:r>
            <a:r>
              <a:rPr sz="2600" spc="-5" dirty="0"/>
              <a:t>common, both </a:t>
            </a:r>
            <a:r>
              <a:rPr sz="2600" dirty="0"/>
              <a:t>functions </a:t>
            </a:r>
            <a:r>
              <a:rPr sz="2600" spc="-5" dirty="0"/>
              <a:t>can </a:t>
            </a:r>
            <a:r>
              <a:rPr sz="2600" dirty="0"/>
              <a:t>use a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</a:rPr>
              <a:t>len</a:t>
            </a:r>
            <a:r>
              <a:rPr sz="2600" dirty="0"/>
              <a:t> </a:t>
            </a:r>
            <a:r>
              <a:rPr sz="2600" spc="-15" dirty="0"/>
              <a:t>that’s </a:t>
            </a:r>
            <a:r>
              <a:rPr sz="2600" spc="-10" dirty="0"/>
              <a:t>larger </a:t>
            </a:r>
            <a:r>
              <a:rPr sz="2600" dirty="0"/>
              <a:t>than the </a:t>
            </a:r>
            <a:r>
              <a:rPr sz="2600" spc="-5" dirty="0"/>
              <a:t>original file length </a:t>
            </a:r>
            <a:r>
              <a:rPr sz="2600" dirty="0"/>
              <a:t>– the </a:t>
            </a:r>
            <a:r>
              <a:rPr sz="2600" spc="-10" dirty="0"/>
              <a:t>extended </a:t>
            </a:r>
            <a:r>
              <a:rPr sz="2600" spc="-5" dirty="0"/>
              <a:t>space </a:t>
            </a:r>
            <a:r>
              <a:rPr sz="2600" dirty="0"/>
              <a:t>will </a:t>
            </a:r>
            <a:r>
              <a:rPr sz="2600" spc="-5" dirty="0"/>
              <a:t>be padded </a:t>
            </a:r>
            <a:r>
              <a:rPr sz="2600" dirty="0"/>
              <a:t>with</a:t>
            </a:r>
            <a:r>
              <a:rPr sz="2600" spc="-100" dirty="0"/>
              <a:t> </a:t>
            </a:r>
            <a:r>
              <a:rPr lang="en-US" sz="2600" spc="-20" dirty="0"/>
              <a:t>‘</a:t>
            </a:r>
            <a:r>
              <a:rPr lang="en-US" sz="26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\0</a:t>
            </a:r>
            <a:r>
              <a:rPr lang="en-US" sz="2600" spc="-20" dirty="0"/>
              <a:t>’s.</a:t>
            </a:r>
            <a:endParaRPr sz="2600" dirty="0"/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/>
              <a:t>Neither function </a:t>
            </a:r>
            <a:r>
              <a:rPr lang="en-US" sz="2600" spc="-5" dirty="0"/>
              <a:t>changes</a:t>
            </a:r>
            <a:r>
              <a:rPr sz="2600" spc="-5" dirty="0"/>
              <a:t> </a:t>
            </a:r>
            <a:r>
              <a:rPr sz="2600" dirty="0"/>
              <a:t>the </a:t>
            </a:r>
            <a:r>
              <a:rPr sz="2600" spc="-5" dirty="0"/>
              <a:t>current file</a:t>
            </a:r>
            <a:r>
              <a:rPr sz="2600" spc="-105" dirty="0"/>
              <a:t> </a:t>
            </a:r>
            <a:r>
              <a:rPr sz="2600" dirty="0"/>
              <a:t>position</a:t>
            </a:r>
            <a:r>
              <a:rPr lang="en-US" sz="2600" dirty="0"/>
              <a:t>.</a:t>
            </a:r>
            <a:endParaRPr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648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50" dirty="0"/>
              <a:t> </a:t>
            </a:r>
            <a:r>
              <a:rPr spc="-45" dirty="0">
                <a:latin typeface="Courier New" panose="02070309020205020404" pitchFamily="49" charset="0"/>
                <a:cs typeface="Courier New" panose="02070309020205020404" pitchFamily="49" charset="0"/>
              </a:rPr>
              <a:t>truncate()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441" y="1649580"/>
            <a:ext cx="4485005" cy="3421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51405">
              <a:lnSpc>
                <a:spcPct val="115999"/>
              </a:lnSpc>
              <a:spcBef>
                <a:spcPts val="95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#include &lt;unistd.h&gt;  #include &lt;stdio.h&gt;  </a:t>
            </a: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6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main()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ret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=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truncate ("./pirate.txt",</a:t>
            </a:r>
            <a:r>
              <a:rPr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45);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(ret == −1)</a:t>
            </a:r>
            <a:r>
              <a:rPr sz="16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15035">
              <a:lnSpc>
                <a:spcPct val="100000"/>
              </a:lnSpc>
              <a:spcBef>
                <a:spcPts val="300"/>
              </a:spcBef>
            </a:pP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16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("truncate");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15035">
              <a:lnSpc>
                <a:spcPct val="10000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return</a:t>
            </a:r>
            <a:r>
              <a:rPr sz="16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−1;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b="1" spc="-10" dirty="0">
                <a:solidFill>
                  <a:srgbClr val="0070C0"/>
                </a:solidFill>
                <a:latin typeface="Consolas"/>
                <a:cs typeface="Consolas"/>
              </a:rPr>
              <a:t>return </a:t>
            </a:r>
            <a:r>
              <a:rPr sz="1600" spc="-10" dirty="0">
                <a:solidFill>
                  <a:srgbClr val="0070C0"/>
                </a:solidFill>
                <a:latin typeface="Consolas"/>
                <a:cs typeface="Consolas"/>
              </a:rPr>
              <a:t>0;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8702" y="1658086"/>
            <a:ext cx="5055235" cy="2910412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pirate.txt</a:t>
            </a:r>
            <a:r>
              <a:rPr sz="2000" spc="-15" dirty="0">
                <a:latin typeface="+mj-lt"/>
                <a:cs typeface="Courier New" panose="02070309020205020404" pitchFamily="49" charset="0"/>
              </a:rPr>
              <a:t> </a:t>
            </a:r>
            <a:r>
              <a:rPr sz="2000" spc="-5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74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bytes: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15"/>
              </a:spcBef>
            </a:pPr>
            <a:r>
              <a:rPr sz="2000" dirty="0">
                <a:latin typeface="Consolas"/>
                <a:cs typeface="Consolas"/>
              </a:rPr>
              <a:t>Edward </a:t>
            </a:r>
            <a:r>
              <a:rPr sz="2000" spc="-5" dirty="0">
                <a:latin typeface="Consolas"/>
                <a:cs typeface="Consolas"/>
              </a:rPr>
              <a:t>Teach </a:t>
            </a:r>
            <a:r>
              <a:rPr sz="2000" dirty="0">
                <a:latin typeface="Consolas"/>
                <a:cs typeface="Consolas"/>
              </a:rPr>
              <a:t>was a notorious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English  </a:t>
            </a:r>
            <a:r>
              <a:rPr sz="2000" dirty="0">
                <a:latin typeface="Consolas"/>
                <a:cs typeface="Consolas"/>
              </a:rPr>
              <a:t>pirate. He was </a:t>
            </a:r>
            <a:r>
              <a:rPr sz="2000" spc="-5" dirty="0">
                <a:latin typeface="Consolas"/>
                <a:cs typeface="Consolas"/>
              </a:rPr>
              <a:t>nicknamed</a:t>
            </a:r>
            <a:r>
              <a:rPr sz="2000" spc="-25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Blackbeard.</a:t>
            </a:r>
            <a:endParaRPr sz="20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  <a:spcBef>
                <a:spcPts val="800"/>
              </a:spcBef>
            </a:pPr>
            <a:r>
              <a:rPr sz="1800" spc="-10" dirty="0">
                <a:latin typeface="Consolas"/>
                <a:cs typeface="Consolas"/>
              </a:rPr>
              <a:t>^45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spc="-5" dirty="0">
                <a:latin typeface="Calibri"/>
                <a:cs typeface="Calibri"/>
              </a:rPr>
              <a:t>After the truncation, the file will turn into:</a:t>
            </a:r>
            <a:endParaRPr sz="2000" spc="-5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</a:pPr>
            <a:r>
              <a:rPr sz="2000" dirty="0">
                <a:latin typeface="Consolas"/>
                <a:cs typeface="Consolas"/>
              </a:rPr>
              <a:t>Edward </a:t>
            </a:r>
            <a:r>
              <a:rPr sz="2000" spc="-5" dirty="0">
                <a:latin typeface="Consolas"/>
                <a:cs typeface="Consolas"/>
              </a:rPr>
              <a:t>Teach </a:t>
            </a:r>
            <a:r>
              <a:rPr sz="2000" dirty="0">
                <a:latin typeface="Consolas"/>
                <a:cs typeface="Consolas"/>
              </a:rPr>
              <a:t>was a notorious</a:t>
            </a:r>
            <a:r>
              <a:rPr sz="2000" spc="-6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English  </a:t>
            </a:r>
            <a:r>
              <a:rPr sz="2000" dirty="0">
                <a:latin typeface="Consolas"/>
                <a:cs typeface="Consolas"/>
              </a:rPr>
              <a:t>pirate.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285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Multiplexed </a:t>
            </a:r>
            <a:r>
              <a:rPr spc="-15" dirty="0"/>
              <a:t>I/O </a:t>
            </a:r>
            <a:r>
              <a:rPr dirty="0"/>
              <a:t>-</a:t>
            </a:r>
            <a:r>
              <a:rPr spc="-225" dirty="0"/>
              <a:t> </a:t>
            </a:r>
            <a:r>
              <a:rPr spc="-45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7547"/>
            <a:ext cx="10513062" cy="413574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Without </a:t>
            </a:r>
            <a:r>
              <a:rPr sz="2800" spc="-10" dirty="0">
                <a:latin typeface="Calibri"/>
                <a:cs typeface="Calibri"/>
              </a:rPr>
              <a:t>threads, </a:t>
            </a:r>
            <a:r>
              <a:rPr sz="2800" spc="-5" dirty="0">
                <a:latin typeface="Calibri"/>
                <a:cs typeface="Calibri"/>
              </a:rPr>
              <a:t>one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lang="en-US" sz="2800" spc="-10" dirty="0">
                <a:latin typeface="Calibri"/>
                <a:cs typeface="Calibri"/>
              </a:rPr>
              <a:t>cannot </a:t>
            </a:r>
            <a:r>
              <a:rPr sz="2800" spc="-5" dirty="0">
                <a:latin typeface="Calibri"/>
                <a:cs typeface="Calibri"/>
              </a:rPr>
              <a:t>block on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dirty="0">
                <a:latin typeface="Calibri"/>
                <a:cs typeface="Calibri"/>
              </a:rPr>
              <a:t>than 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lang="en-US" sz="2800" spc="-7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800" spc="-7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Inefficiency </a:t>
            </a:r>
            <a:r>
              <a:rPr sz="2800" spc="-5" dirty="0">
                <a:latin typeface="Calibri"/>
                <a:cs typeface="Calibri"/>
              </a:rPr>
              <a:t>ensues if blocking </a:t>
            </a:r>
            <a:r>
              <a:rPr sz="2800" spc="-10" dirty="0">
                <a:latin typeface="Calibri"/>
                <a:cs typeface="Calibri"/>
              </a:rPr>
              <a:t>lasts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seconds</a:t>
            </a:r>
            <a:r>
              <a:rPr lang="en-US" sz="2800" spc="-10" dirty="0">
                <a:latin typeface="Calibri"/>
                <a:cs typeface="Calibri"/>
              </a:rPr>
              <a:t> (insanely long!)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if blocking </a:t>
            </a:r>
            <a:r>
              <a:rPr sz="2800" spc="-25" dirty="0">
                <a:latin typeface="Calibri"/>
                <a:cs typeface="Calibri"/>
              </a:rPr>
              <a:t>takes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indefinite </a:t>
            </a:r>
            <a:r>
              <a:rPr sz="2800" spc="-10" dirty="0">
                <a:latin typeface="Calibri"/>
                <a:cs typeface="Calibri"/>
              </a:rPr>
              <a:t>amount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time?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35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Solutions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How about u</a:t>
            </a:r>
            <a:r>
              <a:rPr sz="2400" spc="-5" dirty="0">
                <a:latin typeface="Calibri"/>
                <a:cs typeface="Calibri"/>
              </a:rPr>
              <a:t>sing nonblocking I/O?</a:t>
            </a:r>
            <a:endParaRPr lang="en-US" sz="24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Still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inefficient</a:t>
            </a:r>
            <a:endParaRPr sz="2400" dirty="0">
              <a:latin typeface="Calibri"/>
              <a:cs typeface="Calibri"/>
            </a:endParaRPr>
          </a:p>
          <a:p>
            <a:pPr marL="1155700" marR="23495" lvl="2" indent="-228600">
              <a:lnSpc>
                <a:spcPts val="192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needs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continuously </a:t>
            </a:r>
            <a:r>
              <a:rPr sz="2000" spc="-10" dirty="0">
                <a:latin typeface="Calibri"/>
                <a:cs typeface="Calibri"/>
              </a:rPr>
              <a:t>re</a:t>
            </a:r>
            <a:r>
              <a:rPr lang="en-US" sz="2000" spc="-10" dirty="0">
                <a:latin typeface="Calibri"/>
                <a:cs typeface="Calibri"/>
              </a:rPr>
              <a:t>-</a:t>
            </a:r>
            <a:r>
              <a:rPr sz="2000" spc="-10" dirty="0">
                <a:latin typeface="Calibri"/>
                <a:cs typeface="Calibri"/>
              </a:rPr>
              <a:t>issue </a:t>
            </a:r>
            <a:r>
              <a:rPr lang="en-US" sz="2000" dirty="0">
                <a:latin typeface="Calibri"/>
                <a:cs typeface="Calibri"/>
              </a:rPr>
              <a:t>the calls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hoping </a:t>
            </a:r>
            <a:r>
              <a:rPr sz="2000" spc="-5" dirty="0">
                <a:latin typeface="Calibri"/>
                <a:cs typeface="Calibri"/>
              </a:rPr>
              <a:t>one of </a:t>
            </a:r>
            <a:r>
              <a:rPr sz="2000" dirty="0">
                <a:latin typeface="Calibri"/>
                <a:cs typeface="Calibri"/>
              </a:rPr>
              <a:t>them </a:t>
            </a:r>
            <a:r>
              <a:rPr sz="2000" spc="-5" dirty="0">
                <a:latin typeface="Calibri"/>
                <a:cs typeface="Calibri"/>
              </a:rPr>
              <a:t>becomes ready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doing </a:t>
            </a:r>
            <a:r>
              <a:rPr sz="2000" spc="-20" dirty="0">
                <a:latin typeface="Calibri"/>
                <a:cs typeface="Calibri"/>
              </a:rPr>
              <a:t>so,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processor</a:t>
            </a:r>
            <a:r>
              <a:rPr lang="en-US" sz="2000" spc="-10" dirty="0">
                <a:latin typeface="Calibri"/>
                <a:cs typeface="Calibri"/>
              </a:rPr>
              <a:t> (CPU)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not </a:t>
            </a:r>
            <a:r>
              <a:rPr sz="2000" spc="-10" dirty="0">
                <a:latin typeface="Calibri"/>
                <a:cs typeface="Calibri"/>
              </a:rPr>
              <a:t>freed to </a:t>
            </a:r>
            <a:r>
              <a:rPr sz="2000" dirty="0">
                <a:latin typeface="Calibri"/>
                <a:cs typeface="Calibri"/>
              </a:rPr>
              <a:t>do </a:t>
            </a:r>
            <a:r>
              <a:rPr sz="2000" spc="-5" dirty="0">
                <a:latin typeface="Calibri"/>
                <a:cs typeface="Calibri"/>
              </a:rPr>
              <a:t>other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55700" marR="5080" lvl="2" indent="-228600">
              <a:lnSpc>
                <a:spcPct val="80000"/>
              </a:lnSpc>
              <a:spcBef>
                <a:spcPts val="49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2000" spc="-20" dirty="0">
                <a:latin typeface="Calibri"/>
                <a:cs typeface="Calibri"/>
              </a:rPr>
              <a:t>It w</a:t>
            </a:r>
            <a:r>
              <a:rPr sz="2000" spc="-20" dirty="0">
                <a:latin typeface="Calibri"/>
                <a:cs typeface="Calibri"/>
              </a:rPr>
              <a:t>ould </a:t>
            </a:r>
            <a:r>
              <a:rPr sz="2000" spc="-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spc="-5" dirty="0">
                <a:latin typeface="Calibri"/>
                <a:cs typeface="Calibri"/>
              </a:rPr>
              <a:t>if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program </a:t>
            </a:r>
            <a:r>
              <a:rPr sz="2000" spc="-5" dirty="0">
                <a:latin typeface="Calibri"/>
                <a:cs typeface="Calibri"/>
              </a:rPr>
              <a:t>can sleep, </a:t>
            </a:r>
            <a:r>
              <a:rPr sz="2000" spc="-10" dirty="0">
                <a:latin typeface="Calibri"/>
                <a:cs typeface="Calibri"/>
              </a:rPr>
              <a:t>freeing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processor, </a:t>
            </a:r>
            <a:r>
              <a:rPr sz="2000" spc="-5" dirty="0">
                <a:latin typeface="Calibri"/>
                <a:cs typeface="Calibri"/>
              </a:rPr>
              <a:t>waking up </a:t>
            </a:r>
            <a:r>
              <a:rPr sz="2000" dirty="0">
                <a:latin typeface="Calibri"/>
                <a:cs typeface="Calibri"/>
              </a:rPr>
              <a:t>when </a:t>
            </a:r>
            <a:r>
              <a:rPr sz="2000" spc="-5" dirty="0">
                <a:latin typeface="Calibri"/>
                <a:cs typeface="Calibri"/>
              </a:rPr>
              <a:t>one of 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lang="en-US" sz="2000" spc="-25" dirty="0">
                <a:latin typeface="Calibri"/>
                <a:cs typeface="Calibri"/>
              </a:rPr>
              <a:t>files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ready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do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I/O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79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</a:t>
            </a:r>
            <a:r>
              <a:rPr lang="en-US" sz="2400" spc="-5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better </a:t>
            </a:r>
            <a:r>
              <a:rPr sz="2400" spc="-5" dirty="0">
                <a:latin typeface="Calibri"/>
                <a:cs typeface="Calibri"/>
              </a:rPr>
              <a:t>solution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lang="en-US" sz="2400" dirty="0">
                <a:latin typeface="Calibri"/>
                <a:cs typeface="Calibri"/>
              </a:rPr>
              <a:t> called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multiplexed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I/O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6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Multiplexed </a:t>
            </a:r>
            <a:r>
              <a:rPr spc="-15" dirty="0"/>
              <a:t>I/O </a:t>
            </a:r>
            <a:r>
              <a:rPr dirty="0"/>
              <a:t>-</a:t>
            </a:r>
            <a:r>
              <a:rPr spc="-240" dirty="0"/>
              <a:t> </a:t>
            </a:r>
            <a:r>
              <a:rPr spc="-4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513061" cy="44055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Allows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application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concurrently </a:t>
            </a:r>
            <a:r>
              <a:rPr sz="2800" spc="-5" dirty="0">
                <a:latin typeface="Calibri"/>
                <a:cs typeface="Calibri"/>
              </a:rPr>
              <a:t>block on multiple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7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70" dirty="0" err="1">
                <a:latin typeface="Calibri"/>
                <a:cs typeface="Calibri"/>
              </a:rPr>
              <a:t>s</a:t>
            </a:r>
            <a:r>
              <a:rPr lang="en-US" sz="2800" spc="-7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7404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Receives </a:t>
            </a:r>
            <a:r>
              <a:rPr lang="en-US" sz="2800" spc="-1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notification </a:t>
            </a:r>
            <a:r>
              <a:rPr sz="2800" spc="-5" dirty="0">
                <a:latin typeface="Calibri"/>
                <a:cs typeface="Calibri"/>
              </a:rPr>
              <a:t>when </a:t>
            </a:r>
            <a:r>
              <a:rPr lang="en-US" sz="2800" spc="-20" dirty="0">
                <a:latin typeface="Calibri"/>
                <a:cs typeface="Calibri"/>
              </a:rPr>
              <a:t>at least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 </a:t>
            </a:r>
            <a:r>
              <a:rPr sz="2800" spc="-5" dirty="0">
                <a:latin typeface="Calibri"/>
                <a:cs typeface="Calibri"/>
              </a:rPr>
              <a:t>of them </a:t>
            </a:r>
            <a:r>
              <a:rPr sz="2800" spc="-10" dirty="0">
                <a:latin typeface="Calibri"/>
                <a:cs typeface="Calibri"/>
              </a:rPr>
              <a:t>becomes ready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read/write </a:t>
            </a:r>
            <a:r>
              <a:rPr sz="2800" spc="-5" dirty="0">
                <a:latin typeface="Calibri"/>
                <a:cs typeface="Calibri"/>
              </a:rPr>
              <a:t>without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blocking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Works </a:t>
            </a:r>
            <a:r>
              <a:rPr lang="en-US" sz="2800" spc="-10" dirty="0">
                <a:latin typeface="Calibri"/>
                <a:cs typeface="Calibri"/>
              </a:rPr>
              <a:t>as 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loop</a:t>
            </a:r>
            <a:r>
              <a:rPr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927100" lvl="1" indent="-457834">
              <a:lnSpc>
                <a:spcPts val="28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spc="-60" dirty="0">
                <a:latin typeface="Calibri"/>
                <a:cs typeface="Calibri"/>
              </a:rPr>
              <a:t>Tell </a:t>
            </a:r>
            <a:r>
              <a:rPr sz="2400" dirty="0">
                <a:latin typeface="Calibri"/>
                <a:cs typeface="Calibri"/>
              </a:rPr>
              <a:t>me when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55" dirty="0" err="1">
                <a:latin typeface="Calibri"/>
                <a:cs typeface="Calibri"/>
              </a:rPr>
              <a:t>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become ready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I/O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27100" lvl="1" indent="-457834">
              <a:lnSpc>
                <a:spcPts val="28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alibri"/>
                <a:cs typeface="Calibri"/>
              </a:rPr>
              <a:t>none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35" dirty="0">
                <a:latin typeface="Calibri"/>
                <a:cs typeface="Calibri"/>
              </a:rPr>
              <a:t>ready,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sleep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27100" lvl="1" indent="-457834">
              <a:lnSpc>
                <a:spcPts val="2805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spc="-40" dirty="0">
                <a:latin typeface="Calibri"/>
                <a:cs typeface="Calibri"/>
              </a:rPr>
              <a:t>Woken </a:t>
            </a:r>
            <a:r>
              <a:rPr sz="2400" spc="-5" dirty="0">
                <a:latin typeface="Calibri"/>
                <a:cs typeface="Calibri"/>
              </a:rPr>
              <a:t>up! </a:t>
            </a:r>
            <a:r>
              <a:rPr sz="2400" spc="-10" dirty="0">
                <a:latin typeface="Calibri"/>
                <a:cs typeface="Calibri"/>
              </a:rPr>
              <a:t>Wh</a:t>
            </a:r>
            <a:r>
              <a:rPr lang="en-US" sz="2400" spc="-10" dirty="0">
                <a:latin typeface="Calibri"/>
                <a:cs typeface="Calibri"/>
              </a:rPr>
              <a:t>ich one/ones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ready?</a:t>
            </a:r>
            <a:endParaRPr sz="2400" dirty="0">
              <a:latin typeface="Calibri"/>
              <a:cs typeface="Calibri"/>
            </a:endParaRPr>
          </a:p>
          <a:p>
            <a:pPr marL="927100" lvl="1" indent="-457834">
              <a:lnSpc>
                <a:spcPts val="2805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spc="-5" dirty="0">
                <a:latin typeface="Calibri"/>
                <a:cs typeface="Calibri"/>
              </a:rPr>
              <a:t>Handle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lang="en-US" sz="24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400" spc="-55" dirty="0" err="1">
                <a:latin typeface="Calibri"/>
                <a:cs typeface="Calibri"/>
              </a:rPr>
              <a:t>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ready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I/O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blocking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27100" lvl="1" indent="-457834">
              <a:lnSpc>
                <a:spcPts val="2845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400" dirty="0">
                <a:latin typeface="Calibri"/>
                <a:cs typeface="Calibri"/>
              </a:rPr>
              <a:t>Go </a:t>
            </a:r>
            <a:r>
              <a:rPr sz="2400" spc="-5" dirty="0">
                <a:latin typeface="Calibri"/>
                <a:cs typeface="Calibri"/>
              </a:rPr>
              <a:t>back </a:t>
            </a:r>
            <a:r>
              <a:rPr sz="2400" spc="-10" dirty="0">
                <a:latin typeface="Calibri"/>
                <a:cs typeface="Calibri"/>
              </a:rPr>
              <a:t>go </a:t>
            </a:r>
            <a:r>
              <a:rPr sz="2400" spc="-15" dirty="0">
                <a:latin typeface="Calibri"/>
                <a:cs typeface="Calibri"/>
              </a:rPr>
              <a:t>step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Main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5" dirty="0">
                <a:latin typeface="Calibri"/>
                <a:cs typeface="Calibri"/>
              </a:rPr>
              <a:t>calls: </a:t>
            </a:r>
            <a:r>
              <a:rPr sz="2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poll</a:t>
            </a:r>
            <a:r>
              <a:rPr lang="en-US" sz="28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(covered here)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epoll</a:t>
            </a:r>
            <a:r>
              <a:rPr lang="en-US"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(covered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Ch</a:t>
            </a:r>
            <a:r>
              <a:rPr lang="en-US" sz="2800" spc="-10" dirty="0">
                <a:latin typeface="Calibri"/>
                <a:cs typeface="Calibri"/>
              </a:rPr>
              <a:t>apter </a:t>
            </a:r>
            <a:r>
              <a:rPr sz="2800" spc="-10" dirty="0">
                <a:latin typeface="Calibri"/>
                <a:cs typeface="Calibri"/>
              </a:rPr>
              <a:t>4</a:t>
            </a:r>
            <a:r>
              <a:rPr lang="en-US" sz="2800" spc="-10" dirty="0">
                <a:latin typeface="Calibri"/>
                <a:cs typeface="Calibri"/>
              </a:rPr>
              <a:t>, but not in our course’s scope.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7406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510" y="1729745"/>
            <a:ext cx="9835490" cy="1304202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Provides </a:t>
            </a:r>
            <a:r>
              <a:rPr sz="2200" spc="-5" dirty="0">
                <a:latin typeface="Calibri"/>
                <a:cs typeface="Calibri"/>
              </a:rPr>
              <a:t>a mechanism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implementing synchronous multiplexing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I/O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blocks until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given </a:t>
            </a:r>
            <a:r>
              <a:rPr sz="22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55" dirty="0" err="1">
                <a:latin typeface="Calibri"/>
                <a:cs typeface="Calibri"/>
              </a:rPr>
              <a:t>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ready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perform I/O or </a:t>
            </a:r>
            <a:r>
              <a:rPr lang="en-US" sz="2200" spc="-15" dirty="0">
                <a:latin typeface="Calibri"/>
                <a:cs typeface="Calibri"/>
              </a:rPr>
              <a:t>until the </a:t>
            </a:r>
            <a:r>
              <a:rPr sz="2200" spc="-15" dirty="0">
                <a:latin typeface="Calibri"/>
                <a:cs typeface="Calibri"/>
              </a:rPr>
              <a:t>timeout</a:t>
            </a:r>
            <a:r>
              <a:rPr lang="en-US" sz="2200" spc="-15" dirty="0">
                <a:latin typeface="Calibri"/>
                <a:cs typeface="Calibri"/>
              </a:rPr>
              <a:t> is reached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latin typeface="Calibri"/>
                <a:cs typeface="Calibri"/>
              </a:rPr>
              <a:t>Watched </a:t>
            </a:r>
            <a:r>
              <a:rPr sz="22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55" dirty="0" err="1">
                <a:latin typeface="Calibri"/>
                <a:cs typeface="Calibri"/>
              </a:rPr>
              <a:t>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25" dirty="0">
                <a:latin typeface="Calibri"/>
                <a:cs typeface="Calibri"/>
              </a:rPr>
              <a:t>broken </a:t>
            </a:r>
            <a:r>
              <a:rPr sz="2200" spc="-15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3 </a:t>
            </a:r>
            <a:r>
              <a:rPr sz="2200" spc="-10" dirty="0">
                <a:latin typeface="Calibri"/>
                <a:cs typeface="Calibri"/>
              </a:rPr>
              <a:t>sets </a:t>
            </a:r>
            <a:r>
              <a:rPr sz="2200" spc="-15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readfds</a:t>
            </a:r>
            <a:r>
              <a:rPr sz="2200" spc="-10" dirty="0">
                <a:latin typeface="Calibri"/>
                <a:cs typeface="Calibri"/>
              </a:rPr>
              <a:t>, </a:t>
            </a:r>
            <a:r>
              <a:rPr sz="2200" dirty="0" err="1">
                <a:solidFill>
                  <a:srgbClr val="0070C0"/>
                </a:solidFill>
                <a:latin typeface="Consolas"/>
              </a:rPr>
              <a:t>writefds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 err="1">
                <a:solidFill>
                  <a:srgbClr val="0070C0"/>
                </a:solidFill>
                <a:latin typeface="Consolas"/>
              </a:rPr>
              <a:t>exceptfds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r>
              <a:rPr sz="2200" spc="-2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&lt;sys/select.h&gt;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9685" y="3016122"/>
            <a:ext cx="3499485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select (</a:t>
            </a:r>
            <a:r>
              <a:rPr sz="12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n,</a:t>
            </a:r>
            <a:endParaRPr lang="en-US" sz="1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0070C0"/>
                </a:solidFill>
                <a:latin typeface="Consolas"/>
                <a:cs typeface="Consolas"/>
              </a:rPr>
              <a:t>            </a:t>
            </a:r>
            <a:r>
              <a:rPr sz="1200" dirty="0" err="1">
                <a:solidFill>
                  <a:srgbClr val="0070C0"/>
                </a:solidFill>
                <a:latin typeface="Consolas"/>
                <a:cs typeface="Consolas"/>
              </a:rPr>
              <a:t>fd_set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 *</a:t>
            </a:r>
            <a:r>
              <a:rPr sz="1200" dirty="0" err="1">
                <a:solidFill>
                  <a:srgbClr val="0070C0"/>
                </a:solidFill>
                <a:latin typeface="Consolas"/>
                <a:cs typeface="Consolas"/>
              </a:rPr>
              <a:t>readfds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,</a:t>
            </a:r>
            <a:endParaRPr lang="en-US" sz="1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           </a:t>
            </a:r>
            <a:r>
              <a:rPr sz="1200" spc="-5" dirty="0" err="1">
                <a:solidFill>
                  <a:srgbClr val="0070C0"/>
                </a:solidFill>
                <a:latin typeface="Consolas"/>
                <a:cs typeface="Consolas"/>
              </a:rPr>
              <a:t>fd_set</a:t>
            </a:r>
            <a:r>
              <a:rPr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200" dirty="0" err="1">
                <a:solidFill>
                  <a:srgbClr val="0070C0"/>
                </a:solidFill>
                <a:latin typeface="Consolas"/>
                <a:cs typeface="Consolas"/>
              </a:rPr>
              <a:t>writefds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endParaRPr lang="en-US" sz="1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0070C0"/>
                </a:solidFill>
                <a:latin typeface="Consolas"/>
                <a:cs typeface="Consolas"/>
              </a:rPr>
              <a:t>            </a:t>
            </a:r>
            <a:r>
              <a:rPr sz="1200" dirty="0" err="1">
                <a:solidFill>
                  <a:srgbClr val="0070C0"/>
                </a:solidFill>
                <a:latin typeface="Consolas"/>
                <a:cs typeface="Consolas"/>
              </a:rPr>
              <a:t>fd_set</a:t>
            </a:r>
            <a:r>
              <a:rPr sz="1200" spc="-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1200" dirty="0" err="1">
                <a:solidFill>
                  <a:srgbClr val="0070C0"/>
                </a:solidFill>
                <a:latin typeface="Consolas"/>
                <a:cs typeface="Consolas"/>
              </a:rPr>
              <a:t>exceptfds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,</a:t>
            </a:r>
            <a:endParaRPr lang="en-US" sz="12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0070C0"/>
                </a:solidFill>
                <a:latin typeface="Consolas"/>
                <a:cs typeface="Consolas"/>
              </a:rPr>
              <a:t>            </a:t>
            </a:r>
            <a:r>
              <a:rPr sz="12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timeval</a:t>
            </a:r>
            <a:r>
              <a:rPr sz="1200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*timeout);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04865" y="3016122"/>
            <a:ext cx="4820285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onsolas"/>
                <a:cs typeface="Consolas"/>
              </a:rPr>
              <a:t>// = 1 + highest-valued </a:t>
            </a:r>
            <a:r>
              <a:rPr sz="1200" i="1" spc="5" dirty="0">
                <a:latin typeface="Consolas"/>
                <a:cs typeface="Consolas"/>
              </a:rPr>
              <a:t>fd </a:t>
            </a:r>
            <a:r>
              <a:rPr sz="1200" i="1" dirty="0">
                <a:latin typeface="Consolas"/>
                <a:cs typeface="Consolas"/>
              </a:rPr>
              <a:t>in any set, caller</a:t>
            </a:r>
            <a:r>
              <a:rPr sz="1200" i="1" spc="10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determined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i="1" dirty="0">
                <a:latin typeface="Consolas"/>
                <a:cs typeface="Consolas"/>
              </a:rPr>
              <a:t>// fd’s with data available for reading, NULL=not</a:t>
            </a:r>
            <a:r>
              <a:rPr sz="1200" i="1" spc="20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watched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i="1" dirty="0">
                <a:latin typeface="Consolas"/>
                <a:cs typeface="Consolas"/>
              </a:rPr>
              <a:t>// writing can proceed without</a:t>
            </a:r>
            <a:r>
              <a:rPr sz="1200" i="1" spc="-15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blocking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dirty="0">
                <a:latin typeface="Consolas"/>
                <a:cs typeface="Consolas"/>
              </a:rPr>
              <a:t>// exception has occurred or out-of-band data</a:t>
            </a:r>
            <a:r>
              <a:rPr sz="1200" i="1" spc="35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available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i="1" dirty="0">
                <a:latin typeface="Consolas"/>
                <a:cs typeface="Consolas"/>
              </a:rPr>
              <a:t>// points to a timeval structure (in sec and</a:t>
            </a:r>
            <a:r>
              <a:rPr sz="1200" i="1" spc="25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micro-sec)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89685" y="4165472"/>
            <a:ext cx="2548255" cy="78359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30"/>
              </a:spcBef>
            </a:pP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FD_CLR(</a:t>
            </a:r>
            <a:r>
              <a:rPr sz="12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fd, fd_set *set);  FD_ISSET(</a:t>
            </a:r>
            <a:r>
              <a:rPr sz="12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fd, fd_set</a:t>
            </a:r>
            <a:r>
              <a:rPr sz="12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*set);  </a:t>
            </a:r>
            <a:r>
              <a:rPr sz="1200" spc="-5" dirty="0">
                <a:solidFill>
                  <a:srgbClr val="0070C0"/>
                </a:solidFill>
                <a:latin typeface="Consolas"/>
                <a:cs typeface="Consolas"/>
              </a:rPr>
              <a:t>FD_SET(</a:t>
            </a:r>
            <a:r>
              <a:rPr sz="12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fd, fd_set *set);  FD_ZERO(fd_set</a:t>
            </a:r>
            <a:r>
              <a:rPr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70C0"/>
                </a:solidFill>
                <a:latin typeface="Consolas"/>
                <a:cs typeface="Consolas"/>
              </a:rPr>
              <a:t>*set);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90464" y="4165472"/>
            <a:ext cx="6558535" cy="7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onsolas"/>
                <a:cs typeface="Consolas"/>
              </a:rPr>
              <a:t>// removes a fd from a given set – rarely</a:t>
            </a:r>
            <a:r>
              <a:rPr sz="1200" i="1" spc="-5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used</a:t>
            </a:r>
            <a:r>
              <a:rPr lang="en-US" sz="1200" i="1" dirty="0">
                <a:latin typeface="Consolas"/>
                <a:cs typeface="Consolas"/>
              </a:rPr>
              <a:t>.</a:t>
            </a:r>
            <a:endParaRPr sz="1200" i="1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i="1" dirty="0">
                <a:latin typeface="Consolas"/>
                <a:cs typeface="Consolas"/>
              </a:rPr>
              <a:t>// tests whether a fd is a part of a given set: returns nonzero int if</a:t>
            </a:r>
            <a:r>
              <a:rPr sz="1200" i="1" spc="70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true</a:t>
            </a:r>
            <a:r>
              <a:rPr lang="en-US" sz="1200" i="1" dirty="0">
                <a:latin typeface="Consolas"/>
                <a:cs typeface="Consolas"/>
              </a:rPr>
              <a:t>.</a:t>
            </a:r>
            <a:endParaRPr sz="1200" i="1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i="1" dirty="0">
                <a:latin typeface="Consolas"/>
                <a:cs typeface="Consolas"/>
              </a:rPr>
              <a:t>// adds a </a:t>
            </a:r>
            <a:r>
              <a:rPr sz="1200" i="1" spc="-5" dirty="0">
                <a:latin typeface="Consolas"/>
                <a:cs typeface="Consolas"/>
              </a:rPr>
              <a:t>fd </a:t>
            </a:r>
            <a:r>
              <a:rPr sz="1200" i="1" dirty="0">
                <a:latin typeface="Consolas"/>
                <a:cs typeface="Consolas"/>
              </a:rPr>
              <a:t>to a given</a:t>
            </a:r>
            <a:r>
              <a:rPr sz="1200" i="1" spc="15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set</a:t>
            </a:r>
            <a:r>
              <a:rPr lang="en-US" sz="1200" i="1" dirty="0">
                <a:latin typeface="Consolas"/>
                <a:cs typeface="Consolas"/>
              </a:rPr>
              <a:t>.</a:t>
            </a:r>
            <a:endParaRPr sz="1200" i="1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dirty="0">
                <a:latin typeface="Consolas"/>
                <a:cs typeface="Consolas"/>
              </a:rPr>
              <a:t>// remove all fd’s from a set, called before invocation of</a:t>
            </a:r>
            <a:r>
              <a:rPr sz="1200" i="1" spc="40" dirty="0">
                <a:latin typeface="Consolas"/>
                <a:cs typeface="Consolas"/>
              </a:rPr>
              <a:t> </a:t>
            </a:r>
            <a:r>
              <a:rPr sz="1200" i="1" dirty="0">
                <a:latin typeface="Consolas"/>
                <a:cs typeface="Consolas"/>
              </a:rPr>
              <a:t>select()</a:t>
            </a:r>
            <a:r>
              <a:rPr lang="en-US" sz="1200" i="1" dirty="0">
                <a:latin typeface="Consolas"/>
                <a:cs typeface="Consolas"/>
              </a:rPr>
              <a:t>.</a:t>
            </a:r>
            <a:endParaRPr sz="1200" i="1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2510" y="4949190"/>
            <a:ext cx="10289540" cy="11912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On success,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200" spc="-10" dirty="0">
                <a:latin typeface="+mj-lt"/>
                <a:cs typeface="Courier New" panose="02070309020205020404" pitchFamily="49" charset="0"/>
              </a:rPr>
              <a:t> </a:t>
            </a:r>
            <a:r>
              <a:rPr sz="2200" spc="-10" dirty="0">
                <a:latin typeface="Calibri"/>
                <a:cs typeface="Calibri"/>
              </a:rPr>
              <a:t>returns the </a:t>
            </a:r>
            <a:r>
              <a:rPr sz="2200" spc="-5" dirty="0">
                <a:latin typeface="Calibri"/>
                <a:cs typeface="Calibri"/>
              </a:rPr>
              <a:t># of </a:t>
            </a:r>
            <a:r>
              <a:rPr lang="en-US" sz="22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200" spc="-55" dirty="0" err="1">
                <a:latin typeface="Calibri"/>
                <a:cs typeface="Calibri"/>
              </a:rPr>
              <a:t>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ready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5" dirty="0">
                <a:latin typeface="Calibri"/>
                <a:cs typeface="Calibri"/>
              </a:rPr>
              <a:t>I/O, </a:t>
            </a:r>
            <a:r>
              <a:rPr sz="2200" spc="-5" dirty="0">
                <a:latin typeface="Calibri"/>
                <a:cs typeface="Calibri"/>
              </a:rPr>
              <a:t>and each </a:t>
            </a: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spc="-5" dirty="0">
                <a:latin typeface="Calibri"/>
                <a:cs typeface="Calibri"/>
              </a:rPr>
              <a:t>is modified and  </a:t>
            </a:r>
            <a:r>
              <a:rPr sz="2200" spc="-15" dirty="0">
                <a:latin typeface="Calibri"/>
                <a:cs typeface="Calibri"/>
              </a:rPr>
              <a:t>contains </a:t>
            </a:r>
            <a:r>
              <a:rPr sz="2200" spc="-55" dirty="0">
                <a:latin typeface="Calibri"/>
                <a:cs typeface="Calibri"/>
              </a:rPr>
              <a:t>ONLY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ready </a:t>
            </a:r>
            <a:r>
              <a:rPr lang="en-US" sz="22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2200" spc="-55" dirty="0" err="1">
                <a:latin typeface="Calibri"/>
                <a:cs typeface="Calibri"/>
              </a:rPr>
              <a:t>s</a:t>
            </a:r>
            <a:r>
              <a:rPr lang="en-US" sz="2200" spc="-45" dirty="0">
                <a:latin typeface="Calibri"/>
                <a:cs typeface="Calibri"/>
              </a:rPr>
              <a:t>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n </a:t>
            </a:r>
            <a:r>
              <a:rPr sz="2200" spc="-10" dirty="0">
                <a:latin typeface="Calibri"/>
                <a:cs typeface="Calibri"/>
              </a:rPr>
              <a:t>Linux, the </a:t>
            </a:r>
            <a:r>
              <a:rPr sz="2200" spc="-5" dirty="0">
                <a:latin typeface="Calibri"/>
                <a:cs typeface="Calibri"/>
              </a:rPr>
              <a:t>timeout </a:t>
            </a:r>
            <a:r>
              <a:rPr lang="en-US" sz="2200" spc="-5" dirty="0">
                <a:latin typeface="Calibri"/>
                <a:cs typeface="Calibri"/>
              </a:rPr>
              <a:t>structure </a:t>
            </a:r>
            <a:r>
              <a:rPr sz="2200" spc="-5" dirty="0">
                <a:latin typeface="Calibri"/>
                <a:cs typeface="Calibri"/>
              </a:rPr>
              <a:t>will be </a:t>
            </a:r>
            <a:r>
              <a:rPr lang="en-US" sz="2200" spc="-15" dirty="0">
                <a:latin typeface="Calibri"/>
                <a:cs typeface="Calibri"/>
              </a:rPr>
              <a:t>updated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 </a:t>
            </a:r>
            <a:r>
              <a:rPr sz="2200" spc="-15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contains </a:t>
            </a:r>
            <a:r>
              <a:rPr sz="2200" spc="-5" dirty="0">
                <a:latin typeface="Calibri"/>
                <a:cs typeface="Calibri"/>
              </a:rPr>
              <a:t>the remaining time. 0 will be </a:t>
            </a:r>
            <a:r>
              <a:rPr sz="2200" spc="-10" dirty="0">
                <a:latin typeface="Calibri"/>
                <a:cs typeface="Calibri"/>
              </a:rPr>
              <a:t>returned </a:t>
            </a:r>
            <a:r>
              <a:rPr sz="2200" spc="-5" dirty="0">
                <a:latin typeface="Calibri"/>
                <a:cs typeface="Calibri"/>
              </a:rPr>
              <a:t>if timeout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occurred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All </a:t>
            </a:r>
            <a:r>
              <a:rPr sz="2200" spc="-10" dirty="0">
                <a:latin typeface="Calibri"/>
                <a:cs typeface="Calibri"/>
              </a:rPr>
              <a:t>sets are manipulated using macros: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FD_CLR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FD_ISSET</a:t>
            </a:r>
            <a:r>
              <a:rPr sz="2200" spc="-35" dirty="0">
                <a:latin typeface="Calibri"/>
                <a:cs typeface="Calibri"/>
              </a:rPr>
              <a:t>,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</a:t>
            </a:r>
            <a:r>
              <a:rPr lang="en-US" sz="2200" spc="-20" dirty="0">
                <a:latin typeface="Calibri"/>
                <a:cs typeface="Calibri"/>
              </a:rPr>
              <a:t>., as shown above.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3519" y="1811782"/>
            <a:ext cx="4204474" cy="448776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29845" indent="-228600">
              <a:lnSpc>
                <a:spcPts val="2160"/>
              </a:lnSpc>
              <a:spcBef>
                <a:spcPts val="3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Blocks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input </a:t>
            </a:r>
            <a:r>
              <a:rPr lang="en-US" sz="2000" spc="-5" dirty="0">
                <a:latin typeface="Calibri"/>
                <a:cs typeface="Calibri"/>
              </a:rPr>
              <a:t>from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stdin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US" sz="2000" spc="-15" dirty="0">
                <a:latin typeface="Calibri"/>
                <a:cs typeface="Calibri"/>
              </a:rPr>
              <a:t>(keyboard)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up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935990" indent="-228600">
              <a:lnSpc>
                <a:spcPts val="216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Only </a:t>
            </a:r>
            <a:r>
              <a:rPr lang="en-US"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single </a:t>
            </a:r>
            <a:r>
              <a:rPr sz="2000" spc="-25" dirty="0">
                <a:latin typeface="Calibri"/>
                <a:cs typeface="Calibri"/>
              </a:rPr>
              <a:t>fd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spc="-5" dirty="0">
                <a:latin typeface="Calibri"/>
                <a:cs typeface="Calibri"/>
              </a:rPr>
              <a:t>used</a:t>
            </a:r>
            <a:r>
              <a:rPr lang="en-US" sz="2000" spc="-5" dirty="0">
                <a:latin typeface="Calibri"/>
                <a:cs typeface="Calibri"/>
              </a:rPr>
              <a:t> here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 illustrative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purpose</a:t>
            </a:r>
            <a:r>
              <a:rPr lang="en-US" sz="2000" dirty="0">
                <a:latin typeface="Calibri"/>
                <a:cs typeface="Calibri"/>
              </a:rPr>
              <a:t>s.</a:t>
            </a:r>
            <a:endParaRPr sz="2000" dirty="0">
              <a:latin typeface="Calibri"/>
              <a:cs typeface="Calibri"/>
            </a:endParaRPr>
          </a:p>
          <a:p>
            <a:pPr marL="241300" marR="178435" indent="-228600">
              <a:lnSpc>
                <a:spcPts val="216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There </a:t>
            </a:r>
            <a:r>
              <a:rPr sz="2000" spc="-5" dirty="0">
                <a:latin typeface="Calibri"/>
                <a:cs typeface="Calibri"/>
              </a:rPr>
              <a:t>is also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pselect() </a:t>
            </a:r>
            <a:r>
              <a:rPr sz="2000" spc="-5" dirty="0">
                <a:latin typeface="Calibri"/>
                <a:cs typeface="Calibri"/>
              </a:rPr>
              <a:t>defined </a:t>
            </a:r>
            <a:r>
              <a:rPr sz="2000" dirty="0">
                <a:latin typeface="Calibri"/>
                <a:cs typeface="Calibri"/>
              </a:rPr>
              <a:t>in POSIX which is </a:t>
            </a:r>
            <a:r>
              <a:rPr sz="2000" spc="-10" dirty="0">
                <a:latin typeface="Calibri"/>
                <a:cs typeface="Calibri"/>
              </a:rPr>
              <a:t>very </a:t>
            </a:r>
            <a:r>
              <a:rPr sz="2000" spc="-5" dirty="0">
                <a:latin typeface="Calibri"/>
                <a:cs typeface="Calibri"/>
              </a:rPr>
              <a:t>similar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except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</a:t>
            </a:r>
            <a:endParaRPr sz="2000" dirty="0">
              <a:latin typeface="Calibri"/>
              <a:cs typeface="Calibri"/>
            </a:endParaRPr>
          </a:p>
          <a:p>
            <a:pPr marL="698500" marR="649605" lvl="1" indent="-229235">
              <a:lnSpc>
                <a:spcPts val="1730"/>
              </a:lnSpc>
              <a:spcBef>
                <a:spcPts val="51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600" spc="-5" dirty="0">
                <a:latin typeface="Calibri"/>
                <a:cs typeface="Calibri"/>
              </a:rPr>
              <a:t>Using a </a:t>
            </a:r>
            <a:r>
              <a:rPr sz="14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timespec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structure that  employs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nanoseconds</a:t>
            </a:r>
            <a:r>
              <a:rPr lang="en-US"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85"/>
              </a:spcBef>
              <a:buClr>
                <a:schemeClr val="tx1"/>
              </a:buClr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timeout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parameter </a:t>
            </a:r>
            <a:r>
              <a:rPr sz="1600" spc="-5" dirty="0">
                <a:latin typeface="Calibri"/>
                <a:cs typeface="Calibri"/>
              </a:rPr>
              <a:t>is not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changed</a:t>
            </a:r>
            <a:r>
              <a:rPr lang="en-US" sz="1600" spc="-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698500" marR="5080" lvl="1" indent="-229235" algn="just">
              <a:lnSpc>
                <a:spcPts val="1730"/>
              </a:lnSpc>
              <a:spcBef>
                <a:spcPts val="530"/>
              </a:spcBef>
              <a:buFont typeface="Arial"/>
              <a:buChar char="•"/>
              <a:tabLst>
                <a:tab pos="699135" algn="l"/>
              </a:tabLst>
            </a:pPr>
            <a:r>
              <a:rPr sz="1600" dirty="0">
                <a:latin typeface="Calibri"/>
                <a:cs typeface="Calibri"/>
              </a:rPr>
              <a:t>Has a sigmask parameter which tries to  solve a race condition between waiting  on 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1600" dirty="0">
                <a:latin typeface="Calibri"/>
                <a:cs typeface="Calibri"/>
              </a:rPr>
              <a:t> and signals</a:t>
            </a:r>
            <a:r>
              <a:rPr lang="en-US" sz="160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better alternative</a:t>
            </a:r>
            <a:r>
              <a:rPr lang="en-US" sz="2000" spc="-10" dirty="0">
                <a:latin typeface="Calibri"/>
                <a:cs typeface="Calibri"/>
              </a:rPr>
              <a:t> to 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007" y="30753"/>
            <a:ext cx="3636558" cy="6750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97673" y="237544"/>
            <a:ext cx="3607511" cy="2761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9192" y="253111"/>
            <a:ext cx="2751962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select()  </a:t>
            </a:r>
            <a:r>
              <a:rPr spc="-90" dirty="0"/>
              <a:t>e</a:t>
            </a:r>
            <a:r>
              <a:rPr spc="-105" dirty="0"/>
              <a:t>x</a:t>
            </a:r>
            <a:r>
              <a:rPr spc="-35" dirty="0"/>
              <a:t>a</a:t>
            </a:r>
            <a:r>
              <a:rPr spc="-65" dirty="0"/>
              <a:t>m</a:t>
            </a:r>
            <a:r>
              <a:rPr spc="-60" dirty="0"/>
              <a:t>p</a:t>
            </a:r>
            <a:r>
              <a:rPr spc="-30" dirty="0"/>
              <a:t>l</a:t>
            </a:r>
            <a:r>
              <a:rPr dirty="0"/>
              <a:t>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2131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95081"/>
              </p:ext>
            </p:extLst>
          </p:nvPr>
        </p:nvGraphicFramePr>
        <p:xfrm>
          <a:off x="1812544" y="3922393"/>
          <a:ext cx="6054725" cy="682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931">
                <a:tc>
                  <a:txBody>
                    <a:bodyPr/>
                    <a:lstStyle/>
                    <a:p>
                      <a:pPr marL="31750">
                        <a:lnSpc>
                          <a:spcPts val="1415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415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15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125">
                <a:tc>
                  <a:txBody>
                    <a:bodyPr/>
                    <a:lstStyle/>
                    <a:p>
                      <a:pPr marL="31750">
                        <a:lnSpc>
                          <a:spcPts val="1630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630"/>
                        </a:lnSpc>
                      </a:pPr>
                      <a:endParaRPr sz="15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630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694">
                <a:tc>
                  <a:txBody>
                    <a:bodyPr/>
                    <a:lstStyle/>
                    <a:p>
                      <a:pPr marL="31750">
                        <a:lnSpc>
                          <a:spcPts val="1620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620"/>
                        </a:lnSpc>
                      </a:pPr>
                      <a:endParaRPr sz="15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620"/>
                        </a:lnSpc>
                      </a:pPr>
                      <a:endParaRPr sz="15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8" y="1371600"/>
            <a:ext cx="10132062" cy="446827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Solves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deficiencies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80"/>
              </a:spcBef>
            </a:pP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5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&lt;poll.h&gt;</a:t>
            </a:r>
            <a:endParaRPr sz="15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poll (</a:t>
            </a:r>
            <a:r>
              <a:rPr sz="15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pollfd *fds, nfds_t nfds, </a:t>
            </a:r>
            <a:r>
              <a:rPr sz="15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15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timeout);</a:t>
            </a:r>
            <a:endParaRPr sz="15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93345" indent="-228600">
              <a:lnSpc>
                <a:spcPct val="8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Where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sz="2400" spc="-5" dirty="0">
                <a:latin typeface="Calibri"/>
                <a:cs typeface="Calibri"/>
              </a:rPr>
              <a:t>uses </a:t>
            </a:r>
            <a:r>
              <a:rPr sz="2400" spc="-10" dirty="0">
                <a:latin typeface="Calibri"/>
                <a:cs typeface="Calibri"/>
              </a:rPr>
              <a:t>inefficient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10" dirty="0">
                <a:latin typeface="Calibri"/>
                <a:cs typeface="Calibri"/>
              </a:rPr>
              <a:t>bitmask-based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4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45" dirty="0" err="1">
                <a:latin typeface="Calibri"/>
                <a:cs typeface="Calibri"/>
              </a:rPr>
              <a:t>s</a:t>
            </a:r>
            <a:r>
              <a:rPr sz="2400" spc="-45" dirty="0">
                <a:latin typeface="Calibri"/>
                <a:cs typeface="Calibri"/>
              </a:rPr>
              <a:t>,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z="2400" spc="-5" dirty="0">
                <a:latin typeface="Calibri"/>
                <a:cs typeface="Calibri"/>
              </a:rPr>
              <a:t> uses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20" dirty="0">
                <a:latin typeface="Calibri"/>
                <a:cs typeface="Calibri"/>
              </a:rPr>
              <a:t>array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pollfd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20" dirty="0">
                <a:latin typeface="Calibri"/>
                <a:cs typeface="Calibri"/>
              </a:rPr>
              <a:t>size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0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nfds</a:t>
            </a:r>
            <a:r>
              <a:rPr lang="en-US" sz="2000" spc="-10" dirty="0">
                <a:latin typeface="+mj-lt"/>
                <a:cs typeface="Calibri"/>
              </a:rPr>
              <a:t>:</a:t>
            </a:r>
            <a:endParaRPr sz="2000" spc="-10" dirty="0">
              <a:latin typeface="+mj-lt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sz="15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5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500" spc="-5" dirty="0">
                <a:solidFill>
                  <a:srgbClr val="0070C0"/>
                </a:solidFill>
                <a:latin typeface="Consolas"/>
                <a:cs typeface="Consolas"/>
              </a:rPr>
              <a:t>&lt;poll.h&gt;</a:t>
            </a:r>
            <a:endParaRPr sz="15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5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1500" spc="-5" dirty="0" err="1">
                <a:solidFill>
                  <a:srgbClr val="0070C0"/>
                </a:solidFill>
                <a:latin typeface="Consolas"/>
                <a:cs typeface="Consolas"/>
              </a:rPr>
              <a:t>pollfd</a:t>
            </a:r>
            <a:r>
              <a:rPr sz="15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lang="en-US" sz="15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7432" algn="l" fontAlgn="t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 u="none" strike="noStrike" dirty="0">
                <a:solidFill>
                  <a:srgbClr val="00AFE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500" b="1" i="0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0" u="none" strike="noStrike" spc="-5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500" b="0" i="0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       /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1500" b="0" i="1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 descriptor</a:t>
            </a:r>
            <a:r>
              <a:rPr lang="en-US" sz="1500" b="0" i="1" u="none" strike="noStrike" spc="-1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*/</a:t>
            </a:r>
            <a:endParaRPr lang="en-US" sz="1800" b="0" i="0" u="none" strike="noStrike" dirty="0"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27432" algn="l" fontAlgn="t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short</a:t>
            </a:r>
            <a:r>
              <a:rPr lang="en-US" sz="1500" b="1" i="0" u="none" strike="noStrike" spc="-1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0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events;  /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1500" b="0" i="1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requested events 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 </a:t>
            </a:r>
            <a:r>
              <a:rPr lang="en-US" sz="1500" b="0" i="1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watch</a:t>
            </a:r>
            <a:r>
              <a:rPr lang="en-US" sz="1500" b="0" i="1" u="none" strike="noStrike" spc="-7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*/</a:t>
            </a:r>
            <a:endParaRPr lang="en-US" sz="1800" b="0" i="0" u="none" strike="noStrike" dirty="0"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27432" algn="l" fontAlgn="t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short</a:t>
            </a:r>
            <a:r>
              <a:rPr lang="en-US" sz="1500" b="1" i="0" u="none" strike="noStrike" spc="-2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0" u="none" strike="noStrike" spc="-5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revents</a:t>
            </a:r>
            <a:r>
              <a:rPr lang="en-US" sz="1500" b="0" i="0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en-US" sz="1500" b="0" i="1" u="none" strike="noStrike" spc="-5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returned events witnessed</a:t>
            </a:r>
            <a:r>
              <a:rPr lang="en-US" sz="1500" b="0" i="1" u="none" strike="noStrike" spc="-4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0" i="1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*/</a:t>
            </a:r>
            <a:endParaRPr lang="en-US" sz="15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sz="1500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</a:p>
          <a:p>
            <a:pPr marL="241300" marR="242570" indent="-228600">
              <a:lnSpc>
                <a:spcPts val="23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pollfd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specifies one </a:t>
            </a:r>
            <a:r>
              <a:rPr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watch,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events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field being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bitmask of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events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watch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lang="en-US" sz="2400" spc="-20" dirty="0">
                <a:latin typeface="Calibri"/>
                <a:cs typeface="Calibri"/>
              </a:rPr>
              <a:t>; the user/programmer will set this field.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revents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field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5" dirty="0">
                <a:latin typeface="Calibri"/>
                <a:cs typeface="Calibri"/>
              </a:rPr>
              <a:t>bitmask of </a:t>
            </a:r>
            <a:r>
              <a:rPr sz="2400" spc="-10" dirty="0">
                <a:latin typeface="Calibri"/>
                <a:cs typeface="Calibri"/>
              </a:rPr>
              <a:t>events that </a:t>
            </a:r>
            <a:r>
              <a:rPr sz="2400" spc="-15" dirty="0">
                <a:latin typeface="Calibri"/>
                <a:cs typeface="Calibri"/>
              </a:rPr>
              <a:t>were </a:t>
            </a:r>
            <a:r>
              <a:rPr sz="2400" dirty="0">
                <a:latin typeface="Calibri"/>
                <a:cs typeface="Calibri"/>
              </a:rPr>
              <a:t>witnessed</a:t>
            </a:r>
            <a:r>
              <a:rPr lang="en-US" sz="2400" dirty="0">
                <a:latin typeface="Calibri"/>
                <a:cs typeface="Calibri"/>
              </a:rPr>
              <a:t>;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kernel</a:t>
            </a:r>
            <a:r>
              <a:rPr lang="en-US" sz="2400" spc="-15" dirty="0">
                <a:latin typeface="Calibri"/>
                <a:cs typeface="Calibri"/>
              </a:rPr>
              <a:t> will set this field.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112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15" dirty="0"/>
              <a:t>on</a:t>
            </a:r>
            <a:r>
              <a:rPr spc="-215" dirty="0"/>
              <a:t> </a:t>
            </a: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8" y="1759661"/>
            <a:ext cx="10513061" cy="42139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7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/>
              <a:t>Some</a:t>
            </a:r>
            <a:r>
              <a:rPr sz="2400" spc="-15" dirty="0"/>
              <a:t> </a:t>
            </a:r>
            <a:r>
              <a:rPr sz="2400" spc="-10" dirty="0"/>
              <a:t>events:</a:t>
            </a:r>
            <a:endParaRPr sz="2400" dirty="0"/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POLLIN</a:t>
            </a:r>
            <a:r>
              <a:rPr sz="2000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5" dirty="0">
                <a:latin typeface="Calibri"/>
                <a:cs typeface="Calibri"/>
              </a:rPr>
              <a:t>data 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read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POLLPRI</a:t>
            </a:r>
            <a:r>
              <a:rPr sz="2000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urgent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read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POLLOUT</a:t>
            </a:r>
            <a:r>
              <a:rPr sz="2000" spc="-25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writing will not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POLLWRBAND</a:t>
            </a:r>
            <a:r>
              <a:rPr sz="2000" spc="-15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writing priority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5" dirty="0">
                <a:latin typeface="Calibri"/>
                <a:cs typeface="Calibri"/>
              </a:rPr>
              <a:t>will not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3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Equivalents 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sz="2000" spc="-10" dirty="0">
              <a:latin typeface="Calibri"/>
              <a:cs typeface="Calibri"/>
            </a:endParaRPr>
          </a:p>
          <a:p>
            <a:pPr marL="1155700" lvl="2" indent="-229235">
              <a:lnSpc>
                <a:spcPts val="193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dirty="0">
                <a:latin typeface="Courier New" panose="02070309020205020404" pitchFamily="49" charset="0"/>
                <a:cs typeface="Courier New" panose="02070309020205020404" pitchFamily="49" charset="0"/>
              </a:rPr>
              <a:t>POLLIN | POLLPRI</a:t>
            </a:r>
            <a:r>
              <a:rPr sz="1700" dirty="0">
                <a:latin typeface="Calibri"/>
                <a:cs typeface="Calibri"/>
              </a:rPr>
              <a:t> is </a:t>
            </a:r>
            <a:r>
              <a:rPr sz="17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1700" spc="-15" dirty="0">
                <a:latin typeface="Calibri"/>
                <a:cs typeface="Calibri"/>
              </a:rPr>
              <a:t>’s </a:t>
            </a:r>
            <a:r>
              <a:rPr sz="1700" spc="-5" dirty="0">
                <a:latin typeface="Calibri"/>
                <a:cs typeface="Calibri"/>
              </a:rPr>
              <a:t>read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event</a:t>
            </a:r>
            <a:r>
              <a:rPr lang="en-US" sz="1700" spc="-5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985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7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POLLOUT </a:t>
            </a:r>
            <a:r>
              <a:rPr sz="1700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sz="17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POLLWRBAND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 </a:t>
            </a:r>
            <a:r>
              <a:rPr sz="17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1700" spc="-15" dirty="0">
                <a:latin typeface="Calibri"/>
                <a:cs typeface="Calibri"/>
              </a:rPr>
              <a:t>’s </a:t>
            </a:r>
            <a:r>
              <a:rPr sz="1700" spc="-5" dirty="0">
                <a:latin typeface="Calibri"/>
                <a:cs typeface="Calibri"/>
              </a:rPr>
              <a:t>write</a:t>
            </a:r>
            <a:r>
              <a:rPr sz="1700" spc="-8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event</a:t>
            </a:r>
            <a:r>
              <a:rPr lang="en-US" sz="1700" spc="-5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241300" marR="219710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dirty="0">
                <a:latin typeface="Calibri"/>
                <a:cs typeface="Calibri"/>
              </a:rPr>
              <a:t>timeout </a:t>
            </a:r>
            <a:r>
              <a:rPr sz="2400" dirty="0"/>
              <a:t>is the </a:t>
            </a:r>
            <a:r>
              <a:rPr sz="2400" spc="-10" dirty="0"/>
              <a:t>wait </a:t>
            </a:r>
            <a:r>
              <a:rPr sz="2400" dirty="0"/>
              <a:t>time in </a:t>
            </a:r>
            <a:r>
              <a:rPr sz="2400" spc="-5" dirty="0"/>
              <a:t>milliseconds </a:t>
            </a:r>
            <a:r>
              <a:rPr sz="2400" spc="-25" dirty="0"/>
              <a:t>before </a:t>
            </a:r>
            <a:r>
              <a:rPr sz="2400" spc="-5" dirty="0"/>
              <a:t>returning </a:t>
            </a:r>
            <a:r>
              <a:rPr sz="2400" spc="-15" dirty="0"/>
              <a:t>regardless </a:t>
            </a:r>
            <a:r>
              <a:rPr sz="2400" spc="-5" dirty="0"/>
              <a:t>of </a:t>
            </a:r>
            <a:r>
              <a:rPr sz="2400" spc="-10" dirty="0"/>
              <a:t>ready </a:t>
            </a:r>
            <a:r>
              <a:rPr sz="2400" spc="-20" dirty="0"/>
              <a:t>I/O</a:t>
            </a:r>
            <a:r>
              <a:rPr lang="en-US" sz="2400" spc="-20" dirty="0"/>
              <a:t>.</a:t>
            </a:r>
            <a:r>
              <a:rPr sz="2400" spc="-20" dirty="0"/>
              <a:t>  </a:t>
            </a:r>
            <a:r>
              <a:rPr lang="en-US" sz="2400" spc="-15" dirty="0"/>
              <a:t>A n</a:t>
            </a:r>
            <a:r>
              <a:rPr sz="2400" spc="-15" dirty="0"/>
              <a:t>egative </a:t>
            </a:r>
            <a:r>
              <a:rPr lang="en-US" sz="2400" spc="-15" dirty="0"/>
              <a:t>number </a:t>
            </a:r>
            <a:r>
              <a:rPr sz="2400" dirty="0"/>
              <a:t>means </a:t>
            </a:r>
            <a:r>
              <a:rPr sz="2400" spc="-10" dirty="0"/>
              <a:t>infinite </a:t>
            </a:r>
            <a:r>
              <a:rPr sz="2400" spc="-5" dirty="0"/>
              <a:t>timeout, </a:t>
            </a:r>
            <a:r>
              <a:rPr lang="en-US" sz="2400" spc="-5" dirty="0"/>
              <a:t>and </a:t>
            </a:r>
            <a:r>
              <a:rPr sz="2400" dirty="0"/>
              <a:t>0 means </a:t>
            </a:r>
            <a:r>
              <a:rPr sz="2400" spc="-5" dirty="0"/>
              <a:t>return immediately </a:t>
            </a:r>
            <a:r>
              <a:rPr sz="2400" dirty="0"/>
              <a:t>with </a:t>
            </a:r>
            <a:r>
              <a:rPr sz="2400" spc="-5" dirty="0"/>
              <a:t>pending </a:t>
            </a:r>
            <a:r>
              <a:rPr lang="en-US" sz="2400" spc="-15" dirty="0"/>
              <a:t>I/O</a:t>
            </a:r>
            <a:r>
              <a:rPr sz="2400" spc="-15" dirty="0"/>
              <a:t> info</a:t>
            </a:r>
            <a:r>
              <a:rPr lang="en-US" sz="2400" spc="-15" dirty="0"/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/>
              <a:t>On success,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z="2400" spc="-5" dirty="0"/>
              <a:t> returns </a:t>
            </a:r>
            <a:r>
              <a:rPr sz="2400" dirty="0"/>
              <a:t>the # </a:t>
            </a:r>
            <a:r>
              <a:rPr sz="2400" spc="-5" dirty="0"/>
              <a:t>of </a:t>
            </a:r>
            <a:r>
              <a:rPr sz="24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55" dirty="0" err="1"/>
              <a:t>s</a:t>
            </a:r>
            <a:r>
              <a:rPr sz="2400" spc="-55" dirty="0"/>
              <a:t> </a:t>
            </a:r>
            <a:r>
              <a:rPr sz="2400" spc="-10" dirty="0"/>
              <a:t>that </a:t>
            </a:r>
            <a:r>
              <a:rPr sz="2400" spc="-20" dirty="0"/>
              <a:t>have </a:t>
            </a:r>
            <a:r>
              <a:rPr sz="2400" spc="-15" dirty="0"/>
              <a:t>non-zero </a:t>
            </a:r>
            <a:r>
              <a:rPr sz="2400" i="1" spc="-5" dirty="0">
                <a:latin typeface="Calibri"/>
                <a:cs typeface="Calibri"/>
              </a:rPr>
              <a:t>revents </a:t>
            </a:r>
            <a:r>
              <a:rPr sz="2400" spc="-5" dirty="0"/>
              <a:t>fields. Returning </a:t>
            </a:r>
            <a:r>
              <a:rPr sz="2400" dirty="0"/>
              <a:t>0 </a:t>
            </a:r>
            <a:r>
              <a:rPr sz="2400" spc="-10" dirty="0"/>
              <a:t>indicates </a:t>
            </a:r>
            <a:r>
              <a:rPr sz="2400" dirty="0"/>
              <a:t>timeout</a:t>
            </a:r>
            <a:r>
              <a:rPr sz="2400" spc="-20" dirty="0"/>
              <a:t> </a:t>
            </a:r>
            <a:r>
              <a:rPr sz="2400" spc="-5" dirty="0"/>
              <a:t>occurred.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/>
              <a:t>On </a:t>
            </a:r>
            <a:r>
              <a:rPr sz="2400" spc="-10" dirty="0"/>
              <a:t>failure, </a:t>
            </a:r>
            <a:r>
              <a:rPr sz="2400" spc="-5" dirty="0"/>
              <a:t>-1 </a:t>
            </a:r>
            <a:r>
              <a:rPr sz="2400" dirty="0"/>
              <a:t>is </a:t>
            </a:r>
            <a:r>
              <a:rPr sz="2400" spc="-10" dirty="0"/>
              <a:t>returned </a:t>
            </a:r>
            <a:r>
              <a:rPr sz="2400" dirty="0"/>
              <a:t>and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400" dirty="0"/>
              <a:t> is </a:t>
            </a:r>
            <a:r>
              <a:rPr sz="2400" spc="-10" dirty="0"/>
              <a:t>set </a:t>
            </a:r>
            <a:r>
              <a:rPr sz="2400" spc="-20" dirty="0"/>
              <a:t>(refer </a:t>
            </a:r>
            <a:r>
              <a:rPr sz="2400" spc="-15" dirty="0"/>
              <a:t>to </a:t>
            </a:r>
            <a:r>
              <a:rPr lang="en-US" sz="2400" spc="-15" dirty="0"/>
              <a:t>the </a:t>
            </a:r>
            <a:r>
              <a:rPr sz="2400" spc="-5" dirty="0"/>
              <a:t>book</a:t>
            </a:r>
            <a:r>
              <a:rPr lang="en-US" sz="2400" spc="-5" dirty="0"/>
              <a:t>, p. 59-60,</a:t>
            </a:r>
            <a:r>
              <a:rPr sz="2400" spc="-5" dirty="0"/>
              <a:t> </a:t>
            </a:r>
            <a:r>
              <a:rPr sz="2400" spc="-20" dirty="0"/>
              <a:t>for</a:t>
            </a:r>
            <a:r>
              <a:rPr sz="2400" spc="-15" dirty="0"/>
              <a:t> </a:t>
            </a:r>
            <a:r>
              <a:rPr sz="2400" spc="-10" dirty="0"/>
              <a:t>detail</a:t>
            </a:r>
            <a:r>
              <a:rPr lang="en-US" sz="2400" spc="-10" dirty="0"/>
              <a:t>s.</a:t>
            </a:r>
            <a:r>
              <a:rPr sz="2400" spc="-10" dirty="0"/>
              <a:t>)</a:t>
            </a:r>
            <a:endParaRPr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1244" y="609676"/>
            <a:ext cx="736955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654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90" dirty="0"/>
              <a:t> </a:t>
            </a: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902" y="1802333"/>
            <a:ext cx="5152898" cy="105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example </a:t>
            </a:r>
            <a:r>
              <a:rPr sz="2400" spc="-5" dirty="0">
                <a:latin typeface="Calibri"/>
                <a:cs typeface="Calibri"/>
              </a:rPr>
              <a:t>uses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check</a:t>
            </a:r>
          </a:p>
          <a:p>
            <a:pPr marL="241300">
              <a:lnSpc>
                <a:spcPts val="2740"/>
              </a:lnSpc>
            </a:pPr>
            <a:r>
              <a:rPr sz="2400" spc="-5" dirty="0">
                <a:latin typeface="Calibri"/>
                <a:cs typeface="Calibri"/>
              </a:rPr>
              <a:t>whether </a:t>
            </a:r>
            <a:r>
              <a:rPr lang="en-US" sz="2400" spc="-5" dirty="0">
                <a:cs typeface="Calibri"/>
              </a:rPr>
              <a:t>either of </a:t>
            </a:r>
            <a:r>
              <a:rPr sz="2400" spc="-15" dirty="0">
                <a:latin typeface="Calibri"/>
                <a:cs typeface="Calibri"/>
              </a:rPr>
              <a:t>stdin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stdout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r>
              <a:rPr lang="en-US" sz="2400" spc="-5" dirty="0">
                <a:latin typeface="Calibri"/>
                <a:cs typeface="Calibri"/>
              </a:rPr>
              <a:t>. Running examples: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8565" y="126545"/>
            <a:ext cx="4962291" cy="6239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435" y="6548568"/>
            <a:ext cx="1223176" cy="296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9984" y="3025001"/>
            <a:ext cx="1857050" cy="3995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00953" y="4059120"/>
            <a:ext cx="3190875" cy="6470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pc="-25" dirty="0"/>
              <a:t> vs</a:t>
            </a:r>
            <a:r>
              <a:rPr spc="-145" dirty="0"/>
              <a:t> </a:t>
            </a:r>
            <a:r>
              <a:rPr spc="-2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8" y="1759661"/>
            <a:ext cx="10970262" cy="42974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Benefits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No </a:t>
            </a:r>
            <a:r>
              <a:rPr sz="2400" spc="-5" dirty="0">
                <a:latin typeface="Calibri"/>
                <a:cs typeface="Calibri"/>
              </a:rPr>
              <a:t>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pass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highest-numbered </a:t>
            </a:r>
            <a:r>
              <a:rPr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plus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lang="en-US" sz="2400" dirty="0">
                <a:latin typeface="Calibri"/>
                <a:cs typeface="Calibri"/>
              </a:rPr>
              <a:t> as we do in 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420370" lvl="1" indent="-228600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More efficient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large-valued </a:t>
            </a:r>
            <a:r>
              <a:rPr sz="2400" spc="-5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55" dirty="0" err="1">
                <a:latin typeface="Calibri"/>
                <a:cs typeface="Calibri"/>
              </a:rPr>
              <a:t>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dirty="0">
                <a:latin typeface="Calibri"/>
                <a:cs typeface="Calibri"/>
              </a:rPr>
              <a:t>check </a:t>
            </a:r>
            <a:r>
              <a:rPr sz="2400" spc="-5" dirty="0">
                <a:latin typeface="Calibri"/>
                <a:cs typeface="Calibri"/>
              </a:rPr>
              <a:t>every bit up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passed-in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Calibri"/>
                <a:cs typeface="Calibri"/>
              </a:rPr>
              <a:t>.)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52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400" spc="-15" dirty="0">
                <a:latin typeface="Calibri"/>
                <a:cs typeface="Calibri"/>
              </a:rPr>
              <a:t>’s </a:t>
            </a:r>
            <a:r>
              <a:rPr sz="2400" spc="-35" dirty="0">
                <a:latin typeface="Calibri"/>
                <a:cs typeface="Calibri"/>
              </a:rPr>
              <a:t>fd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statically </a:t>
            </a:r>
            <a:r>
              <a:rPr sz="2400" spc="-15" dirty="0">
                <a:latin typeface="Calibri"/>
                <a:cs typeface="Calibri"/>
              </a:rPr>
              <a:t>sized </a:t>
            </a:r>
            <a:r>
              <a:rPr sz="2400" spc="-5" dirty="0">
                <a:latin typeface="Calibri"/>
                <a:cs typeface="Calibri"/>
              </a:rPr>
              <a:t>(either </a:t>
            </a:r>
            <a:r>
              <a:rPr sz="2400" spc="-10" dirty="0">
                <a:latin typeface="Calibri"/>
                <a:cs typeface="Calibri"/>
              </a:rPr>
              <a:t>too </a:t>
            </a:r>
            <a:r>
              <a:rPr sz="2400" spc="-5" dirty="0">
                <a:latin typeface="Calibri"/>
                <a:cs typeface="Calibri"/>
              </a:rPr>
              <a:t>small or </a:t>
            </a:r>
            <a:r>
              <a:rPr sz="2400" spc="-10" dirty="0">
                <a:latin typeface="Calibri"/>
                <a:cs typeface="Calibri"/>
              </a:rPr>
              <a:t>wasting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space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55"/>
              </a:lnSpc>
            </a:pPr>
            <a:r>
              <a:rPr sz="2400" spc="-5" dirty="0"/>
              <a:t>whereas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z="2400" spc="-5" dirty="0"/>
              <a:t> has </a:t>
            </a:r>
            <a:r>
              <a:rPr sz="2400" dirty="0"/>
              <a:t>the </a:t>
            </a:r>
            <a:r>
              <a:rPr sz="2400" spc="-15" dirty="0"/>
              <a:t>exact, </a:t>
            </a:r>
            <a:r>
              <a:rPr sz="2400" spc="-5" dirty="0"/>
              <a:t>right</a:t>
            </a:r>
            <a:r>
              <a:rPr sz="2400" spc="-40" dirty="0"/>
              <a:t> </a:t>
            </a:r>
            <a:r>
              <a:rPr sz="2400" spc="-20" dirty="0"/>
              <a:t>size</a:t>
            </a:r>
            <a:r>
              <a:rPr lang="en-US" sz="2400" spc="-20" dirty="0"/>
              <a:t>.</a:t>
            </a:r>
            <a:endParaRPr sz="2400" dirty="0"/>
          </a:p>
          <a:p>
            <a:pPr marL="698500" marR="5080" lvl="1" indent="-228600">
              <a:lnSpc>
                <a:spcPct val="80000"/>
              </a:lnSpc>
              <a:spcBef>
                <a:spcPts val="5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35" dirty="0">
                <a:latin typeface="Calibri"/>
                <a:cs typeface="Calibri"/>
              </a:rPr>
              <a:t>fd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reconstructed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0" dirty="0">
                <a:latin typeface="Calibri"/>
                <a:cs typeface="Calibri"/>
              </a:rPr>
              <a:t>return, </a:t>
            </a:r>
            <a:r>
              <a:rPr sz="2400" spc="-5" dirty="0">
                <a:latin typeface="Calibri"/>
                <a:cs typeface="Calibri"/>
              </a:rPr>
              <a:t>so </a:t>
            </a:r>
            <a:r>
              <a:rPr sz="2400" spc="-10" dirty="0">
                <a:latin typeface="Calibri"/>
                <a:cs typeface="Calibri"/>
              </a:rPr>
              <a:t>subsequent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spc="-10" dirty="0">
                <a:latin typeface="Calibri"/>
                <a:cs typeface="Calibri"/>
              </a:rPr>
              <a:t>must reinitialize </a:t>
            </a:r>
            <a:r>
              <a:rPr sz="2400" dirty="0">
                <a:latin typeface="Calibri"/>
                <a:cs typeface="Calibri"/>
              </a:rPr>
              <a:t>them, </a:t>
            </a:r>
            <a:r>
              <a:rPr sz="2400" spc="-5" dirty="0">
                <a:latin typeface="Calibri"/>
                <a:cs typeface="Calibri"/>
              </a:rPr>
              <a:t>whereas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events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revents </a:t>
            </a:r>
            <a:r>
              <a:rPr sz="2400" spc="-5" dirty="0">
                <a:latin typeface="Calibri"/>
                <a:cs typeface="Calibri"/>
              </a:rPr>
              <a:t>fields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separate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95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timeout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field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  <a:r>
              <a:rPr sz="2400" dirty="0">
                <a:latin typeface="Calibri"/>
                <a:cs typeface="Calibri"/>
              </a:rPr>
              <a:t> is </a:t>
            </a:r>
            <a:r>
              <a:rPr sz="2400" spc="-10" dirty="0">
                <a:latin typeface="Calibri"/>
                <a:cs typeface="Calibri"/>
              </a:rPr>
              <a:t>overwritten</a:t>
            </a:r>
            <a:r>
              <a:rPr lang="en-US" sz="2400" spc="-1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re-initialization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Benefits </a:t>
            </a:r>
            <a:r>
              <a:rPr spc="-5" dirty="0"/>
              <a:t>of</a:t>
            </a:r>
            <a:r>
              <a:rPr spc="20" dirty="0"/>
              <a:t> </a:t>
            </a:r>
            <a:r>
              <a:rPr spc="-5" dirty="0">
                <a:latin typeface="Courier New" panose="02070309020205020404" pitchFamily="49" charset="0"/>
                <a:cs typeface="Courier New" panose="02070309020205020404" pitchFamily="49" charset="0"/>
              </a:rPr>
              <a:t>select()</a:t>
            </a: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portable </a:t>
            </a:r>
            <a:r>
              <a:rPr sz="2400" dirty="0">
                <a:latin typeface="Calibri"/>
                <a:cs typeface="Calibri"/>
              </a:rPr>
              <a:t>- </a:t>
            </a: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dirty="0">
                <a:latin typeface="Calibri"/>
                <a:cs typeface="Calibri"/>
              </a:rPr>
              <a:t>Unix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5" dirty="0">
                <a:latin typeface="Calibri"/>
                <a:cs typeface="Calibri"/>
              </a:rPr>
              <a:t>don’t support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poll()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spc="-15" dirty="0">
                <a:latin typeface="Calibri"/>
                <a:cs typeface="Calibri"/>
              </a:rPr>
              <a:t>better </a:t>
            </a:r>
            <a:r>
              <a:rPr sz="2400" dirty="0">
                <a:latin typeface="Calibri"/>
                <a:cs typeface="Calibri"/>
              </a:rPr>
              <a:t>timeout </a:t>
            </a:r>
            <a:r>
              <a:rPr sz="2400" spc="-5" dirty="0">
                <a:latin typeface="Calibri"/>
                <a:cs typeface="Calibri"/>
              </a:rPr>
              <a:t>resolution </a:t>
            </a:r>
            <a:r>
              <a:rPr sz="2400" spc="-10" dirty="0">
                <a:latin typeface="Calibri"/>
                <a:cs typeface="Calibri"/>
              </a:rPr>
              <a:t>(microsec</a:t>
            </a:r>
            <a:r>
              <a:rPr lang="en-US" sz="2400" spc="-10" dirty="0">
                <a:latin typeface="Calibri"/>
                <a:cs typeface="Calibri"/>
              </a:rPr>
              <a:t>onds</a:t>
            </a:r>
            <a:r>
              <a:rPr sz="2400" spc="-10" dirty="0">
                <a:latin typeface="Calibri"/>
                <a:cs typeface="Calibri"/>
              </a:rPr>
              <a:t> vs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millisecond</a:t>
            </a:r>
            <a:r>
              <a:rPr lang="en-US" sz="2400" dirty="0">
                <a:latin typeface="Calibri"/>
                <a:cs typeface="Calibri"/>
              </a:rPr>
              <a:t>s.</a:t>
            </a:r>
            <a:r>
              <a:rPr sz="2400" dirty="0">
                <a:latin typeface="Calibri"/>
                <a:cs typeface="Calibri"/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86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Kernel</a:t>
            </a:r>
            <a:r>
              <a:rPr spc="-125" dirty="0"/>
              <a:t> </a:t>
            </a:r>
            <a:r>
              <a:rPr spc="-40" dirty="0"/>
              <a:t>Internals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8982710" cy="21793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implements </a:t>
            </a:r>
            <a:r>
              <a:rPr sz="2800" spc="-5" dirty="0">
                <a:latin typeface="Calibri"/>
                <a:cs typeface="Calibri"/>
              </a:rPr>
              <a:t>I/O with these primary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subsystems: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Virtual </a:t>
            </a:r>
            <a:r>
              <a:rPr sz="2400" spc="-15" dirty="0">
                <a:latin typeface="Calibri"/>
                <a:cs typeface="Calibri"/>
              </a:rPr>
              <a:t>filesystem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(VF)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Page</a:t>
            </a:r>
            <a:r>
              <a:rPr sz="2400" spc="-5" dirty="0">
                <a:latin typeface="Calibri"/>
                <a:cs typeface="Calibri"/>
              </a:rPr>
              <a:t> cache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5" dirty="0">
                <a:latin typeface="Calibri"/>
                <a:cs typeface="Calibri"/>
              </a:rPr>
              <a:t>Page</a:t>
            </a:r>
            <a:r>
              <a:rPr sz="2400" spc="-5" dirty="0">
                <a:latin typeface="Calibri"/>
                <a:cs typeface="Calibri"/>
              </a:rPr>
              <a:t> writeback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Together, </a:t>
            </a:r>
            <a:r>
              <a:rPr sz="2800" spc="-5" dirty="0">
                <a:latin typeface="Calibri"/>
                <a:cs typeface="Calibri"/>
              </a:rPr>
              <a:t>they </a:t>
            </a:r>
            <a:r>
              <a:rPr sz="2800" spc="-10" dirty="0">
                <a:latin typeface="Calibri"/>
                <a:cs typeface="Calibri"/>
              </a:rPr>
              <a:t>help </a:t>
            </a:r>
            <a:r>
              <a:rPr sz="2800" spc="-25" dirty="0">
                <a:latin typeface="Calibri"/>
                <a:cs typeface="Calibri"/>
              </a:rPr>
              <a:t>make </a:t>
            </a:r>
            <a:r>
              <a:rPr sz="2800" spc="-5" dirty="0">
                <a:latin typeface="Calibri"/>
                <a:cs typeface="Calibri"/>
              </a:rPr>
              <a:t>I/O seamless, </a:t>
            </a:r>
            <a:r>
              <a:rPr sz="2800" spc="-15" dirty="0">
                <a:latin typeface="Calibri"/>
                <a:cs typeface="Calibri"/>
              </a:rPr>
              <a:t>efficient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55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25" dirty="0"/>
              <a:t>Virtual</a:t>
            </a:r>
            <a:r>
              <a:rPr spc="-225" dirty="0"/>
              <a:t> </a:t>
            </a:r>
            <a:r>
              <a:rPr spc="-50" dirty="0"/>
              <a:t>Filesystem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27920" cy="26142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6832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abstraction </a:t>
            </a:r>
            <a:r>
              <a:rPr sz="2800" spc="-10" dirty="0">
                <a:latin typeface="Calibri"/>
                <a:cs typeface="Calibri"/>
              </a:rPr>
              <a:t>that allows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to </a:t>
            </a:r>
            <a:r>
              <a:rPr sz="2800" spc="-5" dirty="0">
                <a:latin typeface="Calibri"/>
                <a:cs typeface="Calibri"/>
              </a:rPr>
              <a:t>call </a:t>
            </a:r>
            <a:r>
              <a:rPr sz="2800" spc="-20" dirty="0">
                <a:latin typeface="Calibri"/>
                <a:cs typeface="Calibri"/>
              </a:rPr>
              <a:t>filesystem </a:t>
            </a:r>
            <a:r>
              <a:rPr sz="2800" spc="-10" dirty="0">
                <a:latin typeface="Calibri"/>
                <a:cs typeface="Calibri"/>
              </a:rPr>
              <a:t>functions  </a:t>
            </a:r>
            <a:r>
              <a:rPr sz="2800" spc="-5" dirty="0">
                <a:latin typeface="Calibri"/>
                <a:cs typeface="Calibri"/>
              </a:rPr>
              <a:t>without knowing the specific type of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lang="en-US" sz="2800" spc="114" dirty="0">
                <a:latin typeface="Calibri"/>
                <a:cs typeface="Calibri"/>
              </a:rPr>
              <a:t>the used </a:t>
            </a:r>
            <a:r>
              <a:rPr sz="2800" spc="-20" dirty="0">
                <a:latin typeface="Calibri"/>
                <a:cs typeface="Calibri"/>
              </a:rPr>
              <a:t>filesystem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i="1" spc="-10" dirty="0">
                <a:latin typeface="Calibri"/>
                <a:cs typeface="Calibri"/>
              </a:rPr>
              <a:t>common </a:t>
            </a:r>
            <a:r>
              <a:rPr sz="2400" i="1" spc="-5" dirty="0">
                <a:latin typeface="Calibri"/>
                <a:cs typeface="Calibri"/>
              </a:rPr>
              <a:t>file </a:t>
            </a:r>
            <a:r>
              <a:rPr sz="2400" i="1" dirty="0">
                <a:latin typeface="Calibri"/>
                <a:cs typeface="Calibri"/>
              </a:rPr>
              <a:t>model </a:t>
            </a: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framework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5" dirty="0">
                <a:latin typeface="Calibri"/>
                <a:cs typeface="Calibri"/>
              </a:rPr>
              <a:t>forces </a:t>
            </a:r>
            <a:r>
              <a:rPr sz="2400" spc="-5" dirty="0">
                <a:latin typeface="Calibri"/>
                <a:cs typeface="Calibri"/>
              </a:rPr>
              <a:t>certain  </a:t>
            </a:r>
            <a:r>
              <a:rPr sz="2400" spc="-10" dirty="0">
                <a:latin typeface="Calibri"/>
                <a:cs typeface="Calibri"/>
              </a:rPr>
              <a:t>commonality between </a:t>
            </a:r>
            <a:r>
              <a:rPr sz="2400" spc="-15" dirty="0">
                <a:latin typeface="Calibri"/>
                <a:cs typeface="Calibri"/>
              </a:rPr>
              <a:t>filesystems: </a:t>
            </a:r>
            <a:r>
              <a:rPr sz="2400" spc="-5" dirty="0">
                <a:latin typeface="Calibri"/>
                <a:cs typeface="Calibri"/>
              </a:rPr>
              <a:t>Linux supports </a:t>
            </a:r>
            <a:r>
              <a:rPr sz="2400" spc="-15" dirty="0">
                <a:latin typeface="Calibri"/>
                <a:cs typeface="Calibri"/>
              </a:rPr>
              <a:t>many filesystems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as  </a:t>
            </a:r>
            <a:r>
              <a:rPr sz="2400" spc="-65" dirty="0">
                <a:latin typeface="Calibri"/>
                <a:cs typeface="Calibri"/>
              </a:rPr>
              <a:t>FAT</a:t>
            </a:r>
            <a:r>
              <a:rPr lang="en-US" sz="2400" spc="-65" dirty="0">
                <a:latin typeface="Calibri"/>
                <a:cs typeface="Calibri"/>
              </a:rPr>
              <a:t> (</a:t>
            </a:r>
            <a:r>
              <a:rPr lang="en-US" sz="2400" u="sng" spc="-65" dirty="0">
                <a:latin typeface="Calibri"/>
                <a:cs typeface="Calibri"/>
              </a:rPr>
              <a:t>F</a:t>
            </a:r>
            <a:r>
              <a:rPr lang="en-US" sz="2400" spc="-65" dirty="0">
                <a:latin typeface="Calibri"/>
                <a:cs typeface="Calibri"/>
              </a:rPr>
              <a:t>ile </a:t>
            </a:r>
            <a:r>
              <a:rPr lang="en-US" sz="2400" u="sng" spc="-65" dirty="0">
                <a:latin typeface="Calibri"/>
                <a:cs typeface="Calibri"/>
              </a:rPr>
              <a:t>A</a:t>
            </a:r>
            <a:r>
              <a:rPr lang="en-US" sz="2400" spc="-65" dirty="0">
                <a:latin typeface="Calibri"/>
                <a:cs typeface="Calibri"/>
              </a:rPr>
              <a:t>llocation </a:t>
            </a:r>
            <a:r>
              <a:rPr lang="en-US" sz="2400" u="sng" spc="-65" dirty="0">
                <a:latin typeface="Calibri"/>
                <a:cs typeface="Calibri"/>
              </a:rPr>
              <a:t>T</a:t>
            </a:r>
            <a:r>
              <a:rPr lang="en-US" sz="2400" spc="-65" dirty="0">
                <a:latin typeface="Calibri"/>
                <a:cs typeface="Calibri"/>
              </a:rPr>
              <a:t>able), </a:t>
            </a:r>
            <a:r>
              <a:rPr sz="2400" spc="-65" dirty="0">
                <a:latin typeface="Calibri"/>
                <a:cs typeface="Calibri"/>
              </a:rPr>
              <a:t>NTFS</a:t>
            </a:r>
            <a:r>
              <a:rPr lang="en-US" sz="2400" spc="-65" dirty="0">
                <a:latin typeface="Calibri"/>
                <a:cs typeface="Calibri"/>
              </a:rPr>
              <a:t> (</a:t>
            </a:r>
            <a:r>
              <a:rPr lang="en-US" sz="2400" u="sng" spc="-65" dirty="0">
                <a:latin typeface="Calibri"/>
                <a:cs typeface="Calibri"/>
              </a:rPr>
              <a:t>N</a:t>
            </a:r>
            <a:r>
              <a:rPr lang="en-US" sz="2400" spc="-65" dirty="0">
                <a:latin typeface="Calibri"/>
                <a:cs typeface="Calibri"/>
              </a:rPr>
              <a:t>ew </a:t>
            </a:r>
            <a:r>
              <a:rPr lang="en-US" sz="2400" u="sng" spc="-65" dirty="0">
                <a:latin typeface="Calibri"/>
                <a:cs typeface="Calibri"/>
              </a:rPr>
              <a:t>T</a:t>
            </a:r>
            <a:r>
              <a:rPr lang="en-US" sz="2400" spc="-65" dirty="0">
                <a:latin typeface="Calibri"/>
                <a:cs typeface="Calibri"/>
              </a:rPr>
              <a:t>echnology </a:t>
            </a:r>
            <a:r>
              <a:rPr lang="en-US" sz="2400" u="sng" spc="-65" dirty="0">
                <a:latin typeface="Calibri"/>
                <a:cs typeface="Calibri"/>
              </a:rPr>
              <a:t>F</a:t>
            </a:r>
            <a:r>
              <a:rPr lang="en-US" sz="2400" spc="-65" dirty="0">
                <a:latin typeface="Calibri"/>
                <a:cs typeface="Calibri"/>
              </a:rPr>
              <a:t>ile </a:t>
            </a:r>
            <a:r>
              <a:rPr lang="en-US" sz="2400" u="sng" spc="-65" dirty="0">
                <a:latin typeface="Calibri"/>
                <a:cs typeface="Calibri"/>
              </a:rPr>
              <a:t>S</a:t>
            </a:r>
            <a:r>
              <a:rPr lang="en-US" sz="2400" spc="-65" dirty="0">
                <a:latin typeface="Calibri"/>
                <a:cs typeface="Calibri"/>
              </a:rPr>
              <a:t>ystem), etc.</a:t>
            </a:r>
            <a:endParaRPr sz="2400" dirty="0">
              <a:latin typeface="Calibri"/>
              <a:cs typeface="Calibri"/>
            </a:endParaRPr>
          </a:p>
          <a:p>
            <a:pPr marL="698500" marR="786765" lvl="1" indent="-228600">
              <a:lnSpc>
                <a:spcPts val="2590"/>
              </a:lnSpc>
              <a:spcBef>
                <a:spcPts val="5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Generic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calls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etc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, can </a:t>
            </a:r>
            <a:r>
              <a:rPr sz="2400" spc="-5" dirty="0">
                <a:latin typeface="Calibri"/>
                <a:cs typeface="Calibri"/>
              </a:rPr>
              <a:t>manipulate files on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10" dirty="0">
                <a:latin typeface="Calibri"/>
                <a:cs typeface="Calibri"/>
              </a:rPr>
              <a:t>supported </a:t>
            </a:r>
            <a:r>
              <a:rPr sz="2400" spc="-15" dirty="0">
                <a:latin typeface="Calibri"/>
                <a:cs typeface="Calibri"/>
              </a:rPr>
              <a:t>filesystem</a:t>
            </a:r>
            <a:r>
              <a:rPr lang="en-US" sz="2400" spc="-15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10" dirty="0">
                <a:latin typeface="Calibri"/>
                <a:cs typeface="Calibri"/>
              </a:rPr>
              <a:t>supported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media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96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55" dirty="0"/>
              <a:t>Page</a:t>
            </a:r>
            <a:r>
              <a:rPr spc="-245" dirty="0"/>
              <a:t> </a:t>
            </a:r>
            <a:r>
              <a:rPr spc="-25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8102"/>
            <a:ext cx="10289540" cy="439992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Is an in-memory </a:t>
            </a:r>
            <a:r>
              <a:rPr sz="2400" spc="-20" dirty="0">
                <a:latin typeface="Calibri"/>
                <a:cs typeface="Calibri"/>
              </a:rPr>
              <a:t>stor</a:t>
            </a:r>
            <a:r>
              <a:rPr lang="en-US" sz="2400" spc="-20" dirty="0">
                <a:latin typeface="Calibri"/>
                <a:cs typeface="Calibri"/>
              </a:rPr>
              <a:t>age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recently </a:t>
            </a:r>
            <a:r>
              <a:rPr sz="2400" dirty="0">
                <a:latin typeface="Calibri"/>
                <a:cs typeface="Calibri"/>
              </a:rPr>
              <a:t>accessed </a:t>
            </a:r>
            <a:r>
              <a:rPr sz="2400" spc="-15" dirty="0">
                <a:latin typeface="Calibri"/>
                <a:cs typeface="Calibri"/>
              </a:rPr>
              <a:t>data from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on-disk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filesystem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Allows kernel to </a:t>
            </a:r>
            <a:r>
              <a:rPr sz="2000" spc="-5" dirty="0">
                <a:latin typeface="Calibri"/>
                <a:cs typeface="Calibri"/>
              </a:rPr>
              <a:t>fulfill </a:t>
            </a:r>
            <a:r>
              <a:rPr sz="2000" spc="-10" dirty="0">
                <a:latin typeface="Calibri"/>
                <a:cs typeface="Calibri"/>
              </a:rPr>
              <a:t>subsequent </a:t>
            </a:r>
            <a:r>
              <a:rPr sz="2000" spc="-5" dirty="0">
                <a:latin typeface="Calibri"/>
                <a:cs typeface="Calibri"/>
              </a:rPr>
              <a:t>requests </a:t>
            </a:r>
            <a:r>
              <a:rPr sz="2000" dirty="0">
                <a:latin typeface="Calibri"/>
                <a:cs typeface="Calibri"/>
              </a:rPr>
              <a:t>without </a:t>
            </a:r>
            <a:r>
              <a:rPr sz="2000" spc="-10" dirty="0">
                <a:latin typeface="Calibri"/>
                <a:cs typeface="Calibri"/>
              </a:rPr>
              <a:t>repeated </a:t>
            </a:r>
            <a:r>
              <a:rPr sz="2000" spc="-5" dirty="0">
                <a:latin typeface="Calibri"/>
                <a:cs typeface="Calibri"/>
              </a:rPr>
              <a:t>disk </a:t>
            </a:r>
            <a:r>
              <a:rPr sz="2000" dirty="0">
                <a:latin typeface="Calibri"/>
                <a:cs typeface="Calibri"/>
              </a:rPr>
              <a:t>access (</a:t>
            </a:r>
            <a:r>
              <a:rPr sz="2000" i="1" dirty="0">
                <a:latin typeface="Calibri"/>
                <a:cs typeface="Calibri"/>
              </a:rPr>
              <a:t>temporal</a:t>
            </a:r>
            <a:r>
              <a:rPr sz="2000" i="1" spc="12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locality</a:t>
            </a:r>
            <a:r>
              <a:rPr sz="2000" spc="-5" dirty="0">
                <a:latin typeface="Calibri"/>
                <a:cs typeface="Calibri"/>
              </a:rPr>
              <a:t>)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Kernel </a:t>
            </a:r>
            <a:r>
              <a:rPr sz="2000" spc="-15" dirty="0">
                <a:latin typeface="Calibri"/>
                <a:cs typeface="Calibri"/>
              </a:rPr>
              <a:t>always </a:t>
            </a:r>
            <a:r>
              <a:rPr sz="2000" spc="-5" dirty="0">
                <a:latin typeface="Calibri"/>
                <a:cs typeface="Calibri"/>
              </a:rPr>
              <a:t>checks page </a:t>
            </a:r>
            <a:r>
              <a:rPr sz="2000" dirty="0">
                <a:latin typeface="Calibri"/>
                <a:cs typeface="Calibri"/>
              </a:rPr>
              <a:t>cache </a:t>
            </a:r>
            <a:r>
              <a:rPr sz="2000" spc="-15" dirty="0">
                <a:latin typeface="Calibri"/>
                <a:cs typeface="Calibri"/>
              </a:rPr>
              <a:t>first, </a:t>
            </a:r>
            <a:r>
              <a:rPr sz="2000" spc="-5" dirty="0">
                <a:latin typeface="Calibri"/>
                <a:cs typeface="Calibri"/>
              </a:rPr>
              <a:t>going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disk </a:t>
            </a:r>
            <a:r>
              <a:rPr sz="2000" dirty="0">
                <a:latin typeface="Calibri"/>
                <a:cs typeface="Calibri"/>
              </a:rPr>
              <a:t>only </a:t>
            </a:r>
            <a:r>
              <a:rPr sz="2000" spc="-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miss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Linux page </a:t>
            </a:r>
            <a:r>
              <a:rPr sz="2000" dirty="0">
                <a:latin typeface="Calibri"/>
                <a:cs typeface="Calibri"/>
              </a:rPr>
              <a:t>cache is </a:t>
            </a:r>
            <a:r>
              <a:rPr sz="2000" spc="-5" dirty="0">
                <a:latin typeface="Calibri"/>
                <a:cs typeface="Calibri"/>
              </a:rPr>
              <a:t>dynamic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15" dirty="0">
                <a:latin typeface="Calibri"/>
                <a:cs typeface="Calibri"/>
              </a:rPr>
              <a:t>size, </a:t>
            </a:r>
            <a:r>
              <a:rPr sz="2000" spc="-10" dirty="0">
                <a:latin typeface="Calibri"/>
                <a:cs typeface="Calibri"/>
              </a:rPr>
              <a:t>growing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5" dirty="0">
                <a:latin typeface="Calibri"/>
                <a:cs typeface="Calibri"/>
              </a:rPr>
              <a:t>needed, </a:t>
            </a:r>
            <a:r>
              <a:rPr sz="2000" dirty="0">
                <a:latin typeface="Calibri"/>
                <a:cs typeface="Calibri"/>
              </a:rPr>
              <a:t>but </a:t>
            </a:r>
            <a:r>
              <a:rPr sz="2000" spc="-5" dirty="0">
                <a:latin typeface="Calibri"/>
                <a:cs typeface="Calibri"/>
              </a:rPr>
              <a:t>also releasing </a:t>
            </a:r>
            <a:r>
              <a:rPr sz="2000" dirty="0">
                <a:latin typeface="Calibri"/>
                <a:cs typeface="Calibri"/>
              </a:rPr>
              <a:t>its </a:t>
            </a:r>
            <a:r>
              <a:rPr sz="2000" spc="-5" dirty="0">
                <a:latin typeface="Calibri"/>
                <a:cs typeface="Calibri"/>
              </a:rPr>
              <a:t>least-used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pages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(pruning) if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needed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marR="194945" lvl="1" indent="-228600">
              <a:lnSpc>
                <a:spcPts val="216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Pruning </a:t>
            </a:r>
            <a:r>
              <a:rPr sz="2000" spc="-5" dirty="0">
                <a:latin typeface="Calibri"/>
                <a:cs typeface="Calibri"/>
              </a:rPr>
              <a:t>could be </a:t>
            </a:r>
            <a:r>
              <a:rPr sz="2000" spc="-15" dirty="0">
                <a:latin typeface="Calibri"/>
                <a:cs typeface="Calibri"/>
              </a:rPr>
              <a:t>avoided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i="1" dirty="0">
                <a:latin typeface="Calibri"/>
                <a:cs typeface="Calibri"/>
              </a:rPr>
              <a:t>swapping </a:t>
            </a:r>
            <a:r>
              <a:rPr sz="2000" spc="-15" dirty="0">
                <a:latin typeface="Calibri"/>
                <a:cs typeface="Calibri"/>
              </a:rPr>
              <a:t>(</a:t>
            </a:r>
            <a:r>
              <a:rPr lang="en-US" sz="2000" spc="-15" dirty="0">
                <a:latin typeface="Calibri"/>
                <a:cs typeface="Calibri"/>
              </a:rPr>
              <a:t>the action of </a:t>
            </a:r>
            <a:r>
              <a:rPr sz="2000" spc="-15" dirty="0">
                <a:latin typeface="Calibri"/>
                <a:cs typeface="Calibri"/>
              </a:rPr>
              <a:t>stor</a:t>
            </a:r>
            <a:r>
              <a:rPr lang="en-US" sz="2000" spc="-15" dirty="0">
                <a:latin typeface="Calibri"/>
                <a:cs typeface="Calibri"/>
              </a:rPr>
              <a:t>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seldom-used 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5" dirty="0">
                <a:latin typeface="Calibri"/>
                <a:cs typeface="Calibri"/>
              </a:rPr>
              <a:t>on disk</a:t>
            </a:r>
            <a:r>
              <a:rPr lang="en-US" sz="2000" spc="-5" dirty="0"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 Linux will balance between </a:t>
            </a:r>
            <a:r>
              <a:rPr sz="2000" dirty="0">
                <a:latin typeface="Calibri"/>
                <a:cs typeface="Calibri"/>
              </a:rPr>
              <a:t>pruning and </a:t>
            </a:r>
            <a:r>
              <a:rPr sz="2000" spc="-5" dirty="0">
                <a:latin typeface="Calibri"/>
                <a:cs typeface="Calibri"/>
              </a:rPr>
              <a:t>swapping using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heuristics</a:t>
            </a:r>
            <a:r>
              <a:rPr lang="en-US" sz="2000" spc="-5" dirty="0">
                <a:latin typeface="Calibri"/>
                <a:cs typeface="Calibri"/>
              </a:rPr>
              <a:t> = approximations.</a:t>
            </a:r>
            <a:endParaRPr sz="2000" dirty="0">
              <a:latin typeface="Calibri"/>
              <a:cs typeface="Calibri"/>
            </a:endParaRPr>
          </a:p>
          <a:p>
            <a:pPr marL="698500" marR="41910" lvl="1" indent="-228600">
              <a:lnSpc>
                <a:spcPct val="90100"/>
              </a:lnSpc>
              <a:spcBef>
                <a:spcPts val="45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Readahead (reading </a:t>
            </a:r>
            <a:r>
              <a:rPr sz="2000" spc="-20" dirty="0">
                <a:latin typeface="Calibri"/>
                <a:cs typeface="Calibri"/>
              </a:rPr>
              <a:t>extra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10" dirty="0">
                <a:latin typeface="Calibri"/>
                <a:cs typeface="Calibri"/>
              </a:rPr>
              <a:t>off </a:t>
            </a:r>
            <a:r>
              <a:rPr sz="2000" dirty="0">
                <a:latin typeface="Calibri"/>
                <a:cs typeface="Calibri"/>
              </a:rPr>
              <a:t>the disk - </a:t>
            </a:r>
            <a:r>
              <a:rPr sz="2000" i="1" spc="-5" dirty="0">
                <a:latin typeface="Calibri"/>
                <a:cs typeface="Calibri"/>
              </a:rPr>
              <a:t>sequential locality</a:t>
            </a:r>
            <a:r>
              <a:rPr sz="2000" spc="-5" dirty="0">
                <a:latin typeface="Calibri"/>
                <a:cs typeface="Calibri"/>
              </a:rPr>
              <a:t>) </a:t>
            </a:r>
            <a:r>
              <a:rPr sz="2000" dirty="0">
                <a:latin typeface="Calibri"/>
                <a:cs typeface="Calibri"/>
              </a:rPr>
              <a:t>is also </a:t>
            </a:r>
            <a:r>
              <a:rPr lang="en-US" sz="2000" spc="-5" dirty="0">
                <a:latin typeface="Calibri"/>
                <a:cs typeface="Calibri"/>
              </a:rPr>
              <a:t>used</a:t>
            </a:r>
            <a:r>
              <a:rPr sz="2000" spc="-5" dirty="0">
                <a:latin typeface="Calibri"/>
                <a:cs typeface="Calibri"/>
              </a:rPr>
              <a:t> (as seeking 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not needed) </a:t>
            </a:r>
            <a:r>
              <a:rPr sz="2000" dirty="0">
                <a:latin typeface="Calibri"/>
                <a:cs typeface="Calibri"/>
              </a:rPr>
              <a:t>and managed </a:t>
            </a:r>
            <a:r>
              <a:rPr sz="2000" spc="-5" dirty="0">
                <a:latin typeface="Calibri"/>
                <a:cs typeface="Calibri"/>
              </a:rPr>
              <a:t>dynamically </a:t>
            </a:r>
            <a:r>
              <a:rPr sz="2000" dirty="0">
                <a:latin typeface="Calibri"/>
                <a:cs typeface="Calibri"/>
              </a:rPr>
              <a:t>(readahead </a:t>
            </a:r>
            <a:r>
              <a:rPr sz="2000" spc="-5" dirty="0">
                <a:latin typeface="Calibri"/>
                <a:cs typeface="Calibri"/>
              </a:rPr>
              <a:t>window could </a:t>
            </a:r>
            <a:r>
              <a:rPr sz="2000" spc="-15" dirty="0">
                <a:latin typeface="Calibri"/>
                <a:cs typeface="Calibri"/>
              </a:rPr>
              <a:t>grow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-5" dirty="0">
                <a:latin typeface="Calibri"/>
                <a:cs typeface="Calibri"/>
              </a:rPr>
              <a:t>shrink between  </a:t>
            </a:r>
            <a:r>
              <a:rPr sz="2000" dirty="0">
                <a:latin typeface="Calibri"/>
                <a:cs typeface="Calibri"/>
              </a:rPr>
              <a:t>16KB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128KB</a:t>
            </a:r>
            <a:r>
              <a:rPr lang="en-US" sz="2000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241300" marR="87630" indent="-228600">
              <a:lnSpc>
                <a:spcPts val="259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Page </a:t>
            </a:r>
            <a:r>
              <a:rPr sz="2400" spc="-5" dirty="0">
                <a:latin typeface="Calibri"/>
                <a:cs typeface="Calibri"/>
              </a:rPr>
              <a:t>cache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transparent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system </a:t>
            </a:r>
            <a:r>
              <a:rPr sz="2400" spc="-10" dirty="0">
                <a:latin typeface="Calibri"/>
                <a:cs typeface="Calibri"/>
              </a:rPr>
              <a:t>programmers, </a:t>
            </a:r>
            <a:r>
              <a:rPr sz="2400" spc="-5" dirty="0">
                <a:latin typeface="Calibri"/>
                <a:cs typeface="Calibri"/>
              </a:rPr>
              <a:t>unless </a:t>
            </a:r>
            <a:r>
              <a:rPr sz="2400" dirty="0">
                <a:latin typeface="Calibri"/>
                <a:cs typeface="Calibri"/>
              </a:rPr>
              <a:t>they </a:t>
            </a:r>
            <a:r>
              <a:rPr sz="2400" spc="-15" dirty="0">
                <a:latin typeface="Calibri"/>
                <a:cs typeface="Calibri"/>
              </a:rPr>
              <a:t>want to  </a:t>
            </a:r>
            <a:r>
              <a:rPr sz="2400" spc="-5" dirty="0">
                <a:latin typeface="Calibri"/>
                <a:cs typeface="Calibri"/>
              </a:rPr>
              <a:t>implement one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user space themselves.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alibri"/>
                <a:cs typeface="Calibri"/>
              </a:rPr>
              <a:t>possible, sequential file </a:t>
            </a:r>
            <a:r>
              <a:rPr sz="2400" dirty="0">
                <a:latin typeface="Calibri"/>
                <a:cs typeface="Calibri"/>
              </a:rPr>
              <a:t>I/O is </a:t>
            </a:r>
            <a:r>
              <a:rPr sz="2400" spc="-15" dirty="0">
                <a:latin typeface="Calibri"/>
                <a:cs typeface="Calibri"/>
              </a:rPr>
              <a:t>always  </a:t>
            </a:r>
            <a:r>
              <a:rPr sz="2400" spc="-20" dirty="0">
                <a:latin typeface="Calibri"/>
                <a:cs typeface="Calibri"/>
              </a:rPr>
              <a:t>preferred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random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48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Page</a:t>
            </a:r>
            <a:r>
              <a:rPr spc="-155" dirty="0"/>
              <a:t> </a:t>
            </a:r>
            <a:r>
              <a:rPr spc="-55" dirty="0"/>
              <a:t>Writeback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0055861" cy="4062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Kernel </a:t>
            </a:r>
            <a:r>
              <a:rPr lang="en-US" sz="2600" spc="-25" dirty="0">
                <a:latin typeface="Calibri"/>
                <a:cs typeface="Calibri"/>
              </a:rPr>
              <a:t>delays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writes </a:t>
            </a:r>
            <a:r>
              <a:rPr sz="2600" dirty="0">
                <a:latin typeface="Calibri"/>
                <a:cs typeface="Calibri"/>
              </a:rPr>
              <a:t>via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buffers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Write data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copied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45" dirty="0">
                <a:latin typeface="Calibri"/>
                <a:cs typeface="Calibri"/>
              </a:rPr>
              <a:t>buffer, </a:t>
            </a:r>
            <a:r>
              <a:rPr sz="2200" spc="-5" dirty="0">
                <a:latin typeface="Calibri"/>
                <a:cs typeface="Calibri"/>
              </a:rPr>
              <a:t>which is then </a:t>
            </a:r>
            <a:r>
              <a:rPr sz="2200" spc="-15" dirty="0">
                <a:latin typeface="Calibri"/>
                <a:cs typeface="Calibri"/>
              </a:rPr>
              <a:t>marked</a:t>
            </a:r>
            <a:r>
              <a:rPr lang="en-US" sz="2200" spc="-15" dirty="0">
                <a:latin typeface="Calibri"/>
                <a:cs typeface="Calibri"/>
              </a:rPr>
              <a:t> as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dirty</a:t>
            </a:r>
            <a:r>
              <a:rPr lang="en-US" sz="2200" spc="-10" dirty="0">
                <a:latin typeface="Calibri"/>
                <a:cs typeface="Calibri"/>
              </a:rPr>
              <a:t> = ‘modified’</a:t>
            </a:r>
            <a:r>
              <a:rPr lang="en-US" sz="2200" i="1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write request returns right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away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More write requests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same </a:t>
            </a:r>
            <a:r>
              <a:rPr sz="2200" spc="-10" dirty="0">
                <a:latin typeface="Calibri"/>
                <a:cs typeface="Calibri"/>
              </a:rPr>
              <a:t>area </a:t>
            </a:r>
            <a:r>
              <a:rPr sz="2200" spc="-5" dirty="0">
                <a:latin typeface="Calibri"/>
                <a:cs typeface="Calibri"/>
              </a:rPr>
              <a:t>-&gt; </a:t>
            </a:r>
            <a:r>
              <a:rPr sz="2200" spc="-10" dirty="0">
                <a:latin typeface="Calibri"/>
                <a:cs typeface="Calibri"/>
              </a:rPr>
              <a:t>updating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buffer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Write </a:t>
            </a:r>
            <a:r>
              <a:rPr sz="2200" spc="-10" dirty="0">
                <a:latin typeface="Calibri"/>
                <a:cs typeface="Calibri"/>
              </a:rPr>
              <a:t>requests elsewhere </a:t>
            </a:r>
            <a:r>
              <a:rPr sz="2200" spc="-5" dirty="0">
                <a:latin typeface="Calibri"/>
                <a:cs typeface="Calibri"/>
              </a:rPr>
              <a:t>in the file -&gt; </a:t>
            </a:r>
            <a:r>
              <a:rPr sz="2200" spc="-10" dirty="0">
                <a:latin typeface="Calibri"/>
                <a:cs typeface="Calibri"/>
              </a:rPr>
              <a:t>creating new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buffers</a:t>
            </a:r>
            <a:r>
              <a:rPr lang="en-US"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Writeback (committing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disk, </a:t>
            </a:r>
            <a:r>
              <a:rPr sz="2600" spc="-10" dirty="0">
                <a:latin typeface="Calibri"/>
                <a:cs typeface="Calibri"/>
              </a:rPr>
              <a:t>synchronization) </a:t>
            </a:r>
            <a:r>
              <a:rPr sz="2600" spc="-5" dirty="0">
                <a:latin typeface="Calibri"/>
                <a:cs typeface="Calibri"/>
              </a:rPr>
              <a:t>does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happen: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When </a:t>
            </a:r>
            <a:r>
              <a:rPr sz="2200" spc="-10" dirty="0">
                <a:latin typeface="Calibri"/>
                <a:cs typeface="Calibri"/>
              </a:rPr>
              <a:t>free </a:t>
            </a:r>
            <a:r>
              <a:rPr sz="2200" dirty="0">
                <a:latin typeface="Calibri"/>
                <a:cs typeface="Calibri"/>
              </a:rPr>
              <a:t>memory </a:t>
            </a:r>
            <a:r>
              <a:rPr sz="2200" spc="-10" dirty="0">
                <a:latin typeface="Calibri"/>
                <a:cs typeface="Calibri"/>
              </a:rPr>
              <a:t>shrinks below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threshold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When a </a:t>
            </a:r>
            <a:r>
              <a:rPr sz="2200" spc="-10" dirty="0">
                <a:latin typeface="Calibri"/>
                <a:cs typeface="Calibri"/>
              </a:rPr>
              <a:t>dirty </a:t>
            </a:r>
            <a:r>
              <a:rPr sz="2200" spc="-20" dirty="0">
                <a:latin typeface="Calibri"/>
                <a:cs typeface="Calibri"/>
              </a:rPr>
              <a:t>buffer </a:t>
            </a:r>
            <a:r>
              <a:rPr sz="2200" spc="-5" dirty="0">
                <a:latin typeface="Calibri"/>
                <a:cs typeface="Calibri"/>
              </a:rPr>
              <a:t>is older </a:t>
            </a:r>
            <a:r>
              <a:rPr sz="2200" spc="-10" dirty="0">
                <a:latin typeface="Calibri"/>
                <a:cs typeface="Calibri"/>
              </a:rPr>
              <a:t>than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threshold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5459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Starting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lang="en-US" sz="2600" spc="-15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2.4,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spc="-5" dirty="0">
                <a:latin typeface="Calibri"/>
                <a:cs typeface="Calibri"/>
              </a:rPr>
              <a:t>cache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buffer </a:t>
            </a:r>
            <a:r>
              <a:rPr sz="2600" spc="-5" dirty="0">
                <a:latin typeface="Calibri"/>
                <a:cs typeface="Calibri"/>
              </a:rPr>
              <a:t>cache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unified </a:t>
            </a:r>
            <a:r>
              <a:rPr sz="2600" dirty="0">
                <a:latin typeface="Calibri"/>
                <a:cs typeface="Calibri"/>
              </a:rPr>
              <a:t>(so  </a:t>
            </a:r>
            <a:r>
              <a:rPr sz="2600" spc="-5" dirty="0">
                <a:latin typeface="Calibri"/>
                <a:cs typeface="Calibri"/>
              </a:rPr>
              <a:t>reading </a:t>
            </a:r>
            <a:r>
              <a:rPr sz="2600" spc="-10" dirty="0">
                <a:latin typeface="Calibri"/>
                <a:cs typeface="Calibri"/>
              </a:rPr>
              <a:t>from recently </a:t>
            </a:r>
            <a:r>
              <a:rPr sz="2600" spc="-5" dirty="0">
                <a:latin typeface="Calibri"/>
                <a:cs typeface="Calibri"/>
              </a:rPr>
              <a:t>written </a:t>
            </a:r>
            <a:r>
              <a:rPr sz="2600" spc="-15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accesses the </a:t>
            </a:r>
            <a:r>
              <a:rPr sz="2600" spc="-5" dirty="0">
                <a:latin typeface="Calibri"/>
                <a:cs typeface="Calibri"/>
              </a:rPr>
              <a:t>same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lang="en-US" sz="260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)</a:t>
            </a: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avoid </a:t>
            </a:r>
            <a:r>
              <a:rPr sz="2600" dirty="0">
                <a:latin typeface="Calibri"/>
                <a:cs typeface="Calibri"/>
              </a:rPr>
              <a:t>the risk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5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loss </a:t>
            </a:r>
            <a:r>
              <a:rPr sz="2600" spc="-10" dirty="0">
                <a:latin typeface="Calibri"/>
                <a:cs typeface="Calibri"/>
              </a:rPr>
              <a:t>from power failure, </a:t>
            </a:r>
            <a:r>
              <a:rPr sz="2600" dirty="0">
                <a:latin typeface="Calibri"/>
                <a:cs typeface="Calibri"/>
              </a:rPr>
              <a:t>critical </a:t>
            </a:r>
            <a:r>
              <a:rPr sz="2600" spc="-5" dirty="0">
                <a:latin typeface="Calibri"/>
                <a:cs typeface="Calibri"/>
              </a:rPr>
              <a:t>applications can  use </a:t>
            </a:r>
            <a:r>
              <a:rPr sz="2600" spc="-15" dirty="0">
                <a:latin typeface="Calibri"/>
                <a:cs typeface="Calibri"/>
              </a:rPr>
              <a:t>synchronized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I/O</a:t>
            </a:r>
            <a:r>
              <a:rPr lang="en-US" sz="2600" dirty="0">
                <a:latin typeface="Calibri"/>
                <a:cs typeface="Calibri"/>
              </a:rPr>
              <a:t> after calls to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sz="2600" dirty="0">
                <a:latin typeface="Calibri"/>
                <a:cs typeface="Calibri"/>
              </a:rPr>
              <a:t> and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pwrite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</TotalTime>
  <Words>5763</Words>
  <Application>Microsoft Office PowerPoint</Application>
  <PresentationFormat>Widescreen</PresentationFormat>
  <Paragraphs>436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Courier New</vt:lpstr>
      <vt:lpstr>MinionPro-Regular</vt:lpstr>
      <vt:lpstr>Times New Roman</vt:lpstr>
      <vt:lpstr>UbuntuMono-Regular</vt:lpstr>
      <vt:lpstr>Office Theme</vt:lpstr>
      <vt:lpstr>Linux System Programming Talking directly to the kernel and C library</vt:lpstr>
      <vt:lpstr>Chapter 2 – File I/O</vt:lpstr>
      <vt:lpstr>Opening files</vt:lpstr>
      <vt:lpstr>Examples of open/creat</vt:lpstr>
      <vt:lpstr>Reading via read()</vt:lpstr>
      <vt:lpstr>Return Values of read()</vt:lpstr>
      <vt:lpstr>Reading All the Bytes</vt:lpstr>
      <vt:lpstr>Nonblocking Reads</vt:lpstr>
      <vt:lpstr>Writing with write()</vt:lpstr>
      <vt:lpstr>Partial Writes</vt:lpstr>
      <vt:lpstr>More Information about Writes</vt:lpstr>
      <vt:lpstr>Details about the Behavior of write()</vt:lpstr>
      <vt:lpstr>Synchronized I/O</vt:lpstr>
      <vt:lpstr>More on Synchronization</vt:lpstr>
      <vt:lpstr>Direct I/O</vt:lpstr>
      <vt:lpstr>Closing Files</vt:lpstr>
      <vt:lpstr>Seeking with lseek()</vt:lpstr>
      <vt:lpstr>Examples of lseek()</vt:lpstr>
      <vt:lpstr>More on lseek()</vt:lpstr>
      <vt:lpstr>Positional Reads and Writes</vt:lpstr>
      <vt:lpstr>Truncating Files</vt:lpstr>
      <vt:lpstr>Example of truncate()</vt:lpstr>
      <vt:lpstr>Multiplexed I/O - Motivation</vt:lpstr>
      <vt:lpstr>Multiplexed I/O - Steps</vt:lpstr>
      <vt:lpstr>select()</vt:lpstr>
      <vt:lpstr>select()  example</vt:lpstr>
      <vt:lpstr>poll()</vt:lpstr>
      <vt:lpstr>More on poll()</vt:lpstr>
      <vt:lpstr>Example of poll()</vt:lpstr>
      <vt:lpstr>poll() vs select()</vt:lpstr>
      <vt:lpstr>Kernel Internals</vt:lpstr>
      <vt:lpstr>The Virtual Filesystem</vt:lpstr>
      <vt:lpstr>The Page Cache</vt:lpstr>
      <vt:lpstr>Page Writeback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208</cp:revision>
  <dcterms:created xsi:type="dcterms:W3CDTF">2021-02-04T00:43:42Z</dcterms:created>
  <dcterms:modified xsi:type="dcterms:W3CDTF">2023-02-27T12:25:14Z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