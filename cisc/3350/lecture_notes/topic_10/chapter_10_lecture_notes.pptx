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3" autoAdjust="0"/>
    <p:restoredTop sz="89879" autoAdjust="0"/>
  </p:normalViewPr>
  <p:slideViewPr>
    <p:cSldViewPr>
      <p:cViewPr varScale="1">
        <p:scale>
          <a:sx n="61" d="100"/>
          <a:sy n="61" d="100"/>
        </p:scale>
        <p:origin x="796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72AF9-3FE0-43E5-832A-C2ABEB3DF719}" type="datetimeFigureOut">
              <a:rPr lang="en-US" smtClean="0"/>
              <a:t>4/29/2023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30AD5-E1EF-47FD-81A2-65C5A18EA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18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-5" dirty="0">
                <a:solidFill>
                  <a:srgbClr val="232729"/>
                </a:solidFill>
                <a:latin typeface="Arial"/>
                <a:cs typeface="Arial"/>
              </a:rPr>
              <a:t>Control-Z </a:t>
            </a:r>
            <a:r>
              <a:rPr lang="en-US" sz="1200" dirty="0">
                <a:solidFill>
                  <a:srgbClr val="232729"/>
                </a:solidFill>
                <a:latin typeface="Arial"/>
                <a:cs typeface="Arial"/>
              </a:rPr>
              <a:t>suspends the most recent foreground process (the </a:t>
            </a:r>
            <a:r>
              <a:rPr lang="en-US" sz="1200" spc="-5" dirty="0">
                <a:solidFill>
                  <a:srgbClr val="232729"/>
                </a:solidFill>
                <a:latin typeface="Arial"/>
                <a:cs typeface="Arial"/>
              </a:rPr>
              <a:t>last </a:t>
            </a:r>
            <a:r>
              <a:rPr lang="en-US" sz="1200" dirty="0">
                <a:solidFill>
                  <a:srgbClr val="232729"/>
                </a:solidFill>
                <a:latin typeface="Arial"/>
                <a:cs typeface="Arial"/>
              </a:rPr>
              <a:t>process to interact </a:t>
            </a:r>
            <a:r>
              <a:rPr lang="en-US" sz="1200" spc="-10" dirty="0">
                <a:solidFill>
                  <a:srgbClr val="232729"/>
                </a:solidFill>
                <a:latin typeface="Arial"/>
                <a:cs typeface="Arial"/>
              </a:rPr>
              <a:t>with </a:t>
            </a:r>
            <a:r>
              <a:rPr lang="en-US" sz="1200" dirty="0">
                <a:solidFill>
                  <a:srgbClr val="232729"/>
                </a:solidFill>
                <a:latin typeface="Arial"/>
                <a:cs typeface="Arial"/>
              </a:rPr>
              <a:t>the </a:t>
            </a:r>
            <a:r>
              <a:rPr lang="en-US" sz="1200" spc="-5" dirty="0" err="1">
                <a:solidFill>
                  <a:srgbClr val="232729"/>
                </a:solidFill>
                <a:latin typeface="Arial"/>
                <a:cs typeface="Arial"/>
              </a:rPr>
              <a:t>tty</a:t>
            </a:r>
            <a:r>
              <a:rPr lang="en-US" sz="1200" spc="-5" dirty="0">
                <a:solidFill>
                  <a:srgbClr val="232729"/>
                </a:solidFill>
                <a:latin typeface="Arial"/>
                <a:cs typeface="Arial"/>
              </a:rPr>
              <a:t>) (unless </a:t>
            </a:r>
            <a:r>
              <a:rPr lang="en-US" sz="1200" dirty="0">
                <a:solidFill>
                  <a:srgbClr val="232729"/>
                </a:solidFill>
                <a:latin typeface="Arial"/>
                <a:cs typeface="Arial"/>
              </a:rPr>
              <a:t>that process takes </a:t>
            </a:r>
            <a:r>
              <a:rPr lang="en-US" sz="1200" spc="5" dirty="0">
                <a:solidFill>
                  <a:srgbClr val="232729"/>
                </a:solidFill>
                <a:latin typeface="Arial"/>
                <a:cs typeface="Arial"/>
              </a:rPr>
              <a:t>steps </a:t>
            </a:r>
            <a:r>
              <a:rPr lang="en-US" sz="1200" dirty="0">
                <a:solidFill>
                  <a:srgbClr val="232729"/>
                </a:solidFill>
                <a:latin typeface="Arial"/>
                <a:cs typeface="Arial"/>
              </a:rPr>
              <a:t>to ignore </a:t>
            </a:r>
            <a:r>
              <a:rPr lang="en-US" sz="1200" spc="-5" dirty="0">
                <a:solidFill>
                  <a:srgbClr val="232729"/>
                </a:solidFill>
                <a:latin typeface="Arial"/>
                <a:cs typeface="Arial"/>
              </a:rPr>
              <a:t>suspension, like shells normally </a:t>
            </a:r>
            <a:r>
              <a:rPr lang="en-US" sz="1200" dirty="0">
                <a:solidFill>
                  <a:srgbClr val="232729"/>
                </a:solidFill>
                <a:latin typeface="Arial"/>
                <a:cs typeface="Arial"/>
              </a:rPr>
              <a:t>do). 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30AD5-E1EF-47FD-81A2-65C5A18EA9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18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35175" y="2132428"/>
            <a:ext cx="8121649" cy="176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051929" y="1451987"/>
            <a:ext cx="4682490" cy="463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90220"/>
            <a:ext cx="569087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499742"/>
            <a:ext cx="10849610" cy="1383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266438" y="6464985"/>
            <a:ext cx="3660775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cprogramming/c_unions.htm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68935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2905"/>
              </a:spcBef>
            </a:pPr>
            <a:r>
              <a:rPr spc="-35" dirty="0"/>
              <a:t>Linux </a:t>
            </a:r>
            <a:r>
              <a:rPr spc="-80" dirty="0"/>
              <a:t>System</a:t>
            </a:r>
            <a:r>
              <a:rPr spc="-265" dirty="0"/>
              <a:t> </a:t>
            </a:r>
            <a:r>
              <a:rPr spc="-80" dirty="0"/>
              <a:t>Programming</a:t>
            </a:r>
          </a:p>
          <a:p>
            <a:pPr marL="8255" marR="3175" algn="ctr">
              <a:lnSpc>
                <a:spcPct val="100000"/>
              </a:lnSpc>
              <a:spcBef>
                <a:spcPts val="1025"/>
              </a:spcBef>
            </a:pPr>
            <a:r>
              <a:rPr sz="2200" b="0" spc="-30" dirty="0">
                <a:solidFill>
                  <a:srgbClr val="000000"/>
                </a:solidFill>
                <a:latin typeface="Calibri"/>
                <a:cs typeface="Calibri"/>
              </a:rPr>
              <a:t>Talking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directly </a:t>
            </a:r>
            <a:r>
              <a:rPr sz="2200" b="0" spc="-20" dirty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sz="2200" b="0" spc="-15" dirty="0">
                <a:solidFill>
                  <a:srgbClr val="000000"/>
                </a:solidFill>
                <a:latin typeface="Calibri"/>
                <a:cs typeface="Calibri"/>
              </a:rPr>
              <a:t>kernel </a:t>
            </a:r>
            <a:r>
              <a:rPr sz="2200" b="0" spc="-5" dirty="0">
                <a:solidFill>
                  <a:srgbClr val="000000"/>
                </a:solidFill>
                <a:latin typeface="Calibri"/>
                <a:cs typeface="Calibri"/>
              </a:rPr>
              <a:t>and C</a:t>
            </a:r>
            <a:r>
              <a:rPr sz="2200" b="0" spc="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200" b="0" spc="-10" dirty="0">
                <a:solidFill>
                  <a:srgbClr val="000000"/>
                </a:solidFill>
                <a:latin typeface="Calibri"/>
                <a:cs typeface="Calibri"/>
              </a:rPr>
              <a:t>library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7211" y="4534027"/>
            <a:ext cx="1457579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"/>
                <a:cs typeface="Calibri"/>
              </a:rPr>
              <a:t>Signal</a:t>
            </a:r>
            <a:r>
              <a:rPr lang="en-US" sz="4000" spc="-10" dirty="0">
                <a:latin typeface="Calibri"/>
                <a:cs typeface="Calibri"/>
              </a:rPr>
              <a:t>s</a:t>
            </a:r>
            <a:endParaRPr sz="4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F7443-C066-3020-2B3D-FB8F9556AA7D}"/>
              </a:ext>
            </a:extLst>
          </p:cNvPr>
          <p:cNvSpPr txBox="1"/>
          <p:nvPr/>
        </p:nvSpPr>
        <p:spPr>
          <a:xfrm>
            <a:off x="2776854" y="6019800"/>
            <a:ext cx="6638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Adapted from slides of </a:t>
            </a:r>
            <a:r>
              <a:rPr lang="en-US" b="1" dirty="0"/>
              <a:t>Professor Yongqing Xiang </a:t>
            </a:r>
            <a:r>
              <a:rPr lang="en-US" dirty="0"/>
              <a:t>of Brooklyn College.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6938" y="609676"/>
            <a:ext cx="3045462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Ch10</a:t>
            </a:r>
            <a:r>
              <a:rPr lang="en-US" spc="-25" dirty="0"/>
              <a:t>:</a:t>
            </a:r>
            <a:r>
              <a:rPr lang="en-US" dirty="0"/>
              <a:t> </a:t>
            </a:r>
            <a:r>
              <a:rPr spc="-25" dirty="0"/>
              <a:t>Signal</a:t>
            </a:r>
            <a:r>
              <a:rPr lang="en-US" spc="-25" dirty="0"/>
              <a:t>s</a:t>
            </a:r>
            <a:endParaRPr spc="-25" dirty="0"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16939" y="1736801"/>
            <a:ext cx="10589262" cy="4095480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702310" indent="-228600">
              <a:lnSpc>
                <a:spcPct val="701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i="1" dirty="0">
                <a:latin typeface="Calibri"/>
                <a:cs typeface="Calibri"/>
              </a:rPr>
              <a:t>Signals </a:t>
            </a:r>
            <a:r>
              <a:rPr sz="2600" spc="-10" dirty="0">
                <a:latin typeface="Calibri"/>
                <a:cs typeface="Calibri"/>
              </a:rPr>
              <a:t>are software </a:t>
            </a:r>
            <a:r>
              <a:rPr sz="2600" spc="-5" dirty="0">
                <a:latin typeface="Calibri"/>
                <a:cs typeface="Calibri"/>
              </a:rPr>
              <a:t>interrupts that </a:t>
            </a:r>
            <a:r>
              <a:rPr sz="2600" spc="-10" dirty="0">
                <a:latin typeface="Calibri"/>
                <a:cs typeface="Calibri"/>
              </a:rPr>
              <a:t>provide </a:t>
            </a:r>
            <a:r>
              <a:rPr sz="2600" dirty="0">
                <a:latin typeface="Calibri"/>
                <a:cs typeface="Calibri"/>
              </a:rPr>
              <a:t>a mechanism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5" dirty="0">
                <a:latin typeface="Calibri"/>
                <a:cs typeface="Calibri"/>
              </a:rPr>
              <a:t>handling  </a:t>
            </a:r>
            <a:r>
              <a:rPr sz="2600" spc="-10" dirty="0">
                <a:latin typeface="Calibri"/>
                <a:cs typeface="Calibri"/>
              </a:rPr>
              <a:t>asynchronous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events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8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Examples</a:t>
            </a:r>
            <a:r>
              <a:rPr lang="en-US" sz="2600" spc="-5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35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5" dirty="0">
                <a:latin typeface="Calibri"/>
                <a:cs typeface="Calibri"/>
              </a:rPr>
              <a:t>A u</a:t>
            </a:r>
            <a:r>
              <a:rPr sz="2200" spc="-5" dirty="0">
                <a:latin typeface="Calibri"/>
                <a:cs typeface="Calibri"/>
              </a:rPr>
              <a:t>ser </a:t>
            </a:r>
            <a:r>
              <a:rPr sz="2200" spc="-10" dirty="0">
                <a:latin typeface="Calibri"/>
                <a:cs typeface="Calibri"/>
              </a:rPr>
              <a:t>press</a:t>
            </a:r>
            <a:r>
              <a:rPr lang="en-US" sz="2200" spc="-10" dirty="0">
                <a:latin typeface="Calibri"/>
                <a:cs typeface="Calibri"/>
              </a:rPr>
              <a:t>ing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Ctrl</a:t>
            </a:r>
            <a:r>
              <a:rPr lang="en-US" sz="2200" spc="-5" dirty="0" err="1">
                <a:latin typeface="Calibri"/>
                <a:cs typeface="Calibri"/>
              </a:rPr>
              <a:t>+</a:t>
            </a:r>
            <a:r>
              <a:rPr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200" spc="-5" dirty="0">
                <a:latin typeface="Calibri"/>
                <a:cs typeface="Calibri"/>
              </a:rPr>
              <a:t> during the execution of a program.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34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10" dirty="0">
                <a:latin typeface="Calibri"/>
                <a:cs typeface="Calibri"/>
              </a:rPr>
              <a:t>A p</a:t>
            </a:r>
            <a:r>
              <a:rPr sz="2200" spc="-10" dirty="0">
                <a:latin typeface="Calibri"/>
                <a:cs typeface="Calibri"/>
              </a:rPr>
              <a:t>rocess </a:t>
            </a:r>
            <a:r>
              <a:rPr sz="2200" spc="-25" dirty="0">
                <a:latin typeface="Calibri"/>
                <a:cs typeface="Calibri"/>
              </a:rPr>
              <a:t>execut</a:t>
            </a:r>
            <a:r>
              <a:rPr lang="en-US" sz="2200" spc="-25" dirty="0">
                <a:latin typeface="Calibri"/>
                <a:cs typeface="Calibri"/>
              </a:rPr>
              <a:t>ing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code </a:t>
            </a:r>
            <a:r>
              <a:rPr sz="2200" spc="-10" dirty="0">
                <a:latin typeface="Calibri"/>
                <a:cs typeface="Calibri"/>
              </a:rPr>
              <a:t>that </a:t>
            </a:r>
            <a:r>
              <a:rPr sz="2200" spc="-5" dirty="0">
                <a:latin typeface="Calibri"/>
                <a:cs typeface="Calibri"/>
              </a:rPr>
              <a:t>divides </a:t>
            </a:r>
            <a:r>
              <a:rPr lang="en-US" sz="2200" spc="-5" dirty="0">
                <a:latin typeface="Calibri"/>
                <a:cs typeface="Calibri"/>
              </a:rPr>
              <a:t>a number </a:t>
            </a:r>
            <a:r>
              <a:rPr sz="2200" spc="-10" dirty="0">
                <a:latin typeface="Calibri"/>
                <a:cs typeface="Calibri"/>
              </a:rPr>
              <a:t>by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zero</a:t>
            </a:r>
            <a:r>
              <a:rPr lang="en-US" sz="2200" spc="-2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marR="532765" lvl="1" indent="-228600">
              <a:lnSpc>
                <a:spcPct val="70000"/>
              </a:lnSpc>
              <a:spcBef>
                <a:spcPts val="64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lang="en-US"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process send</a:t>
            </a:r>
            <a:r>
              <a:rPr lang="en-US" sz="2200" spc="-10" dirty="0">
                <a:latin typeface="Calibri"/>
                <a:cs typeface="Calibri"/>
              </a:rPr>
              <a:t>ing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signal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another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process</a:t>
            </a:r>
            <a:r>
              <a:rPr lang="en-US" sz="2200" spc="-10" dirty="0">
                <a:latin typeface="Calibri"/>
                <a:cs typeface="Calibri"/>
              </a:rPr>
              <a:t> (e.g., its child process.)</a:t>
            </a:r>
            <a:endParaRPr sz="2200" dirty="0">
              <a:latin typeface="Calibri"/>
              <a:cs typeface="Calibri"/>
            </a:endParaRPr>
          </a:p>
          <a:p>
            <a:pPr marL="241300" marR="678815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Not </a:t>
            </a:r>
            <a:r>
              <a:rPr sz="2600" spc="-5" dirty="0">
                <a:latin typeface="Calibri"/>
                <a:cs typeface="Calibri"/>
              </a:rPr>
              <a:t>only </a:t>
            </a:r>
            <a:r>
              <a:rPr lang="en-US" sz="2600" spc="-5" dirty="0">
                <a:latin typeface="Calibri"/>
                <a:cs typeface="Calibri"/>
              </a:rPr>
              <a:t>do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events </a:t>
            </a:r>
            <a:r>
              <a:rPr sz="2600" spc="-5" dirty="0">
                <a:latin typeface="Calibri"/>
                <a:cs typeface="Calibri"/>
              </a:rPr>
              <a:t>occur </a:t>
            </a:r>
            <a:r>
              <a:rPr sz="2600" spc="-10" dirty="0">
                <a:latin typeface="Calibri"/>
                <a:cs typeface="Calibri"/>
              </a:rPr>
              <a:t>asynchronously </a:t>
            </a:r>
            <a:r>
              <a:rPr sz="2600" spc="-5" dirty="0">
                <a:latin typeface="Calibri"/>
                <a:cs typeface="Calibri"/>
              </a:rPr>
              <a:t>(</a:t>
            </a:r>
            <a:r>
              <a:rPr lang="en-US" sz="2600" spc="-5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user can </a:t>
            </a:r>
            <a:r>
              <a:rPr sz="2600" spc="-10" dirty="0">
                <a:latin typeface="Calibri"/>
                <a:cs typeface="Calibri"/>
              </a:rPr>
              <a:t>press </a:t>
            </a:r>
            <a:r>
              <a:rPr lang="en-US"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Ctrl</a:t>
            </a:r>
            <a:r>
              <a:rPr lang="en-US" sz="2600" spc="-5" dirty="0" err="1">
                <a:latin typeface="Calibri"/>
                <a:cs typeface="Calibri"/>
              </a:rPr>
              <a:t>+</a:t>
            </a:r>
            <a:r>
              <a:rPr lang="en-US"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during the execution of any statement,</a:t>
            </a:r>
            <a:r>
              <a:rPr sz="2600" dirty="0">
                <a:latin typeface="Calibri"/>
                <a:cs typeface="Calibri"/>
              </a:rPr>
              <a:t>) </a:t>
            </a:r>
            <a:r>
              <a:rPr lang="en-US" sz="2600" dirty="0">
                <a:latin typeface="Calibri"/>
                <a:cs typeface="Calibri"/>
              </a:rPr>
              <a:t>but also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signals </a:t>
            </a:r>
            <a:r>
              <a:rPr sz="2600" spc="-10" dirty="0">
                <a:latin typeface="Calibri"/>
                <a:cs typeface="Calibri"/>
              </a:rPr>
              <a:t>are </a:t>
            </a:r>
            <a:r>
              <a:rPr sz="2600" dirty="0">
                <a:latin typeface="Calibri"/>
                <a:cs typeface="Calibri"/>
              </a:rPr>
              <a:t>handled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asynchronously</a:t>
            </a:r>
            <a:r>
              <a:rPr lang="en-US" sz="2600" spc="-5" dirty="0">
                <a:latin typeface="Calibri"/>
                <a:cs typeface="Calibri"/>
              </a:rPr>
              <a:t>: code keeps executing until the OS addresses the signal.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POSIX </a:t>
            </a:r>
            <a:r>
              <a:rPr sz="2600" spc="-5" dirty="0">
                <a:latin typeface="Calibri"/>
                <a:cs typeface="Calibri"/>
              </a:rPr>
              <a:t>has </a:t>
            </a:r>
            <a:r>
              <a:rPr sz="2600" spc="-15" dirty="0">
                <a:latin typeface="Calibri"/>
                <a:cs typeface="Calibri"/>
              </a:rPr>
              <a:t>standardized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dirty="0">
                <a:latin typeface="Calibri"/>
                <a:cs typeface="Calibri"/>
              </a:rPr>
              <a:t>handling, which </a:t>
            </a:r>
            <a:r>
              <a:rPr sz="2600" spc="-5" dirty="0">
                <a:latin typeface="Calibri"/>
                <a:cs typeface="Calibri"/>
              </a:rPr>
              <a:t>Linux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lang="en-US" sz="2600" spc="-75" dirty="0">
                <a:latin typeface="Calibri"/>
                <a:cs typeface="Calibri"/>
              </a:rPr>
              <a:t>implementations </a:t>
            </a:r>
            <a:r>
              <a:rPr sz="2600" spc="-20" dirty="0">
                <a:latin typeface="Calibri"/>
                <a:cs typeface="Calibri"/>
              </a:rPr>
              <a:t>follow</a:t>
            </a:r>
            <a:r>
              <a:rPr lang="en-US" sz="2600" spc="-2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Most </a:t>
            </a:r>
            <a:r>
              <a:rPr lang="en-US" sz="2600" spc="-5" dirty="0">
                <a:latin typeface="Calibri"/>
                <a:cs typeface="Calibri"/>
              </a:rPr>
              <a:t>serious</a:t>
            </a:r>
            <a:r>
              <a:rPr sz="2600" spc="-5" dirty="0">
                <a:latin typeface="Calibri"/>
                <a:cs typeface="Calibri"/>
              </a:rPr>
              <a:t> applications </a:t>
            </a:r>
            <a:r>
              <a:rPr sz="2600" spc="-10" dirty="0">
                <a:latin typeface="Calibri"/>
                <a:cs typeface="Calibri"/>
              </a:rPr>
              <a:t>interact </a:t>
            </a:r>
            <a:r>
              <a:rPr sz="2600" dirty="0">
                <a:latin typeface="Calibri"/>
                <a:cs typeface="Calibri"/>
              </a:rPr>
              <a:t>with signals, and </a:t>
            </a:r>
            <a:r>
              <a:rPr sz="2600" spc="-15" dirty="0">
                <a:latin typeface="Calibri"/>
                <a:cs typeface="Calibri"/>
              </a:rPr>
              <a:t>you </a:t>
            </a:r>
            <a:r>
              <a:rPr lang="en-US" sz="2600" spc="-15" dirty="0">
                <a:latin typeface="Calibri"/>
                <a:cs typeface="Calibri"/>
              </a:rPr>
              <a:t>too </a:t>
            </a:r>
            <a:r>
              <a:rPr sz="2600" spc="-15" dirty="0">
                <a:latin typeface="Calibri"/>
                <a:cs typeface="Calibri"/>
              </a:rPr>
              <a:t>may </a:t>
            </a:r>
            <a:r>
              <a:rPr sz="2600" spc="-5" dirty="0">
                <a:latin typeface="Calibri"/>
                <a:cs typeface="Calibri"/>
              </a:rPr>
              <a:t>be </a:t>
            </a:r>
            <a:r>
              <a:rPr lang="en-US" sz="2600" spc="-20" dirty="0">
                <a:latin typeface="Calibri"/>
                <a:cs typeface="Calibri"/>
              </a:rPr>
              <a:t>required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 work </a:t>
            </a:r>
            <a:r>
              <a:rPr sz="2600" dirty="0">
                <a:latin typeface="Calibri"/>
                <a:cs typeface="Calibri"/>
              </a:rPr>
              <a:t>with them </a:t>
            </a:r>
            <a:r>
              <a:rPr sz="2600" spc="5" dirty="0">
                <a:latin typeface="Calibri"/>
                <a:cs typeface="Calibri"/>
              </a:rPr>
              <a:t>(e.g.</a:t>
            </a:r>
            <a:r>
              <a:rPr lang="en-US" sz="2600" spc="5" dirty="0">
                <a:latin typeface="Calibri"/>
                <a:cs typeface="Calibri"/>
              </a:rPr>
              <a:t>,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handling </a:t>
            </a:r>
            <a:r>
              <a:rPr sz="2600" spc="-15" dirty="0">
                <a:latin typeface="Calibri"/>
                <a:cs typeface="Calibri"/>
              </a:rPr>
              <a:t>program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termination</a:t>
            </a:r>
            <a:r>
              <a:rPr lang="en-US" sz="2600" spc="-5" dirty="0">
                <a:latin typeface="Calibri"/>
                <a:cs typeface="Calibri"/>
              </a:rPr>
              <a:t> signals.</a:t>
            </a:r>
            <a:r>
              <a:rPr sz="2600" spc="-5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492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Signal</a:t>
            </a:r>
            <a:r>
              <a:rPr spc="-160" dirty="0"/>
              <a:t> </a:t>
            </a:r>
            <a:r>
              <a:rPr spc="-35" dirty="0"/>
              <a:t>Concepts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16939" y="1717547"/>
            <a:ext cx="10817861" cy="4774384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 signal </a:t>
            </a:r>
            <a:r>
              <a:rPr sz="2800" spc="-10" dirty="0">
                <a:latin typeface="Calibri"/>
                <a:cs typeface="Calibri"/>
              </a:rPr>
              <a:t>is </a:t>
            </a:r>
            <a:r>
              <a:rPr sz="2800" spc="-25" dirty="0">
                <a:latin typeface="Calibri"/>
                <a:cs typeface="Calibri"/>
              </a:rPr>
              <a:t>first </a:t>
            </a:r>
            <a:r>
              <a:rPr sz="2800" i="1" spc="-5" dirty="0">
                <a:latin typeface="Calibri"/>
                <a:cs typeface="Calibri"/>
              </a:rPr>
              <a:t>raised </a:t>
            </a:r>
            <a:r>
              <a:rPr sz="2800" spc="-5" dirty="0">
                <a:latin typeface="Calibri"/>
                <a:cs typeface="Calibri"/>
              </a:rPr>
              <a:t>(</a:t>
            </a:r>
            <a:r>
              <a:rPr lang="en-US" sz="2800" spc="-5" dirty="0">
                <a:latin typeface="Calibri"/>
                <a:cs typeface="Calibri"/>
              </a:rPr>
              <a:t>also: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i="1" spc="-15" dirty="0">
                <a:latin typeface="Calibri"/>
                <a:cs typeface="Calibri"/>
              </a:rPr>
              <a:t>sent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generated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800" spc="-15" dirty="0">
                <a:latin typeface="Calibri"/>
                <a:cs typeface="Calibri"/>
              </a:rPr>
              <a:t>The k</a:t>
            </a:r>
            <a:r>
              <a:rPr sz="2800" spc="-15" dirty="0">
                <a:latin typeface="Calibri"/>
                <a:cs typeface="Calibri"/>
              </a:rPr>
              <a:t>ernel</a:t>
            </a:r>
            <a:r>
              <a:rPr lang="en-US" sz="2800" spc="-15" dirty="0">
                <a:latin typeface="Calibri"/>
                <a:cs typeface="Calibri"/>
              </a:rPr>
              <a:t> then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stores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signal until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lang="en-US" sz="2800" spc="-10" dirty="0">
                <a:latin typeface="Calibri"/>
                <a:cs typeface="Calibri"/>
              </a:rPr>
              <a:t>can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deliver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843915" indent="-228600">
              <a:lnSpc>
                <a:spcPts val="269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When </a:t>
            </a:r>
            <a:r>
              <a:rPr sz="2800" spc="-25" dirty="0">
                <a:latin typeface="Calibri"/>
                <a:cs typeface="Calibri"/>
              </a:rPr>
              <a:t>it’s </a:t>
            </a:r>
            <a:r>
              <a:rPr sz="2800" spc="-15" dirty="0">
                <a:latin typeface="Calibri"/>
                <a:cs typeface="Calibri"/>
              </a:rPr>
              <a:t>free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do </a:t>
            </a:r>
            <a:r>
              <a:rPr sz="2800" spc="-20" dirty="0">
                <a:latin typeface="Calibri"/>
                <a:cs typeface="Calibri"/>
              </a:rPr>
              <a:t>so, </a:t>
            </a:r>
            <a:r>
              <a:rPr lang="en-US" sz="2800" spc="-20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kernel </a:t>
            </a:r>
            <a:r>
              <a:rPr sz="2800" i="1" spc="-10" dirty="0">
                <a:latin typeface="Calibri"/>
                <a:cs typeface="Calibri"/>
              </a:rPr>
              <a:t>handles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signal </a:t>
            </a:r>
            <a:r>
              <a:rPr sz="2800" spc="-5" dirty="0">
                <a:latin typeface="Calibri"/>
                <a:cs typeface="Calibri"/>
              </a:rPr>
              <a:t>as </a:t>
            </a:r>
            <a:r>
              <a:rPr sz="2800" spc="-15" dirty="0">
                <a:latin typeface="Calibri"/>
                <a:cs typeface="Calibri"/>
              </a:rPr>
              <a:t>appropriate.</a:t>
            </a:r>
            <a:endParaRPr lang="en-US" sz="2800" spc="-15" dirty="0">
              <a:latin typeface="Calibri"/>
              <a:cs typeface="Calibri"/>
            </a:endParaRPr>
          </a:p>
          <a:p>
            <a:pPr marL="241300" marR="843915" indent="-228600">
              <a:lnSpc>
                <a:spcPts val="269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5" dirty="0">
                <a:latin typeface="Calibri"/>
                <a:cs typeface="Calibri"/>
              </a:rPr>
              <a:t>There are </a:t>
            </a:r>
            <a:r>
              <a:rPr sz="2800" spc="-5" dirty="0">
                <a:latin typeface="Calibri"/>
                <a:cs typeface="Calibri"/>
              </a:rPr>
              <a:t>3 </a:t>
            </a:r>
            <a:r>
              <a:rPr sz="2800" dirty="0">
                <a:latin typeface="Calibri"/>
                <a:cs typeface="Calibri"/>
              </a:rPr>
              <a:t>actions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kernel </a:t>
            </a:r>
            <a:r>
              <a:rPr sz="2800" spc="-20" dirty="0">
                <a:latin typeface="Calibri"/>
                <a:cs typeface="Calibri"/>
              </a:rPr>
              <a:t>may </a:t>
            </a:r>
            <a:r>
              <a:rPr sz="2800" spc="-5" dirty="0">
                <a:latin typeface="Calibri"/>
                <a:cs typeface="Calibri"/>
              </a:rPr>
              <a:t>choose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perform:</a:t>
            </a:r>
            <a:endParaRPr sz="2800" dirty="0">
              <a:latin typeface="Calibri"/>
              <a:cs typeface="Calibri"/>
            </a:endParaRPr>
          </a:p>
          <a:p>
            <a:pPr marL="682625" marR="940435" lvl="1" indent="-398463">
              <a:lnSpc>
                <a:spcPct val="80000"/>
              </a:lnSpc>
              <a:spcBef>
                <a:spcPts val="530"/>
              </a:spcBef>
              <a:buFont typeface="+mj-lt"/>
              <a:buAutoNum type="arabicPeriod"/>
              <a:tabLst>
                <a:tab pos="699135" algn="l"/>
              </a:tabLst>
            </a:pPr>
            <a:r>
              <a:rPr sz="2400" b="1" spc="-5" dirty="0">
                <a:latin typeface="Calibri"/>
                <a:cs typeface="Calibri"/>
              </a:rPr>
              <a:t>Ignore the </a:t>
            </a:r>
            <a:r>
              <a:rPr sz="2400" b="1" dirty="0">
                <a:latin typeface="Calibri"/>
                <a:cs typeface="Calibri"/>
              </a:rPr>
              <a:t>signal</a:t>
            </a:r>
            <a:r>
              <a:rPr sz="2400" dirty="0">
                <a:latin typeface="Calibri"/>
                <a:cs typeface="Calibri"/>
              </a:rPr>
              <a:t>. </a:t>
            </a:r>
            <a:r>
              <a:rPr sz="2400" dirty="0"/>
              <a:t>However</a:t>
            </a:r>
            <a:r>
              <a:rPr lang="en-US" sz="2400" dirty="0"/>
              <a:t>,</a:t>
            </a:r>
            <a:r>
              <a:rPr sz="2400" dirty="0"/>
              <a:t> </a:t>
            </a:r>
            <a:r>
              <a:rPr lang="en-US" sz="2400" dirty="0"/>
              <a:t>there are 2</a:t>
            </a:r>
            <a:r>
              <a:rPr sz="2400" dirty="0"/>
              <a:t> signals cannot be ignored:</a:t>
            </a:r>
            <a:r>
              <a:rPr lang="en-US" sz="2400" dirty="0"/>
              <a:t>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SIGKILL</a:t>
            </a:r>
            <a:r>
              <a:rPr sz="2400" dirty="0"/>
              <a:t> and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SIGSTOP</a:t>
            </a:r>
            <a:r>
              <a:rPr lang="en-US" sz="2400" dirty="0"/>
              <a:t> since the administrator must have the power to </a:t>
            </a:r>
            <a:r>
              <a:rPr sz="2400" dirty="0"/>
              <a:t>kill/stop processes</a:t>
            </a:r>
            <a:r>
              <a:rPr lang="en-US" sz="2400" dirty="0"/>
              <a:t> (Think of a cyber attack that the sysadmin must stop.)</a:t>
            </a:r>
            <a:endParaRPr sz="2400" dirty="0"/>
          </a:p>
          <a:p>
            <a:pPr marL="682625" marR="93980" lvl="1" indent="-398463">
              <a:lnSpc>
                <a:spcPct val="80000"/>
              </a:lnSpc>
              <a:spcBef>
                <a:spcPts val="505"/>
              </a:spcBef>
              <a:buFont typeface="+mj-lt"/>
              <a:buAutoNum type="arabicPeriod"/>
              <a:tabLst>
                <a:tab pos="699135" algn="l"/>
              </a:tabLst>
            </a:pPr>
            <a:r>
              <a:rPr sz="2400" b="1" spc="-15" dirty="0">
                <a:latin typeface="Calibri"/>
                <a:cs typeface="Calibri"/>
              </a:rPr>
              <a:t>Catch </a:t>
            </a:r>
            <a:r>
              <a:rPr sz="2400" b="1" dirty="0">
                <a:latin typeface="Calibri"/>
                <a:cs typeface="Calibri"/>
              </a:rPr>
              <a:t>and </a:t>
            </a:r>
            <a:r>
              <a:rPr sz="2400" b="1" spc="-5" dirty="0">
                <a:latin typeface="Calibri"/>
                <a:cs typeface="Calibri"/>
              </a:rPr>
              <a:t>handle the </a:t>
            </a:r>
            <a:r>
              <a:rPr sz="2400" b="1" dirty="0">
                <a:latin typeface="Calibri"/>
                <a:cs typeface="Calibri"/>
              </a:rPr>
              <a:t>signal</a:t>
            </a:r>
            <a:r>
              <a:rPr sz="2400" dirty="0">
                <a:latin typeface="Calibri"/>
                <a:cs typeface="Calibri"/>
              </a:rPr>
              <a:t>. </a:t>
            </a:r>
            <a:r>
              <a:rPr lang="en-US" sz="2400" dirty="0">
                <a:latin typeface="Calibri"/>
                <a:cs typeface="Calibri"/>
              </a:rPr>
              <a:t>The k</a:t>
            </a:r>
            <a:r>
              <a:rPr sz="2400" spc="-10" dirty="0">
                <a:latin typeface="Calibri"/>
                <a:cs typeface="Calibri"/>
              </a:rPr>
              <a:t>ernel </a:t>
            </a:r>
            <a:r>
              <a:rPr sz="2400" spc="-5" dirty="0">
                <a:latin typeface="Calibri"/>
                <a:cs typeface="Calibri"/>
              </a:rPr>
              <a:t>suspends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5" dirty="0">
                <a:latin typeface="Calibri"/>
                <a:cs typeface="Calibri"/>
              </a:rPr>
              <a:t>process’s </a:t>
            </a:r>
            <a:r>
              <a:rPr sz="2400" spc="-10" dirty="0">
                <a:latin typeface="Calibri"/>
                <a:cs typeface="Calibri"/>
              </a:rPr>
              <a:t>current </a:t>
            </a:r>
            <a:r>
              <a:rPr sz="2400" spc="-15" dirty="0">
                <a:latin typeface="Calibri"/>
                <a:cs typeface="Calibri"/>
              </a:rPr>
              <a:t>execution 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jumps </a:t>
            </a:r>
            <a:r>
              <a:rPr sz="2400" spc="-20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registered </a:t>
            </a:r>
            <a:r>
              <a:rPr sz="2400" spc="-5" dirty="0">
                <a:latin typeface="Calibri"/>
                <a:cs typeface="Calibri"/>
              </a:rPr>
              <a:t>function (handler)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5" dirty="0">
                <a:latin typeface="Calibri"/>
                <a:cs typeface="Calibri"/>
              </a:rPr>
              <a:t>executes </a:t>
            </a:r>
            <a:r>
              <a:rPr sz="2400" spc="-5" dirty="0">
                <a:latin typeface="Calibri"/>
                <a:cs typeface="Calibri"/>
              </a:rPr>
              <a:t>that. Once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process returns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30" dirty="0">
                <a:latin typeface="Calibri"/>
                <a:cs typeface="Calibri"/>
              </a:rPr>
              <a:t>handler,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0" dirty="0">
                <a:latin typeface="Calibri"/>
                <a:cs typeface="Calibri"/>
              </a:rPr>
              <a:t>jumps </a:t>
            </a:r>
            <a:r>
              <a:rPr sz="2400" spc="-5" dirty="0">
                <a:latin typeface="Calibri"/>
                <a:cs typeface="Calibri"/>
              </a:rPr>
              <a:t>back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lang="en-US" sz="2400" spc="-10" dirty="0">
                <a:latin typeface="Calibri"/>
                <a:cs typeface="Calibri"/>
              </a:rPr>
              <a:t>the instruction that </a:t>
            </a:r>
            <a:r>
              <a:rPr sz="2400" spc="-10" dirty="0">
                <a:latin typeface="Calibri"/>
                <a:cs typeface="Calibri"/>
              </a:rPr>
              <a:t>was </a:t>
            </a:r>
            <a:r>
              <a:rPr lang="en-US" sz="2400" spc="-10" dirty="0">
                <a:latin typeface="Calibri"/>
                <a:cs typeface="Calibri"/>
              </a:rPr>
              <a:t>executing </a:t>
            </a:r>
            <a:r>
              <a:rPr sz="2400" dirty="0">
                <a:latin typeface="Calibri"/>
                <a:cs typeface="Calibri"/>
              </a:rPr>
              <a:t>when the </a:t>
            </a:r>
            <a:r>
              <a:rPr sz="2400" spc="-5" dirty="0">
                <a:latin typeface="Calibri"/>
                <a:cs typeface="Calibri"/>
              </a:rPr>
              <a:t>signal</a:t>
            </a:r>
            <a:r>
              <a:rPr lang="en-US" sz="2400" spc="-5" dirty="0">
                <a:latin typeface="Calibri"/>
                <a:cs typeface="Calibri"/>
              </a:rPr>
              <a:t> was </a:t>
            </a:r>
            <a:r>
              <a:rPr lang="en-US" sz="2400" spc="-10" dirty="0">
                <a:cs typeface="Calibri"/>
              </a:rPr>
              <a:t>caught</a:t>
            </a:r>
            <a:r>
              <a:rPr sz="2400" spc="-5" dirty="0">
                <a:latin typeface="Calibri"/>
                <a:cs typeface="Calibri"/>
              </a:rPr>
              <a:t>.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SIGKILL</a:t>
            </a:r>
            <a:r>
              <a:rPr sz="2400" spc="-10" dirty="0">
                <a:latin typeface="Calibri"/>
                <a:cs typeface="Calibri"/>
              </a:rPr>
              <a:t>/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SIGSTOP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also </a:t>
            </a:r>
            <a:r>
              <a:rPr sz="2400" spc="-5" dirty="0">
                <a:latin typeface="Calibri"/>
                <a:cs typeface="Calibri"/>
              </a:rPr>
              <a:t>cannot 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caught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82625" marR="5080" lvl="1" indent="-398463">
              <a:lnSpc>
                <a:spcPct val="80000"/>
              </a:lnSpc>
              <a:spcBef>
                <a:spcPts val="500"/>
              </a:spcBef>
              <a:buFont typeface="+mj-lt"/>
              <a:buAutoNum type="arabicPeriod"/>
              <a:tabLst>
                <a:tab pos="699135" algn="l"/>
              </a:tabLst>
            </a:pPr>
            <a:r>
              <a:rPr sz="2400" b="1" spc="-15" dirty="0">
                <a:latin typeface="Calibri"/>
                <a:cs typeface="Calibri"/>
              </a:rPr>
              <a:t>Perform </a:t>
            </a:r>
            <a:r>
              <a:rPr sz="2400" b="1" spc="-5" dirty="0">
                <a:latin typeface="Calibri"/>
                <a:cs typeface="Calibri"/>
              </a:rPr>
              <a:t>the </a:t>
            </a:r>
            <a:r>
              <a:rPr sz="2400" b="1" spc="-10" dirty="0">
                <a:latin typeface="Calibri"/>
                <a:cs typeface="Calibri"/>
              </a:rPr>
              <a:t>default </a:t>
            </a:r>
            <a:r>
              <a:rPr sz="2400" b="1" dirty="0">
                <a:latin typeface="Calibri"/>
                <a:cs typeface="Calibri"/>
              </a:rPr>
              <a:t>action</a:t>
            </a:r>
            <a:r>
              <a:rPr sz="2400" dirty="0">
                <a:latin typeface="Calibri"/>
                <a:cs typeface="Calibri"/>
              </a:rPr>
              <a:t>. </a:t>
            </a:r>
            <a:r>
              <a:rPr lang="en-US" sz="2400" dirty="0">
                <a:latin typeface="Calibri"/>
                <a:cs typeface="Calibri"/>
              </a:rPr>
              <a:t>Each signal has its own d</a:t>
            </a:r>
            <a:r>
              <a:rPr sz="2400" spc="-15" dirty="0">
                <a:latin typeface="Calibri"/>
                <a:cs typeface="Calibri"/>
              </a:rPr>
              <a:t>efault</a:t>
            </a:r>
            <a:r>
              <a:rPr lang="en-US" sz="2400" spc="-15" dirty="0">
                <a:latin typeface="Calibri"/>
                <a:cs typeface="Calibri"/>
              </a:rPr>
              <a:t> action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O</a:t>
            </a:r>
            <a:r>
              <a:rPr sz="2400" spc="-10" dirty="0">
                <a:latin typeface="Calibri"/>
                <a:cs typeface="Calibri"/>
              </a:rPr>
              <a:t>ften </a:t>
            </a:r>
            <a:r>
              <a:rPr sz="2400" dirty="0">
                <a:latin typeface="Calibri"/>
                <a:cs typeface="Calibri"/>
              </a:rPr>
              <a:t>it is </a:t>
            </a:r>
            <a:r>
              <a:rPr sz="2400" spc="-15" dirty="0">
                <a:latin typeface="Calibri"/>
                <a:cs typeface="Calibri"/>
              </a:rPr>
              <a:t>to  </a:t>
            </a:r>
            <a:r>
              <a:rPr sz="2400" spc="-10" dirty="0">
                <a:latin typeface="Calibri"/>
                <a:cs typeface="Calibri"/>
              </a:rPr>
              <a:t>terminate </a:t>
            </a:r>
            <a:r>
              <a:rPr lang="en-US" sz="2400" spc="-10" dirty="0">
                <a:latin typeface="Calibri"/>
                <a:cs typeface="Calibri"/>
              </a:rPr>
              <a:t>(exit)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process, </a:t>
            </a:r>
            <a:r>
              <a:rPr sz="2400" dirty="0">
                <a:latin typeface="Calibri"/>
                <a:cs typeface="Calibri"/>
              </a:rPr>
              <a:t>as with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SIGKILL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spc="-1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6639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Signal</a:t>
            </a:r>
            <a:r>
              <a:rPr spc="-120" dirty="0"/>
              <a:t> </a:t>
            </a:r>
            <a:r>
              <a:rPr spc="-45" dirty="0"/>
              <a:t>Identifiers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16939" y="1773377"/>
            <a:ext cx="10513061" cy="45858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5" dirty="0">
                <a:latin typeface="Calibri"/>
                <a:cs typeface="Calibri"/>
              </a:rPr>
              <a:t>Every </a:t>
            </a:r>
            <a:r>
              <a:rPr sz="2400" spc="-5" dirty="0">
                <a:latin typeface="Calibri"/>
                <a:cs typeface="Calibri"/>
              </a:rPr>
              <a:t>signal has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symbolic </a:t>
            </a:r>
            <a:r>
              <a:rPr sz="2400" spc="-5" dirty="0">
                <a:latin typeface="Calibri"/>
                <a:cs typeface="Calibri"/>
              </a:rPr>
              <a:t>name that </a:t>
            </a:r>
            <a:r>
              <a:rPr sz="2400" spc="-10" dirty="0">
                <a:latin typeface="Calibri"/>
                <a:cs typeface="Calibri"/>
              </a:rPr>
              <a:t>starts </a:t>
            </a:r>
            <a:r>
              <a:rPr sz="2400" dirty="0">
                <a:latin typeface="Calibri"/>
                <a:cs typeface="Calibri"/>
              </a:rPr>
              <a:t>with the </a:t>
            </a:r>
            <a:r>
              <a:rPr sz="2400" spc="-15" dirty="0">
                <a:latin typeface="Calibri"/>
                <a:cs typeface="Calibri"/>
              </a:rPr>
              <a:t>prefix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</a:t>
            </a:r>
            <a:r>
              <a:rPr lang="en-US" sz="2400" spc="-15" dirty="0">
                <a:latin typeface="Calibri"/>
                <a:cs typeface="Calibri"/>
              </a:rPr>
              <a:t>. Examples:</a:t>
            </a:r>
            <a:endParaRPr sz="2400" spc="-15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SIGINT</a:t>
            </a:r>
            <a:r>
              <a:rPr sz="2000" spc="-25" dirty="0">
                <a:latin typeface="Calibri"/>
                <a:cs typeface="Calibri"/>
              </a:rPr>
              <a:t>: </a:t>
            </a:r>
            <a:r>
              <a:rPr lang="en-US" sz="2000" spc="-25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user presses </a:t>
            </a:r>
            <a:r>
              <a:rPr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Ctrl</a:t>
            </a:r>
            <a:r>
              <a:rPr lang="en-US" sz="2000" spc="-5" dirty="0" err="1">
                <a:latin typeface="Calibri"/>
                <a:cs typeface="Calibri"/>
              </a:rPr>
              <a:t>+</a:t>
            </a:r>
            <a:r>
              <a:rPr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2000" spc="-5" dirty="0">
                <a:latin typeface="Calibri"/>
                <a:cs typeface="Calibri"/>
              </a:rPr>
              <a:t>.</a:t>
            </a:r>
          </a:p>
          <a:p>
            <a:pPr marL="698500" lvl="1" indent="-229235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699135" algn="l"/>
              </a:tabLst>
            </a:pPr>
            <a:r>
              <a:rPr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SIGABRT</a:t>
            </a:r>
            <a:r>
              <a:rPr sz="2000" spc="-25" dirty="0">
                <a:latin typeface="Calibri"/>
                <a:cs typeface="Calibri"/>
              </a:rPr>
              <a:t>: </a:t>
            </a:r>
            <a:r>
              <a:rPr lang="en-US" sz="2000" spc="-25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process </a:t>
            </a:r>
            <a:r>
              <a:rPr sz="2000" spc="-5" dirty="0">
                <a:latin typeface="Calibri"/>
                <a:cs typeface="Calibri"/>
              </a:rPr>
              <a:t>calls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abort()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function</a:t>
            </a:r>
            <a:r>
              <a:rPr lang="en-US" sz="200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marR="554990" indent="-228600">
              <a:lnSpc>
                <a:spcPts val="23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These signals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5" dirty="0">
                <a:latin typeface="Calibri"/>
                <a:cs typeface="Calibri"/>
              </a:rPr>
              <a:t>defined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&lt;signal.h&gt;</a:t>
            </a:r>
            <a:r>
              <a:rPr sz="2400" spc="-5" dirty="0">
                <a:latin typeface="+mj-lt"/>
                <a:cs typeface="Courier New" panose="02070309020205020404" pitchFamily="49" charset="0"/>
              </a:rPr>
              <a:t>,</a:t>
            </a:r>
            <a:r>
              <a:rPr sz="2400" spc="-10" dirty="0">
                <a:latin typeface="+mj-lt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 </a:t>
            </a:r>
            <a:r>
              <a:rPr sz="2400" spc="-10" dirty="0">
                <a:latin typeface="Calibri"/>
                <a:cs typeface="Calibri"/>
              </a:rPr>
              <a:t>preprocessor definitions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 represent positive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integers</a:t>
            </a:r>
            <a:r>
              <a:rPr lang="en-US" sz="2400" spc="-15" dirty="0">
                <a:latin typeface="Calibri"/>
                <a:cs typeface="Calibri"/>
              </a:rPr>
              <a:t>, e.g., </a:t>
            </a:r>
            <a:r>
              <a:rPr lang="en-US" sz="2200" b="0" i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#define </a:t>
            </a:r>
            <a:r>
              <a:rPr lang="en-US" sz="2200" b="0" i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SIGHUP</a:t>
            </a:r>
            <a:r>
              <a:rPr lang="en-US" sz="2200" b="0" i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 1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  <a:p>
            <a:pPr marL="241300" marR="17780" indent="-228600">
              <a:lnSpc>
                <a:spcPts val="23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35" dirty="0">
                <a:latin typeface="Calibri"/>
                <a:cs typeface="Calibri"/>
              </a:rPr>
              <a:t>However,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name-to-integer </a:t>
            </a:r>
            <a:r>
              <a:rPr sz="2400" dirty="0">
                <a:latin typeface="Calibri"/>
                <a:cs typeface="Calibri"/>
              </a:rPr>
              <a:t>mapping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" dirty="0">
                <a:latin typeface="Calibri"/>
                <a:cs typeface="Calibri"/>
              </a:rPr>
              <a:t>signals </a:t>
            </a:r>
            <a:r>
              <a:rPr lang="en-US" sz="2400" spc="-10" dirty="0">
                <a:cs typeface="Calibri"/>
              </a:rPr>
              <a:t>depend</a:t>
            </a:r>
            <a:r>
              <a:rPr lang="en-US" sz="2400" spc="-10" dirty="0">
                <a:latin typeface="Calibri"/>
                <a:cs typeface="Calibri"/>
              </a:rPr>
              <a:t>s on the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implementation  </a:t>
            </a:r>
            <a:r>
              <a:rPr sz="2400" spc="-5" dirty="0">
                <a:latin typeface="Calibri"/>
                <a:cs typeface="Calibri"/>
              </a:rPr>
              <a:t>(though some </a:t>
            </a:r>
            <a:r>
              <a:rPr sz="2400" spc="-10" dirty="0">
                <a:latin typeface="Calibri"/>
                <a:cs typeface="Calibri"/>
              </a:rPr>
              <a:t>are fixed, </a:t>
            </a:r>
            <a:r>
              <a:rPr sz="2400" spc="-5" dirty="0">
                <a:latin typeface="Calibri"/>
                <a:cs typeface="Calibri"/>
              </a:rPr>
              <a:t>such </a:t>
            </a:r>
            <a:r>
              <a:rPr sz="2400" dirty="0">
                <a:latin typeface="Calibri"/>
                <a:cs typeface="Calibri"/>
              </a:rPr>
              <a:t>as </a:t>
            </a: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SIGKILL</a:t>
            </a:r>
            <a:r>
              <a:rPr sz="2400" dirty="0">
                <a:latin typeface="Calibri"/>
                <a:cs typeface="Calibri"/>
              </a:rPr>
              <a:t>, </a:t>
            </a:r>
            <a:r>
              <a:rPr lang="en-US" sz="2400" spc="-5" dirty="0">
                <a:latin typeface="Calibri"/>
                <a:cs typeface="Calibri"/>
              </a:rPr>
              <a:t>which is always</a:t>
            </a:r>
            <a:r>
              <a:rPr sz="2400" spc="-5" dirty="0">
                <a:latin typeface="Calibri"/>
                <a:cs typeface="Calibri"/>
              </a:rPr>
              <a:t> 9). </a:t>
            </a:r>
            <a:r>
              <a:rPr sz="2400" spc="-20" dirty="0">
                <a:latin typeface="Calibri"/>
                <a:cs typeface="Calibri"/>
              </a:rPr>
              <a:t>Therefore</a:t>
            </a:r>
            <a:r>
              <a:rPr lang="en-US" sz="2400" spc="-20" dirty="0">
                <a:latin typeface="Calibri"/>
                <a:cs typeface="Calibri"/>
              </a:rPr>
              <a:t>,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portable </a:t>
            </a:r>
            <a:r>
              <a:rPr sz="2400" spc="-15" dirty="0">
                <a:latin typeface="Calibri"/>
                <a:cs typeface="Calibri"/>
              </a:rPr>
              <a:t>program </a:t>
            </a:r>
            <a:r>
              <a:rPr sz="2400" spc="-5" dirty="0">
                <a:latin typeface="Calibri"/>
                <a:cs typeface="Calibri"/>
              </a:rPr>
              <a:t>should not use </a:t>
            </a:r>
            <a:r>
              <a:rPr sz="2400" spc="-10" dirty="0">
                <a:latin typeface="Calibri"/>
                <a:cs typeface="Calibri"/>
              </a:rPr>
              <a:t>integer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values</a:t>
            </a:r>
            <a:r>
              <a:rPr lang="en-US" sz="2400" spc="-10" dirty="0">
                <a:latin typeface="Calibri"/>
                <a:cs typeface="Calibri"/>
              </a:rPr>
              <a:t> (e.g., use </a:t>
            </a:r>
            <a:r>
              <a:rPr lang="en-US" sz="22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SIGHUP</a:t>
            </a:r>
            <a:r>
              <a:rPr lang="en-US" sz="2400" b="0" i="0" dirty="0">
                <a:solidFill>
                  <a:srgbClr val="0070C0"/>
                </a:solidFill>
                <a:effectLst/>
              </a:rPr>
              <a:t> </a:t>
            </a:r>
            <a:r>
              <a:rPr lang="en-US" sz="2400" dirty="0">
                <a:latin typeface="Calibri"/>
                <a:cs typeface="Calibri"/>
              </a:rPr>
              <a:t>instead of </a:t>
            </a:r>
            <a:r>
              <a:rPr lang="en-US"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400" dirty="0">
                <a:latin typeface="Calibri"/>
                <a:cs typeface="Calibri"/>
              </a:rPr>
              <a:t>.)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595"/>
              </a:lnSpc>
              <a:spcBef>
                <a:spcPts val="4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Signal </a:t>
            </a:r>
            <a:r>
              <a:rPr sz="2400" spc="-10" dirty="0">
                <a:latin typeface="Calibri"/>
                <a:cs typeface="Calibri"/>
              </a:rPr>
              <a:t>numbers start at </a:t>
            </a:r>
            <a:r>
              <a:rPr sz="2400" dirty="0">
                <a:latin typeface="Calibri"/>
                <a:cs typeface="Calibri"/>
              </a:rPr>
              <a:t>1 and </a:t>
            </a:r>
            <a:r>
              <a:rPr sz="2400" spc="-15" dirty="0">
                <a:latin typeface="Calibri"/>
                <a:cs typeface="Calibri"/>
              </a:rPr>
              <a:t>grow </a:t>
            </a:r>
            <a:r>
              <a:rPr sz="2400" dirty="0">
                <a:latin typeface="Calibri"/>
                <a:cs typeface="Calibri"/>
              </a:rPr>
              <a:t>linearly </a:t>
            </a:r>
            <a:r>
              <a:rPr sz="2400" spc="-15" dirty="0">
                <a:latin typeface="Calibri"/>
                <a:cs typeface="Calibri"/>
              </a:rPr>
              <a:t>upward. </a:t>
            </a:r>
            <a:r>
              <a:rPr lang="en-US" sz="2400" spc="-5" dirty="0">
                <a:latin typeface="Calibri"/>
                <a:cs typeface="Calibri"/>
              </a:rPr>
              <a:t>There is no signal with the value 0, which 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known </a:t>
            </a:r>
            <a:r>
              <a:rPr sz="2400" dirty="0">
                <a:latin typeface="Calibri"/>
                <a:cs typeface="Calibri"/>
              </a:rPr>
              <a:t>as the </a:t>
            </a:r>
            <a:r>
              <a:rPr sz="2400" i="1" spc="-5" dirty="0">
                <a:latin typeface="Calibri"/>
                <a:cs typeface="Calibri"/>
              </a:rPr>
              <a:t>null signal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146050" indent="-228600">
              <a:lnSpc>
                <a:spcPts val="23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There are </a:t>
            </a:r>
            <a:r>
              <a:rPr sz="2400" spc="-5" dirty="0">
                <a:latin typeface="Calibri"/>
                <a:cs typeface="Calibri"/>
              </a:rPr>
              <a:t>about </a:t>
            </a:r>
            <a:r>
              <a:rPr sz="2400" dirty="0">
                <a:latin typeface="Calibri"/>
                <a:cs typeface="Calibri"/>
              </a:rPr>
              <a:t>31 </a:t>
            </a:r>
            <a:r>
              <a:rPr sz="2400" spc="-5" dirty="0">
                <a:latin typeface="Calibri"/>
                <a:cs typeface="Calibri"/>
              </a:rPr>
              <a:t>signals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total</a:t>
            </a:r>
            <a:r>
              <a:rPr lang="en-US" sz="2400" spc="-10" dirty="0">
                <a:latin typeface="Calibri"/>
                <a:cs typeface="Calibri"/>
              </a:rPr>
              <a:t> supported by Linux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400" spc="-5" dirty="0">
                <a:latin typeface="Calibri"/>
                <a:cs typeface="Calibri"/>
              </a:rPr>
              <a:t>but only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handful of </a:t>
            </a:r>
            <a:r>
              <a:rPr sz="2400" dirty="0">
                <a:latin typeface="Calibri"/>
                <a:cs typeface="Calibri"/>
              </a:rPr>
              <a:t>them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used </a:t>
            </a:r>
            <a:r>
              <a:rPr sz="2400" spc="-10" dirty="0">
                <a:latin typeface="Calibri"/>
                <a:cs typeface="Calibri"/>
              </a:rPr>
              <a:t>by most </a:t>
            </a:r>
            <a:r>
              <a:rPr sz="2400" spc="-15" dirty="0">
                <a:latin typeface="Calibri"/>
                <a:cs typeface="Calibri"/>
              </a:rPr>
              <a:t>programs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45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The c</a:t>
            </a:r>
            <a:r>
              <a:rPr sz="2400" spc="-5" dirty="0">
                <a:latin typeface="Calibri"/>
                <a:cs typeface="Calibri"/>
              </a:rPr>
              <a:t>ommand </a:t>
            </a:r>
            <a:r>
              <a:rPr sz="2200" spc="-5" dirty="0">
                <a:solidFill>
                  <a:srgbClr val="0070C0"/>
                </a:solidFill>
                <a:latin typeface="Consolas"/>
                <a:cs typeface="Consolas"/>
              </a:rPr>
              <a:t>kill –l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10" dirty="0">
                <a:latin typeface="Calibri"/>
                <a:cs typeface="Calibri"/>
              </a:rPr>
              <a:t>display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list </a:t>
            </a:r>
            <a:r>
              <a:rPr sz="2400" spc="-5" dirty="0">
                <a:latin typeface="Calibri"/>
                <a:cs typeface="Calibri"/>
              </a:rPr>
              <a:t>of signals supported </a:t>
            </a:r>
            <a:r>
              <a:rPr lang="en-US" sz="2400" spc="-5" dirty="0">
                <a:latin typeface="Calibri"/>
                <a:cs typeface="Calibri"/>
              </a:rPr>
              <a:t>by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your </a:t>
            </a:r>
            <a:r>
              <a:rPr sz="2400" spc="-20" dirty="0">
                <a:latin typeface="Calibri"/>
                <a:cs typeface="Calibri"/>
              </a:rPr>
              <a:t>system</a:t>
            </a:r>
            <a:r>
              <a:rPr lang="en-US" sz="2400" spc="-2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6781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Signal </a:t>
            </a:r>
            <a:r>
              <a:rPr spc="-40" dirty="0"/>
              <a:t>Supported </a:t>
            </a:r>
            <a:r>
              <a:rPr spc="-30" dirty="0"/>
              <a:t>by</a:t>
            </a:r>
            <a:r>
              <a:rPr spc="-245" dirty="0"/>
              <a:t> </a:t>
            </a:r>
            <a:r>
              <a:rPr spc="-25" dirty="0"/>
              <a:t>Linux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D8E151-212E-DF04-6578-EACD2A85B6C3}"/>
              </a:ext>
            </a:extLst>
          </p:cNvPr>
          <p:cNvGrpSpPr/>
          <p:nvPr/>
        </p:nvGrpSpPr>
        <p:grpSpPr>
          <a:xfrm>
            <a:off x="142068" y="1438377"/>
            <a:ext cx="11900954" cy="4923962"/>
            <a:chOff x="142068" y="1438377"/>
            <a:chExt cx="11900954" cy="4923962"/>
          </a:xfrm>
        </p:grpSpPr>
        <p:sp>
          <p:nvSpPr>
            <p:cNvPr id="3" name="object 3"/>
            <p:cNvSpPr/>
            <p:nvPr/>
          </p:nvSpPr>
          <p:spPr>
            <a:xfrm>
              <a:off x="142068" y="1438377"/>
              <a:ext cx="5898127" cy="417414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140670" y="1700784"/>
              <a:ext cx="5902352" cy="46615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5534163-D95A-F8B2-1B4C-3D0085853CA5}"/>
                </a:ext>
              </a:extLst>
            </p:cNvPr>
            <p:cNvCxnSpPr/>
            <p:nvPr/>
          </p:nvCxnSpPr>
          <p:spPr>
            <a:xfrm>
              <a:off x="6089904" y="1700784"/>
              <a:ext cx="0" cy="4661555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6939" y="390220"/>
            <a:ext cx="701027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Explanations </a:t>
            </a:r>
            <a:r>
              <a:rPr spc="-15" dirty="0"/>
              <a:t>of All</a:t>
            </a:r>
            <a:r>
              <a:rPr spc="-250" dirty="0"/>
              <a:t> </a:t>
            </a:r>
            <a:r>
              <a:rPr lang="en-US" spc="-250" dirty="0"/>
              <a:t>31 </a:t>
            </a:r>
            <a:r>
              <a:rPr spc="-30" dirty="0"/>
              <a:t>Signals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6938" y="1023365"/>
            <a:ext cx="10513061" cy="52033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spc="-35" dirty="0">
                <a:solidFill>
                  <a:srgbClr val="001F5F"/>
                </a:solidFill>
                <a:latin typeface="Calibri Light"/>
                <a:cs typeface="Calibri Light"/>
              </a:rPr>
              <a:t>(</a:t>
            </a:r>
            <a:r>
              <a:rPr lang="en-US" sz="3200" b="0" spc="-35" dirty="0">
                <a:solidFill>
                  <a:srgbClr val="001F5F"/>
                </a:solidFill>
                <a:latin typeface="Calibri Light"/>
                <a:cs typeface="Calibri Light"/>
              </a:rPr>
              <a:t>The </a:t>
            </a:r>
            <a:r>
              <a:rPr sz="3200" b="0" spc="-35" dirty="0">
                <a:solidFill>
                  <a:srgbClr val="001F5F"/>
                </a:solidFill>
                <a:latin typeface="Calibri Light"/>
                <a:cs typeface="Calibri Light"/>
              </a:rPr>
              <a:t>under</a:t>
            </a:r>
            <a:r>
              <a:rPr lang="en-US" sz="3200" b="0" spc="-35" dirty="0">
                <a:solidFill>
                  <a:srgbClr val="001F5F"/>
                </a:solidFill>
                <a:latin typeface="Calibri Light"/>
                <a:cs typeface="Calibri Light"/>
              </a:rPr>
              <a:t>lined</a:t>
            </a:r>
            <a:r>
              <a:rPr sz="3200" b="0" spc="-35" dirty="0">
                <a:solidFill>
                  <a:srgbClr val="001F5F"/>
                </a:solidFill>
                <a:latin typeface="Calibri Light"/>
                <a:cs typeface="Calibri Light"/>
              </a:rPr>
              <a:t> </a:t>
            </a:r>
            <a:r>
              <a:rPr sz="3200" b="0" spc="-15" dirty="0">
                <a:solidFill>
                  <a:srgbClr val="001F5F"/>
                </a:solidFill>
                <a:latin typeface="Calibri Light"/>
                <a:cs typeface="Calibri Light"/>
              </a:rPr>
              <a:t>ones </a:t>
            </a:r>
            <a:r>
              <a:rPr sz="3200" b="0" spc="-30" dirty="0">
                <a:solidFill>
                  <a:srgbClr val="001F5F"/>
                </a:solidFill>
                <a:latin typeface="Calibri Light"/>
                <a:cs typeface="Calibri Light"/>
              </a:rPr>
              <a:t>are </a:t>
            </a:r>
            <a:r>
              <a:rPr lang="en-US" sz="3200" b="0" spc="-30" dirty="0">
                <a:solidFill>
                  <a:srgbClr val="001F5F"/>
                </a:solidFill>
                <a:latin typeface="Calibri Light"/>
                <a:cs typeface="Calibri Light"/>
              </a:rPr>
              <a:t>can be </a:t>
            </a:r>
            <a:r>
              <a:rPr sz="3200" b="0" spc="-25" dirty="0">
                <a:solidFill>
                  <a:srgbClr val="001F5F"/>
                </a:solidFill>
                <a:latin typeface="Calibri Light"/>
                <a:cs typeface="Calibri Light"/>
              </a:rPr>
              <a:t>sent to </a:t>
            </a:r>
            <a:r>
              <a:rPr sz="3200" b="0" spc="-30" dirty="0">
                <a:solidFill>
                  <a:srgbClr val="001F5F"/>
                </a:solidFill>
                <a:latin typeface="Calibri Light"/>
                <a:cs typeface="Calibri Light"/>
              </a:rPr>
              <a:t>more </a:t>
            </a:r>
            <a:r>
              <a:rPr sz="3200" b="0" spc="-15" dirty="0">
                <a:solidFill>
                  <a:srgbClr val="001F5F"/>
                </a:solidFill>
                <a:latin typeface="Calibri Light"/>
                <a:cs typeface="Calibri Light"/>
              </a:rPr>
              <a:t>than one</a:t>
            </a:r>
            <a:r>
              <a:rPr sz="3200" spc="-15" dirty="0">
                <a:solidFill>
                  <a:srgbClr val="001F5F"/>
                </a:solidFill>
                <a:latin typeface="Calibri Light"/>
                <a:cs typeface="Calibri Light"/>
              </a:rPr>
              <a:t> </a:t>
            </a:r>
            <a:r>
              <a:rPr sz="3200" b="0" spc="-30" dirty="0">
                <a:solidFill>
                  <a:srgbClr val="001F5F"/>
                </a:solidFill>
                <a:latin typeface="Calibri Light"/>
                <a:cs typeface="Calibri Light"/>
              </a:rPr>
              <a:t>process</a:t>
            </a:r>
            <a:r>
              <a:rPr lang="en-US" sz="3200" b="0" spc="-30" dirty="0">
                <a:solidFill>
                  <a:srgbClr val="001F5F"/>
                </a:solidFill>
                <a:latin typeface="Calibri Light"/>
                <a:cs typeface="Calibri Light"/>
              </a:rPr>
              <a:t>.</a:t>
            </a:r>
            <a:r>
              <a:rPr sz="3200" b="0" spc="-30" dirty="0">
                <a:solidFill>
                  <a:srgbClr val="001F5F"/>
                </a:solidFill>
                <a:latin typeface="Calibri Light"/>
                <a:cs typeface="Calibri Light"/>
              </a:rPr>
              <a:t>)</a:t>
            </a:r>
            <a:endParaRPr sz="3200" dirty="0">
              <a:latin typeface="Calibri Light"/>
              <a:cs typeface="Calibri Light"/>
            </a:endParaRPr>
          </a:p>
          <a:p>
            <a:pPr marL="241300" marR="153035" indent="-228600">
              <a:lnSpc>
                <a:spcPts val="2500"/>
              </a:lnSpc>
              <a:spcBef>
                <a:spcPts val="260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SIGABRT</a:t>
            </a:r>
            <a:r>
              <a:rPr sz="2600" spc="-5" dirty="0">
                <a:latin typeface="Calibri"/>
                <a:cs typeface="Calibri"/>
              </a:rPr>
              <a:t>: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abort()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function sends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that </a:t>
            </a:r>
            <a:r>
              <a:rPr sz="2600" spc="-25" dirty="0">
                <a:latin typeface="Calibri"/>
                <a:cs typeface="Calibri"/>
              </a:rPr>
              <a:t>invokes </a:t>
            </a:r>
            <a:r>
              <a:rPr sz="2600" dirty="0">
                <a:latin typeface="Calibri"/>
                <a:cs typeface="Calibri"/>
              </a:rPr>
              <a:t>it. The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terminates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15" dirty="0">
                <a:latin typeface="Calibri"/>
                <a:cs typeface="Calibri"/>
              </a:rPr>
              <a:t>generates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5" dirty="0">
                <a:latin typeface="Calibri"/>
                <a:cs typeface="Calibri"/>
              </a:rPr>
              <a:t>core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lang="en-US" sz="2600" spc="-85" dirty="0">
                <a:latin typeface="Calibri"/>
                <a:cs typeface="Calibri"/>
              </a:rPr>
              <a:t>dump </a:t>
            </a:r>
            <a:r>
              <a:rPr sz="2600" spc="-5" dirty="0">
                <a:latin typeface="Calibri"/>
                <a:cs typeface="Calibri"/>
              </a:rPr>
              <a:t>file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908050" indent="-228600">
              <a:lnSpc>
                <a:spcPct val="8000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SIGALRM</a:t>
            </a:r>
            <a:r>
              <a:rPr sz="2600" dirty="0">
                <a:latin typeface="Calibri"/>
                <a:cs typeface="Calibri"/>
              </a:rPr>
              <a:t>: the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alarm()</a:t>
            </a:r>
            <a:r>
              <a:rPr sz="2600" dirty="0">
                <a:latin typeface="Calibri"/>
                <a:cs typeface="Calibri"/>
              </a:rPr>
              <a:t>/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setitimer()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functions send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invoking process </a:t>
            </a:r>
            <a:r>
              <a:rPr lang="en-US" sz="2600" spc="-10" dirty="0">
                <a:latin typeface="Calibri"/>
                <a:cs typeface="Calibri"/>
              </a:rPr>
              <a:t>after </a:t>
            </a:r>
            <a:r>
              <a:rPr lang="en-US" sz="2600" dirty="0">
                <a:latin typeface="Calibri"/>
                <a:cs typeface="Calibri"/>
              </a:rPr>
              <a:t>a specified amount of time elapse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228600" indent="-228600">
              <a:lnSpc>
                <a:spcPts val="2500"/>
              </a:lnSpc>
              <a:spcBef>
                <a:spcPts val="98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SIGBUS</a:t>
            </a:r>
            <a:r>
              <a:rPr sz="2600" dirty="0">
                <a:latin typeface="Calibri"/>
                <a:cs typeface="Calibri"/>
              </a:rPr>
              <a:t>: </a:t>
            </a:r>
            <a:r>
              <a:rPr lang="en-US"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10" dirty="0">
                <a:latin typeface="Calibri"/>
                <a:cs typeface="Calibri"/>
              </a:rPr>
              <a:t>raises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dirty="0">
                <a:latin typeface="Calibri"/>
                <a:cs typeface="Calibri"/>
              </a:rPr>
              <a:t>when the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incurs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5" dirty="0">
                <a:latin typeface="Calibri"/>
                <a:cs typeface="Calibri"/>
              </a:rPr>
              <a:t>hardware </a:t>
            </a:r>
            <a:r>
              <a:rPr sz="2600" spc="-10" dirty="0">
                <a:latin typeface="Calibri"/>
                <a:cs typeface="Calibri"/>
              </a:rPr>
              <a:t>fault </a:t>
            </a:r>
            <a:r>
              <a:rPr sz="2600" spc="-5" dirty="0">
                <a:latin typeface="Calibri"/>
                <a:cs typeface="Calibri"/>
              </a:rPr>
              <a:t>other </a:t>
            </a:r>
            <a:r>
              <a:rPr sz="2600" dirty="0">
                <a:latin typeface="Calibri"/>
                <a:cs typeface="Calibri"/>
              </a:rPr>
              <a:t>than memory </a:t>
            </a:r>
            <a:r>
              <a:rPr sz="2600" spc="-5" dirty="0">
                <a:latin typeface="Calibri"/>
                <a:cs typeface="Calibri"/>
              </a:rPr>
              <a:t>protection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(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SIGSEGV</a:t>
            </a:r>
            <a:r>
              <a:rPr sz="2600" spc="-5" dirty="0">
                <a:latin typeface="Calibri"/>
                <a:cs typeface="Calibri"/>
              </a:rPr>
              <a:t>).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SIGCHLD</a:t>
            </a:r>
            <a:r>
              <a:rPr sz="2600" dirty="0">
                <a:latin typeface="Calibri"/>
                <a:cs typeface="Calibri"/>
              </a:rPr>
              <a:t>: </a:t>
            </a:r>
            <a:r>
              <a:rPr sz="2600" spc="-5" dirty="0">
                <a:latin typeface="Calibri"/>
                <a:cs typeface="Calibri"/>
              </a:rPr>
              <a:t>whenever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process terminates </a:t>
            </a:r>
            <a:r>
              <a:rPr sz="2600" spc="-5" dirty="0">
                <a:latin typeface="Calibri"/>
                <a:cs typeface="Calibri"/>
              </a:rPr>
              <a:t>or </a:t>
            </a:r>
            <a:r>
              <a:rPr sz="2600" spc="-15" dirty="0">
                <a:latin typeface="Calibri"/>
                <a:cs typeface="Calibri"/>
              </a:rPr>
              <a:t>stops, </a:t>
            </a:r>
            <a:r>
              <a:rPr lang="en-US" sz="2600" spc="-15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5" dirty="0">
                <a:latin typeface="Calibri"/>
                <a:cs typeface="Calibri"/>
              </a:rPr>
              <a:t>sends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20" dirty="0">
                <a:latin typeface="Calibri"/>
                <a:cs typeface="Calibri"/>
              </a:rPr>
              <a:t>its </a:t>
            </a:r>
            <a:r>
              <a:rPr sz="2600" spc="-10" dirty="0">
                <a:latin typeface="Calibri"/>
                <a:cs typeface="Calibri"/>
              </a:rPr>
              <a:t>parent</a:t>
            </a:r>
            <a:r>
              <a:rPr lang="en-US" sz="2600" spc="-10" dirty="0">
                <a:latin typeface="Calibri"/>
                <a:cs typeface="Calibri"/>
              </a:rPr>
              <a:t> process</a:t>
            </a:r>
            <a:r>
              <a:rPr sz="2600" spc="-10" dirty="0">
                <a:latin typeface="Calibri"/>
                <a:cs typeface="Calibri"/>
              </a:rPr>
              <a:t>. </a:t>
            </a:r>
            <a:r>
              <a:rPr sz="2600" spc="-20" dirty="0">
                <a:latin typeface="Calibri"/>
                <a:cs typeface="Calibri"/>
              </a:rPr>
              <a:t>It’s </a:t>
            </a:r>
            <a:r>
              <a:rPr sz="2600" spc="-5" dirty="0">
                <a:latin typeface="Calibri"/>
                <a:cs typeface="Calibri"/>
              </a:rPr>
              <a:t>ignored by </a:t>
            </a:r>
            <a:r>
              <a:rPr sz="2600" spc="-10" dirty="0">
                <a:latin typeface="Calibri"/>
                <a:cs typeface="Calibri"/>
              </a:rPr>
              <a:t>default</a:t>
            </a:r>
            <a:r>
              <a:rPr lang="en-US" sz="2600" spc="-10" dirty="0">
                <a:latin typeface="Calibri"/>
                <a:cs typeface="Calibri"/>
              </a:rPr>
              <a:t>, but you can catch it via calling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spc="-10" dirty="0">
              <a:latin typeface="Calibri"/>
              <a:cs typeface="Calibri"/>
            </a:endParaRPr>
          </a:p>
          <a:p>
            <a:pPr marL="241300" marR="2032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SIGCONT</a:t>
            </a:r>
            <a:r>
              <a:rPr sz="2600" spc="-5" dirty="0">
                <a:latin typeface="Calibri"/>
                <a:cs typeface="Calibri"/>
              </a:rPr>
              <a:t>: </a:t>
            </a:r>
            <a:r>
              <a:rPr lang="en-US" sz="2600" spc="-5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5" dirty="0">
                <a:latin typeface="Calibri"/>
                <a:cs typeface="Calibri"/>
              </a:rPr>
              <a:t>sends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dirty="0">
                <a:latin typeface="Calibri"/>
                <a:cs typeface="Calibri"/>
              </a:rPr>
              <a:t>when </a:t>
            </a:r>
            <a:r>
              <a:rPr sz="2600" spc="-20" dirty="0">
                <a:latin typeface="Calibri"/>
                <a:cs typeface="Calibri"/>
              </a:rPr>
              <a:t>it</a:t>
            </a:r>
            <a:r>
              <a:rPr lang="en-US" sz="2600" spc="-20" dirty="0">
                <a:latin typeface="Calibri"/>
                <a:cs typeface="Calibri"/>
              </a:rPr>
              <a:t> is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resumed </a:t>
            </a:r>
            <a:r>
              <a:rPr sz="2600" spc="-10" dirty="0">
                <a:latin typeface="Calibri"/>
                <a:cs typeface="Calibri"/>
              </a:rPr>
              <a:t>after  </a:t>
            </a:r>
            <a:r>
              <a:rPr sz="2600" spc="-5" dirty="0">
                <a:latin typeface="Calibri"/>
                <a:cs typeface="Calibri"/>
              </a:rPr>
              <a:t>being </a:t>
            </a:r>
            <a:r>
              <a:rPr sz="2600" spc="-10" dirty="0">
                <a:latin typeface="Calibri"/>
                <a:cs typeface="Calibri"/>
              </a:rPr>
              <a:t>stopped. </a:t>
            </a:r>
            <a:r>
              <a:rPr lang="en-US" sz="2600" spc="-20" dirty="0">
                <a:latin typeface="Calibri"/>
                <a:cs typeface="Calibri"/>
              </a:rPr>
              <a:t>It’s </a:t>
            </a:r>
            <a:r>
              <a:rPr lang="en-US" sz="2600" spc="-5" dirty="0">
                <a:latin typeface="Calibri"/>
                <a:cs typeface="Calibri"/>
              </a:rPr>
              <a:t>i</a:t>
            </a:r>
            <a:r>
              <a:rPr sz="2600" spc="-5" dirty="0">
                <a:latin typeface="Calibri"/>
                <a:cs typeface="Calibri"/>
              </a:rPr>
              <a:t>gnored by </a:t>
            </a:r>
            <a:r>
              <a:rPr sz="2600" spc="-10" dirty="0">
                <a:latin typeface="Calibri"/>
                <a:cs typeface="Calibri"/>
              </a:rPr>
              <a:t>default </a:t>
            </a:r>
            <a:r>
              <a:rPr sz="2600" spc="-5" dirty="0">
                <a:latin typeface="Calibri"/>
                <a:cs typeface="Calibri"/>
              </a:rPr>
              <a:t>but </a:t>
            </a:r>
            <a:r>
              <a:rPr lang="en-US" sz="2600" spc="-5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commonly used by </a:t>
            </a:r>
            <a:r>
              <a:rPr sz="2600" spc="-10" dirty="0">
                <a:latin typeface="Calibri"/>
                <a:cs typeface="Calibri"/>
              </a:rPr>
              <a:t>terminals</a:t>
            </a:r>
            <a:r>
              <a:rPr lang="en-US" sz="2600" spc="-10" dirty="0">
                <a:latin typeface="Calibri"/>
                <a:cs typeface="Calibri"/>
              </a:rPr>
              <a:t> and </a:t>
            </a:r>
            <a:r>
              <a:rPr sz="2600" spc="-10" dirty="0">
                <a:latin typeface="Calibri"/>
                <a:cs typeface="Calibri"/>
              </a:rPr>
              <a:t>editors to </a:t>
            </a:r>
            <a:r>
              <a:rPr sz="2600" spc="-15" dirty="0">
                <a:latin typeface="Calibri"/>
                <a:cs typeface="Calibri"/>
              </a:rPr>
              <a:t>refresh </a:t>
            </a:r>
            <a:r>
              <a:rPr lang="en-US" sz="2600" spc="-1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screen</a:t>
            </a:r>
            <a:r>
              <a:rPr lang="en-US" sz="2600" spc="-5" dirty="0">
                <a:latin typeface="Calibri"/>
                <a:cs typeface="Calibri"/>
              </a:rPr>
              <a:t> (e.g., a terminal) that wasn’t used for a while.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270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Explanations </a:t>
            </a:r>
            <a:r>
              <a:rPr spc="-15" dirty="0"/>
              <a:t>of All </a:t>
            </a:r>
            <a:r>
              <a:rPr spc="-30" dirty="0"/>
              <a:t>Signals</a:t>
            </a:r>
            <a:r>
              <a:rPr spc="-280" dirty="0"/>
              <a:t> </a:t>
            </a:r>
            <a:r>
              <a:rPr spc="-20" dirty="0"/>
              <a:t>(cont’)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1797761"/>
            <a:ext cx="11122661" cy="4085093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148590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SIGFPE</a:t>
            </a:r>
            <a:r>
              <a:rPr sz="2600" dirty="0">
                <a:latin typeface="Calibri"/>
                <a:cs typeface="Calibri"/>
              </a:rPr>
              <a:t>: </a:t>
            </a:r>
            <a:r>
              <a:rPr sz="2600" spc="-10" dirty="0">
                <a:latin typeface="Calibri"/>
                <a:cs typeface="Calibri"/>
              </a:rPr>
              <a:t>represents </a:t>
            </a:r>
            <a:r>
              <a:rPr sz="2600" spc="-15" dirty="0">
                <a:latin typeface="Calibri"/>
                <a:cs typeface="Calibri"/>
              </a:rPr>
              <a:t>any </a:t>
            </a:r>
            <a:r>
              <a:rPr sz="2600" dirty="0">
                <a:latin typeface="Calibri"/>
                <a:cs typeface="Calibri"/>
              </a:rPr>
              <a:t>arithmetic </a:t>
            </a:r>
            <a:r>
              <a:rPr sz="2600" spc="-10" dirty="0">
                <a:latin typeface="Calibri"/>
                <a:cs typeface="Calibri"/>
              </a:rPr>
              <a:t>exception, </a:t>
            </a:r>
            <a:r>
              <a:rPr sz="2600" spc="-5" dirty="0">
                <a:latin typeface="Calibri"/>
                <a:cs typeface="Calibri"/>
              </a:rPr>
              <a:t>not </a:t>
            </a:r>
            <a:r>
              <a:rPr sz="2600" dirty="0">
                <a:latin typeface="Calibri"/>
                <a:cs typeface="Calibri"/>
              </a:rPr>
              <a:t>solely </a:t>
            </a:r>
            <a:r>
              <a:rPr sz="2600" spc="-10" dirty="0">
                <a:latin typeface="Calibri"/>
                <a:cs typeface="Calibri"/>
              </a:rPr>
              <a:t>related to</a:t>
            </a:r>
            <a:r>
              <a:rPr sz="2600" spc="-1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floating-</a:t>
            </a:r>
            <a:r>
              <a:rPr sz="2600" spc="-10" dirty="0">
                <a:latin typeface="Calibri"/>
                <a:cs typeface="Calibri"/>
              </a:rPr>
              <a:t>point operations</a:t>
            </a:r>
            <a:r>
              <a:rPr lang="en-US" sz="2600" spc="-10" dirty="0">
                <a:latin typeface="Calibri"/>
                <a:cs typeface="Calibri"/>
              </a:rPr>
              <a:t> (e.g., division by 0.)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lang="en-US" sz="2600" spc="-10" dirty="0">
                <a:latin typeface="Calibri"/>
                <a:cs typeface="Calibri"/>
              </a:rPr>
              <a:t>The d</a:t>
            </a:r>
            <a:r>
              <a:rPr sz="2600" spc="-10" dirty="0">
                <a:latin typeface="Calibri"/>
                <a:cs typeface="Calibri"/>
              </a:rPr>
              <a:t>efault </a:t>
            </a:r>
            <a:r>
              <a:rPr sz="2600" dirty="0">
                <a:latin typeface="Calibri"/>
                <a:cs typeface="Calibri"/>
              </a:rPr>
              <a:t>action is</a:t>
            </a:r>
            <a:r>
              <a:rPr lang="en-US" sz="2600" dirty="0">
                <a:latin typeface="Calibri"/>
                <a:cs typeface="Calibri"/>
              </a:rPr>
              <a:t> to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terminate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965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SIGHUP</a:t>
            </a:r>
            <a:r>
              <a:rPr sz="2600" dirty="0">
                <a:latin typeface="Calibri"/>
                <a:cs typeface="Calibri"/>
              </a:rPr>
              <a:t>: </a:t>
            </a:r>
            <a:r>
              <a:rPr lang="en-US"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5" dirty="0">
                <a:latin typeface="Calibri"/>
                <a:cs typeface="Calibri"/>
              </a:rPr>
              <a:t>sends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i="1" spc="-5" dirty="0">
                <a:latin typeface="Calibri"/>
                <a:cs typeface="Calibri"/>
              </a:rPr>
              <a:t>session </a:t>
            </a:r>
            <a:r>
              <a:rPr sz="2600" i="1" dirty="0">
                <a:latin typeface="Calibri"/>
                <a:cs typeface="Calibri"/>
              </a:rPr>
              <a:t>leader </a:t>
            </a:r>
            <a:r>
              <a:rPr lang="en-US" sz="2600" dirty="0">
                <a:latin typeface="Calibri"/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whenever</a:t>
            </a:r>
            <a:r>
              <a:rPr sz="2600" spc="-1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session’s </a:t>
            </a:r>
            <a:r>
              <a:rPr sz="2600" dirty="0">
                <a:latin typeface="Calibri"/>
                <a:cs typeface="Calibri"/>
              </a:rPr>
              <a:t>terminal </a:t>
            </a:r>
            <a:r>
              <a:rPr sz="2600" spc="-5" dirty="0">
                <a:latin typeface="Calibri"/>
                <a:cs typeface="Calibri"/>
              </a:rPr>
              <a:t>disconnects. </a:t>
            </a:r>
            <a:r>
              <a:rPr lang="en-US" sz="2600" spc="-5" dirty="0">
                <a:latin typeface="Calibri"/>
                <a:cs typeface="Calibri"/>
              </a:rPr>
              <a:t>The k</a:t>
            </a:r>
            <a:r>
              <a:rPr sz="2600" spc="-5" dirty="0">
                <a:latin typeface="Calibri"/>
                <a:cs typeface="Calibri"/>
              </a:rPr>
              <a:t>ernel </a:t>
            </a:r>
            <a:r>
              <a:rPr sz="2600" dirty="0">
                <a:latin typeface="Calibri"/>
                <a:cs typeface="Calibri"/>
              </a:rPr>
              <a:t>also sends it </a:t>
            </a:r>
            <a:r>
              <a:rPr sz="2600" spc="-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each </a:t>
            </a:r>
            <a:r>
              <a:rPr sz="2600" spc="-5" dirty="0">
                <a:latin typeface="Calibri"/>
                <a:cs typeface="Calibri"/>
              </a:rPr>
              <a:t>process </a:t>
            </a:r>
            <a:r>
              <a:rPr sz="2600" dirty="0">
                <a:latin typeface="Calibri"/>
                <a:cs typeface="Calibri"/>
              </a:rPr>
              <a:t>in the </a:t>
            </a:r>
            <a:r>
              <a:rPr sz="2600" i="1" spc="-5" dirty="0">
                <a:latin typeface="Calibri"/>
                <a:cs typeface="Calibri"/>
              </a:rPr>
              <a:t>foreground </a:t>
            </a:r>
            <a:r>
              <a:rPr sz="2600" spc="-10" dirty="0">
                <a:latin typeface="Calibri"/>
                <a:cs typeface="Calibri"/>
              </a:rPr>
              <a:t>process group </a:t>
            </a:r>
            <a:r>
              <a:rPr sz="2600" dirty="0">
                <a:latin typeface="Calibri"/>
                <a:cs typeface="Calibri"/>
              </a:rPr>
              <a:t>when the </a:t>
            </a:r>
            <a:r>
              <a:rPr sz="2600" spc="-5" dirty="0">
                <a:latin typeface="Calibri"/>
                <a:cs typeface="Calibri"/>
              </a:rPr>
              <a:t>session </a:t>
            </a:r>
            <a:r>
              <a:rPr sz="2600" dirty="0">
                <a:latin typeface="Calibri"/>
                <a:cs typeface="Calibri"/>
              </a:rPr>
              <a:t>leader </a:t>
            </a:r>
            <a:r>
              <a:rPr sz="2600" spc="-10" dirty="0">
                <a:latin typeface="Calibri"/>
                <a:cs typeface="Calibri"/>
              </a:rPr>
              <a:t>terminates. </a:t>
            </a:r>
            <a:r>
              <a:rPr lang="en-US" sz="2600" spc="-10" dirty="0">
                <a:latin typeface="Calibri"/>
                <a:cs typeface="Calibri"/>
              </a:rPr>
              <a:t>The d</a:t>
            </a:r>
            <a:r>
              <a:rPr sz="2600" spc="-10" dirty="0">
                <a:latin typeface="Calibri"/>
                <a:cs typeface="Calibri"/>
              </a:rPr>
              <a:t>efault </a:t>
            </a:r>
            <a:r>
              <a:rPr sz="2600" dirty="0">
                <a:latin typeface="Calibri"/>
                <a:cs typeface="Calibri"/>
              </a:rPr>
              <a:t>action is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10" dirty="0">
                <a:latin typeface="Calibri"/>
                <a:cs typeface="Calibri"/>
              </a:rPr>
              <a:t>terminate</a:t>
            </a:r>
            <a:r>
              <a:rPr lang="en-US"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 the </a:t>
            </a:r>
            <a:r>
              <a:rPr sz="2600" spc="-5" dirty="0">
                <a:latin typeface="Calibri"/>
                <a:cs typeface="Calibri"/>
              </a:rPr>
              <a:t>signal suggests</a:t>
            </a:r>
            <a:r>
              <a:rPr lang="en-US" sz="2600" spc="-5" dirty="0">
                <a:latin typeface="Calibri"/>
                <a:cs typeface="Calibri"/>
              </a:rPr>
              <a:t> that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 user </a:t>
            </a:r>
            <a:r>
              <a:rPr sz="2600" spc="-5" dirty="0">
                <a:latin typeface="Calibri"/>
                <a:cs typeface="Calibri"/>
              </a:rPr>
              <a:t>has </a:t>
            </a:r>
            <a:r>
              <a:rPr sz="2600" dirty="0">
                <a:latin typeface="Calibri"/>
                <a:cs typeface="Calibri"/>
              </a:rPr>
              <a:t>logged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out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778510" indent="-228600">
              <a:lnSpc>
                <a:spcPts val="281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SIGILL</a:t>
            </a:r>
            <a:r>
              <a:rPr sz="2600" dirty="0">
                <a:latin typeface="Calibri"/>
                <a:cs typeface="Calibri"/>
              </a:rPr>
              <a:t>: </a:t>
            </a:r>
            <a:r>
              <a:rPr lang="en-US"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5" dirty="0">
                <a:latin typeface="Calibri"/>
                <a:cs typeface="Calibri"/>
              </a:rPr>
              <a:t>sends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dirty="0">
                <a:latin typeface="Calibri"/>
                <a:cs typeface="Calibri"/>
              </a:rPr>
              <a:t>when a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15" dirty="0">
                <a:latin typeface="Calibri"/>
                <a:cs typeface="Calibri"/>
              </a:rPr>
              <a:t>attempts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20" dirty="0">
                <a:latin typeface="Calibri"/>
                <a:cs typeface="Calibri"/>
              </a:rPr>
              <a:t>execute </a:t>
            </a:r>
            <a:r>
              <a:rPr sz="2600" dirty="0">
                <a:latin typeface="Calibri"/>
                <a:cs typeface="Calibri"/>
              </a:rPr>
              <a:t>an </a:t>
            </a:r>
            <a:r>
              <a:rPr sz="2600" spc="-10" dirty="0">
                <a:latin typeface="Calibri"/>
                <a:cs typeface="Calibri"/>
              </a:rPr>
              <a:t>illegal </a:t>
            </a:r>
            <a:r>
              <a:rPr sz="2600" dirty="0">
                <a:latin typeface="Calibri"/>
                <a:cs typeface="Calibri"/>
              </a:rPr>
              <a:t>machine instruction. </a:t>
            </a:r>
            <a:r>
              <a:rPr lang="en-US" sz="2600" dirty="0">
                <a:latin typeface="Calibri"/>
                <a:cs typeface="Calibri"/>
              </a:rPr>
              <a:t>The d</a:t>
            </a:r>
            <a:r>
              <a:rPr sz="2600" spc="-10" dirty="0">
                <a:latin typeface="Calibri"/>
                <a:cs typeface="Calibri"/>
              </a:rPr>
              <a:t>efault </a:t>
            </a:r>
            <a:r>
              <a:rPr sz="2600" dirty="0">
                <a:latin typeface="Calibri"/>
                <a:cs typeface="Calibri"/>
              </a:rPr>
              <a:t>action is</a:t>
            </a:r>
            <a:r>
              <a:rPr lang="en-US" sz="2600" dirty="0">
                <a:latin typeface="Calibri"/>
                <a:cs typeface="Calibri"/>
              </a:rPr>
              <a:t> to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terminate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u="heavy" spc="-5" dirty="0">
                <a:uFill>
                  <a:solidFill>
                    <a:srgbClr val="000000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SIGINT</a:t>
            </a:r>
            <a:r>
              <a:rPr sz="2600" spc="-5" dirty="0">
                <a:latin typeface="Calibri"/>
                <a:cs typeface="Calibri"/>
              </a:rPr>
              <a:t>: </a:t>
            </a:r>
            <a:r>
              <a:rPr lang="en-US" sz="2600" spc="-5" dirty="0">
                <a:latin typeface="Calibri"/>
                <a:cs typeface="Calibri"/>
              </a:rPr>
              <a:t>it is </a:t>
            </a:r>
            <a:r>
              <a:rPr sz="2600" spc="-10" dirty="0">
                <a:latin typeface="Calibri"/>
                <a:cs typeface="Calibri"/>
              </a:rPr>
              <a:t>sent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all the </a:t>
            </a:r>
            <a:r>
              <a:rPr sz="2600" i="1" spc="-5" dirty="0">
                <a:latin typeface="Calibri"/>
                <a:cs typeface="Calibri"/>
              </a:rPr>
              <a:t>foreground </a:t>
            </a:r>
            <a:r>
              <a:rPr sz="2600" spc="-10" dirty="0">
                <a:latin typeface="Calibri"/>
                <a:cs typeface="Calibri"/>
              </a:rPr>
              <a:t>group</a:t>
            </a:r>
            <a:r>
              <a:rPr lang="en-US" sz="2600" spc="-10" dirty="0">
                <a:latin typeface="Calibri"/>
                <a:cs typeface="Calibri"/>
              </a:rPr>
              <a:t>’s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lang="en-US" sz="2600" spc="-10" dirty="0">
                <a:cs typeface="Calibri"/>
              </a:rPr>
              <a:t>processes </a:t>
            </a:r>
            <a:r>
              <a:rPr sz="2600" dirty="0">
                <a:latin typeface="Calibri"/>
                <a:cs typeface="Calibri"/>
              </a:rPr>
              <a:t>when the user </a:t>
            </a:r>
            <a:r>
              <a:rPr lang="en-US" sz="2600" spc="-15" dirty="0">
                <a:latin typeface="Calibri"/>
                <a:cs typeface="Calibri"/>
              </a:rPr>
              <a:t>presses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interrupt character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lang="en-US"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Ctrl</a:t>
            </a:r>
            <a:r>
              <a:rPr lang="en-US" sz="2600" spc="-5" dirty="0" err="1">
                <a:latin typeface="Calibri"/>
                <a:cs typeface="Calibri"/>
              </a:rPr>
              <a:t>+</a:t>
            </a:r>
            <a:r>
              <a:rPr lang="en-US" sz="24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sz="2600" spc="-10" dirty="0">
                <a:latin typeface="Calibri"/>
                <a:cs typeface="Calibri"/>
              </a:rPr>
              <a:t>). </a:t>
            </a:r>
            <a:r>
              <a:rPr lang="en-US" sz="2600" dirty="0">
                <a:latin typeface="Calibri"/>
                <a:cs typeface="Calibri"/>
              </a:rPr>
              <a:t>The d</a:t>
            </a:r>
            <a:r>
              <a:rPr sz="2600" spc="-10" dirty="0">
                <a:latin typeface="Calibri"/>
                <a:cs typeface="Calibri"/>
              </a:rPr>
              <a:t>efault behavior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15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terminate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270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Explanations </a:t>
            </a:r>
            <a:r>
              <a:rPr spc="-15" dirty="0"/>
              <a:t>of All </a:t>
            </a:r>
            <a:r>
              <a:rPr spc="-30" dirty="0"/>
              <a:t>Signals</a:t>
            </a:r>
            <a:r>
              <a:rPr spc="-280" dirty="0"/>
              <a:t> </a:t>
            </a:r>
            <a:r>
              <a:rPr spc="-20" dirty="0"/>
              <a:t>(cont’)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736801"/>
            <a:ext cx="10589261" cy="461036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474345" indent="-228600">
              <a:lnSpc>
                <a:spcPts val="2650"/>
              </a:lnSpc>
              <a:spcAft>
                <a:spcPts val="600"/>
              </a:spcAft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SIGIO</a:t>
            </a:r>
            <a:r>
              <a:rPr sz="2600" dirty="0">
                <a:latin typeface="Calibri"/>
                <a:cs typeface="Calibri"/>
              </a:rPr>
              <a:t>: this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10" dirty="0">
                <a:latin typeface="Calibri"/>
                <a:cs typeface="Calibri"/>
              </a:rPr>
              <a:t>sent </a:t>
            </a:r>
            <a:r>
              <a:rPr sz="2600" dirty="0">
                <a:latin typeface="Calibri"/>
                <a:cs typeface="Calibri"/>
              </a:rPr>
              <a:t>when a </a:t>
            </a:r>
            <a:r>
              <a:rPr sz="2600" spc="-5" dirty="0">
                <a:latin typeface="Calibri"/>
                <a:cs typeface="Calibri"/>
              </a:rPr>
              <a:t>BSD-style </a:t>
            </a:r>
            <a:r>
              <a:rPr sz="2600" spc="-10" dirty="0">
                <a:latin typeface="Calibri"/>
                <a:cs typeface="Calibri"/>
              </a:rPr>
              <a:t>async </a:t>
            </a:r>
            <a:r>
              <a:rPr sz="2600" dirty="0">
                <a:latin typeface="Calibri"/>
                <a:cs typeface="Calibri"/>
              </a:rPr>
              <a:t>I/O </a:t>
            </a:r>
            <a:r>
              <a:rPr sz="2600" spc="-15" dirty="0">
                <a:latin typeface="Calibri"/>
                <a:cs typeface="Calibri"/>
              </a:rPr>
              <a:t>event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15" dirty="0">
                <a:latin typeface="Calibri"/>
                <a:cs typeface="Calibri"/>
              </a:rPr>
              <a:t>generated.</a:t>
            </a:r>
            <a:r>
              <a:rPr lang="en-US"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5" dirty="0">
                <a:latin typeface="Calibri"/>
                <a:cs typeface="Calibri"/>
              </a:rPr>
              <a:t>style of </a:t>
            </a:r>
            <a:r>
              <a:rPr sz="2600" dirty="0">
                <a:latin typeface="Calibri"/>
                <a:cs typeface="Calibri"/>
              </a:rPr>
              <a:t>I/O is </a:t>
            </a:r>
            <a:r>
              <a:rPr sz="2600" spc="-15" dirty="0">
                <a:latin typeface="Calibri"/>
                <a:cs typeface="Calibri"/>
              </a:rPr>
              <a:t>rarely </a:t>
            </a:r>
            <a:r>
              <a:rPr sz="2600" dirty="0">
                <a:latin typeface="Calibri"/>
                <a:cs typeface="Calibri"/>
              </a:rPr>
              <a:t>used </a:t>
            </a:r>
            <a:r>
              <a:rPr sz="2600" spc="-5" dirty="0">
                <a:latin typeface="Calibri"/>
                <a:cs typeface="Calibri"/>
              </a:rPr>
              <a:t>on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Linux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Aft>
                <a:spcPts val="600"/>
              </a:spcAft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SIGKILL</a:t>
            </a:r>
            <a:r>
              <a:rPr sz="2600" dirty="0">
                <a:latin typeface="Calibri"/>
                <a:cs typeface="Calibri"/>
              </a:rPr>
              <a:t>: </a:t>
            </a:r>
            <a:r>
              <a:rPr lang="en-US" sz="2600" dirty="0">
                <a:latin typeface="Calibri"/>
                <a:cs typeface="Calibri"/>
              </a:rPr>
              <a:t>it is </a:t>
            </a:r>
            <a:r>
              <a:rPr sz="2600" spc="-10" dirty="0">
                <a:latin typeface="Calibri"/>
                <a:cs typeface="Calibri"/>
              </a:rPr>
              <a:t>sent from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kill()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syscall; it exists to let </a:t>
            </a:r>
            <a:r>
              <a:rPr lang="en-US" sz="2600" spc="-15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sysadm</a:t>
            </a:r>
            <a:r>
              <a:rPr lang="en-US" sz="2600" spc="-15" dirty="0">
                <a:latin typeface="Calibri"/>
                <a:cs typeface="Calibri"/>
              </a:rPr>
              <a:t>in</a:t>
            </a:r>
            <a:r>
              <a:rPr sz="2600" spc="-15" dirty="0">
                <a:latin typeface="Calibri"/>
                <a:cs typeface="Calibri"/>
              </a:rPr>
              <a:t> kill a process</a:t>
            </a:r>
            <a:r>
              <a:rPr lang="en-US" sz="2600" spc="-1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unconditionally. This signal cannot be caught/ignored, and it</a:t>
            </a:r>
            <a:r>
              <a:rPr lang="en-US" sz="2600" spc="-15" dirty="0">
                <a:latin typeface="Calibri"/>
                <a:cs typeface="Calibri"/>
              </a:rPr>
              <a:t> </a:t>
            </a:r>
            <a:r>
              <a:rPr lang="en-US" sz="2600" i="1" spc="-15" dirty="0">
                <a:cs typeface="Calibri"/>
              </a:rPr>
              <a:t>always</a:t>
            </a:r>
            <a:r>
              <a:rPr sz="2600" spc="-15" dirty="0">
                <a:latin typeface="Calibri"/>
                <a:cs typeface="Calibri"/>
              </a:rPr>
              <a:t> result</a:t>
            </a:r>
            <a:r>
              <a:rPr lang="en-US" sz="2600" spc="-15" dirty="0">
                <a:latin typeface="Calibri"/>
                <a:cs typeface="Calibri"/>
              </a:rPr>
              <a:t>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lang="en-US" sz="2600" spc="-15" dirty="0">
                <a:latin typeface="Calibri"/>
                <a:cs typeface="Calibri"/>
              </a:rPr>
              <a:t>in </a:t>
            </a:r>
            <a:r>
              <a:rPr sz="2600" spc="-15" dirty="0">
                <a:latin typeface="Calibri"/>
                <a:cs typeface="Calibri"/>
              </a:rPr>
              <a:t>terminat</a:t>
            </a:r>
            <a:r>
              <a:rPr lang="en-US" sz="2600" spc="-15" dirty="0">
                <a:latin typeface="Calibri"/>
                <a:cs typeface="Calibri"/>
              </a:rPr>
              <a:t>ing</a:t>
            </a:r>
            <a:r>
              <a:rPr sz="2600" spc="-15" dirty="0">
                <a:latin typeface="Calibri"/>
                <a:cs typeface="Calibri"/>
              </a:rPr>
              <a:t> the process</a:t>
            </a:r>
            <a:r>
              <a:rPr lang="en-US" sz="2600" spc="-15" dirty="0">
                <a:latin typeface="Calibri"/>
                <a:cs typeface="Calibri"/>
              </a:rPr>
              <a:t>.</a:t>
            </a:r>
            <a:endParaRPr sz="2600" spc="-15" dirty="0">
              <a:latin typeface="Calibri"/>
              <a:cs typeface="Calibri"/>
            </a:endParaRPr>
          </a:p>
          <a:p>
            <a:pPr marL="241300" marR="5080" indent="-228600">
              <a:lnSpc>
                <a:spcPts val="2650"/>
              </a:lnSpc>
              <a:spcAft>
                <a:spcPts val="600"/>
              </a:spcAft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SIGPIPE</a:t>
            </a:r>
            <a:r>
              <a:rPr sz="2600" dirty="0">
                <a:latin typeface="Calibri"/>
                <a:cs typeface="Calibri"/>
              </a:rPr>
              <a:t>: </a:t>
            </a:r>
            <a:r>
              <a:rPr lang="en-US" sz="260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10" dirty="0">
                <a:latin typeface="Calibri"/>
                <a:cs typeface="Calibri"/>
              </a:rPr>
              <a:t>raises </a:t>
            </a:r>
            <a:r>
              <a:rPr sz="2600" dirty="0">
                <a:latin typeface="Calibri"/>
                <a:cs typeface="Calibri"/>
              </a:rPr>
              <a:t>it when a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writes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lang="en-US" sz="2600" dirty="0">
                <a:latin typeface="Calibri"/>
                <a:cs typeface="Calibri"/>
              </a:rPr>
              <a:t>pipe,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but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reader has terminated. </a:t>
            </a:r>
            <a:r>
              <a:rPr lang="en-US" sz="2600" spc="-5" dirty="0">
                <a:latin typeface="Calibri"/>
                <a:cs typeface="Calibri"/>
              </a:rPr>
              <a:t>The </a:t>
            </a:r>
            <a:r>
              <a:rPr lang="en-US" sz="2600" spc="-10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efault </a:t>
            </a:r>
            <a:r>
              <a:rPr sz="2600" dirty="0">
                <a:latin typeface="Calibri"/>
                <a:cs typeface="Calibri"/>
              </a:rPr>
              <a:t>action is </a:t>
            </a:r>
            <a:r>
              <a:rPr sz="2600" spc="-15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terminate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367665" indent="-228600">
              <a:lnSpc>
                <a:spcPts val="2650"/>
              </a:lnSpc>
              <a:spcAft>
                <a:spcPts val="600"/>
              </a:spcAft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SIGPROF</a:t>
            </a:r>
            <a:r>
              <a:rPr sz="2600" spc="-5" dirty="0">
                <a:latin typeface="Calibri"/>
                <a:cs typeface="Calibri"/>
              </a:rPr>
              <a:t>: </a:t>
            </a:r>
            <a:r>
              <a:rPr lang="en-US" sz="2600" dirty="0">
                <a:latin typeface="Calibri"/>
                <a:cs typeface="Calibri"/>
              </a:rPr>
              <a:t>it is </a:t>
            </a:r>
            <a:r>
              <a:rPr sz="2600" spc="-15" dirty="0">
                <a:latin typeface="Calibri"/>
                <a:cs typeface="Calibri"/>
              </a:rPr>
              <a:t>generated </a:t>
            </a:r>
            <a:r>
              <a:rPr sz="2600" dirty="0">
                <a:latin typeface="Calibri"/>
                <a:cs typeface="Calibri"/>
              </a:rPr>
              <a:t>when a timer </a:t>
            </a:r>
            <a:r>
              <a:rPr lang="en-US" sz="2600" spc="-5" dirty="0">
                <a:cs typeface="Calibri"/>
              </a:rPr>
              <a:t>using</a:t>
            </a:r>
            <a:r>
              <a:rPr lang="en-US" sz="2800" spc="-5" dirty="0">
                <a:cs typeface="Calibri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setitimer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sz="2600" spc="-15" dirty="0">
                <a:latin typeface="Calibri"/>
                <a:cs typeface="Calibri"/>
              </a:rPr>
              <a:t>expires</a:t>
            </a:r>
            <a:r>
              <a:rPr lang="en-US" sz="2600" spc="-15" dirty="0">
                <a:latin typeface="Calibri"/>
                <a:cs typeface="Calibri"/>
              </a:rPr>
              <a:t>.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The </a:t>
            </a:r>
            <a:r>
              <a:rPr lang="en-US" sz="2600" spc="-10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efault </a:t>
            </a:r>
            <a:r>
              <a:rPr lang="en-US" sz="2600" spc="-10" dirty="0">
                <a:latin typeface="Calibri"/>
                <a:cs typeface="Calibri"/>
              </a:rPr>
              <a:t>action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to terminate the process.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SIGPWR</a:t>
            </a:r>
            <a:r>
              <a:rPr sz="2600" dirty="0">
                <a:latin typeface="Calibri"/>
                <a:cs typeface="Calibri"/>
              </a:rPr>
              <a:t>: </a:t>
            </a:r>
            <a:r>
              <a:rPr lang="en-US" sz="2600" dirty="0">
                <a:latin typeface="Calibri"/>
                <a:cs typeface="Calibri"/>
              </a:rPr>
              <a:t>it is </a:t>
            </a:r>
            <a:r>
              <a:rPr sz="2600" spc="-15" dirty="0">
                <a:latin typeface="Calibri"/>
                <a:cs typeface="Calibri"/>
              </a:rPr>
              <a:t>system-dependent. </a:t>
            </a:r>
            <a:r>
              <a:rPr sz="2600" spc="-5" dirty="0">
                <a:latin typeface="Calibri"/>
                <a:cs typeface="Calibri"/>
              </a:rPr>
              <a:t>On Linux, </a:t>
            </a:r>
            <a:r>
              <a:rPr sz="2600" dirty="0">
                <a:latin typeface="Calibri"/>
                <a:cs typeface="Calibri"/>
              </a:rPr>
              <a:t>it </a:t>
            </a:r>
            <a:r>
              <a:rPr sz="2600" spc="-10" dirty="0">
                <a:latin typeface="Calibri"/>
                <a:cs typeface="Calibri"/>
              </a:rPr>
              <a:t>represents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low-battery</a:t>
            </a:r>
            <a:endParaRPr sz="2600" dirty="0">
              <a:latin typeface="Calibri"/>
              <a:cs typeface="Calibri"/>
            </a:endParaRPr>
          </a:p>
          <a:p>
            <a:pPr marL="241300" marR="40005">
              <a:lnSpc>
                <a:spcPts val="2650"/>
              </a:lnSpc>
            </a:pPr>
            <a:r>
              <a:rPr sz="2600" spc="-5" dirty="0">
                <a:latin typeface="Calibri"/>
                <a:cs typeface="Calibri"/>
              </a:rPr>
              <a:t>condition.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power </a:t>
            </a:r>
            <a:r>
              <a:rPr sz="2600" dirty="0">
                <a:latin typeface="Calibri"/>
                <a:cs typeface="Calibri"/>
              </a:rPr>
              <a:t>daemon </a:t>
            </a:r>
            <a:r>
              <a:rPr sz="2600" spc="-5" dirty="0">
                <a:latin typeface="Calibri"/>
                <a:cs typeface="Calibri"/>
              </a:rPr>
              <a:t>sends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sz="2600" spc="-5" dirty="0">
                <a:latin typeface="Calibri"/>
                <a:cs typeface="Calibri"/>
              </a:rPr>
              <a:t>,</a:t>
            </a:r>
            <a:r>
              <a:rPr sz="2400" spc="-760" dirty="0">
                <a:latin typeface="Consolas"/>
                <a:cs typeface="Consolas"/>
              </a:rPr>
              <a:t> </a:t>
            </a:r>
            <a:r>
              <a:rPr sz="2600" dirty="0">
                <a:latin typeface="Calibri"/>
                <a:cs typeface="Calibri"/>
              </a:rPr>
              <a:t>which clean</a:t>
            </a:r>
            <a:r>
              <a:rPr lang="en-US" sz="2600" dirty="0">
                <a:latin typeface="Calibri"/>
                <a:cs typeface="Calibri"/>
              </a:rPr>
              <a:t>s-</a:t>
            </a:r>
            <a:r>
              <a:rPr sz="2600" spc="-5" dirty="0">
                <a:latin typeface="Calibri"/>
                <a:cs typeface="Calibri"/>
              </a:rPr>
              <a:t>up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shut</a:t>
            </a:r>
            <a:r>
              <a:rPr lang="en-US" sz="2600" spc="-5" dirty="0">
                <a:latin typeface="Calibri"/>
                <a:cs typeface="Calibri"/>
              </a:rPr>
              <a:t>s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lang="en-US" sz="2600" dirty="0">
                <a:cs typeface="Calibri"/>
              </a:rPr>
              <a:t>the</a:t>
            </a:r>
            <a:r>
              <a:rPr lang="en-US" sz="2600" spc="-35" dirty="0">
                <a:cs typeface="Calibri"/>
              </a:rPr>
              <a:t> </a:t>
            </a:r>
            <a:r>
              <a:rPr lang="en-US" sz="2600" spc="-20" dirty="0">
                <a:cs typeface="Calibri"/>
              </a:rPr>
              <a:t>system </a:t>
            </a:r>
            <a:r>
              <a:rPr sz="2600" spc="-5" dirty="0">
                <a:latin typeface="Calibri"/>
                <a:cs typeface="Calibri"/>
              </a:rPr>
              <a:t>down</a:t>
            </a:r>
            <a:r>
              <a:rPr lang="en-US" sz="2600" spc="-2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270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Explanations </a:t>
            </a:r>
            <a:r>
              <a:rPr spc="-15" dirty="0"/>
              <a:t>of All </a:t>
            </a:r>
            <a:r>
              <a:rPr spc="-30" dirty="0"/>
              <a:t>Signals</a:t>
            </a:r>
            <a:r>
              <a:rPr spc="-280" dirty="0"/>
              <a:t> </a:t>
            </a:r>
            <a:r>
              <a:rPr spc="-20" dirty="0"/>
              <a:t>(cont’)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1793189"/>
            <a:ext cx="11046461" cy="42969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366395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u="heavy" spc="-5" dirty="0">
                <a:uFill>
                  <a:solidFill>
                    <a:srgbClr val="000000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SIGQUIT</a:t>
            </a:r>
            <a:r>
              <a:rPr sz="2800" spc="-5" dirty="0">
                <a:latin typeface="Calibri"/>
                <a:cs typeface="Calibri"/>
              </a:rPr>
              <a:t>: </a:t>
            </a:r>
            <a:r>
              <a:rPr lang="en-US"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kernel </a:t>
            </a:r>
            <a:r>
              <a:rPr sz="2800" spc="-15" dirty="0">
                <a:latin typeface="Calibri"/>
                <a:cs typeface="Calibri"/>
              </a:rPr>
              <a:t>raises </a:t>
            </a:r>
            <a:r>
              <a:rPr sz="2800" spc="-5" dirty="0">
                <a:latin typeface="Calibri"/>
                <a:cs typeface="Calibri"/>
              </a:rPr>
              <a:t>this signal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all the </a:t>
            </a:r>
            <a:r>
              <a:rPr sz="2800" i="1" spc="-10" dirty="0">
                <a:latin typeface="Calibri"/>
                <a:cs typeface="Calibri"/>
              </a:rPr>
              <a:t>foreground </a:t>
            </a:r>
            <a:r>
              <a:rPr sz="2800" spc="-15" dirty="0">
                <a:latin typeface="Calibri"/>
                <a:cs typeface="Calibri"/>
              </a:rPr>
              <a:t>group</a:t>
            </a:r>
            <a:r>
              <a:rPr lang="en-US" sz="2800" spc="-15" dirty="0">
                <a:latin typeface="Calibri"/>
                <a:cs typeface="Calibri"/>
              </a:rPr>
              <a:t>’s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lang="en-US" sz="2800" spc="-15" dirty="0">
                <a:cs typeface="Calibri"/>
              </a:rPr>
              <a:t>processes </a:t>
            </a:r>
            <a:r>
              <a:rPr sz="2800" spc="-5" dirty="0">
                <a:latin typeface="Calibri"/>
                <a:cs typeface="Calibri"/>
              </a:rPr>
              <a:t>when the </a:t>
            </a:r>
            <a:r>
              <a:rPr sz="2800" spc="-10" dirty="0">
                <a:latin typeface="Calibri"/>
                <a:cs typeface="Calibri"/>
              </a:rPr>
              <a:t>user </a:t>
            </a:r>
            <a:r>
              <a:rPr sz="2800" spc="-15" dirty="0">
                <a:latin typeface="Calibri"/>
                <a:cs typeface="Calibri"/>
              </a:rPr>
              <a:t>provides </a:t>
            </a:r>
            <a:r>
              <a:rPr sz="2800" spc="-5" dirty="0">
                <a:latin typeface="Calibri"/>
                <a:cs typeface="Calibri"/>
              </a:rPr>
              <a:t>the terminal </a:t>
            </a:r>
            <a:r>
              <a:rPr sz="2800" spc="-10" dirty="0">
                <a:latin typeface="Calibri"/>
                <a:cs typeface="Calibri"/>
              </a:rPr>
              <a:t>quit character (usually </a:t>
            </a:r>
            <a:r>
              <a:rPr lang="en-US"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Ctrl</a:t>
            </a:r>
            <a:r>
              <a:rPr lang="en-US" sz="2800" spc="-5" dirty="0">
                <a:latin typeface="Calibri"/>
                <a:cs typeface="Calibri"/>
              </a:rPr>
              <a:t>+</a:t>
            </a:r>
            <a:r>
              <a:rPr lang="en-US"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\</a:t>
            </a:r>
            <a:r>
              <a:rPr sz="2800" spc="-10" dirty="0">
                <a:latin typeface="Calibri"/>
                <a:cs typeface="Calibri"/>
              </a:rPr>
              <a:t>). </a:t>
            </a:r>
            <a:r>
              <a:rPr lang="en-US" sz="2800" spc="-10" dirty="0">
                <a:latin typeface="Calibri"/>
                <a:cs typeface="Calibri"/>
              </a:rPr>
              <a:t>The d</a:t>
            </a:r>
            <a:r>
              <a:rPr sz="2800" spc="-20" dirty="0">
                <a:latin typeface="Calibri"/>
                <a:cs typeface="Calibri"/>
              </a:rPr>
              <a:t>efault </a:t>
            </a:r>
            <a:r>
              <a:rPr sz="2800" spc="-5" dirty="0">
                <a:latin typeface="Calibri"/>
                <a:cs typeface="Calibri"/>
              </a:rPr>
              <a:t>action is </a:t>
            </a:r>
            <a:r>
              <a:rPr sz="2800" spc="-10" dirty="0">
                <a:latin typeface="Calibri"/>
                <a:cs typeface="Calibri"/>
              </a:rPr>
              <a:t>termination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lang="en-US" sz="2800" spc="-5" dirty="0">
                <a:latin typeface="Calibri"/>
                <a:cs typeface="Calibri"/>
              </a:rPr>
              <a:t> creating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core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dump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58140" indent="-228600">
              <a:lnSpc>
                <a:spcPts val="303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SIGSEGV</a:t>
            </a:r>
            <a:r>
              <a:rPr sz="2800" spc="-15" dirty="0">
                <a:latin typeface="Calibri"/>
                <a:cs typeface="Calibri"/>
              </a:rPr>
              <a:t>: segmentation-violation</a:t>
            </a:r>
            <a:r>
              <a:rPr lang="en-US" sz="2800" spc="-15" dirty="0">
                <a:latin typeface="Calibri"/>
                <a:cs typeface="Calibri"/>
              </a:rPr>
              <a:t> is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process </a:t>
            </a:r>
            <a:r>
              <a:rPr sz="2800" spc="-5" dirty="0">
                <a:latin typeface="Calibri"/>
                <a:cs typeface="Calibri"/>
              </a:rPr>
              <a:t>when it </a:t>
            </a:r>
            <a:r>
              <a:rPr sz="2800" spc="-20" dirty="0">
                <a:latin typeface="Calibri"/>
                <a:cs typeface="Calibri"/>
              </a:rPr>
              <a:t>attempts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20" dirty="0">
                <a:latin typeface="Calibri"/>
                <a:cs typeface="Calibri"/>
              </a:rPr>
              <a:t>invalid </a:t>
            </a:r>
            <a:r>
              <a:rPr sz="2800" dirty="0">
                <a:latin typeface="Calibri"/>
                <a:cs typeface="Calibri"/>
              </a:rPr>
              <a:t>memory </a:t>
            </a:r>
            <a:r>
              <a:rPr sz="2800" spc="-5" dirty="0">
                <a:latin typeface="Calibri"/>
                <a:cs typeface="Calibri"/>
              </a:rPr>
              <a:t>access. </a:t>
            </a:r>
            <a:r>
              <a:rPr lang="en-US" sz="2800" spc="-10" dirty="0">
                <a:latin typeface="Calibri"/>
                <a:cs typeface="Calibri"/>
              </a:rPr>
              <a:t>The d</a:t>
            </a:r>
            <a:r>
              <a:rPr lang="en-US" sz="2800" spc="-20" dirty="0">
                <a:latin typeface="Calibri"/>
                <a:cs typeface="Calibri"/>
              </a:rPr>
              <a:t>efault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action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lang="en-US" sz="2800" spc="-5" dirty="0">
                <a:latin typeface="Calibri"/>
                <a:cs typeface="Calibri"/>
              </a:rPr>
              <a:t>to </a:t>
            </a:r>
            <a:r>
              <a:rPr sz="2800" spc="-15" dirty="0">
                <a:latin typeface="Calibri"/>
                <a:cs typeface="Calibri"/>
              </a:rPr>
              <a:t>terminate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372745" indent="-228600">
              <a:lnSpc>
                <a:spcPts val="302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SIGSTOP</a:t>
            </a:r>
            <a:r>
              <a:rPr sz="2800" spc="-20" dirty="0">
                <a:latin typeface="Calibri"/>
                <a:cs typeface="Calibri"/>
              </a:rPr>
              <a:t>: </a:t>
            </a:r>
            <a:r>
              <a:rPr lang="en-US" sz="2800" spc="-20" dirty="0">
                <a:latin typeface="Calibri"/>
                <a:cs typeface="Calibri"/>
              </a:rPr>
              <a:t>it is </a:t>
            </a:r>
            <a:r>
              <a:rPr sz="2800" spc="-15" dirty="0">
                <a:latin typeface="Calibri"/>
                <a:cs typeface="Calibri"/>
              </a:rPr>
              <a:t>sent </a:t>
            </a:r>
            <a:r>
              <a:rPr sz="2800" spc="-10" dirty="0">
                <a:latin typeface="Calibri"/>
                <a:cs typeface="Calibri"/>
              </a:rPr>
              <a:t>only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kill()</a:t>
            </a:r>
            <a:r>
              <a:rPr sz="2800" spc="-5" dirty="0">
                <a:latin typeface="Calibri"/>
                <a:cs typeface="Calibri"/>
              </a:rPr>
              <a:t>. It </a:t>
            </a:r>
            <a:r>
              <a:rPr sz="2800" spc="-10" dirty="0">
                <a:latin typeface="Calibri"/>
                <a:cs typeface="Calibri"/>
              </a:rPr>
              <a:t>unconditionally </a:t>
            </a:r>
            <a:r>
              <a:rPr sz="2800" spc="-20" dirty="0">
                <a:latin typeface="Calibri"/>
                <a:cs typeface="Calibri"/>
              </a:rPr>
              <a:t>stops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process </a:t>
            </a:r>
            <a:r>
              <a:rPr sz="2800" spc="-5" dirty="0">
                <a:latin typeface="Calibri"/>
                <a:cs typeface="Calibri"/>
              </a:rPr>
              <a:t>and cannot be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caught</a:t>
            </a:r>
            <a:r>
              <a:rPr lang="en-US" sz="2800" spc="-10" dirty="0">
                <a:latin typeface="Calibri"/>
                <a:cs typeface="Calibri"/>
              </a:rPr>
              <a:t> or </a:t>
            </a:r>
            <a:r>
              <a:rPr sz="2800" spc="-10" dirty="0">
                <a:latin typeface="Calibri"/>
                <a:cs typeface="Calibri"/>
              </a:rPr>
              <a:t>ignored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SIGSYS</a:t>
            </a:r>
            <a:r>
              <a:rPr sz="2800" spc="-20" dirty="0">
                <a:latin typeface="Calibri"/>
                <a:cs typeface="Calibri"/>
              </a:rPr>
              <a:t>: </a:t>
            </a:r>
            <a:r>
              <a:rPr lang="en-US" sz="2800" spc="-20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kernel </a:t>
            </a:r>
            <a:r>
              <a:rPr sz="2800" spc="-10" dirty="0">
                <a:latin typeface="Calibri"/>
                <a:cs typeface="Calibri"/>
              </a:rPr>
              <a:t>sends this signal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process </a:t>
            </a:r>
            <a:r>
              <a:rPr sz="2800" spc="-5" dirty="0">
                <a:latin typeface="Calibri"/>
                <a:cs typeface="Calibri"/>
              </a:rPr>
              <a:t>when it </a:t>
            </a:r>
            <a:r>
              <a:rPr sz="2800" spc="-20" dirty="0">
                <a:latin typeface="Calibri"/>
                <a:cs typeface="Calibri"/>
              </a:rPr>
              <a:t>attempts to </a:t>
            </a:r>
            <a:r>
              <a:rPr sz="2800" spc="-30" dirty="0">
                <a:latin typeface="Calibri"/>
                <a:cs typeface="Calibri"/>
              </a:rPr>
              <a:t>invoke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20" dirty="0">
                <a:latin typeface="Calibri"/>
                <a:cs typeface="Calibri"/>
              </a:rPr>
              <a:t>invalid </a:t>
            </a:r>
            <a:r>
              <a:rPr sz="2800" spc="-30" dirty="0">
                <a:latin typeface="Calibri"/>
                <a:cs typeface="Calibri"/>
              </a:rPr>
              <a:t>system </a:t>
            </a:r>
            <a:r>
              <a:rPr sz="2800" spc="-10" dirty="0">
                <a:latin typeface="Calibri"/>
                <a:cs typeface="Calibri"/>
              </a:rPr>
              <a:t>call, </a:t>
            </a:r>
            <a:r>
              <a:rPr lang="en-US" sz="2800" spc="-30" dirty="0">
                <a:latin typeface="Calibri"/>
                <a:cs typeface="Calibri"/>
              </a:rPr>
              <a:t>such as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when a binary </a:t>
            </a:r>
            <a:r>
              <a:rPr lang="en-US" sz="2800" spc="-10" dirty="0">
                <a:latin typeface="Calibri"/>
                <a:cs typeface="Calibri"/>
              </a:rPr>
              <a:t>created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 </a:t>
            </a:r>
            <a:r>
              <a:rPr lang="en-US"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newer </a:t>
            </a:r>
            <a:r>
              <a:rPr sz="2800" spc="-25" dirty="0">
                <a:latin typeface="Calibri"/>
                <a:cs typeface="Calibri"/>
              </a:rPr>
              <a:t>system </a:t>
            </a:r>
            <a:r>
              <a:rPr lang="en-US" sz="2800" spc="-5" dirty="0">
                <a:latin typeface="Calibri"/>
                <a:cs typeface="Calibri"/>
              </a:rPr>
              <a:t>executes</a:t>
            </a:r>
            <a:r>
              <a:rPr sz="2800" spc="-5" dirty="0">
                <a:latin typeface="Calibri"/>
                <a:cs typeface="Calibri"/>
              </a:rPr>
              <a:t> on an older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</a:t>
            </a:r>
            <a:r>
              <a:rPr lang="en-US" sz="2800" spc="-25" dirty="0">
                <a:latin typeface="Calibri"/>
                <a:cs typeface="Calibri"/>
              </a:rPr>
              <a:t> that doesn’t support a syscall.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270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Explanations </a:t>
            </a:r>
            <a:r>
              <a:rPr spc="-15" dirty="0"/>
              <a:t>of All </a:t>
            </a:r>
            <a:r>
              <a:rPr spc="-30" dirty="0"/>
              <a:t>Signals</a:t>
            </a:r>
            <a:r>
              <a:rPr spc="-280" dirty="0"/>
              <a:t> </a:t>
            </a:r>
            <a:r>
              <a:rPr spc="-20" dirty="0"/>
              <a:t>(cont’)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16939" y="1797761"/>
            <a:ext cx="10970261" cy="4162037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512445" indent="-228600">
              <a:lnSpc>
                <a:spcPts val="2810"/>
              </a:lnSpc>
              <a:spcBef>
                <a:spcPts val="455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SIGTERM</a:t>
            </a:r>
            <a:r>
              <a:rPr sz="2600" spc="-5" dirty="0">
                <a:latin typeface="Calibri"/>
                <a:cs typeface="Calibri"/>
              </a:rPr>
              <a:t>: </a:t>
            </a:r>
            <a:r>
              <a:rPr lang="en-US" sz="2600" spc="-5" dirty="0">
                <a:latin typeface="Calibri"/>
                <a:cs typeface="Calibri"/>
              </a:rPr>
              <a:t>it is </a:t>
            </a:r>
            <a:r>
              <a:rPr sz="2600" spc="-10" dirty="0">
                <a:latin typeface="Calibri"/>
                <a:cs typeface="Calibri"/>
              </a:rPr>
              <a:t>sent </a:t>
            </a:r>
            <a:r>
              <a:rPr sz="2600" spc="-5" dirty="0">
                <a:latin typeface="Calibri"/>
                <a:cs typeface="Calibri"/>
              </a:rPr>
              <a:t>only by </a:t>
            </a:r>
            <a:r>
              <a:rPr sz="24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kill()</a:t>
            </a:r>
            <a:r>
              <a:rPr sz="2600" spc="-5" dirty="0">
                <a:latin typeface="Calibri"/>
                <a:cs typeface="Calibri"/>
              </a:rPr>
              <a:t>; </a:t>
            </a:r>
            <a:r>
              <a:rPr sz="2600" dirty="0">
                <a:latin typeface="Calibri"/>
                <a:cs typeface="Calibri"/>
              </a:rPr>
              <a:t>it </a:t>
            </a:r>
            <a:r>
              <a:rPr sz="2600" spc="-10" dirty="0">
                <a:latin typeface="Calibri"/>
                <a:cs typeface="Calibri"/>
              </a:rPr>
              <a:t>allows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user </a:t>
            </a:r>
            <a:r>
              <a:rPr sz="2600" spc="-10" dirty="0">
                <a:latin typeface="Calibri"/>
                <a:cs typeface="Calibri"/>
              </a:rPr>
              <a:t>to gracefully terminate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dirty="0">
                <a:latin typeface="Calibri"/>
                <a:cs typeface="Calibri"/>
              </a:rPr>
              <a:t>(the </a:t>
            </a:r>
            <a:r>
              <a:rPr sz="2600" spc="-15" dirty="0">
                <a:latin typeface="Calibri"/>
                <a:cs typeface="Calibri"/>
              </a:rPr>
              <a:t>default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action</a:t>
            </a:r>
            <a:r>
              <a:rPr lang="en-US" sz="2600" dirty="0">
                <a:latin typeface="Calibri"/>
                <a:cs typeface="Calibri"/>
              </a:rPr>
              <a:t>.</a:t>
            </a:r>
            <a:r>
              <a:rPr sz="2600" dirty="0">
                <a:latin typeface="Calibri"/>
                <a:cs typeface="Calibri"/>
              </a:rPr>
              <a:t>)</a:t>
            </a:r>
          </a:p>
          <a:p>
            <a:pPr marL="241300" marR="691515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SIGTRAP</a:t>
            </a:r>
            <a:r>
              <a:rPr sz="2600" spc="-5" dirty="0">
                <a:latin typeface="Calibri"/>
                <a:cs typeface="Calibri"/>
              </a:rPr>
              <a:t>: </a:t>
            </a:r>
            <a:r>
              <a:rPr lang="en-US" sz="2600" spc="-5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5" dirty="0">
                <a:latin typeface="Calibri"/>
                <a:cs typeface="Calibri"/>
              </a:rPr>
              <a:t>sends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dirty="0">
                <a:latin typeface="Calibri"/>
                <a:cs typeface="Calibri"/>
              </a:rPr>
              <a:t>when it </a:t>
            </a:r>
            <a:r>
              <a:rPr lang="en-US" sz="2600" spc="-10" dirty="0">
                <a:latin typeface="Calibri"/>
                <a:cs typeface="Calibri"/>
              </a:rPr>
              <a:t>reaches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break point. </a:t>
            </a:r>
            <a:r>
              <a:rPr sz="2600" spc="-5" dirty="0">
                <a:latin typeface="Calibri"/>
                <a:cs typeface="Calibri"/>
              </a:rPr>
              <a:t>Generally</a:t>
            </a:r>
            <a:r>
              <a:rPr lang="en-US" sz="2600" spc="-5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debuggers </a:t>
            </a:r>
            <a:r>
              <a:rPr sz="2600" spc="-15" dirty="0">
                <a:latin typeface="Calibri"/>
                <a:cs typeface="Calibri"/>
              </a:rPr>
              <a:t>catch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5" dirty="0">
                <a:latin typeface="Calibri"/>
                <a:cs typeface="Calibri"/>
              </a:rPr>
              <a:t>signal,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10" dirty="0">
                <a:latin typeface="Calibri"/>
                <a:cs typeface="Calibri"/>
              </a:rPr>
              <a:t>other</a:t>
            </a:r>
            <a:r>
              <a:rPr lang="en-US" sz="2600" spc="-10" dirty="0">
                <a:latin typeface="Calibri"/>
                <a:cs typeface="Calibri"/>
              </a:rPr>
              <a:t> processes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ignore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u="heavy" spc="-5" dirty="0" err="1">
                <a:uFill>
                  <a:solidFill>
                    <a:srgbClr val="000000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SIGTSTP</a:t>
            </a:r>
            <a:r>
              <a:rPr sz="2600" spc="-10" dirty="0">
                <a:latin typeface="Calibri"/>
                <a:cs typeface="Calibri"/>
              </a:rPr>
              <a:t>: </a:t>
            </a:r>
            <a:r>
              <a:rPr lang="en-US" sz="2600" spc="-10" dirty="0">
                <a:latin typeface="Calibri"/>
                <a:cs typeface="Calibri"/>
              </a:rPr>
              <a:t>the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5" dirty="0">
                <a:latin typeface="Calibri"/>
                <a:cs typeface="Calibri"/>
              </a:rPr>
              <a:t>sends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all the </a:t>
            </a:r>
            <a:r>
              <a:rPr sz="2600" i="1" spc="-5" dirty="0">
                <a:latin typeface="Calibri"/>
                <a:cs typeface="Calibri"/>
              </a:rPr>
              <a:t>foreground </a:t>
            </a:r>
            <a:r>
              <a:rPr sz="2600" spc="-10" dirty="0">
                <a:latin typeface="Calibri"/>
                <a:cs typeface="Calibri"/>
              </a:rPr>
              <a:t>group</a:t>
            </a:r>
            <a:r>
              <a:rPr lang="en-US" sz="2600" spc="-10" dirty="0">
                <a:cs typeface="Calibri"/>
              </a:rPr>
              <a:t>’s processes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when</a:t>
            </a:r>
            <a:r>
              <a:rPr lang="en-US" sz="2600" dirty="0">
                <a:latin typeface="Calibri"/>
                <a:cs typeface="Calibri"/>
              </a:rPr>
              <a:t> the</a:t>
            </a:r>
            <a:r>
              <a:rPr sz="2600" dirty="0">
                <a:latin typeface="Calibri"/>
                <a:cs typeface="Calibri"/>
              </a:rPr>
              <a:t> user </a:t>
            </a:r>
            <a:r>
              <a:rPr sz="2600" spc="-5" dirty="0">
                <a:latin typeface="Calibri"/>
                <a:cs typeface="Calibri"/>
              </a:rPr>
              <a:t>provides </a:t>
            </a:r>
            <a:r>
              <a:rPr sz="2600" dirty="0">
                <a:latin typeface="Calibri"/>
                <a:cs typeface="Calibri"/>
              </a:rPr>
              <a:t>the suspend </a:t>
            </a:r>
            <a:r>
              <a:rPr sz="2600" spc="-5" dirty="0">
                <a:latin typeface="Calibri"/>
                <a:cs typeface="Calibri"/>
              </a:rPr>
              <a:t>character</a:t>
            </a:r>
            <a:r>
              <a:rPr sz="2600" spc="-1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Ctrl</a:t>
            </a:r>
            <a:r>
              <a:rPr kumimoji="0" lang="en-US" sz="26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lang="en-US" sz="2600" spc="-5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</a:t>
            </a:r>
            <a:r>
              <a:rPr sz="2600" spc="-10" dirty="0">
                <a:latin typeface="Calibri"/>
                <a:cs typeface="Calibri"/>
              </a:rPr>
              <a:t>)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374650" indent="-228600">
              <a:lnSpc>
                <a:spcPts val="281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SIGTTIN</a:t>
            </a:r>
            <a:r>
              <a:rPr sz="2600" dirty="0">
                <a:latin typeface="Calibri"/>
                <a:cs typeface="Calibri"/>
              </a:rPr>
              <a:t>: </a:t>
            </a:r>
            <a:r>
              <a:rPr lang="en-US" sz="2600" spc="-5" dirty="0">
                <a:latin typeface="Calibri"/>
                <a:cs typeface="Calibri"/>
              </a:rPr>
              <a:t>it is </a:t>
            </a:r>
            <a:r>
              <a:rPr sz="2600" spc="-10" dirty="0">
                <a:latin typeface="Calibri"/>
                <a:cs typeface="Calibri"/>
              </a:rPr>
              <a:t>sent to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dirty="0">
                <a:latin typeface="Calibri"/>
                <a:cs typeface="Calibri"/>
              </a:rPr>
              <a:t>in the </a:t>
            </a:r>
            <a:r>
              <a:rPr sz="2600" i="1" spc="-10" dirty="0">
                <a:latin typeface="Calibri"/>
                <a:cs typeface="Calibri"/>
              </a:rPr>
              <a:t>background </a:t>
            </a:r>
            <a:r>
              <a:rPr sz="2600" dirty="0">
                <a:latin typeface="Calibri"/>
                <a:cs typeface="Calibri"/>
              </a:rPr>
              <a:t>when it </a:t>
            </a:r>
            <a:r>
              <a:rPr sz="2600" spc="-15" dirty="0">
                <a:latin typeface="Calibri"/>
                <a:cs typeface="Calibri"/>
              </a:rPr>
              <a:t>attempts </a:t>
            </a:r>
            <a:r>
              <a:rPr sz="2600" spc="-10" dirty="0">
                <a:latin typeface="Calibri"/>
                <a:cs typeface="Calibri"/>
              </a:rPr>
              <a:t>to read from </a:t>
            </a:r>
            <a:r>
              <a:rPr sz="2600" dirty="0">
                <a:latin typeface="Calibri"/>
                <a:cs typeface="Calibri"/>
              </a:rPr>
              <a:t>its </a:t>
            </a:r>
            <a:r>
              <a:rPr sz="2600" spc="-10" dirty="0">
                <a:latin typeface="Calibri"/>
                <a:cs typeface="Calibri"/>
              </a:rPr>
              <a:t>controlling </a:t>
            </a:r>
            <a:r>
              <a:rPr sz="2600" dirty="0">
                <a:latin typeface="Calibri"/>
                <a:cs typeface="Calibri"/>
              </a:rPr>
              <a:t>terminal. </a:t>
            </a:r>
            <a:r>
              <a:rPr lang="en-US" sz="2600" dirty="0">
                <a:latin typeface="Calibri"/>
                <a:cs typeface="Calibri"/>
              </a:rPr>
              <a:t>The d</a:t>
            </a:r>
            <a:r>
              <a:rPr sz="2600" spc="-10" dirty="0">
                <a:latin typeface="Calibri"/>
                <a:cs typeface="Calibri"/>
              </a:rPr>
              <a:t>efault </a:t>
            </a:r>
            <a:r>
              <a:rPr sz="2600" dirty="0">
                <a:latin typeface="Calibri"/>
                <a:cs typeface="Calibri"/>
              </a:rPr>
              <a:t>action is </a:t>
            </a:r>
            <a:r>
              <a:rPr sz="2600" spc="-15" dirty="0">
                <a:latin typeface="Calibri"/>
                <a:cs typeface="Calibri"/>
              </a:rPr>
              <a:t>to stop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248285" indent="-228600">
              <a:lnSpc>
                <a:spcPts val="281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SIGTTOU</a:t>
            </a:r>
            <a:r>
              <a:rPr sz="2600" spc="-10" dirty="0">
                <a:latin typeface="Calibri"/>
                <a:cs typeface="Calibri"/>
              </a:rPr>
              <a:t>: </a:t>
            </a:r>
            <a:r>
              <a:rPr lang="en-US" sz="2600" spc="-10" dirty="0">
                <a:latin typeface="Calibri"/>
                <a:cs typeface="Calibri"/>
              </a:rPr>
              <a:t>it is </a:t>
            </a:r>
            <a:r>
              <a:rPr sz="2600" spc="-10" dirty="0">
                <a:latin typeface="Calibri"/>
                <a:cs typeface="Calibri"/>
              </a:rPr>
              <a:t>sent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dirty="0">
                <a:latin typeface="Calibri"/>
                <a:cs typeface="Calibri"/>
              </a:rPr>
              <a:t>in the </a:t>
            </a:r>
            <a:r>
              <a:rPr sz="2600" i="1" spc="-10" dirty="0">
                <a:latin typeface="Calibri"/>
                <a:cs typeface="Calibri"/>
              </a:rPr>
              <a:t>background </a:t>
            </a:r>
            <a:r>
              <a:rPr sz="2600" dirty="0">
                <a:latin typeface="Calibri"/>
                <a:cs typeface="Calibri"/>
              </a:rPr>
              <a:t>when it </a:t>
            </a:r>
            <a:r>
              <a:rPr sz="2600" spc="-10" dirty="0">
                <a:latin typeface="Calibri"/>
                <a:cs typeface="Calibri"/>
              </a:rPr>
              <a:t>attempts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write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its </a:t>
            </a:r>
            <a:r>
              <a:rPr sz="2600" spc="-10" dirty="0">
                <a:latin typeface="Calibri"/>
                <a:cs typeface="Calibri"/>
              </a:rPr>
              <a:t>controlling </a:t>
            </a:r>
            <a:r>
              <a:rPr sz="2600" dirty="0">
                <a:latin typeface="Calibri"/>
                <a:cs typeface="Calibri"/>
              </a:rPr>
              <a:t>terminal. </a:t>
            </a:r>
            <a:r>
              <a:rPr lang="en-US" sz="2600" dirty="0">
                <a:latin typeface="Calibri"/>
                <a:cs typeface="Calibri"/>
              </a:rPr>
              <a:t>The </a:t>
            </a:r>
            <a:r>
              <a:rPr lang="en-US" sz="2600" spc="-10" dirty="0">
                <a:latin typeface="Calibri"/>
                <a:cs typeface="Calibri"/>
              </a:rPr>
              <a:t>d</a:t>
            </a:r>
            <a:r>
              <a:rPr sz="2600" spc="-10" dirty="0">
                <a:latin typeface="Calibri"/>
                <a:cs typeface="Calibri"/>
              </a:rPr>
              <a:t>efault </a:t>
            </a:r>
            <a:r>
              <a:rPr sz="2600" dirty="0">
                <a:latin typeface="Calibri"/>
                <a:cs typeface="Calibri"/>
              </a:rPr>
              <a:t>action is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15" dirty="0">
                <a:latin typeface="Calibri"/>
                <a:cs typeface="Calibri"/>
              </a:rPr>
              <a:t>stop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270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Explanations </a:t>
            </a:r>
            <a:r>
              <a:rPr spc="-15" dirty="0"/>
              <a:t>of All </a:t>
            </a:r>
            <a:r>
              <a:rPr spc="-30" dirty="0"/>
              <a:t>Signals</a:t>
            </a:r>
            <a:r>
              <a:rPr spc="-280" dirty="0"/>
              <a:t> </a:t>
            </a:r>
            <a:r>
              <a:rPr spc="-20" dirty="0"/>
              <a:t>(cont’)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16939" y="1773377"/>
            <a:ext cx="10970261" cy="472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59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2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SIGURG</a:t>
            </a:r>
            <a:r>
              <a:rPr sz="2400" spc="-5" dirty="0">
                <a:latin typeface="Calibri"/>
                <a:cs typeface="Calibri"/>
              </a:rPr>
              <a:t>: </a:t>
            </a: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5" dirty="0">
                <a:latin typeface="Calibri"/>
                <a:cs typeface="Calibri"/>
              </a:rPr>
              <a:t>sends </a:t>
            </a:r>
            <a:r>
              <a:rPr sz="2400" dirty="0">
                <a:latin typeface="Calibri"/>
                <a:cs typeface="Calibri"/>
              </a:rPr>
              <a:t>this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dirty="0">
                <a:latin typeface="Calibri"/>
                <a:cs typeface="Calibri"/>
              </a:rPr>
              <a:t>when </a:t>
            </a:r>
            <a:r>
              <a:rPr sz="2400" spc="-5" dirty="0">
                <a:latin typeface="Calibri"/>
                <a:cs typeface="Calibri"/>
              </a:rPr>
              <a:t>out-of-band (OOB)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5" dirty="0">
                <a:latin typeface="Calibri"/>
                <a:cs typeface="Calibri"/>
              </a:rPr>
              <a:t>has arrived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socket. </a:t>
            </a:r>
            <a:r>
              <a:rPr sz="2400" spc="-5" dirty="0">
                <a:latin typeface="Calibri"/>
                <a:cs typeface="Calibri"/>
              </a:rPr>
              <a:t>OOB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lang="en-US" sz="2400" dirty="0">
                <a:latin typeface="Calibri"/>
                <a:cs typeface="Calibri"/>
              </a:rPr>
              <a:t>a topic </a:t>
            </a:r>
            <a:r>
              <a:rPr sz="2400" spc="-10" dirty="0">
                <a:latin typeface="Calibri"/>
                <a:cs typeface="Calibri"/>
              </a:rPr>
              <a:t>beyond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scope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book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42799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2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SIGUSR1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2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SIGUSR2</a:t>
            </a:r>
            <a:r>
              <a:rPr sz="2400" dirty="0">
                <a:latin typeface="Calibri"/>
                <a:cs typeface="Calibri"/>
              </a:rPr>
              <a:t>: </a:t>
            </a:r>
            <a:r>
              <a:rPr sz="2400" spc="-10" dirty="0">
                <a:latin typeface="Calibri"/>
                <a:cs typeface="Calibri"/>
              </a:rPr>
              <a:t>user-defined </a:t>
            </a:r>
            <a:r>
              <a:rPr sz="2400" spc="-5" dirty="0">
                <a:latin typeface="Calibri"/>
                <a:cs typeface="Calibri"/>
              </a:rPr>
              <a:t>signals</a:t>
            </a:r>
            <a:r>
              <a:rPr lang="en-US" sz="2400" spc="-5" dirty="0">
                <a:latin typeface="Calibri"/>
                <a:cs typeface="Calibri"/>
              </a:rPr>
              <a:t>: 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10" dirty="0">
                <a:latin typeface="Calibri"/>
                <a:cs typeface="Calibri"/>
              </a:rPr>
              <a:t>never raises </a:t>
            </a:r>
            <a:r>
              <a:rPr sz="2400" dirty="0">
                <a:latin typeface="Calibri"/>
                <a:cs typeface="Calibri"/>
              </a:rPr>
              <a:t>them.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spc="-15" dirty="0">
                <a:latin typeface="Calibri"/>
                <a:cs typeface="Calibri"/>
              </a:rPr>
              <a:t>may </a:t>
            </a:r>
            <a:r>
              <a:rPr sz="2400" spc="-5" dirty="0">
                <a:latin typeface="Calibri"/>
                <a:cs typeface="Calibri"/>
              </a:rPr>
              <a:t>use </a:t>
            </a:r>
            <a:r>
              <a:rPr sz="2400" dirty="0">
                <a:latin typeface="Calibri"/>
                <a:cs typeface="Calibri"/>
              </a:rPr>
              <a:t>them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15" dirty="0">
                <a:latin typeface="Calibri"/>
                <a:cs typeface="Calibri"/>
              </a:rPr>
              <a:t>any </a:t>
            </a:r>
            <a:r>
              <a:rPr sz="2400" spc="-5" dirty="0">
                <a:latin typeface="Calibri"/>
                <a:cs typeface="Calibri"/>
              </a:rPr>
              <a:t>purpose. </a:t>
            </a:r>
            <a:r>
              <a:rPr lang="en-US" sz="2400" spc="-5" dirty="0">
                <a:latin typeface="Calibri"/>
                <a:cs typeface="Calibri"/>
              </a:rPr>
              <a:t>The d</a:t>
            </a:r>
            <a:r>
              <a:rPr sz="2400" spc="-10" dirty="0">
                <a:latin typeface="Calibri"/>
                <a:cs typeface="Calibri"/>
              </a:rPr>
              <a:t>efault </a:t>
            </a:r>
            <a:r>
              <a:rPr sz="2400" dirty="0">
                <a:latin typeface="Calibri"/>
                <a:cs typeface="Calibri"/>
              </a:rPr>
              <a:t>action is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termination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595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2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SIGVTALRM</a:t>
            </a:r>
            <a:r>
              <a:rPr sz="2400" spc="-25" dirty="0">
                <a:latin typeface="Calibri"/>
                <a:cs typeface="Calibri"/>
              </a:rPr>
              <a:t>: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setitimer()</a:t>
            </a:r>
            <a:r>
              <a:rPr sz="2400" spc="-5" dirty="0">
                <a:latin typeface="Calibri"/>
                <a:cs typeface="Calibri"/>
              </a:rPr>
              <a:t> sends </a:t>
            </a:r>
            <a:r>
              <a:rPr sz="2400" dirty="0">
                <a:latin typeface="Calibri"/>
                <a:cs typeface="Calibri"/>
              </a:rPr>
              <a:t>this when a timer </a:t>
            </a:r>
            <a:r>
              <a:rPr sz="2400" spc="-15" dirty="0">
                <a:latin typeface="Calibri"/>
                <a:cs typeface="Calibri"/>
              </a:rPr>
              <a:t>created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lang="en-US" sz="2400" dirty="0">
                <a:latin typeface="Calibri"/>
                <a:cs typeface="Calibri"/>
              </a:rPr>
              <a:t> the</a:t>
            </a:r>
          </a:p>
          <a:p>
            <a:pPr marL="241300">
              <a:lnSpc>
                <a:spcPts val="2595"/>
              </a:lnSpc>
            </a:pPr>
            <a:r>
              <a:rPr lang="en-US" sz="22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ITIMER_VIRTUAL</a:t>
            </a:r>
            <a:r>
              <a:rPr lang="en-US" sz="2400" spc="-10" dirty="0"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flag </a:t>
            </a:r>
            <a:r>
              <a:rPr lang="en-US" sz="2400" spc="-10" dirty="0">
                <a:latin typeface="Calibri"/>
                <a:cs typeface="Calibri"/>
              </a:rPr>
              <a:t>expires</a:t>
            </a:r>
            <a:r>
              <a:rPr lang="en-US" sz="2400" spc="-5" dirty="0">
                <a:latin typeface="Calibri"/>
                <a:cs typeface="Calibri"/>
              </a:rPr>
              <a:t> (decrements only </a:t>
            </a:r>
            <a:r>
              <a:rPr lang="en-US" sz="2400" dirty="0">
                <a:latin typeface="Calibri"/>
                <a:cs typeface="Calibri"/>
              </a:rPr>
              <a:t>when </a:t>
            </a:r>
            <a:r>
              <a:rPr lang="en-US" sz="2400" spc="-10" dirty="0">
                <a:latin typeface="Calibri"/>
                <a:cs typeface="Calibri"/>
              </a:rPr>
              <a:t>process </a:t>
            </a:r>
            <a:r>
              <a:rPr lang="en-US" sz="2400" dirty="0">
                <a:latin typeface="Calibri"/>
                <a:cs typeface="Calibri"/>
              </a:rPr>
              <a:t>is </a:t>
            </a:r>
            <a:r>
              <a:rPr lang="en-US" sz="2400" spc="-10" dirty="0">
                <a:latin typeface="Calibri"/>
                <a:cs typeface="Calibri"/>
              </a:rPr>
              <a:t>executing.)</a:t>
            </a:r>
            <a:endParaRPr lang="en-US" sz="2400" dirty="0">
              <a:latin typeface="Calibri"/>
              <a:cs typeface="Calibri"/>
            </a:endParaRPr>
          </a:p>
          <a:p>
            <a:pPr marL="241300" marR="723265" indent="-228600">
              <a:lnSpc>
                <a:spcPts val="23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200" b="1" u="heavy" spc="-5" dirty="0" err="1">
                <a:uFill>
                  <a:solidFill>
                    <a:srgbClr val="000000"/>
                  </a:solidFill>
                </a:uFill>
                <a:latin typeface="Courier New" panose="02070309020205020404" pitchFamily="49" charset="0"/>
                <a:cs typeface="Courier New" panose="02070309020205020404" pitchFamily="49" charset="0"/>
              </a:rPr>
              <a:t>SIGWINCH</a:t>
            </a:r>
            <a:r>
              <a:rPr sz="2400" spc="-5" dirty="0">
                <a:latin typeface="Calibri"/>
                <a:cs typeface="Calibri"/>
              </a:rPr>
              <a:t>: </a:t>
            </a: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10" dirty="0">
                <a:latin typeface="Calibri"/>
                <a:cs typeface="Calibri"/>
              </a:rPr>
              <a:t>raises </a:t>
            </a:r>
            <a:r>
              <a:rPr sz="2400" dirty="0">
                <a:latin typeface="Calibri"/>
                <a:cs typeface="Calibri"/>
              </a:rPr>
              <a:t>this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all the </a:t>
            </a:r>
            <a:r>
              <a:rPr sz="2400" i="1" spc="-5" dirty="0">
                <a:latin typeface="Calibri"/>
                <a:cs typeface="Calibri"/>
              </a:rPr>
              <a:t>foreground </a:t>
            </a:r>
            <a:r>
              <a:rPr sz="2400" spc="-10" dirty="0">
                <a:latin typeface="Calibri"/>
                <a:cs typeface="Calibri"/>
              </a:rPr>
              <a:t>group</a:t>
            </a:r>
            <a:r>
              <a:rPr lang="en-US" sz="2400" spc="-10" dirty="0">
                <a:cs typeface="Calibri"/>
              </a:rPr>
              <a:t>’s processes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 the </a:t>
            </a:r>
            <a:r>
              <a:rPr sz="2400" spc="-15" dirty="0">
                <a:latin typeface="Calibri"/>
                <a:cs typeface="Calibri"/>
              </a:rPr>
              <a:t>size </a:t>
            </a:r>
            <a:r>
              <a:rPr sz="2400" spc="-5" dirty="0">
                <a:latin typeface="Calibri"/>
                <a:cs typeface="Calibri"/>
              </a:rPr>
              <a:t>of terminal window changes. </a:t>
            </a:r>
            <a:r>
              <a:rPr sz="2400" spc="-15" dirty="0">
                <a:latin typeface="Calibri"/>
                <a:cs typeface="Calibri"/>
              </a:rPr>
              <a:t>By </a:t>
            </a:r>
            <a:r>
              <a:rPr sz="2400" spc="-10" dirty="0">
                <a:latin typeface="Calibri"/>
                <a:cs typeface="Calibri"/>
              </a:rPr>
              <a:t>default, </a:t>
            </a:r>
            <a:r>
              <a:rPr sz="2400" spc="-5" dirty="0">
                <a:latin typeface="Calibri"/>
                <a:cs typeface="Calibri"/>
              </a:rPr>
              <a:t>processes ignore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lang="en-US" sz="240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283210" indent="-228600">
              <a:lnSpc>
                <a:spcPct val="800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200" b="1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SIGXCPU</a:t>
            </a:r>
            <a:r>
              <a:rPr sz="2400" spc="-15" dirty="0">
                <a:latin typeface="Calibri"/>
                <a:cs typeface="Calibri"/>
              </a:rPr>
              <a:t>: </a:t>
            </a:r>
            <a:r>
              <a:rPr lang="en-US" sz="2400" spc="-1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10" dirty="0">
                <a:latin typeface="Calibri"/>
                <a:cs typeface="Calibri"/>
              </a:rPr>
              <a:t>raises </a:t>
            </a:r>
            <a:r>
              <a:rPr sz="2400" dirty="0">
                <a:latin typeface="Calibri"/>
                <a:cs typeface="Calibri"/>
              </a:rPr>
              <a:t>this when 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15" dirty="0">
                <a:latin typeface="Calibri"/>
                <a:cs typeface="Calibri"/>
              </a:rPr>
              <a:t>exceeds </a:t>
            </a:r>
            <a:r>
              <a:rPr sz="2400" dirty="0">
                <a:latin typeface="Calibri"/>
                <a:cs typeface="Calibri"/>
              </a:rPr>
              <a:t>its </a:t>
            </a:r>
            <a:r>
              <a:rPr sz="2400" spc="-5" dirty="0">
                <a:latin typeface="Calibri"/>
                <a:cs typeface="Calibri"/>
              </a:rPr>
              <a:t>soft </a:t>
            </a:r>
            <a:r>
              <a:rPr sz="2400" spc="-10" dirty="0">
                <a:latin typeface="Calibri"/>
                <a:cs typeface="Calibri"/>
              </a:rPr>
              <a:t>processor </a:t>
            </a:r>
            <a:r>
              <a:rPr sz="2400" dirty="0">
                <a:latin typeface="Calibri"/>
                <a:cs typeface="Calibri"/>
              </a:rPr>
              <a:t>limit. </a:t>
            </a:r>
            <a:r>
              <a:rPr lang="en-US" sz="2400" dirty="0">
                <a:latin typeface="Calibri"/>
                <a:cs typeface="Calibri"/>
              </a:rPr>
              <a:t>The k</a:t>
            </a:r>
            <a:r>
              <a:rPr sz="2400" spc="-10" dirty="0">
                <a:latin typeface="Calibri"/>
                <a:cs typeface="Calibri"/>
              </a:rPr>
              <a:t>ernel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10" dirty="0">
                <a:latin typeface="Calibri"/>
                <a:cs typeface="Calibri"/>
              </a:rPr>
              <a:t>continue to raise </a:t>
            </a:r>
            <a:r>
              <a:rPr sz="2400" dirty="0">
                <a:latin typeface="Calibri"/>
                <a:cs typeface="Calibri"/>
              </a:rPr>
              <a:t>this </a:t>
            </a:r>
            <a:r>
              <a:rPr sz="2400" spc="-5" dirty="0">
                <a:latin typeface="Calibri"/>
                <a:cs typeface="Calibri"/>
              </a:rPr>
              <a:t>once </a:t>
            </a:r>
            <a:r>
              <a:rPr sz="2400" dirty="0">
                <a:latin typeface="Calibri"/>
                <a:cs typeface="Calibri"/>
              </a:rPr>
              <a:t>per sec </a:t>
            </a:r>
            <a:r>
              <a:rPr sz="2400" spc="-10" dirty="0">
                <a:latin typeface="Calibri"/>
                <a:cs typeface="Calibri"/>
              </a:rPr>
              <a:t>until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process exits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10" dirty="0">
                <a:latin typeface="Calibri"/>
                <a:cs typeface="Calibri"/>
              </a:rPr>
              <a:t>exceeds </a:t>
            </a:r>
            <a:r>
              <a:rPr sz="2400" dirty="0">
                <a:latin typeface="Calibri"/>
                <a:cs typeface="Calibri"/>
              </a:rPr>
              <a:t>its </a:t>
            </a:r>
            <a:r>
              <a:rPr sz="2400" spc="-10" dirty="0">
                <a:latin typeface="Calibri"/>
                <a:cs typeface="Calibri"/>
              </a:rPr>
              <a:t>hard processor </a:t>
            </a:r>
            <a:r>
              <a:rPr sz="2400" dirty="0">
                <a:latin typeface="Calibri"/>
                <a:cs typeface="Calibri"/>
              </a:rPr>
              <a:t>limit, </a:t>
            </a:r>
            <a:r>
              <a:rPr sz="2400" spc="-5" dirty="0">
                <a:latin typeface="Calibri"/>
                <a:cs typeface="Calibri"/>
              </a:rPr>
              <a:t>upon </a:t>
            </a:r>
            <a:r>
              <a:rPr sz="2400" dirty="0">
                <a:latin typeface="Calibri"/>
                <a:cs typeface="Calibri"/>
              </a:rPr>
              <a:t>which </a:t>
            </a:r>
            <a:r>
              <a:rPr sz="2400" spc="-10" dirty="0">
                <a:latin typeface="Calibri"/>
                <a:cs typeface="Calibri"/>
              </a:rPr>
              <a:t>kernel </a:t>
            </a:r>
            <a:r>
              <a:rPr sz="2400" spc="-5" dirty="0">
                <a:latin typeface="Calibri"/>
                <a:cs typeface="Calibri"/>
              </a:rPr>
              <a:t>sends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2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SIGKILL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  <a:p>
            <a:pPr marL="241300" indent="-228600">
              <a:lnSpc>
                <a:spcPts val="2595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200" b="1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SIGXFSZ</a:t>
            </a:r>
            <a:r>
              <a:rPr sz="2400" spc="-5" dirty="0">
                <a:latin typeface="Calibri"/>
                <a:cs typeface="Calibri"/>
              </a:rPr>
              <a:t>: </a:t>
            </a:r>
            <a:r>
              <a:rPr lang="en-US"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10" dirty="0">
                <a:latin typeface="Calibri"/>
                <a:cs typeface="Calibri"/>
              </a:rPr>
              <a:t>raises </a:t>
            </a:r>
            <a:r>
              <a:rPr sz="2400" dirty="0">
                <a:latin typeface="Calibri"/>
                <a:cs typeface="Calibri"/>
              </a:rPr>
              <a:t>this when a </a:t>
            </a:r>
            <a:r>
              <a:rPr sz="2400" spc="-10" dirty="0">
                <a:latin typeface="Calibri"/>
                <a:cs typeface="Calibri"/>
              </a:rPr>
              <a:t>process exceeds </a:t>
            </a:r>
            <a:r>
              <a:rPr sz="2400" dirty="0">
                <a:latin typeface="Calibri"/>
                <a:cs typeface="Calibri"/>
              </a:rPr>
              <a:t>its </a:t>
            </a:r>
            <a:r>
              <a:rPr sz="2400" spc="-5" dirty="0">
                <a:latin typeface="Calibri"/>
                <a:cs typeface="Calibri"/>
              </a:rPr>
              <a:t>file </a:t>
            </a:r>
            <a:r>
              <a:rPr sz="2400" spc="-20" dirty="0">
                <a:latin typeface="Calibri"/>
                <a:cs typeface="Calibri"/>
              </a:rPr>
              <a:t>size </a:t>
            </a:r>
            <a:r>
              <a:rPr sz="2400" dirty="0">
                <a:latin typeface="Calibri"/>
                <a:cs typeface="Calibri"/>
              </a:rPr>
              <a:t>limit. </a:t>
            </a:r>
            <a:r>
              <a:rPr lang="en-US" sz="2400" dirty="0">
                <a:latin typeface="Calibri"/>
                <a:cs typeface="Calibri"/>
              </a:rPr>
              <a:t>The d</a:t>
            </a:r>
            <a:r>
              <a:rPr sz="2400" spc="-15" dirty="0">
                <a:latin typeface="Calibri"/>
                <a:cs typeface="Calibri"/>
              </a:rPr>
              <a:t>efault </a:t>
            </a:r>
            <a:r>
              <a:rPr sz="2400" dirty="0">
                <a:latin typeface="Calibri"/>
                <a:cs typeface="Calibri"/>
              </a:rPr>
              <a:t>action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termination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650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Basic </a:t>
            </a:r>
            <a:r>
              <a:rPr spc="-25" dirty="0"/>
              <a:t>Signal</a:t>
            </a:r>
            <a:r>
              <a:rPr spc="-220" dirty="0"/>
              <a:t> </a:t>
            </a:r>
            <a:r>
              <a:rPr spc="-45" dirty="0"/>
              <a:t>Management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6939" y="1765757"/>
            <a:ext cx="10589261" cy="436183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5080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The basic </a:t>
            </a:r>
            <a:r>
              <a:rPr sz="2600" spc="-10" dirty="0">
                <a:latin typeface="Calibri"/>
                <a:cs typeface="Calibri"/>
              </a:rPr>
              <a:t>interface </a:t>
            </a:r>
            <a:r>
              <a:rPr sz="2600" dirty="0">
                <a:latin typeface="Calibri"/>
                <a:cs typeface="Calibri"/>
              </a:rPr>
              <a:t>is the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sz="2600" dirty="0">
                <a:latin typeface="Calibri"/>
                <a:cs typeface="Calibri"/>
              </a:rPr>
              <a:t> function, though </a:t>
            </a:r>
            <a:r>
              <a:rPr sz="2600" spc="-5" dirty="0">
                <a:latin typeface="Calibri"/>
                <a:cs typeface="Calibri"/>
              </a:rPr>
              <a:t>Linux </a:t>
            </a:r>
            <a:r>
              <a:rPr sz="2600" spc="-25" dirty="0">
                <a:latin typeface="Calibri"/>
                <a:cs typeface="Calibri"/>
              </a:rPr>
              <a:t>offers </a:t>
            </a:r>
            <a:r>
              <a:rPr sz="2600" spc="-10" dirty="0">
                <a:latin typeface="Calibri"/>
                <a:cs typeface="Calibri"/>
              </a:rPr>
              <a:t>substantially more control over </a:t>
            </a:r>
            <a:r>
              <a:rPr sz="2600" dirty="0">
                <a:latin typeface="Calibri"/>
                <a:cs typeface="Calibri"/>
              </a:rPr>
              <a:t>signals via </a:t>
            </a:r>
            <a:r>
              <a:rPr sz="2600" spc="-5" dirty="0">
                <a:latin typeface="Calibri"/>
                <a:cs typeface="Calibri"/>
              </a:rPr>
              <a:t>other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interface</a:t>
            </a:r>
            <a:r>
              <a:rPr lang="en-US" sz="2600" spc="-10" dirty="0">
                <a:latin typeface="Calibri"/>
                <a:cs typeface="Calibri"/>
              </a:rPr>
              <a:t>s: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9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&lt;signal.h&gt;</a:t>
            </a:r>
          </a:p>
          <a:p>
            <a:pPr marL="469900">
              <a:lnSpc>
                <a:spcPct val="100000"/>
              </a:lnSpc>
              <a:spcBef>
                <a:spcPts val="3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typedef void</a:t>
            </a:r>
            <a:r>
              <a:rPr sz="2000" b="1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(*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sighandler_t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</a:p>
          <a:p>
            <a:pPr marL="469900">
              <a:lnSpc>
                <a:spcPct val="100000"/>
              </a:lnSpc>
              <a:spcBef>
                <a:spcPts val="5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</a:rPr>
              <a:t>sighandler_t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 signal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signo, </a:t>
            </a:r>
            <a:r>
              <a:rPr sz="2000" b="1" dirty="0">
                <a:solidFill>
                  <a:srgbClr val="0070C0"/>
                </a:solidFill>
                <a:latin typeface="Consolas"/>
              </a:rPr>
              <a:t>sighandler_t</a:t>
            </a:r>
            <a:r>
              <a:rPr sz="2000" spc="5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handler);</a:t>
            </a:r>
          </a:p>
          <a:p>
            <a:pPr marL="241300" indent="-228600">
              <a:lnSpc>
                <a:spcPts val="2810"/>
              </a:lnSpc>
              <a:spcBef>
                <a:spcPts val="34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successful call </a:t>
            </a:r>
            <a:r>
              <a:rPr sz="2600" spc="-10" dirty="0">
                <a:latin typeface="Calibri"/>
                <a:cs typeface="Calibri"/>
              </a:rPr>
              <a:t>removes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current </a:t>
            </a:r>
            <a:r>
              <a:rPr sz="2600" dirty="0">
                <a:latin typeface="Calibri"/>
                <a:cs typeface="Calibri"/>
              </a:rPr>
              <a:t>action </a:t>
            </a:r>
            <a:r>
              <a:rPr sz="2600" spc="-5" dirty="0">
                <a:latin typeface="Calibri"/>
                <a:cs typeface="Calibri"/>
              </a:rPr>
              <a:t>associated </a:t>
            </a:r>
            <a:r>
              <a:rPr sz="2600" dirty="0">
                <a:latin typeface="Calibri"/>
                <a:cs typeface="Calibri"/>
              </a:rPr>
              <a:t>with 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signal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810"/>
              </a:lnSpc>
            </a:pP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signo</a:t>
            </a:r>
            <a:r>
              <a:rPr sz="2600" i="1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instead </a:t>
            </a:r>
            <a:r>
              <a:rPr sz="2600" spc="-15" dirty="0">
                <a:latin typeface="Calibri"/>
                <a:cs typeface="Calibri"/>
              </a:rPr>
              <a:t>registers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new handler specified </a:t>
            </a:r>
            <a:r>
              <a:rPr sz="2600" spc="-10" dirty="0">
                <a:latin typeface="Calibri"/>
                <a:cs typeface="Calibri"/>
              </a:rPr>
              <a:t>by</a:t>
            </a:r>
            <a:r>
              <a:rPr sz="2600" spc="-15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handler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spc="-5" dirty="0">
              <a:latin typeface="Calibri"/>
              <a:cs typeface="Calibri"/>
            </a:endParaRPr>
          </a:p>
          <a:p>
            <a:pPr marL="241300" marR="1019175" indent="-228600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handler</a:t>
            </a:r>
            <a:r>
              <a:rPr sz="2600" i="1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function </a:t>
            </a:r>
            <a:r>
              <a:rPr sz="2600" spc="-10" dirty="0">
                <a:latin typeface="Calibri"/>
                <a:cs typeface="Calibri"/>
              </a:rPr>
              <a:t>must return </a:t>
            </a:r>
            <a:r>
              <a:rPr sz="2400" b="1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void</a:t>
            </a:r>
            <a:r>
              <a:rPr sz="2600" spc="-10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as </a:t>
            </a:r>
            <a:r>
              <a:rPr sz="2600" spc="-5" dirty="0">
                <a:latin typeface="Calibri"/>
                <a:cs typeface="Calibri"/>
              </a:rPr>
              <a:t>there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10" dirty="0">
                <a:latin typeface="Calibri"/>
                <a:cs typeface="Calibri"/>
              </a:rPr>
              <a:t>nowhere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dirty="0">
                <a:latin typeface="Calibri"/>
                <a:cs typeface="Calibri"/>
              </a:rPr>
              <a:t>this  function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return. </a:t>
            </a:r>
            <a:r>
              <a:rPr sz="2600" dirty="0">
                <a:latin typeface="Calibri"/>
                <a:cs typeface="Calibri"/>
              </a:rPr>
              <a:t>And it </a:t>
            </a:r>
            <a:r>
              <a:rPr sz="2600" spc="-20" dirty="0">
                <a:latin typeface="Calibri"/>
                <a:cs typeface="Calibri"/>
              </a:rPr>
              <a:t>takes </a:t>
            </a:r>
            <a:r>
              <a:rPr sz="2600" spc="-5" dirty="0">
                <a:latin typeface="Calibri"/>
                <a:cs typeface="Calibri"/>
              </a:rPr>
              <a:t>one </a:t>
            </a:r>
            <a:r>
              <a:rPr sz="2400" b="1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int</a:t>
            </a:r>
            <a:r>
              <a:rPr sz="2600" i="1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argument </a:t>
            </a:r>
            <a:r>
              <a:rPr sz="2600" dirty="0">
                <a:latin typeface="Calibri"/>
                <a:cs typeface="Calibri"/>
              </a:rPr>
              <a:t>which is the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spc="-20" dirty="0">
                <a:latin typeface="Calibri"/>
                <a:cs typeface="Calibri"/>
              </a:rPr>
              <a:t>identifier</a:t>
            </a:r>
            <a:r>
              <a:rPr lang="en-US" sz="2600" spc="-20" dirty="0">
                <a:latin typeface="Calibri"/>
                <a:cs typeface="Calibri"/>
              </a:rPr>
              <a:t>: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this </a:t>
            </a:r>
            <a:r>
              <a:rPr sz="2600" spc="-10" dirty="0">
                <a:latin typeface="Calibri"/>
                <a:cs typeface="Calibri"/>
              </a:rPr>
              <a:t>allows </a:t>
            </a:r>
            <a:r>
              <a:rPr sz="2600" dirty="0">
                <a:latin typeface="Calibri"/>
                <a:cs typeface="Calibri"/>
              </a:rPr>
              <a:t>a single function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handle multiple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signals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prototype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handler: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my_handler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signo);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7222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Basic </a:t>
            </a:r>
            <a:r>
              <a:rPr spc="-25" dirty="0"/>
              <a:t>Signal </a:t>
            </a:r>
            <a:r>
              <a:rPr spc="-45" dirty="0"/>
              <a:t>Management</a:t>
            </a:r>
            <a:r>
              <a:rPr spc="-260" dirty="0"/>
              <a:t> </a:t>
            </a:r>
            <a:r>
              <a:rPr spc="-25" dirty="0"/>
              <a:t>(cont’)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16939" y="1765757"/>
            <a:ext cx="10817861" cy="436658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3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The </a:t>
            </a:r>
            <a:r>
              <a:rPr sz="2600" spc="-20" dirty="0">
                <a:latin typeface="Calibri"/>
                <a:cs typeface="Calibri"/>
              </a:rPr>
              <a:t>typedef, </a:t>
            </a:r>
            <a:r>
              <a:rPr sz="2400" b="1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sighandler_t</a:t>
            </a:r>
            <a:r>
              <a:rPr sz="2600" dirty="0">
                <a:latin typeface="Calibri"/>
                <a:cs typeface="Calibri"/>
              </a:rPr>
              <a:t>, which </a:t>
            </a:r>
            <a:r>
              <a:rPr sz="2600" spc="-10" dirty="0">
                <a:latin typeface="Calibri"/>
                <a:cs typeface="Calibri"/>
              </a:rPr>
              <a:t>represents </a:t>
            </a:r>
            <a:r>
              <a:rPr sz="2600" dirty="0">
                <a:latin typeface="Calibri"/>
                <a:cs typeface="Calibri"/>
              </a:rPr>
              <a:t>the type of the </a:t>
            </a:r>
            <a:r>
              <a:rPr sz="2600" spc="-5" dirty="0">
                <a:latin typeface="Calibri"/>
                <a:cs typeface="Calibri"/>
              </a:rPr>
              <a:t>signal handler </a:t>
            </a:r>
            <a:r>
              <a:rPr sz="2600" dirty="0">
                <a:latin typeface="Calibri"/>
                <a:cs typeface="Calibri"/>
              </a:rPr>
              <a:t>function, is </a:t>
            </a:r>
            <a:r>
              <a:rPr sz="2600" spc="-5" dirty="0">
                <a:latin typeface="Calibri"/>
                <a:cs typeface="Calibri"/>
              </a:rPr>
              <a:t>used by Linux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15" dirty="0">
                <a:latin typeface="Calibri"/>
                <a:cs typeface="Calibri"/>
              </a:rPr>
              <a:t>may </a:t>
            </a:r>
            <a:r>
              <a:rPr sz="2600" spc="-5" dirty="0">
                <a:latin typeface="Calibri"/>
                <a:cs typeface="Calibri"/>
              </a:rPr>
              <a:t>not </a:t>
            </a:r>
            <a:r>
              <a:rPr sz="2600" dirty="0">
                <a:latin typeface="Calibri"/>
                <a:cs typeface="Calibri"/>
              </a:rPr>
              <a:t>be </a:t>
            </a:r>
            <a:r>
              <a:rPr sz="2600" spc="-5" dirty="0">
                <a:latin typeface="Calibri"/>
                <a:cs typeface="Calibri"/>
              </a:rPr>
              <a:t>shared by other </a:t>
            </a:r>
            <a:r>
              <a:rPr sz="2600" dirty="0">
                <a:latin typeface="Calibri"/>
                <a:cs typeface="Calibri"/>
              </a:rPr>
              <a:t>Unix </a:t>
            </a:r>
            <a:r>
              <a:rPr sz="2600" spc="-20" dirty="0">
                <a:latin typeface="Calibri"/>
                <a:cs typeface="Calibri"/>
              </a:rPr>
              <a:t>systems. </a:t>
            </a:r>
            <a:r>
              <a:rPr sz="2600" spc="-5" dirty="0">
                <a:latin typeface="Calibri"/>
                <a:cs typeface="Calibri"/>
              </a:rPr>
              <a:t>So</a:t>
            </a:r>
            <a:r>
              <a:rPr lang="en-US" sz="2600" spc="-5" dirty="0">
                <a:latin typeface="Calibri"/>
                <a:cs typeface="Calibri"/>
              </a:rPr>
              <a:t>,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spc="-5" dirty="0">
                <a:latin typeface="Calibri"/>
                <a:cs typeface="Calibri"/>
              </a:rPr>
              <a:t>portability purpose, don’t </a:t>
            </a:r>
            <a:r>
              <a:rPr lang="en-US" sz="2600" spc="-25" dirty="0">
                <a:latin typeface="Calibri"/>
                <a:cs typeface="Calibri"/>
              </a:rPr>
              <a:t>manipulate </a:t>
            </a:r>
            <a:r>
              <a:rPr sz="2600" dirty="0">
                <a:latin typeface="Calibri"/>
                <a:cs typeface="Calibri"/>
              </a:rPr>
              <a:t>th</a:t>
            </a:r>
            <a:r>
              <a:rPr lang="en-US" sz="2600" dirty="0">
                <a:latin typeface="Calibri"/>
                <a:cs typeface="Calibri"/>
              </a:rPr>
              <a:t>is</a:t>
            </a:r>
            <a:r>
              <a:rPr sz="2600" dirty="0">
                <a:latin typeface="Calibri"/>
                <a:cs typeface="Calibri"/>
              </a:rPr>
              <a:t> type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directly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46990" indent="-228600">
              <a:lnSpc>
                <a:spcPct val="8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If a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10" dirty="0">
                <a:latin typeface="Calibri"/>
                <a:cs typeface="Calibri"/>
              </a:rPr>
              <a:t>raised to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process that </a:t>
            </a:r>
            <a:r>
              <a:rPr sz="2600" dirty="0">
                <a:latin typeface="Calibri"/>
                <a:cs typeface="Calibri"/>
              </a:rPr>
              <a:t>has </a:t>
            </a:r>
            <a:r>
              <a:rPr sz="2600" spc="-15" dirty="0">
                <a:latin typeface="Calibri"/>
                <a:cs typeface="Calibri"/>
              </a:rPr>
              <a:t>registered </a:t>
            </a:r>
            <a:r>
              <a:rPr sz="2600" dirty="0">
                <a:latin typeface="Calibri"/>
                <a:cs typeface="Calibri"/>
              </a:rPr>
              <a:t>a signal </a:t>
            </a:r>
            <a:r>
              <a:rPr sz="2600" spc="-30" dirty="0">
                <a:latin typeface="Calibri"/>
                <a:cs typeface="Calibri"/>
              </a:rPr>
              <a:t>handler, </a:t>
            </a:r>
            <a:r>
              <a:rPr sz="2600" dirty="0">
                <a:latin typeface="Calibri"/>
                <a:cs typeface="Calibri"/>
              </a:rPr>
              <a:t>th</a:t>
            </a:r>
            <a:r>
              <a:rPr lang="en-US" sz="260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kernel </a:t>
            </a:r>
            <a:r>
              <a:rPr sz="2600" spc="-5" dirty="0">
                <a:latin typeface="Calibri"/>
                <a:cs typeface="Calibri"/>
              </a:rPr>
              <a:t>suspends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regular </a:t>
            </a:r>
            <a:r>
              <a:rPr sz="2600" spc="-10" dirty="0">
                <a:latin typeface="Calibri"/>
                <a:cs typeface="Calibri"/>
              </a:rPr>
              <a:t>execution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calls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dirty="0">
                <a:latin typeface="Calibri"/>
                <a:cs typeface="Calibri"/>
              </a:rPr>
              <a:t>handler with </a:t>
            </a:r>
            <a:r>
              <a:rPr sz="24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signo</a:t>
            </a:r>
            <a:r>
              <a:rPr sz="2600" i="1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passed </a:t>
            </a:r>
            <a:r>
              <a:rPr sz="2600" dirty="0">
                <a:latin typeface="Calibri"/>
                <a:cs typeface="Calibri"/>
              </a:rPr>
              <a:t>as 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parameter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110"/>
              </a:lnSpc>
              <a:spcBef>
                <a:spcPts val="38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If </a:t>
            </a:r>
            <a:r>
              <a:rPr sz="2600" spc="-15" dirty="0">
                <a:latin typeface="Calibri"/>
                <a:cs typeface="Calibri"/>
              </a:rPr>
              <a:t>you </a:t>
            </a:r>
            <a:r>
              <a:rPr sz="2600" spc="-5" dirty="0">
                <a:latin typeface="Calibri"/>
                <a:cs typeface="Calibri"/>
              </a:rPr>
              <a:t>call </a:t>
            </a:r>
            <a:r>
              <a:rPr sz="2400" spc="5" dirty="0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but </a:t>
            </a:r>
            <a:r>
              <a:rPr sz="2600" dirty="0">
                <a:latin typeface="Calibri"/>
                <a:cs typeface="Calibri"/>
              </a:rPr>
              <a:t>pass the </a:t>
            </a:r>
            <a:r>
              <a:rPr sz="2600" spc="-10" dirty="0">
                <a:latin typeface="Calibri"/>
                <a:cs typeface="Calibri"/>
              </a:rPr>
              <a:t>following </a:t>
            </a:r>
            <a:r>
              <a:rPr sz="2600" dirty="0">
                <a:latin typeface="Calibri"/>
                <a:cs typeface="Calibri"/>
              </a:rPr>
              <a:t>in </a:t>
            </a:r>
            <a:r>
              <a:rPr sz="2600" spc="-5" dirty="0">
                <a:latin typeface="Calibri"/>
                <a:cs typeface="Calibri"/>
              </a:rPr>
              <a:t>place 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handler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parameter:</a:t>
            </a:r>
            <a:endParaRPr sz="2600" dirty="0">
              <a:latin typeface="Calibri"/>
              <a:cs typeface="Calibri"/>
            </a:endParaRPr>
          </a:p>
          <a:p>
            <a:pPr marL="698500" lvl="1" indent="-229235">
              <a:lnSpc>
                <a:spcPts val="262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SIG_DFL</a:t>
            </a:r>
            <a:r>
              <a:rPr sz="2200" spc="-5" dirty="0">
                <a:latin typeface="Calibri"/>
                <a:cs typeface="Calibri"/>
              </a:rPr>
              <a:t>: this </a:t>
            </a:r>
            <a:r>
              <a:rPr sz="2200" spc="-10" dirty="0">
                <a:latin typeface="Calibri"/>
                <a:cs typeface="Calibri"/>
              </a:rPr>
              <a:t>sets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behavior </a:t>
            </a:r>
            <a:r>
              <a:rPr sz="2200" spc="-5" dirty="0">
                <a:latin typeface="Calibri"/>
                <a:cs typeface="Calibri"/>
              </a:rPr>
              <a:t>of </a:t>
            </a:r>
            <a:r>
              <a:rPr lang="en-US" sz="2200" spc="-5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signal </a:t>
            </a:r>
            <a:r>
              <a:rPr sz="20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signo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5" dirty="0">
                <a:latin typeface="Calibri"/>
                <a:cs typeface="Calibri"/>
              </a:rPr>
              <a:t>its</a:t>
            </a:r>
            <a:r>
              <a:rPr sz="2200" spc="9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default</a:t>
            </a:r>
            <a:r>
              <a:rPr lang="en-US" sz="2200" spc="-1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63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SIG_IGN</a:t>
            </a:r>
            <a:r>
              <a:rPr sz="2200" spc="-5" dirty="0">
                <a:latin typeface="Calibri"/>
                <a:cs typeface="Calibri"/>
              </a:rPr>
              <a:t>: this </a:t>
            </a:r>
            <a:r>
              <a:rPr sz="2200" spc="-10" dirty="0">
                <a:latin typeface="Calibri"/>
                <a:cs typeface="Calibri"/>
              </a:rPr>
              <a:t>ignores </a:t>
            </a:r>
            <a:r>
              <a:rPr sz="2200" spc="-5" dirty="0">
                <a:latin typeface="Calibri"/>
                <a:cs typeface="Calibri"/>
              </a:rPr>
              <a:t>the signal </a:t>
            </a:r>
            <a:r>
              <a:rPr sz="2200" spc="-10" dirty="0">
                <a:latin typeface="Calibri"/>
                <a:cs typeface="Calibri"/>
              </a:rPr>
              <a:t>given by</a:t>
            </a:r>
            <a:r>
              <a:rPr sz="2200" spc="-114" dirty="0">
                <a:latin typeface="Calibri"/>
                <a:cs typeface="Calibri"/>
              </a:rPr>
              <a:t> </a:t>
            </a:r>
            <a:r>
              <a:rPr sz="20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signo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spc="-5" dirty="0">
              <a:latin typeface="Calibri"/>
              <a:cs typeface="Calibri"/>
            </a:endParaRPr>
          </a:p>
          <a:p>
            <a:pPr marL="241300" marR="179070" indent="-228600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dirty="0">
                <a:latin typeface="Calibri"/>
                <a:cs typeface="Calibri"/>
              </a:rPr>
              <a:t>success, </a:t>
            </a:r>
            <a:r>
              <a:rPr sz="2400" spc="5" dirty="0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returns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previous </a:t>
            </a:r>
            <a:r>
              <a:rPr sz="2600" spc="-10" dirty="0">
                <a:latin typeface="Calibri"/>
                <a:cs typeface="Calibri"/>
              </a:rPr>
              <a:t>behavior </a:t>
            </a:r>
            <a:r>
              <a:rPr sz="2600" spc="-5" dirty="0">
                <a:latin typeface="Calibri"/>
                <a:cs typeface="Calibri"/>
              </a:rPr>
              <a:t>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signal, </a:t>
            </a:r>
            <a:r>
              <a:rPr sz="2600" dirty="0">
                <a:latin typeface="Calibri"/>
                <a:cs typeface="Calibri"/>
              </a:rPr>
              <a:t>which  </a:t>
            </a:r>
            <a:r>
              <a:rPr sz="2600" spc="-10" dirty="0">
                <a:latin typeface="Calibri"/>
                <a:cs typeface="Calibri"/>
              </a:rPr>
              <a:t>could </a:t>
            </a:r>
            <a:r>
              <a:rPr sz="2600" spc="-5" dirty="0">
                <a:latin typeface="Calibri"/>
                <a:cs typeface="Calibri"/>
              </a:rPr>
              <a:t>be </a:t>
            </a:r>
            <a:r>
              <a:rPr lang="en-US" sz="2600" spc="-5" dirty="0">
                <a:latin typeface="Calibri"/>
                <a:cs typeface="Calibri"/>
              </a:rPr>
              <a:t>either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pointer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30" dirty="0">
                <a:latin typeface="Calibri"/>
                <a:cs typeface="Calibri"/>
              </a:rPr>
              <a:t>handler, </a:t>
            </a:r>
            <a:r>
              <a:rPr sz="2400" spc="5" dirty="0">
                <a:latin typeface="Courier New" panose="02070309020205020404" pitchFamily="49" charset="0"/>
                <a:cs typeface="Courier New" panose="02070309020205020404" pitchFamily="49" charset="0"/>
              </a:rPr>
              <a:t>SIG_DFL</a:t>
            </a:r>
            <a:r>
              <a:rPr sz="2600" spc="5" dirty="0">
                <a:latin typeface="Calibri"/>
                <a:cs typeface="Calibri"/>
              </a:rPr>
              <a:t>, </a:t>
            </a:r>
            <a:r>
              <a:rPr sz="2600" spc="-5" dirty="0">
                <a:latin typeface="Calibri"/>
                <a:cs typeface="Calibri"/>
              </a:rPr>
              <a:t>or </a:t>
            </a:r>
            <a:r>
              <a:rPr sz="2400" spc="5" dirty="0">
                <a:latin typeface="Courier New" panose="02070309020205020404" pitchFamily="49" charset="0"/>
                <a:cs typeface="Courier New" panose="02070309020205020404" pitchFamily="49" charset="0"/>
              </a:rPr>
              <a:t>SIG_IGN</a:t>
            </a:r>
            <a:r>
              <a:rPr sz="2600" dirty="0">
                <a:latin typeface="Calibri"/>
                <a:cs typeface="Calibri"/>
              </a:rPr>
              <a:t>. </a:t>
            </a: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spc="-45" dirty="0">
                <a:latin typeface="Calibri"/>
                <a:cs typeface="Calibri"/>
              </a:rPr>
              <a:t>error, </a:t>
            </a:r>
            <a:r>
              <a:rPr sz="2600" dirty="0">
                <a:latin typeface="Calibri"/>
                <a:cs typeface="Calibri"/>
              </a:rPr>
              <a:t>the function </a:t>
            </a:r>
            <a:r>
              <a:rPr sz="2600" spc="-5" dirty="0">
                <a:latin typeface="Calibri"/>
                <a:cs typeface="Calibri"/>
              </a:rPr>
              <a:t>returns</a:t>
            </a:r>
            <a:r>
              <a:rPr lang="en-US" sz="2600" spc="-5" dirty="0">
                <a:latin typeface="Calibri"/>
                <a:cs typeface="Calibri"/>
              </a:rPr>
              <a:t> the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400" spc="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SIG_ERR</a:t>
            </a:r>
            <a:r>
              <a:rPr lang="en-US" sz="2600" spc="-30" dirty="0">
                <a:latin typeface="Calibri"/>
                <a:cs typeface="Calibri"/>
              </a:rPr>
              <a:t> constant</a:t>
            </a:r>
            <a:r>
              <a:rPr sz="2600" spc="5" dirty="0">
                <a:latin typeface="Calibri"/>
                <a:cs typeface="Calibri"/>
              </a:rPr>
              <a:t>. </a:t>
            </a:r>
            <a:r>
              <a:rPr sz="2600" dirty="0">
                <a:latin typeface="Calibri"/>
                <a:cs typeface="Calibri"/>
              </a:rPr>
              <a:t>It </a:t>
            </a:r>
            <a:r>
              <a:rPr sz="2600" spc="-5" dirty="0">
                <a:latin typeface="Calibri"/>
                <a:cs typeface="Calibri"/>
              </a:rPr>
              <a:t>doesn’t set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400" spc="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600" dirty="0">
                <a:latin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8317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Waiting for </a:t>
            </a:r>
            <a:r>
              <a:rPr spc="-55" dirty="0"/>
              <a:t>Any</a:t>
            </a:r>
            <a:r>
              <a:rPr spc="-235" dirty="0"/>
              <a:t> </a:t>
            </a:r>
            <a:r>
              <a:rPr spc="-25" dirty="0"/>
              <a:t>Signal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780006"/>
            <a:ext cx="11046461" cy="402482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36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&lt;unistd.h&gt;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pause</a:t>
            </a:r>
            <a:r>
              <a:rPr sz="20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5080" indent="-228600">
              <a:lnSpc>
                <a:spcPts val="302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This </a:t>
            </a:r>
            <a:r>
              <a:rPr sz="2800" spc="-20" dirty="0">
                <a:latin typeface="Calibri"/>
                <a:cs typeface="Calibri"/>
              </a:rPr>
              <a:t>syscall </a:t>
            </a:r>
            <a:r>
              <a:rPr sz="2800" spc="-10" dirty="0">
                <a:latin typeface="Calibri"/>
                <a:cs typeface="Calibri"/>
              </a:rPr>
              <a:t>puts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process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sleep until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receives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signal that </a:t>
            </a:r>
            <a:r>
              <a:rPr lang="en-US" sz="2800" spc="-5" dirty="0">
                <a:cs typeface="Calibri"/>
              </a:rPr>
              <a:t>is </a:t>
            </a:r>
            <a:r>
              <a:rPr sz="2800" spc="-5" dirty="0">
                <a:latin typeface="Calibri"/>
                <a:cs typeface="Calibri"/>
              </a:rPr>
              <a:t>eithe</a:t>
            </a:r>
            <a:r>
              <a:rPr lang="en-US" sz="2800" spc="-5" dirty="0">
                <a:latin typeface="Calibri"/>
                <a:cs typeface="Calibri"/>
              </a:rPr>
              <a:t>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handled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0" dirty="0">
                <a:latin typeface="Calibri"/>
                <a:cs typeface="Calibri"/>
              </a:rPr>
              <a:t>terminates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038860" indent="-228600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 only </a:t>
            </a:r>
            <a:r>
              <a:rPr sz="2800" spc="-5" dirty="0">
                <a:latin typeface="Calibri"/>
                <a:cs typeface="Calibri"/>
              </a:rPr>
              <a:t>if a </a:t>
            </a:r>
            <a:r>
              <a:rPr sz="2800" spc="-10" dirty="0">
                <a:latin typeface="Calibri"/>
                <a:cs typeface="Calibri"/>
              </a:rPr>
              <a:t>signal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received, </a:t>
            </a:r>
            <a:r>
              <a:rPr sz="2800" spc="-5" dirty="0">
                <a:latin typeface="Calibri"/>
                <a:cs typeface="Calibri"/>
              </a:rPr>
              <a:t>in which </a:t>
            </a:r>
            <a:r>
              <a:rPr sz="2800" spc="-10" dirty="0">
                <a:latin typeface="Calibri"/>
                <a:cs typeface="Calibri"/>
              </a:rPr>
              <a:t>case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signal </a:t>
            </a:r>
            <a:r>
              <a:rPr sz="2800" spc="-5" dirty="0">
                <a:latin typeface="Calibri"/>
                <a:cs typeface="Calibri"/>
              </a:rPr>
              <a:t>is  </a:t>
            </a:r>
            <a:r>
              <a:rPr sz="2800" spc="-10" dirty="0">
                <a:latin typeface="Calibri"/>
                <a:cs typeface="Calibri"/>
              </a:rPr>
              <a:t>handled</a:t>
            </a:r>
            <a:r>
              <a:rPr lang="en-US" sz="2800" spc="-10" dirty="0">
                <a:latin typeface="Calibri"/>
                <a:cs typeface="Calibri"/>
              </a:rPr>
              <a:t>. Specifically,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pause()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sets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EINTR</a:t>
            </a:r>
            <a:r>
              <a:rPr sz="2800" dirty="0">
                <a:latin typeface="Calibri"/>
                <a:cs typeface="Calibri"/>
              </a:rPr>
              <a:t>.</a:t>
            </a: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 </a:t>
            </a:r>
            <a:r>
              <a:rPr lang="en-US"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kernel raises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ignored </a:t>
            </a:r>
            <a:r>
              <a:rPr sz="2800" spc="-5" dirty="0">
                <a:latin typeface="Calibri"/>
                <a:cs typeface="Calibri"/>
              </a:rPr>
              <a:t>signal, the </a:t>
            </a:r>
            <a:r>
              <a:rPr sz="2800" spc="-10" dirty="0">
                <a:latin typeface="Calibri"/>
                <a:cs typeface="Calibri"/>
              </a:rPr>
              <a:t>process </a:t>
            </a:r>
            <a:r>
              <a:rPr sz="2800" spc="-5" dirty="0">
                <a:latin typeface="Calibri"/>
                <a:cs typeface="Calibri"/>
              </a:rPr>
              <a:t>doesn’t </a:t>
            </a:r>
            <a:r>
              <a:rPr sz="2800" spc="-30" dirty="0">
                <a:latin typeface="Calibri"/>
                <a:cs typeface="Calibri"/>
              </a:rPr>
              <a:t>wake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up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This function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useful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5" dirty="0">
                <a:latin typeface="Calibri"/>
                <a:cs typeface="Calibri"/>
              </a:rPr>
              <a:t>debugging and writing </a:t>
            </a:r>
            <a:r>
              <a:rPr sz="2800" spc="-15" dirty="0">
                <a:latin typeface="Calibri"/>
                <a:cs typeface="Calibri"/>
              </a:rPr>
              <a:t>demonstrative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code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50554" y="1555528"/>
            <a:ext cx="3212846" cy="4306692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86690">
              <a:lnSpc>
                <a:spcPct val="100000"/>
              </a:lnSpc>
              <a:spcBef>
                <a:spcPts val="595"/>
              </a:spcBef>
            </a:pPr>
            <a:r>
              <a:rPr sz="4400" b="0" spc="-45" dirty="0">
                <a:solidFill>
                  <a:srgbClr val="001F5F"/>
                </a:solidFill>
                <a:latin typeface="Calibri Light"/>
                <a:cs typeface="Calibri Light"/>
              </a:rPr>
              <a:t>Examples</a:t>
            </a:r>
            <a:endParaRPr sz="4400" dirty="0">
              <a:latin typeface="Calibri Light"/>
              <a:cs typeface="Calibri Light"/>
            </a:endParaRPr>
          </a:p>
          <a:p>
            <a:pPr marL="241300" marR="5080" indent="-228600">
              <a:lnSpc>
                <a:spcPts val="2380"/>
              </a:lnSpc>
              <a:spcBef>
                <a:spcPts val="53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Ex-1 handles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SIGINT</a:t>
            </a:r>
            <a:r>
              <a:rPr sz="2200" spc="-10" dirty="0">
                <a:latin typeface="Calibri"/>
                <a:cs typeface="Calibri"/>
              </a:rPr>
              <a:t> by printing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message, </a:t>
            </a:r>
            <a:r>
              <a:rPr sz="2200" spc="-5" dirty="0">
                <a:latin typeface="Calibri"/>
                <a:cs typeface="Calibri"/>
              </a:rPr>
              <a:t>then </a:t>
            </a:r>
            <a:r>
              <a:rPr sz="2200" spc="-15" dirty="0">
                <a:latin typeface="Calibri"/>
                <a:cs typeface="Calibri"/>
              </a:rPr>
              <a:t>terminat</a:t>
            </a:r>
            <a:r>
              <a:rPr lang="en-US" sz="2200" spc="-15" dirty="0">
                <a:latin typeface="Calibri"/>
                <a:cs typeface="Calibri"/>
              </a:rPr>
              <a:t>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program</a:t>
            </a:r>
            <a:r>
              <a:rPr lang="en-US" sz="2200" spc="-2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78105" indent="-228600">
              <a:lnSpc>
                <a:spcPct val="90000"/>
              </a:lnSpc>
              <a:spcBef>
                <a:spcPts val="95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Ex-2 handles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SIGTERM</a:t>
            </a:r>
            <a:r>
              <a:rPr sz="2200" spc="-10" dirty="0">
                <a:latin typeface="Calibri"/>
                <a:cs typeface="Calibri"/>
              </a:rPr>
              <a:t> 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SIGINT</a:t>
            </a:r>
            <a:r>
              <a:rPr sz="2200" spc="-40" dirty="0">
                <a:latin typeface="Calibri"/>
                <a:cs typeface="Calibri"/>
              </a:rPr>
              <a:t>, </a:t>
            </a:r>
            <a:r>
              <a:rPr sz="2200" spc="-10" dirty="0">
                <a:latin typeface="Calibri"/>
                <a:cs typeface="Calibri"/>
              </a:rPr>
              <a:t>resets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behavior </a:t>
            </a:r>
            <a:r>
              <a:rPr sz="2200" spc="-20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SIGPROF</a:t>
            </a:r>
            <a:r>
              <a:rPr sz="2200" spc="-10" dirty="0">
                <a:latin typeface="Calibri"/>
                <a:cs typeface="Calibri"/>
              </a:rPr>
              <a:t>  (profiling </a:t>
            </a:r>
            <a:r>
              <a:rPr sz="2200" spc="-5" dirty="0">
                <a:latin typeface="Calibri"/>
                <a:cs typeface="Calibri"/>
              </a:rPr>
              <a:t>timer </a:t>
            </a:r>
            <a:r>
              <a:rPr sz="2200" spc="-15" dirty="0">
                <a:latin typeface="Calibri"/>
                <a:cs typeface="Calibri"/>
              </a:rPr>
              <a:t>expiration) to default </a:t>
            </a:r>
            <a:r>
              <a:rPr sz="2200" spc="-10" dirty="0">
                <a:latin typeface="Calibri"/>
                <a:cs typeface="Calibri"/>
              </a:rPr>
              <a:t>(termination), </a:t>
            </a:r>
            <a:r>
              <a:rPr sz="2200" spc="-5" dirty="0">
                <a:latin typeface="Calibri"/>
                <a:cs typeface="Calibri"/>
              </a:rPr>
              <a:t>and ignores </a:t>
            </a:r>
            <a:r>
              <a:rPr sz="20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SIGHUP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(</a:t>
            </a:r>
            <a:r>
              <a:rPr lang="en-US" sz="2200" spc="-15" dirty="0">
                <a:latin typeface="Calibri"/>
                <a:cs typeface="Calibri"/>
              </a:rPr>
              <a:t>the </a:t>
            </a:r>
            <a:r>
              <a:rPr sz="2200" spc="-15" dirty="0">
                <a:latin typeface="Calibri"/>
                <a:cs typeface="Calibri"/>
              </a:rPr>
              <a:t>default </a:t>
            </a:r>
            <a:r>
              <a:rPr lang="en-US" sz="2200" spc="-5" dirty="0">
                <a:latin typeface="Calibri"/>
                <a:cs typeface="Calibri"/>
              </a:rPr>
              <a:t>wa</a:t>
            </a:r>
            <a:r>
              <a:rPr sz="2200" spc="-5" dirty="0">
                <a:latin typeface="Calibri"/>
                <a:cs typeface="Calibri"/>
              </a:rPr>
              <a:t>s </a:t>
            </a:r>
            <a:r>
              <a:rPr sz="2200" spc="-10" dirty="0">
                <a:latin typeface="Calibri"/>
                <a:cs typeface="Calibri"/>
              </a:rPr>
              <a:t>termination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r>
              <a:rPr sz="2200" spc="-10" dirty="0"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0174" y="6479235"/>
            <a:ext cx="36607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Copyright (c)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2013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Robert Love. </a:t>
            </a: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All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rights reserved,</a:t>
            </a:r>
            <a:r>
              <a:rPr sz="1200" spc="-5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888888"/>
                </a:solidFill>
                <a:latin typeface="Calibri"/>
                <a:cs typeface="Calibri"/>
              </a:rPr>
              <a:t>O'Reilly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3115" y="300944"/>
            <a:ext cx="4151576" cy="56074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07074" y="38921"/>
            <a:ext cx="3604342" cy="67801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935468" y="21335"/>
            <a:ext cx="4221480" cy="15956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01189" y="319227"/>
            <a:ext cx="8045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/>
              <a:t>E</a:t>
            </a:r>
            <a:r>
              <a:rPr sz="3600" spc="-20" dirty="0"/>
              <a:t>x</a:t>
            </a:r>
            <a:r>
              <a:rPr sz="3600" spc="-25" dirty="0"/>
              <a:t>-</a:t>
            </a:r>
            <a:r>
              <a:rPr sz="3600" dirty="0"/>
              <a:t>1</a:t>
            </a:r>
            <a:endParaRPr sz="3600"/>
          </a:p>
        </p:txBody>
      </p:sp>
      <p:sp>
        <p:nvSpPr>
          <p:cNvPr id="8" name="object 8"/>
          <p:cNvSpPr txBox="1"/>
          <p:nvPr/>
        </p:nvSpPr>
        <p:spPr>
          <a:xfrm>
            <a:off x="7286370" y="334136"/>
            <a:ext cx="804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20" dirty="0">
                <a:solidFill>
                  <a:srgbClr val="001F5F"/>
                </a:solidFill>
                <a:latin typeface="Calibri Light"/>
                <a:cs typeface="Calibri Light"/>
              </a:rPr>
              <a:t>Ex</a:t>
            </a:r>
            <a:r>
              <a:rPr sz="3600" b="0" spc="-25" dirty="0">
                <a:solidFill>
                  <a:srgbClr val="001F5F"/>
                </a:solidFill>
                <a:latin typeface="Calibri Light"/>
                <a:cs typeface="Calibri Light"/>
              </a:rPr>
              <a:t>-</a:t>
            </a:r>
            <a:r>
              <a:rPr sz="3600" b="0" dirty="0">
                <a:solidFill>
                  <a:srgbClr val="001F5F"/>
                </a:solidFill>
                <a:latin typeface="Calibri Light"/>
                <a:cs typeface="Calibri Light"/>
              </a:rPr>
              <a:t>2</a:t>
            </a:r>
            <a:endParaRPr sz="36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7619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Execution </a:t>
            </a:r>
            <a:r>
              <a:rPr spc="-20" dirty="0"/>
              <a:t>and</a:t>
            </a:r>
            <a:r>
              <a:rPr spc="-160" dirty="0"/>
              <a:t> </a:t>
            </a:r>
            <a:r>
              <a:rPr spc="-40" dirty="0"/>
              <a:t>Inheritance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2166616"/>
            <a:ext cx="10012680" cy="400558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On </a:t>
            </a:r>
            <a:r>
              <a:rPr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sz="2800" spc="-15" dirty="0">
                <a:latin typeface="Calibri"/>
                <a:cs typeface="Calibri"/>
              </a:rPr>
              <a:t>, </a:t>
            </a:r>
            <a:r>
              <a:rPr lang="en-US" sz="2800" spc="-15" dirty="0">
                <a:latin typeface="Calibri"/>
                <a:cs typeface="Calibri"/>
              </a:rPr>
              <a:t>a </a:t>
            </a:r>
            <a:r>
              <a:rPr sz="2800" spc="-5" dirty="0">
                <a:latin typeface="Calibri"/>
                <a:cs typeface="Calibri"/>
              </a:rPr>
              <a:t>child </a:t>
            </a:r>
            <a:r>
              <a:rPr sz="2800" spc="-10" dirty="0">
                <a:latin typeface="Calibri"/>
                <a:cs typeface="Calibri"/>
              </a:rPr>
              <a:t>process inherits </a:t>
            </a:r>
            <a:r>
              <a:rPr sz="2800" spc="-5" dirty="0">
                <a:latin typeface="Calibri"/>
                <a:cs typeface="Calibri"/>
              </a:rPr>
              <a:t>the signal </a:t>
            </a:r>
            <a:r>
              <a:rPr sz="2800" dirty="0">
                <a:latin typeface="Calibri"/>
                <a:cs typeface="Calibri"/>
              </a:rPr>
              <a:t>actions </a:t>
            </a:r>
            <a:r>
              <a:rPr sz="2800" spc="-5" dirty="0">
                <a:latin typeface="Calibri"/>
                <a:cs typeface="Calibri"/>
              </a:rPr>
              <a:t>of its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parent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Child copies </a:t>
            </a:r>
            <a:r>
              <a:rPr sz="2800" spc="-5" dirty="0">
                <a:latin typeface="Calibri"/>
                <a:cs typeface="Calibri"/>
              </a:rPr>
              <a:t>all </a:t>
            </a:r>
            <a:r>
              <a:rPr lang="en-US" sz="2800" spc="-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registered </a:t>
            </a:r>
            <a:r>
              <a:rPr sz="2800" spc="-5" dirty="0">
                <a:latin typeface="Calibri"/>
                <a:cs typeface="Calibri"/>
              </a:rPr>
              <a:t>actions </a:t>
            </a:r>
            <a:r>
              <a:rPr sz="2800" spc="-10" dirty="0">
                <a:latin typeface="Calibri"/>
                <a:cs typeface="Calibri"/>
              </a:rPr>
              <a:t>(ignore, </a:t>
            </a:r>
            <a:r>
              <a:rPr sz="2800" spc="-15" dirty="0">
                <a:latin typeface="Calibri"/>
                <a:cs typeface="Calibri"/>
              </a:rPr>
              <a:t>default, </a:t>
            </a:r>
            <a:r>
              <a:rPr sz="2800" spc="-10" dirty="0">
                <a:latin typeface="Calibri"/>
                <a:cs typeface="Calibri"/>
              </a:rPr>
              <a:t>handles)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dirty="0">
                <a:latin typeface="Calibri"/>
                <a:cs typeface="Calibri"/>
              </a:rPr>
              <a:t>each </a:t>
            </a:r>
            <a:r>
              <a:rPr sz="2800" spc="-10" dirty="0">
                <a:latin typeface="Calibri"/>
                <a:cs typeface="Calibri"/>
              </a:rPr>
              <a:t>signal </a:t>
            </a:r>
            <a:r>
              <a:rPr sz="2800" spc="-20" dirty="0">
                <a:latin typeface="Calibri"/>
                <a:cs typeface="Calibri"/>
              </a:rPr>
              <a:t>from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spc="-15" dirty="0">
                <a:latin typeface="Calibri"/>
                <a:cs typeface="Calibri"/>
              </a:rPr>
              <a:t>parent</a:t>
            </a:r>
            <a:r>
              <a:rPr lang="en-US" sz="2800" spc="-15" dirty="0">
                <a:latin typeface="Calibri"/>
                <a:cs typeface="Calibri"/>
              </a:rPr>
              <a:t>, but </a:t>
            </a:r>
            <a:r>
              <a:rPr sz="2800" spc="-10" dirty="0">
                <a:latin typeface="Calibri"/>
                <a:cs typeface="Calibri"/>
              </a:rPr>
              <a:t>pending signals </a:t>
            </a:r>
            <a:r>
              <a:rPr sz="2800" u="sng" spc="-15" dirty="0">
                <a:latin typeface="Calibri"/>
                <a:cs typeface="Calibri"/>
              </a:rPr>
              <a:t>are </a:t>
            </a:r>
            <a:r>
              <a:rPr sz="2800" u="sng" spc="-5" dirty="0">
                <a:latin typeface="Calibri"/>
                <a:cs typeface="Calibri"/>
              </a:rPr>
              <a:t>not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inherited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63195" indent="-228600">
              <a:lnSpc>
                <a:spcPts val="303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After</a:t>
            </a:r>
            <a:r>
              <a:rPr lang="en-US" sz="2800" spc="-5" dirty="0">
                <a:latin typeface="Calibri"/>
                <a:cs typeface="Calibri"/>
              </a:rPr>
              <a:t>wards</a:t>
            </a:r>
            <a:r>
              <a:rPr sz="2800" spc="-15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when one of the </a:t>
            </a:r>
            <a:r>
              <a:rPr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family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called </a:t>
            </a:r>
            <a:r>
              <a:rPr sz="2800" spc="-20" dirty="0">
                <a:latin typeface="Calibri"/>
                <a:cs typeface="Calibri"/>
              </a:rPr>
              <a:t>to create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new  </a:t>
            </a:r>
            <a:r>
              <a:rPr sz="2800" spc="-10" dirty="0">
                <a:latin typeface="Calibri"/>
                <a:cs typeface="Calibri"/>
              </a:rPr>
              <a:t>process image, </a:t>
            </a:r>
            <a:r>
              <a:rPr sz="2800" dirty="0">
                <a:latin typeface="Calibri"/>
                <a:cs typeface="Calibri"/>
              </a:rPr>
              <a:t>all </a:t>
            </a:r>
            <a:r>
              <a:rPr sz="2800" spc="-5" dirty="0">
                <a:latin typeface="Calibri"/>
                <a:cs typeface="Calibri"/>
              </a:rPr>
              <a:t>signals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spc="-5" dirty="0">
                <a:latin typeface="Calibri"/>
                <a:cs typeface="Calibri"/>
              </a:rPr>
              <a:t>set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their </a:t>
            </a:r>
            <a:r>
              <a:rPr sz="2800" spc="-15" dirty="0">
                <a:latin typeface="Calibri"/>
                <a:cs typeface="Calibri"/>
              </a:rPr>
              <a:t>default </a:t>
            </a:r>
            <a:r>
              <a:rPr sz="2800" spc="-5" dirty="0">
                <a:latin typeface="Calibri"/>
                <a:cs typeface="Calibri"/>
              </a:rPr>
              <a:t>actions </a:t>
            </a:r>
            <a:r>
              <a:rPr sz="2800" spc="-10" dirty="0">
                <a:latin typeface="Calibri"/>
                <a:cs typeface="Calibri"/>
              </a:rPr>
              <a:t>unless </a:t>
            </a:r>
            <a:r>
              <a:rPr sz="2800" spc="-5" dirty="0">
                <a:latin typeface="Calibri"/>
                <a:cs typeface="Calibri"/>
              </a:rPr>
              <a:t>the  </a:t>
            </a:r>
            <a:r>
              <a:rPr sz="2800" spc="-15" dirty="0">
                <a:latin typeface="Calibri"/>
                <a:cs typeface="Calibri"/>
              </a:rPr>
              <a:t>parent </a:t>
            </a:r>
            <a:r>
              <a:rPr sz="2800" spc="-5" dirty="0">
                <a:latin typeface="Calibri"/>
                <a:cs typeface="Calibri"/>
              </a:rPr>
              <a:t>is ignoring them, which will be </a:t>
            </a:r>
            <a:r>
              <a:rPr sz="2800" spc="-10" dirty="0">
                <a:latin typeface="Calibri"/>
                <a:cs typeface="Calibri"/>
              </a:rPr>
              <a:t>ignored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800" spc="-5" dirty="0">
                <a:latin typeface="Calibri"/>
                <a:cs typeface="Calibri"/>
              </a:rPr>
              <a:t>the child as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well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174625" indent="-228600">
              <a:lnSpc>
                <a:spcPts val="302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So</a:t>
            </a:r>
            <a:r>
              <a:rPr lang="en-US" sz="2800" spc="-5" dirty="0">
                <a:latin typeface="Calibri"/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 in </a:t>
            </a:r>
            <a:r>
              <a:rPr sz="2800" spc="-10" dirty="0">
                <a:latin typeface="Calibri"/>
                <a:cs typeface="Calibri"/>
              </a:rPr>
              <a:t>short, </a:t>
            </a:r>
            <a:r>
              <a:rPr sz="2800" spc="-20" dirty="0">
                <a:latin typeface="Calibri"/>
                <a:cs typeface="Calibri"/>
              </a:rPr>
              <a:t>any </a:t>
            </a:r>
            <a:r>
              <a:rPr sz="2800" spc="-10" dirty="0">
                <a:latin typeface="Calibri"/>
                <a:cs typeface="Calibri"/>
              </a:rPr>
              <a:t>signal caught </a:t>
            </a:r>
            <a:r>
              <a:rPr sz="2800" spc="-5" dirty="0">
                <a:latin typeface="Calibri"/>
                <a:cs typeface="Calibri"/>
              </a:rPr>
              <a:t>(handled)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lang="en-US" sz="2800" spc="-1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process </a:t>
            </a:r>
            <a:r>
              <a:rPr sz="2800" spc="-25" dirty="0">
                <a:latin typeface="Calibri"/>
                <a:cs typeface="Calibri"/>
              </a:rPr>
              <a:t>before </a:t>
            </a:r>
            <a:r>
              <a:rPr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z="2800" i="1" spc="-35" dirty="0">
                <a:latin typeface="Calibri"/>
                <a:cs typeface="Calibri"/>
              </a:rPr>
              <a:t> </a:t>
            </a:r>
            <a:r>
              <a:rPr lang="en-US" sz="2800" spc="-35" dirty="0">
                <a:latin typeface="Calibri"/>
                <a:cs typeface="Calibri"/>
              </a:rPr>
              <a:t>was called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reset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lang="en-US" sz="2800" spc="-1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default </a:t>
            </a:r>
            <a:r>
              <a:rPr sz="2800" dirty="0">
                <a:latin typeface="Calibri"/>
                <a:cs typeface="Calibri"/>
              </a:rPr>
              <a:t>action </a:t>
            </a:r>
            <a:r>
              <a:rPr sz="2800" spc="-10" dirty="0">
                <a:latin typeface="Calibri"/>
                <a:cs typeface="Calibri"/>
              </a:rPr>
              <a:t>after </a:t>
            </a:r>
            <a:r>
              <a:rPr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exec</a:t>
            </a:r>
            <a:r>
              <a:rPr sz="2800" spc="-30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and all </a:t>
            </a:r>
            <a:r>
              <a:rPr sz="2800" spc="-10" dirty="0">
                <a:latin typeface="Calibri"/>
                <a:cs typeface="Calibri"/>
              </a:rPr>
              <a:t>other signals remain </a:t>
            </a:r>
            <a:r>
              <a:rPr sz="2800" spc="-5" dirty="0">
                <a:latin typeface="Calibri"/>
                <a:cs typeface="Calibri"/>
              </a:rPr>
              <a:t>the same </a:t>
            </a:r>
            <a:r>
              <a:rPr sz="2800" spc="-15" dirty="0">
                <a:latin typeface="Calibri"/>
                <a:cs typeface="Calibri"/>
              </a:rPr>
              <a:t>(default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0" dirty="0">
                <a:latin typeface="Calibri"/>
                <a:cs typeface="Calibri"/>
              </a:rPr>
              <a:t>ignored</a:t>
            </a:r>
            <a:r>
              <a:rPr lang="en-US" sz="2800" spc="-10" dirty="0">
                <a:cs typeface="Calibri"/>
              </a:rPr>
              <a:t>.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278DD6-6ECC-04F1-74C5-069ED21B76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44"/>
          <a:stretch/>
        </p:blipFill>
        <p:spPr>
          <a:xfrm>
            <a:off x="7467600" y="202591"/>
            <a:ext cx="3581400" cy="20072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16939" y="612648"/>
            <a:ext cx="77419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Mapping </a:t>
            </a:r>
            <a:r>
              <a:rPr spc="-30" dirty="0"/>
              <a:t>Signal </a:t>
            </a:r>
            <a:r>
              <a:rPr spc="-50" dirty="0"/>
              <a:t>Numbers </a:t>
            </a:r>
            <a:r>
              <a:rPr spc="-35" dirty="0"/>
              <a:t>to</a:t>
            </a:r>
            <a:r>
              <a:rPr spc="-235" dirty="0"/>
              <a:t> </a:t>
            </a:r>
            <a:r>
              <a:rPr spc="-30" dirty="0"/>
              <a:t>Strings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14400" y="1627632"/>
            <a:ext cx="11082732" cy="4643835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5080" indent="-228600">
              <a:lnSpc>
                <a:spcPct val="701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Sometimes, </a:t>
            </a:r>
            <a:r>
              <a:rPr sz="2600" spc="-15" dirty="0">
                <a:latin typeface="Calibri"/>
                <a:cs typeface="Calibri"/>
              </a:rPr>
              <a:t>we are </a:t>
            </a:r>
            <a:r>
              <a:rPr sz="2600" spc="-10" dirty="0">
                <a:latin typeface="Calibri"/>
                <a:cs typeface="Calibri"/>
              </a:rPr>
              <a:t>required to </a:t>
            </a:r>
            <a:r>
              <a:rPr sz="2600" spc="-5" dirty="0">
                <a:latin typeface="Calibri"/>
                <a:cs typeface="Calibri"/>
              </a:rPr>
              <a:t>use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string </a:t>
            </a:r>
            <a:r>
              <a:rPr sz="2600" spc="-10" dirty="0">
                <a:latin typeface="Calibri"/>
                <a:cs typeface="Calibri"/>
              </a:rPr>
              <a:t>representation </a:t>
            </a:r>
            <a:r>
              <a:rPr sz="2600" dirty="0">
                <a:latin typeface="Calibri"/>
                <a:cs typeface="Calibri"/>
              </a:rPr>
              <a:t>of a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spc="-40" dirty="0">
                <a:latin typeface="Calibri"/>
                <a:cs typeface="Calibri"/>
              </a:rPr>
              <a:t>number. </a:t>
            </a:r>
            <a:endParaRPr lang="en-US" sz="2600" spc="-4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100"/>
              </a:lnSpc>
              <a:spcBef>
                <a:spcPts val="104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This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10" dirty="0">
                <a:latin typeface="Calibri"/>
                <a:cs typeface="Calibri"/>
              </a:rPr>
              <a:t>available </a:t>
            </a:r>
            <a:r>
              <a:rPr sz="2600" dirty="0">
                <a:latin typeface="Calibri"/>
                <a:cs typeface="Calibri"/>
              </a:rPr>
              <a:t>via</a:t>
            </a:r>
            <a:r>
              <a:rPr lang="en-US" sz="2600" dirty="0">
                <a:latin typeface="Calibri"/>
                <a:cs typeface="Calibri"/>
              </a:rPr>
              <a:t> the </a:t>
            </a:r>
            <a:r>
              <a:rPr lang="en-US" sz="240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sys_siglist</a:t>
            </a:r>
            <a:r>
              <a:rPr lang="en-US" sz="2600" i="1" spc="-10" dirty="0">
                <a:latin typeface="Calibri"/>
                <a:cs typeface="Calibri"/>
              </a:rPr>
              <a:t> </a:t>
            </a:r>
            <a:r>
              <a:rPr lang="en-US" sz="2600" spc="-15" dirty="0">
                <a:latin typeface="Calibri"/>
                <a:cs typeface="Calibri"/>
              </a:rPr>
              <a:t>array, which holds </a:t>
            </a:r>
            <a:r>
              <a:rPr lang="en-US" sz="2600" dirty="0">
                <a:latin typeface="Calibri"/>
                <a:cs typeface="Calibri"/>
              </a:rPr>
              <a:t>the </a:t>
            </a:r>
            <a:r>
              <a:rPr lang="en-US" sz="2600" spc="-5" dirty="0">
                <a:latin typeface="Calibri"/>
                <a:cs typeface="Calibri"/>
              </a:rPr>
              <a:t>names of </a:t>
            </a:r>
            <a:r>
              <a:rPr lang="en-US" sz="2600" dirty="0">
                <a:latin typeface="Calibri"/>
                <a:cs typeface="Calibri"/>
              </a:rPr>
              <a:t>all </a:t>
            </a:r>
            <a:r>
              <a:rPr lang="en-US" sz="2600" spc="-5" dirty="0">
                <a:latin typeface="Calibri"/>
                <a:cs typeface="Calibri"/>
              </a:rPr>
              <a:t>signals supported </a:t>
            </a:r>
            <a:r>
              <a:rPr lang="en-US" sz="2600" spc="-10" dirty="0">
                <a:latin typeface="Calibri"/>
                <a:cs typeface="Calibri"/>
              </a:rPr>
              <a:t>by </a:t>
            </a:r>
            <a:r>
              <a:rPr lang="en-US" sz="2600" dirty="0">
                <a:latin typeface="Calibri"/>
                <a:cs typeface="Calibri"/>
              </a:rPr>
              <a:t>the </a:t>
            </a:r>
            <a:r>
              <a:rPr lang="en-US" sz="2600" spc="-20" dirty="0">
                <a:latin typeface="Calibri"/>
                <a:cs typeface="Calibri"/>
              </a:rPr>
              <a:t>system, </a:t>
            </a:r>
            <a:r>
              <a:rPr lang="en-US" sz="2600" spc="-15" dirty="0">
                <a:latin typeface="Calibri"/>
                <a:cs typeface="Calibri"/>
              </a:rPr>
              <a:t>indexed </a:t>
            </a:r>
            <a:r>
              <a:rPr lang="en-US" sz="2600" spc="-10" dirty="0">
                <a:latin typeface="Calibri"/>
                <a:cs typeface="Calibri"/>
              </a:rPr>
              <a:t>by </a:t>
            </a:r>
            <a:r>
              <a:rPr lang="en-US" sz="2600" spc="-5" dirty="0">
                <a:latin typeface="Calibri"/>
                <a:cs typeface="Calibri"/>
              </a:rPr>
              <a:t>signal</a:t>
            </a:r>
            <a:r>
              <a:rPr lang="en-US" sz="2600" spc="-5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number</a:t>
            </a:r>
            <a:r>
              <a:rPr lang="en-US" sz="2600" spc="-15" dirty="0">
                <a:latin typeface="Calibri"/>
                <a:cs typeface="Calibri"/>
              </a:rPr>
              <a:t>:</a:t>
            </a:r>
            <a:endParaRPr sz="2600" spc="-15" dirty="0">
              <a:latin typeface="Calibri"/>
              <a:cs typeface="Calibri"/>
            </a:endParaRPr>
          </a:p>
          <a:p>
            <a:pPr marL="469265">
              <a:lnSpc>
                <a:spcPts val="2000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extern const 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</a:t>
            </a:r>
            <a:r>
              <a:rPr sz="2000" b="1" spc="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sys_siglist[];</a:t>
            </a:r>
          </a:p>
          <a:p>
            <a:pPr marL="469265">
              <a:lnSpc>
                <a:spcPts val="2100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static 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signal_handler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signo)</a:t>
            </a:r>
            <a:r>
              <a:rPr sz="2000" spc="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>
              <a:lnSpc>
                <a:spcPts val="2190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printf ("Caught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%s\n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", sys_siglist[signo]);</a:t>
            </a:r>
            <a:r>
              <a:rPr sz="2000" spc="4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}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ts val="3030"/>
              </a:lnSpc>
              <a:spcBef>
                <a:spcPts val="60"/>
              </a:spcBef>
              <a:buFont typeface="Arial"/>
              <a:buChar char="•"/>
            </a:pPr>
            <a:r>
              <a:rPr lang="en-US" sz="2600" spc="-10" dirty="0">
                <a:latin typeface="Calibri"/>
                <a:cs typeface="Calibri"/>
              </a:rPr>
              <a:t>There are two more </a:t>
            </a:r>
            <a:r>
              <a:rPr lang="en-US" sz="2600" spc="-5" dirty="0">
                <a:latin typeface="Calibri"/>
                <a:cs typeface="Calibri"/>
              </a:rPr>
              <a:t>functions that can do similar</a:t>
            </a:r>
            <a:r>
              <a:rPr lang="en-US" sz="2600" spc="-35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things:</a:t>
            </a:r>
          </a:p>
          <a:p>
            <a:pPr marL="469265">
              <a:lnSpc>
                <a:spcPts val="2105"/>
              </a:lnSpc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 &lt;signal.h&gt;</a:t>
            </a:r>
          </a:p>
          <a:p>
            <a:pPr marL="469265">
              <a:lnSpc>
                <a:spcPts val="2190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psignal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signo,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char</a:t>
            </a:r>
            <a:r>
              <a:rPr sz="2000" b="1" spc="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*msg);</a:t>
            </a:r>
          </a:p>
          <a:p>
            <a:pPr marL="228600">
              <a:lnSpc>
                <a:spcPts val="3030"/>
              </a:lnSpc>
              <a:spcBef>
                <a:spcPts val="55"/>
              </a:spcBef>
            </a:pPr>
            <a:r>
              <a:rPr sz="2600" dirty="0">
                <a:latin typeface="Calibri"/>
                <a:cs typeface="Calibri"/>
              </a:rPr>
              <a:t>which </a:t>
            </a:r>
            <a:r>
              <a:rPr sz="2600" spc="-5" dirty="0">
                <a:latin typeface="Calibri"/>
                <a:cs typeface="Calibri"/>
              </a:rPr>
              <a:t>directly prints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stderr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signal name (preceded </a:t>
            </a:r>
            <a:r>
              <a:rPr sz="2600" spc="-10" dirty="0">
                <a:latin typeface="Calibri"/>
                <a:cs typeface="Calibri"/>
              </a:rPr>
              <a:t>by </a:t>
            </a:r>
            <a:r>
              <a:rPr sz="240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msg</a:t>
            </a:r>
            <a:r>
              <a:rPr sz="2600" dirty="0">
                <a:latin typeface="Calibri"/>
                <a:cs typeface="Calibri"/>
              </a:rPr>
              <a:t>),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or</a:t>
            </a:r>
            <a:endParaRPr sz="2600" dirty="0">
              <a:latin typeface="Calibri"/>
              <a:cs typeface="Calibri"/>
            </a:endParaRPr>
          </a:p>
          <a:p>
            <a:pPr marL="469265">
              <a:lnSpc>
                <a:spcPts val="2095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#define</a:t>
            </a:r>
            <a:r>
              <a:rPr sz="2000" spc="-6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_GNU_SOURCE</a:t>
            </a:r>
          </a:p>
          <a:p>
            <a:pPr marL="469265">
              <a:lnSpc>
                <a:spcPts val="2095"/>
              </a:lnSpc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6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&lt;string.h&gt;</a:t>
            </a:r>
          </a:p>
          <a:p>
            <a:pPr marL="469265">
              <a:lnSpc>
                <a:spcPts val="2190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char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strsignal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signo);</a:t>
            </a:r>
          </a:p>
          <a:p>
            <a:pPr marL="228600">
              <a:lnSpc>
                <a:spcPct val="100000"/>
              </a:lnSpc>
              <a:spcBef>
                <a:spcPts val="55"/>
              </a:spcBef>
              <a:buClr>
                <a:schemeClr val="tx1"/>
              </a:buClr>
            </a:pPr>
            <a:r>
              <a:rPr lang="en-US" sz="2600" spc="-5" dirty="0">
                <a:latin typeface="Calibri"/>
                <a:cs typeface="Calibri"/>
              </a:rPr>
              <a:t>which </a:t>
            </a:r>
            <a:r>
              <a:rPr sz="2600" spc="-5" dirty="0">
                <a:latin typeface="Calibri"/>
                <a:cs typeface="Calibri"/>
              </a:rPr>
              <a:t>returns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pointer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string of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signal name </a:t>
            </a:r>
            <a:r>
              <a:rPr lang="en-US" sz="2600" dirty="0">
                <a:latin typeface="Calibri"/>
                <a:cs typeface="Calibri"/>
              </a:rPr>
              <a:t>but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lang="en-US" sz="2600" dirty="0">
                <a:latin typeface="Calibri"/>
                <a:cs typeface="Calibri"/>
              </a:rPr>
              <a:t>isn’t </a:t>
            </a:r>
            <a:r>
              <a:rPr sz="2600" spc="-10" dirty="0">
                <a:latin typeface="Calibri"/>
                <a:cs typeface="Calibri"/>
              </a:rPr>
              <a:t>thread-safe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35826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Sending </a:t>
            </a:r>
            <a:r>
              <a:rPr dirty="0"/>
              <a:t>a</a:t>
            </a:r>
            <a:r>
              <a:rPr spc="-165" dirty="0"/>
              <a:t> </a:t>
            </a:r>
            <a:r>
              <a:rPr spc="-25" dirty="0"/>
              <a:t>Signal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6939" y="1630171"/>
            <a:ext cx="11046461" cy="49552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7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kill()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syscall </a:t>
            </a:r>
            <a:r>
              <a:rPr sz="2400" spc="-5" dirty="0">
                <a:latin typeface="Calibri"/>
                <a:cs typeface="Calibri"/>
              </a:rPr>
              <a:t>sends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signal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5" dirty="0">
                <a:latin typeface="Calibri"/>
                <a:cs typeface="Calibri"/>
              </a:rPr>
              <a:t>one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lang="en-US" sz="240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ts val="2180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&lt;sys/types.h&gt;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180"/>
              </a:lnSpc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&lt;signal.h&gt;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290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kill (</a:t>
            </a:r>
            <a:r>
              <a:rPr sz="2000" b="1" dirty="0">
                <a:solidFill>
                  <a:srgbClr val="0070C0"/>
                </a:solidFill>
                <a:latin typeface="Consolas"/>
              </a:rPr>
              <a:t>pid_t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pid,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signo);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1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signal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signo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sent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another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identified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200" spc="-5" dirty="0" err="1">
                <a:solidFill>
                  <a:srgbClr val="0070C0"/>
                </a:solidFill>
                <a:latin typeface="Consolas"/>
              </a:rPr>
              <a:t>pid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  <a:p>
            <a:pPr marL="241300" indent="-228600">
              <a:lnSpc>
                <a:spcPts val="2450"/>
              </a:lnSpc>
              <a:spcBef>
                <a:spcPts val="15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pid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 0,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signo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sent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every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dirty="0">
                <a:latin typeface="Calibri"/>
                <a:cs typeface="Calibri"/>
              </a:rPr>
              <a:t>in the </a:t>
            </a:r>
            <a:r>
              <a:rPr sz="2400" spc="-10" dirty="0">
                <a:latin typeface="Calibri"/>
                <a:cs typeface="Calibri"/>
              </a:rPr>
              <a:t>caller’s process group.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pid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 </a:t>
            </a:r>
            <a:r>
              <a:rPr sz="2400" spc="-5" dirty="0">
                <a:latin typeface="Calibri"/>
                <a:cs typeface="Calibri"/>
              </a:rPr>
              <a:t>-1,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200" spc="-5" dirty="0" err="1">
                <a:solidFill>
                  <a:srgbClr val="0070C0"/>
                </a:solidFill>
                <a:latin typeface="Consolas"/>
              </a:rPr>
              <a:t>signo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sent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every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caller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permitted </a:t>
            </a:r>
            <a:r>
              <a:rPr sz="2400" spc="-20" dirty="0">
                <a:latin typeface="Calibri"/>
                <a:cs typeface="Calibri"/>
              </a:rPr>
              <a:t>(refer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next </a:t>
            </a:r>
            <a:r>
              <a:rPr sz="2400" spc="-5" dirty="0">
                <a:latin typeface="Calibri"/>
                <a:cs typeface="Calibri"/>
              </a:rPr>
              <a:t>slide)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send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signal,  </a:t>
            </a:r>
            <a:r>
              <a:rPr sz="2400" spc="-15" dirty="0">
                <a:latin typeface="Calibri"/>
                <a:cs typeface="Calibri"/>
              </a:rPr>
              <a:t>except </a:t>
            </a:r>
            <a:r>
              <a:rPr sz="2400" dirty="0">
                <a:latin typeface="Calibri"/>
                <a:cs typeface="Calibri"/>
              </a:rPr>
              <a:t>itself and 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sz="2400" dirty="0">
                <a:latin typeface="Calibri"/>
                <a:cs typeface="Calibri"/>
              </a:rPr>
              <a:t>. If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pid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 </a:t>
            </a:r>
            <a:r>
              <a:rPr sz="2400" spc="-5" dirty="0">
                <a:latin typeface="Calibri"/>
                <a:cs typeface="Calibri"/>
              </a:rPr>
              <a:t>-1,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signo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sent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process group</a:t>
            </a:r>
            <a:r>
              <a:rPr lang="en-US" sz="2400" spc="-10" dirty="0">
                <a:latin typeface="Calibri"/>
                <a:cs typeface="Calibri"/>
              </a:rPr>
              <a:t> given by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lang="en-US" sz="2200" spc="-5" dirty="0">
                <a:solidFill>
                  <a:srgbClr val="0070C0"/>
                </a:solidFill>
                <a:latin typeface="Consolas"/>
              </a:rPr>
              <a:t>-</a:t>
            </a:r>
            <a:r>
              <a:rPr sz="2200" spc="-5" dirty="0" err="1">
                <a:solidFill>
                  <a:srgbClr val="0070C0"/>
                </a:solidFill>
                <a:latin typeface="Consolas"/>
              </a:rPr>
              <a:t>pid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On success, 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kill()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0.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spc="-15" dirty="0">
                <a:latin typeface="Calibri"/>
                <a:cs typeface="Calibri"/>
              </a:rPr>
              <a:t>failure </a:t>
            </a:r>
            <a:r>
              <a:rPr sz="2400" dirty="0">
                <a:latin typeface="Calibri"/>
                <a:cs typeface="Calibri"/>
              </a:rPr>
              <a:t>(no </a:t>
            </a:r>
            <a:r>
              <a:rPr sz="2400" spc="-5" dirty="0">
                <a:latin typeface="Calibri"/>
                <a:cs typeface="Calibri"/>
              </a:rPr>
              <a:t>signal sent),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returns -1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sets</a:t>
            </a:r>
            <a:r>
              <a:rPr sz="2400" spc="-180" dirty="0">
                <a:latin typeface="Calibri"/>
                <a:cs typeface="Calibri"/>
              </a:rPr>
              <a:t> 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Example</a:t>
            </a:r>
            <a:r>
              <a:rPr lang="en-US" sz="2400" spc="-10" dirty="0">
                <a:latin typeface="Calibri"/>
                <a:cs typeface="Calibri"/>
              </a:rPr>
              <a:t> of sending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SIGHUP</a:t>
            </a:r>
            <a:r>
              <a:rPr lang="en-US" sz="2400" spc="-10" dirty="0">
                <a:latin typeface="Calibri"/>
                <a:cs typeface="Calibri"/>
              </a:rPr>
              <a:t> to the process with </a:t>
            </a:r>
            <a:r>
              <a:rPr lang="en-US" sz="2200" spc="-5" dirty="0" err="1">
                <a:solidFill>
                  <a:srgbClr val="0070C0"/>
                </a:solidFill>
                <a:latin typeface="Consolas"/>
              </a:rPr>
              <a:t>pid</a:t>
            </a:r>
            <a:r>
              <a:rPr lang="en-US" sz="2400" spc="-10" dirty="0">
                <a:latin typeface="Calibri"/>
                <a:cs typeface="Calibri"/>
              </a:rPr>
              <a:t> = 1722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ts val="2185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-8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ret;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180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ret =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kill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(1722,</a:t>
            </a:r>
            <a:r>
              <a:rPr sz="20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SIGHUP);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180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(ret)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>
              <a:lnSpc>
                <a:spcPts val="2290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perror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("kill");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equivalent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lang="en-US" sz="2400" spc="-15" dirty="0">
                <a:latin typeface="Calibri"/>
                <a:cs typeface="Calibri"/>
              </a:rPr>
              <a:t> the Linux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command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kill </a:t>
            </a:r>
            <a:r>
              <a:rPr lang="en-US" sz="2200" spc="-5" dirty="0">
                <a:solidFill>
                  <a:srgbClr val="0070C0"/>
                </a:solidFill>
                <a:latin typeface="Consolas"/>
              </a:rPr>
              <a:t>-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HUP 1722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644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Permissions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16939" y="1745945"/>
            <a:ext cx="10163175" cy="435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needs </a:t>
            </a:r>
            <a:r>
              <a:rPr sz="2400" spc="-10" dirty="0">
                <a:latin typeface="Calibri"/>
                <a:cs typeface="Calibri"/>
              </a:rPr>
              <a:t>proper </a:t>
            </a:r>
            <a:r>
              <a:rPr sz="2400" dirty="0">
                <a:latin typeface="Calibri"/>
                <a:cs typeface="Calibri"/>
              </a:rPr>
              <a:t>permissions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send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signal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635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(usually </a:t>
            </a:r>
            <a:r>
              <a:rPr lang="en-US" sz="2400" spc="-5" dirty="0">
                <a:latin typeface="Calibri"/>
                <a:cs typeface="Calibri"/>
              </a:rPr>
              <a:t>run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lang="en-US" sz="2400" spc="-10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root</a:t>
            </a:r>
            <a:r>
              <a:rPr sz="2400" spc="-10" dirty="0">
                <a:latin typeface="Calibri"/>
                <a:cs typeface="Calibri"/>
              </a:rPr>
              <a:t>) </a:t>
            </a:r>
            <a:r>
              <a:rPr sz="2400" dirty="0">
                <a:latin typeface="Calibri"/>
                <a:cs typeface="Calibri"/>
              </a:rPr>
              <a:t>with the 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CAP_KILL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capability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send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signal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0" dirty="0">
                <a:latin typeface="Calibri"/>
                <a:cs typeface="Calibri"/>
              </a:rPr>
              <a:t>any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Otherwise, a </a:t>
            </a:r>
            <a:r>
              <a:rPr sz="2400" spc="-5" dirty="0">
                <a:latin typeface="Calibri"/>
                <a:cs typeface="Calibri"/>
              </a:rPr>
              <a:t>user can send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signal only </a:t>
            </a:r>
            <a:r>
              <a:rPr sz="2400" spc="-10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that </a:t>
            </a:r>
            <a:r>
              <a:rPr sz="2400" spc="-10" dirty="0">
                <a:latin typeface="Calibri"/>
                <a:cs typeface="Calibri"/>
              </a:rPr>
              <a:t>he/she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owns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10922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200" spc="-5" dirty="0">
                <a:solidFill>
                  <a:srgbClr val="0070C0"/>
                </a:solidFill>
                <a:latin typeface="Consolas"/>
              </a:rPr>
              <a:t>signo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= 0 </a:t>
            </a:r>
            <a:r>
              <a:rPr sz="2400" spc="-5" dirty="0">
                <a:latin typeface="Calibri"/>
                <a:cs typeface="Calibri"/>
              </a:rPr>
              <a:t>(the null signal),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call doesn’t send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signal</a:t>
            </a:r>
            <a:r>
              <a:rPr lang="en-US" sz="2400" spc="-5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but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0" dirty="0">
                <a:latin typeface="Calibri"/>
                <a:cs typeface="Calibri"/>
              </a:rPr>
              <a:t>still performs  error </a:t>
            </a:r>
            <a:r>
              <a:rPr sz="2400" dirty="0">
                <a:latin typeface="Calibri"/>
                <a:cs typeface="Calibri"/>
              </a:rPr>
              <a:t>checking. </a:t>
            </a: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useful </a:t>
            </a:r>
            <a:r>
              <a:rPr sz="2400" spc="-15" dirty="0">
                <a:latin typeface="Calibri"/>
                <a:cs typeface="Calibri"/>
              </a:rPr>
              <a:t>to test </a:t>
            </a:r>
            <a:r>
              <a:rPr sz="2400" dirty="0">
                <a:latin typeface="Calibri"/>
                <a:cs typeface="Calibri"/>
              </a:rPr>
              <a:t>whether 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has suitable </a:t>
            </a:r>
            <a:r>
              <a:rPr sz="2400" dirty="0">
                <a:latin typeface="Calibri"/>
                <a:cs typeface="Calibri"/>
              </a:rPr>
              <a:t>permissions 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send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signal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775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Example </a:t>
            </a:r>
            <a:r>
              <a:rPr sz="2400" dirty="0">
                <a:latin typeface="Calibri"/>
                <a:cs typeface="Calibri"/>
              </a:rPr>
              <a:t>(checking if </a:t>
            </a:r>
            <a:r>
              <a:rPr sz="2400" spc="-15" dirty="0">
                <a:latin typeface="Calibri"/>
                <a:cs typeface="Calibri"/>
              </a:rPr>
              <a:t>we </a:t>
            </a:r>
            <a:r>
              <a:rPr sz="2400" spc="-5" dirty="0">
                <a:latin typeface="Calibri"/>
                <a:cs typeface="Calibri"/>
              </a:rPr>
              <a:t>can send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signal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1722 </a:t>
            </a:r>
            <a:r>
              <a:rPr sz="2400" dirty="0">
                <a:latin typeface="Calibri"/>
                <a:cs typeface="Calibri"/>
              </a:rPr>
              <a:t>without </a:t>
            </a:r>
            <a:r>
              <a:rPr sz="2400" spc="-5" dirty="0">
                <a:latin typeface="Calibri"/>
                <a:cs typeface="Calibri"/>
              </a:rPr>
              <a:t>sending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real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signal</a:t>
            </a:r>
            <a:r>
              <a:rPr lang="en-US" sz="2400" spc="-5" dirty="0">
                <a:cs typeface="Calibri"/>
              </a:rPr>
              <a:t>:</a:t>
            </a:r>
            <a:r>
              <a:rPr sz="2400" spc="-5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ts val="2185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ret;</a:t>
            </a:r>
          </a:p>
          <a:p>
            <a:pPr marL="469900">
              <a:lnSpc>
                <a:spcPts val="2180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ret =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kill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(1722,</a:t>
            </a:r>
            <a:r>
              <a:rPr sz="20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0);</a:t>
            </a:r>
          </a:p>
          <a:p>
            <a:pPr marL="469900">
              <a:lnSpc>
                <a:spcPts val="2180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if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(ret)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>
              <a:lnSpc>
                <a:spcPts val="2185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; </a:t>
            </a:r>
            <a:r>
              <a:rPr sz="2000" i="1" dirty="0">
                <a:latin typeface="Consolas"/>
                <a:cs typeface="Consolas"/>
              </a:rPr>
              <a:t>/* </a:t>
            </a:r>
            <a:r>
              <a:rPr lang="en-US" sz="2000" i="1" dirty="0">
                <a:latin typeface="Consolas"/>
                <a:cs typeface="Consolas"/>
              </a:rPr>
              <a:t>W</a:t>
            </a:r>
            <a:r>
              <a:rPr sz="2000" i="1" dirty="0">
                <a:latin typeface="Consolas"/>
                <a:cs typeface="Consolas"/>
              </a:rPr>
              <a:t>e </a:t>
            </a:r>
            <a:r>
              <a:rPr sz="2000" i="1" spc="-5" dirty="0">
                <a:latin typeface="Consolas"/>
                <a:cs typeface="Consolas"/>
              </a:rPr>
              <a:t>lack permission</a:t>
            </a:r>
            <a:r>
              <a:rPr lang="en-US" sz="2000" i="1" spc="-5" dirty="0">
                <a:latin typeface="Consolas"/>
                <a:cs typeface="Consolas"/>
              </a:rPr>
              <a:t>s: perhaps print an error message.</a:t>
            </a:r>
            <a:r>
              <a:rPr sz="2000" i="1" spc="-5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469900">
              <a:lnSpc>
                <a:spcPts val="2180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else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>
              <a:lnSpc>
                <a:spcPts val="2285"/>
              </a:lnSpc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; </a:t>
            </a:r>
            <a:r>
              <a:rPr sz="2000" i="1" dirty="0">
                <a:latin typeface="Consolas"/>
                <a:cs typeface="Consolas"/>
              </a:rPr>
              <a:t>/* we </a:t>
            </a:r>
            <a:r>
              <a:rPr sz="2000" i="1" spc="-5" dirty="0">
                <a:latin typeface="Consolas"/>
                <a:cs typeface="Consolas"/>
              </a:rPr>
              <a:t>have permission</a:t>
            </a:r>
            <a:r>
              <a:rPr lang="en-US" sz="2000" i="1" spc="-5" dirty="0">
                <a:latin typeface="Consolas"/>
                <a:cs typeface="Consolas"/>
              </a:rPr>
              <a:t>: we can proceed to sending a signal.</a:t>
            </a:r>
            <a:r>
              <a:rPr sz="2000" i="1" spc="-15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02965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Sending </a:t>
            </a:r>
            <a:r>
              <a:rPr dirty="0"/>
              <a:t>a </a:t>
            </a:r>
            <a:r>
              <a:rPr spc="-25" dirty="0"/>
              <a:t>Signal </a:t>
            </a:r>
            <a:r>
              <a:rPr spc="-35" dirty="0"/>
              <a:t>to </a:t>
            </a:r>
            <a:r>
              <a:rPr spc="-80" dirty="0"/>
              <a:t>Yourself </a:t>
            </a:r>
            <a:r>
              <a:rPr spc="-15" dirty="0"/>
              <a:t>or </a:t>
            </a:r>
            <a:r>
              <a:rPr dirty="0"/>
              <a:t>a </a:t>
            </a:r>
            <a:r>
              <a:rPr spc="-50" dirty="0"/>
              <a:t>Process</a:t>
            </a:r>
            <a:r>
              <a:rPr spc="-434" dirty="0"/>
              <a:t> </a:t>
            </a:r>
            <a:r>
              <a:rPr spc="-50" dirty="0"/>
              <a:t>Group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16939" y="1765757"/>
            <a:ext cx="10970261" cy="426539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raise()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function is </a:t>
            </a:r>
            <a:r>
              <a:rPr sz="2600" spc="-25" dirty="0">
                <a:latin typeface="Calibri"/>
                <a:cs typeface="Calibri"/>
              </a:rPr>
              <a:t>for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process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send a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itself</a:t>
            </a:r>
            <a:r>
              <a:rPr lang="en-US" sz="260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8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&lt;</a:t>
            </a:r>
            <a:r>
              <a:rPr sz="2000" dirty="0" err="1">
                <a:solidFill>
                  <a:srgbClr val="0070C0"/>
                </a:solidFill>
                <a:latin typeface="Consolas"/>
                <a:cs typeface="Consolas"/>
              </a:rPr>
              <a:t>signal.h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&gt;</a:t>
            </a:r>
            <a:endParaRPr lang="en-US" sz="2000" b="1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raise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signo);</a:t>
            </a:r>
          </a:p>
          <a:p>
            <a:pPr marL="241300" indent="-228600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Which is </a:t>
            </a:r>
            <a:r>
              <a:rPr sz="2600" spc="-5" dirty="0">
                <a:latin typeface="Calibri"/>
                <a:cs typeface="Calibri"/>
              </a:rPr>
              <a:t>equivalent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to</a:t>
            </a:r>
            <a:r>
              <a:rPr lang="en-US" sz="2600" spc="-10" dirty="0">
                <a:latin typeface="Calibri"/>
                <a:cs typeface="Calibri"/>
              </a:rPr>
              <a:t> calling: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kill (</a:t>
            </a:r>
            <a:r>
              <a:rPr sz="2000" dirty="0" err="1">
                <a:solidFill>
                  <a:srgbClr val="0070C0"/>
                </a:solidFill>
                <a:latin typeface="Consolas"/>
                <a:cs typeface="Consolas"/>
              </a:rPr>
              <a:t>getpid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(),</a:t>
            </a:r>
            <a:r>
              <a:rPr sz="2000" spc="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signo);</a:t>
            </a:r>
          </a:p>
          <a:p>
            <a:pPr marL="241300" marR="5080" indent="-228600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600" dirty="0">
                <a:latin typeface="Calibri"/>
                <a:cs typeface="Calibri"/>
              </a:rPr>
              <a:t>It </a:t>
            </a:r>
            <a:r>
              <a:rPr sz="2600" spc="-5" dirty="0">
                <a:latin typeface="Calibri"/>
                <a:cs typeface="Calibri"/>
              </a:rPr>
              <a:t>returns </a:t>
            </a:r>
            <a:r>
              <a:rPr sz="2600" dirty="0">
                <a:latin typeface="Calibri"/>
                <a:cs typeface="Calibri"/>
              </a:rPr>
              <a:t>0 </a:t>
            </a: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dirty="0">
                <a:latin typeface="Calibri"/>
                <a:cs typeface="Calibri"/>
              </a:rPr>
              <a:t>success and a </a:t>
            </a:r>
            <a:r>
              <a:rPr sz="2600" spc="-15" dirty="0">
                <a:latin typeface="Calibri"/>
                <a:cs typeface="Calibri"/>
              </a:rPr>
              <a:t>nonzero </a:t>
            </a:r>
            <a:r>
              <a:rPr sz="2600" spc="-10" dirty="0">
                <a:latin typeface="Calibri"/>
                <a:cs typeface="Calibri"/>
              </a:rPr>
              <a:t>value </a:t>
            </a: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spc="-10" dirty="0">
                <a:latin typeface="Calibri"/>
                <a:cs typeface="Calibri"/>
              </a:rPr>
              <a:t>failure. </a:t>
            </a:r>
            <a:r>
              <a:rPr sz="2600" dirty="0">
                <a:latin typeface="Calibri"/>
                <a:cs typeface="Calibri"/>
              </a:rPr>
              <a:t>It </a:t>
            </a:r>
            <a:r>
              <a:rPr sz="2600" spc="-5" dirty="0">
                <a:latin typeface="Calibri"/>
                <a:cs typeface="Calibri"/>
              </a:rPr>
              <a:t>doesn’t set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spc="-5" dirty="0">
              <a:latin typeface="Calibri"/>
              <a:cs typeface="Calibri"/>
            </a:endParaRPr>
          </a:p>
          <a:p>
            <a:pPr marL="241300" marR="208279" indent="-228600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There </a:t>
            </a:r>
            <a:r>
              <a:rPr sz="2600" dirty="0">
                <a:latin typeface="Calibri"/>
                <a:cs typeface="Calibri"/>
              </a:rPr>
              <a:t>is another </a:t>
            </a:r>
            <a:r>
              <a:rPr sz="2600" spc="-25" dirty="0">
                <a:latin typeface="Calibri"/>
                <a:cs typeface="Calibri"/>
              </a:rPr>
              <a:t>way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send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process group </a:t>
            </a:r>
            <a:r>
              <a:rPr sz="2600" spc="-5" dirty="0">
                <a:latin typeface="Calibri"/>
                <a:cs typeface="Calibri"/>
              </a:rPr>
              <a:t>instead </a:t>
            </a:r>
            <a:r>
              <a:rPr sz="2600" dirty="0">
                <a:latin typeface="Calibri"/>
                <a:cs typeface="Calibri"/>
              </a:rPr>
              <a:t>of </a:t>
            </a:r>
            <a:r>
              <a:rPr sz="2600" spc="-5" dirty="0">
                <a:latin typeface="Calibri"/>
                <a:cs typeface="Calibri"/>
              </a:rPr>
              <a:t>using  </a:t>
            </a:r>
            <a:r>
              <a:rPr sz="2600" spc="-15" dirty="0">
                <a:latin typeface="Calibri"/>
                <a:cs typeface="Calibri"/>
              </a:rPr>
              <a:t>negative </a:t>
            </a:r>
            <a:r>
              <a:rPr sz="2600" spc="-10" dirty="0">
                <a:latin typeface="Calibri"/>
                <a:cs typeface="Calibri"/>
              </a:rPr>
              <a:t>process group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ID</a:t>
            </a:r>
            <a:r>
              <a:rPr lang="en-US" sz="2600" dirty="0">
                <a:latin typeface="Calibri"/>
                <a:cs typeface="Calibri"/>
              </a:rPr>
              <a:t>s: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&lt;signal.h&gt;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killpg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pgrp,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signo); </a:t>
            </a:r>
            <a:r>
              <a:rPr sz="2000" i="1" dirty="0">
                <a:latin typeface="Consolas"/>
                <a:cs typeface="Consolas"/>
              </a:rPr>
              <a:t>// </a:t>
            </a:r>
            <a:r>
              <a:rPr lang="en-US" sz="2000" i="1" dirty="0">
                <a:latin typeface="Consolas"/>
                <a:cs typeface="Consolas"/>
              </a:rPr>
              <a:t>This is equal to:</a:t>
            </a:r>
            <a:r>
              <a:rPr sz="2000" i="1" dirty="0"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kill(-pgrp,</a:t>
            </a:r>
            <a:r>
              <a:rPr sz="2000" spc="-6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signo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)</a:t>
            </a:r>
            <a:r>
              <a:rPr lang="en-US" sz="2000" spc="-5" dirty="0">
                <a:solidFill>
                  <a:srgbClr val="0070C0"/>
                </a:solidFill>
                <a:latin typeface="Consolas"/>
              </a:rPr>
              <a:t>;</a:t>
            </a:r>
            <a:endParaRPr sz="2000" spc="-5" dirty="0">
              <a:solidFill>
                <a:srgbClr val="0070C0"/>
              </a:solidFill>
              <a:latin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359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On </a:t>
            </a:r>
            <a:r>
              <a:rPr sz="2600" spc="-5" dirty="0">
                <a:latin typeface="Calibri"/>
                <a:cs typeface="Calibri"/>
              </a:rPr>
              <a:t>success,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killpg()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returns </a:t>
            </a:r>
            <a:r>
              <a:rPr sz="2600" dirty="0">
                <a:latin typeface="Calibri"/>
                <a:cs typeface="Calibri"/>
              </a:rPr>
              <a:t>0</a:t>
            </a:r>
            <a:r>
              <a:rPr lang="en-US" sz="2600" dirty="0">
                <a:latin typeface="Calibri"/>
                <a:cs typeface="Calibri"/>
              </a:rPr>
              <a:t>;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on </a:t>
            </a:r>
            <a:r>
              <a:rPr sz="2600" spc="-15" dirty="0">
                <a:latin typeface="Calibri"/>
                <a:cs typeface="Calibri"/>
              </a:rPr>
              <a:t>failure </a:t>
            </a:r>
            <a:r>
              <a:rPr sz="2600" dirty="0">
                <a:latin typeface="Calibri"/>
                <a:cs typeface="Calibri"/>
              </a:rPr>
              <a:t>it </a:t>
            </a:r>
            <a:r>
              <a:rPr sz="2600" spc="-5" dirty="0">
                <a:latin typeface="Calibri"/>
                <a:cs typeface="Calibri"/>
              </a:rPr>
              <a:t>returns -1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sets</a:t>
            </a:r>
            <a:r>
              <a:rPr sz="2600" spc="-130" dirty="0">
                <a:latin typeface="Calibri"/>
                <a:cs typeface="Calibri"/>
              </a:rPr>
              <a:t>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spc="-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5165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Reentrancy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16939" y="1745945"/>
            <a:ext cx="10208261" cy="4355872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241300" marR="21590" indent="-228600">
              <a:lnSpc>
                <a:spcPct val="70000"/>
              </a:lnSpc>
              <a:spcBef>
                <a:spcPts val="96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When </a:t>
            </a:r>
            <a:r>
              <a:rPr sz="2400" spc="-15" dirty="0">
                <a:latin typeface="Calibri"/>
                <a:cs typeface="Calibri"/>
              </a:rPr>
              <a:t>kernel </a:t>
            </a:r>
            <a:r>
              <a:rPr sz="2400" spc="-10" dirty="0">
                <a:latin typeface="Calibri"/>
                <a:cs typeface="Calibri"/>
              </a:rPr>
              <a:t>raises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signal,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 could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5" dirty="0">
                <a:latin typeface="Calibri"/>
                <a:cs typeface="Calibri"/>
              </a:rPr>
              <a:t>executing </a:t>
            </a:r>
            <a:r>
              <a:rPr sz="2400" spc="-10" dirty="0">
                <a:latin typeface="Calibri"/>
                <a:cs typeface="Calibri"/>
              </a:rPr>
              <a:t>code anywhere, </a:t>
            </a:r>
            <a:r>
              <a:rPr sz="2400" dirty="0">
                <a:latin typeface="Calibri"/>
                <a:cs typeface="Calibri"/>
              </a:rPr>
              <a:t>which  </a:t>
            </a:r>
            <a:r>
              <a:rPr sz="2400" spc="-15" dirty="0">
                <a:latin typeface="Calibri"/>
                <a:cs typeface="Calibri"/>
              </a:rPr>
              <a:t>may </a:t>
            </a:r>
            <a:r>
              <a:rPr sz="2400" spc="-5" dirty="0">
                <a:latin typeface="Calibri"/>
                <a:cs typeface="Calibri"/>
              </a:rPr>
              <a:t>not be </a:t>
            </a:r>
            <a:r>
              <a:rPr sz="2400" spc="-10" dirty="0">
                <a:latin typeface="Calibri"/>
                <a:cs typeface="Calibri"/>
              </a:rPr>
              <a:t>interrupted. </a:t>
            </a:r>
            <a:r>
              <a:rPr lang="en-US" sz="2400" spc="-10" dirty="0">
                <a:latin typeface="Calibri"/>
                <a:cs typeface="Calibri"/>
              </a:rPr>
              <a:t>E.g., i</a:t>
            </a:r>
            <a:r>
              <a:rPr sz="2400" dirty="0">
                <a:latin typeface="Calibri"/>
                <a:cs typeface="Calibri"/>
              </a:rPr>
              <a:t>t </a:t>
            </a:r>
            <a:r>
              <a:rPr sz="2400" spc="-10" dirty="0">
                <a:latin typeface="Calibri"/>
                <a:cs typeface="Calibri"/>
              </a:rPr>
              <a:t>could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in the middle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handling another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signal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Thus</a:t>
            </a:r>
            <a:r>
              <a:rPr lang="en-US" sz="2400" spc="-5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signal handler </a:t>
            </a:r>
            <a:r>
              <a:rPr lang="en-US" sz="2400" spc="-5" dirty="0">
                <a:latin typeface="Calibri"/>
                <a:cs typeface="Calibri"/>
              </a:rPr>
              <a:t>must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5" dirty="0">
                <a:latin typeface="Calibri"/>
                <a:cs typeface="Calibri"/>
              </a:rPr>
              <a:t>careful </a:t>
            </a:r>
            <a:r>
              <a:rPr sz="2400" spc="-5" dirty="0">
                <a:latin typeface="Calibri"/>
                <a:cs typeface="Calibri"/>
              </a:rPr>
              <a:t>about what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touches</a:t>
            </a:r>
            <a:r>
              <a:rPr lang="en-US" sz="2400" spc="-5" dirty="0">
                <a:latin typeface="Calibri"/>
                <a:cs typeface="Calibri"/>
              </a:rPr>
              <a:t>/changes.</a:t>
            </a:r>
          </a:p>
          <a:p>
            <a:pPr marL="698500" marR="5080" lvl="1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200" spc="-20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signal handler </a:t>
            </a:r>
            <a:r>
              <a:rPr lang="en-US" sz="2200" spc="-5" dirty="0">
                <a:latin typeface="Calibri"/>
                <a:cs typeface="Calibri"/>
              </a:rPr>
              <a:t>should </a:t>
            </a:r>
            <a:r>
              <a:rPr sz="2200" spc="-10" dirty="0">
                <a:latin typeface="Calibri"/>
                <a:cs typeface="Calibri"/>
              </a:rPr>
              <a:t>never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lang="en-US" sz="2200" spc="-10" dirty="0">
                <a:latin typeface="Calibri"/>
                <a:cs typeface="Calibri"/>
              </a:rPr>
              <a:t>modify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global </a:t>
            </a:r>
            <a:r>
              <a:rPr lang="en-US" sz="2200" dirty="0">
                <a:latin typeface="Calibri"/>
                <a:cs typeface="Calibri"/>
              </a:rPr>
              <a:t>variables.</a:t>
            </a:r>
            <a:endParaRPr lang="en-US" sz="2200" spc="-1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200" spc="-20" dirty="0">
                <a:latin typeface="Calibri"/>
                <a:cs typeface="Calibri"/>
              </a:rPr>
              <a:t>Sometimes</a:t>
            </a:r>
            <a:r>
              <a:rPr lang="en-US" sz="2200" spc="-20" dirty="0">
                <a:latin typeface="Calibri"/>
                <a:cs typeface="Calibri"/>
              </a:rPr>
              <a:t>,</a:t>
            </a:r>
            <a:r>
              <a:rPr sz="2200" spc="-20" dirty="0">
                <a:latin typeface="Calibri"/>
                <a:cs typeface="Calibri"/>
              </a:rPr>
              <a:t> it’s necessary to block the delivery of signals </a:t>
            </a:r>
            <a:r>
              <a:rPr lang="en-US" sz="2200" spc="-20" dirty="0">
                <a:latin typeface="Calibri"/>
                <a:cs typeface="Calibri"/>
              </a:rPr>
              <a:t>to keep</a:t>
            </a:r>
            <a:r>
              <a:rPr sz="2200" spc="-20" dirty="0">
                <a:latin typeface="Calibri"/>
                <a:cs typeface="Calibri"/>
              </a:rPr>
              <a:t> data </a:t>
            </a:r>
            <a:r>
              <a:rPr lang="en-US" sz="2200" spc="-20" dirty="0">
                <a:latin typeface="Calibri"/>
                <a:cs typeface="Calibri"/>
              </a:rPr>
              <a:t>safe.</a:t>
            </a:r>
            <a:endParaRPr sz="2200" spc="-20" dirty="0">
              <a:latin typeface="Calibri"/>
              <a:cs typeface="Calibri"/>
            </a:endParaRPr>
          </a:p>
          <a:p>
            <a:pPr marL="241300" marR="553085" indent="-228600">
              <a:lnSpc>
                <a:spcPct val="7000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What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dirty="0">
                <a:latin typeface="Calibri"/>
                <a:cs typeface="Calibri"/>
              </a:rPr>
              <a:t>is in </a:t>
            </a:r>
            <a:r>
              <a:rPr sz="2400" spc="-15" dirty="0">
                <a:latin typeface="Calibri"/>
                <a:cs typeface="Calibri"/>
              </a:rPr>
              <a:t>syscalls, </a:t>
            </a:r>
            <a:r>
              <a:rPr sz="2400" spc="-20" dirty="0">
                <a:latin typeface="Calibri"/>
                <a:cs typeface="Calibri"/>
              </a:rPr>
              <a:t>like </a:t>
            </a:r>
            <a:r>
              <a:rPr sz="2400" dirty="0">
                <a:latin typeface="Calibri"/>
                <a:cs typeface="Calibri"/>
              </a:rPr>
              <a:t>writing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files or </a:t>
            </a:r>
            <a:r>
              <a:rPr sz="2400" spc="-10" dirty="0">
                <a:latin typeface="Calibri"/>
                <a:cs typeface="Calibri"/>
              </a:rPr>
              <a:t>allocating </a:t>
            </a:r>
            <a:r>
              <a:rPr sz="2400" spc="-25" dirty="0">
                <a:latin typeface="Calibri"/>
                <a:cs typeface="Calibri"/>
              </a:rPr>
              <a:t>memory, </a:t>
            </a:r>
            <a:r>
              <a:rPr sz="2400" dirty="0">
                <a:latin typeface="Calibri"/>
                <a:cs typeface="Calibri"/>
              </a:rPr>
              <a:t>and a  </a:t>
            </a:r>
            <a:r>
              <a:rPr sz="2400" spc="-5" dirty="0">
                <a:latin typeface="Calibri"/>
                <a:cs typeface="Calibri"/>
              </a:rPr>
              <a:t>signal handler </a:t>
            </a:r>
            <a:r>
              <a:rPr sz="2400" dirty="0">
                <a:latin typeface="Calibri"/>
                <a:cs typeface="Calibri"/>
              </a:rPr>
              <a:t>tries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do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same? 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We must discuss </a:t>
            </a:r>
            <a:r>
              <a:rPr sz="2400" spc="-15" dirty="0">
                <a:latin typeface="Calibri"/>
                <a:cs typeface="Calibri"/>
              </a:rPr>
              <a:t>reentrancy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233679" indent="-228600">
              <a:lnSpc>
                <a:spcPct val="701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i="1" spc="-5" dirty="0">
                <a:latin typeface="Calibri"/>
                <a:cs typeface="Calibri"/>
              </a:rPr>
              <a:t>reentrant function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one that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20" dirty="0">
                <a:latin typeface="Calibri"/>
                <a:cs typeface="Calibri"/>
              </a:rPr>
              <a:t>safe </a:t>
            </a:r>
            <a:r>
              <a:rPr sz="2400" spc="-10" dirty="0">
                <a:latin typeface="Calibri"/>
                <a:cs typeface="Calibri"/>
              </a:rPr>
              <a:t>to call from </a:t>
            </a:r>
            <a:r>
              <a:rPr sz="2400" dirty="0">
                <a:latin typeface="Calibri"/>
                <a:cs typeface="Calibri"/>
              </a:rPr>
              <a:t>within </a:t>
            </a:r>
            <a:r>
              <a:rPr sz="2400" spc="-25" dirty="0">
                <a:latin typeface="Calibri"/>
                <a:cs typeface="Calibri"/>
              </a:rPr>
              <a:t>itself. </a:t>
            </a:r>
            <a:r>
              <a:rPr sz="2400" spc="-5" dirty="0">
                <a:latin typeface="Calibri"/>
                <a:cs typeface="Calibri"/>
              </a:rPr>
              <a:t>Basically</a:t>
            </a:r>
            <a:r>
              <a:rPr lang="en-US" sz="2400" spc="-5" dirty="0">
                <a:latin typeface="Calibri"/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 such  function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only manipulate </a:t>
            </a:r>
            <a:r>
              <a:rPr sz="2400" spc="-15" dirty="0">
                <a:latin typeface="Calibri"/>
                <a:cs typeface="Calibri"/>
              </a:rPr>
              <a:t>stack-allocated data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400" spc="-1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provided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the  </a:t>
            </a:r>
            <a:r>
              <a:rPr sz="2400" spc="-40" dirty="0">
                <a:latin typeface="Calibri"/>
                <a:cs typeface="Calibri"/>
              </a:rPr>
              <a:t>caller.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must not </a:t>
            </a:r>
            <a:r>
              <a:rPr sz="2400" spc="-10" dirty="0">
                <a:latin typeface="Calibri"/>
                <a:cs typeface="Calibri"/>
              </a:rPr>
              <a:t>manipulate </a:t>
            </a:r>
            <a:r>
              <a:rPr sz="2400" spc="-15" dirty="0">
                <a:latin typeface="Calibri"/>
                <a:cs typeface="Calibri"/>
              </a:rPr>
              <a:t>static </a:t>
            </a:r>
            <a:r>
              <a:rPr sz="2400" spc="-10" dirty="0">
                <a:latin typeface="Calibri"/>
                <a:cs typeface="Calibri"/>
              </a:rPr>
              <a:t>data </a:t>
            </a:r>
            <a:r>
              <a:rPr sz="2400" spc="-5" dirty="0">
                <a:latin typeface="Calibri"/>
                <a:cs typeface="Calibri"/>
              </a:rPr>
              <a:t>or call </a:t>
            </a:r>
            <a:r>
              <a:rPr sz="2400" spc="-15" dirty="0">
                <a:latin typeface="Calibri"/>
                <a:cs typeface="Calibri"/>
              </a:rPr>
              <a:t>any </a:t>
            </a:r>
            <a:r>
              <a:rPr sz="2400" spc="-20" dirty="0">
                <a:latin typeface="Calibri"/>
                <a:cs typeface="Calibri"/>
              </a:rPr>
              <a:t>non-reentrant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260350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Some functions </a:t>
            </a:r>
            <a:r>
              <a:rPr sz="2400" spc="-10" dirty="0">
                <a:latin typeface="Calibri"/>
                <a:cs typeface="Calibri"/>
              </a:rPr>
              <a:t>are </a:t>
            </a:r>
            <a:r>
              <a:rPr sz="2400" spc="-5" dirty="0">
                <a:latin typeface="Calibri"/>
                <a:cs typeface="Calibri"/>
              </a:rPr>
              <a:t>not </a:t>
            </a:r>
            <a:r>
              <a:rPr sz="2400" spc="-15" dirty="0">
                <a:latin typeface="Calibri"/>
                <a:cs typeface="Calibri"/>
              </a:rPr>
              <a:t>reentrant, </a:t>
            </a:r>
            <a:r>
              <a:rPr sz="2400" dirty="0">
                <a:latin typeface="Calibri"/>
                <a:cs typeface="Calibri"/>
              </a:rPr>
              <a:t>and a </a:t>
            </a:r>
            <a:r>
              <a:rPr sz="2400" spc="-5" dirty="0">
                <a:latin typeface="Calibri"/>
                <a:cs typeface="Calibri"/>
              </a:rPr>
              <a:t>handler calling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same function </a:t>
            </a:r>
            <a:r>
              <a:rPr sz="2400" dirty="0">
                <a:latin typeface="Calibri"/>
                <a:cs typeface="Calibri"/>
              </a:rPr>
              <a:t>will  lead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chaos</a:t>
            </a:r>
            <a:r>
              <a:rPr lang="en-US" sz="2400" dirty="0">
                <a:latin typeface="Calibri"/>
                <a:cs typeface="Calibri"/>
              </a:rPr>
              <a:t>.</a:t>
            </a:r>
          </a:p>
          <a:p>
            <a:pPr marL="698500" marR="260350" lvl="1" indent="-228600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200" dirty="0">
                <a:latin typeface="Calibri"/>
                <a:cs typeface="Calibri"/>
              </a:rPr>
              <a:t>A function calling itself forever might lead to infinite recursion.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44397" y="413969"/>
            <a:ext cx="724915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60" dirty="0"/>
              <a:t>Reentrant-</a:t>
            </a:r>
            <a:r>
              <a:rPr spc="-60" dirty="0"/>
              <a:t>Guaranteed</a:t>
            </a:r>
            <a:r>
              <a:rPr spc="-95" dirty="0"/>
              <a:t> </a:t>
            </a:r>
            <a:r>
              <a:rPr spc="-35" dirty="0"/>
              <a:t>Functions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0491" y="1285697"/>
            <a:ext cx="2819909" cy="477996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marR="182245" indent="-229235">
              <a:lnSpc>
                <a:spcPct val="80000"/>
              </a:lnSpc>
              <a:spcBef>
                <a:spcPts val="675"/>
              </a:spcBef>
              <a:buFont typeface="Arial"/>
              <a:buChar char="•"/>
              <a:tabLst>
                <a:tab pos="241935" algn="l"/>
              </a:tabLst>
            </a:pPr>
            <a:r>
              <a:rPr sz="2400" spc="-5" dirty="0">
                <a:latin typeface="Calibri"/>
                <a:cs typeface="Calibri"/>
              </a:rPr>
              <a:t>Signal </a:t>
            </a:r>
            <a:r>
              <a:rPr sz="2400" spc="-10" dirty="0">
                <a:latin typeface="Calibri"/>
                <a:cs typeface="Calibri"/>
              </a:rPr>
              <a:t>handlers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 </a:t>
            </a:r>
            <a:r>
              <a:rPr sz="2400" spc="-20" dirty="0">
                <a:latin typeface="Calibri"/>
                <a:cs typeface="Calibri"/>
              </a:rPr>
              <a:t>make </a:t>
            </a:r>
            <a:r>
              <a:rPr sz="2400" spc="-5" dirty="0">
                <a:latin typeface="Calibri"/>
                <a:cs typeface="Calibri"/>
              </a:rPr>
              <a:t>use only of functions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are reentrant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5080" indent="-229235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935" algn="l"/>
              </a:tabLst>
            </a:pPr>
            <a:r>
              <a:rPr sz="2400" spc="-5" dirty="0">
                <a:latin typeface="Calibri"/>
                <a:cs typeface="Calibri"/>
              </a:rPr>
              <a:t>POSIX </a:t>
            </a:r>
            <a:r>
              <a:rPr sz="2400" spc="-15" dirty="0">
                <a:latin typeface="Calibri"/>
                <a:cs typeface="Calibri"/>
              </a:rPr>
              <a:t>dictates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list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functions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are  </a:t>
            </a:r>
            <a:r>
              <a:rPr sz="2400" spc="-10" dirty="0">
                <a:latin typeface="Calibri"/>
                <a:cs typeface="Calibri"/>
              </a:rPr>
              <a:t>guaranteed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be  </a:t>
            </a:r>
            <a:r>
              <a:rPr sz="2400" spc="-15" dirty="0">
                <a:latin typeface="Calibri"/>
                <a:cs typeface="Calibri"/>
              </a:rPr>
              <a:t>reentrant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signal-  </a:t>
            </a:r>
            <a:r>
              <a:rPr sz="2400" spc="-25" dirty="0">
                <a:latin typeface="Calibri"/>
                <a:cs typeface="Calibri"/>
              </a:rPr>
              <a:t>safe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all </a:t>
            </a:r>
            <a:r>
              <a:rPr sz="2400" spc="-10" dirty="0">
                <a:latin typeface="Calibri"/>
                <a:cs typeface="Calibri"/>
              </a:rPr>
              <a:t>compliant  </a:t>
            </a:r>
            <a:r>
              <a:rPr sz="2400" spc="-15" dirty="0">
                <a:latin typeface="Calibri"/>
                <a:cs typeface="Calibri"/>
              </a:rPr>
              <a:t>platforms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215265" indent="-229235">
              <a:lnSpc>
                <a:spcPts val="2300"/>
              </a:lnSpc>
              <a:spcBef>
                <a:spcPts val="990"/>
              </a:spcBef>
              <a:buFont typeface="Arial"/>
              <a:buChar char="•"/>
              <a:tabLst>
                <a:tab pos="241935" algn="l"/>
              </a:tabLst>
            </a:pPr>
            <a:r>
              <a:rPr sz="2400" spc="-5" dirty="0">
                <a:latin typeface="Calibri"/>
                <a:cs typeface="Calibri"/>
              </a:rPr>
              <a:t>The functions </a:t>
            </a:r>
            <a:r>
              <a:rPr lang="en-US" sz="2400" spc="-10" dirty="0">
                <a:cs typeface="Calibri"/>
              </a:rPr>
              <a:t>listed </a:t>
            </a:r>
            <a:r>
              <a:rPr sz="2400" spc="-15" dirty="0">
                <a:latin typeface="Calibri"/>
                <a:cs typeface="Calibri"/>
              </a:rPr>
              <a:t>here are </a:t>
            </a:r>
            <a:r>
              <a:rPr sz="2400" spc="-10" dirty="0">
                <a:latin typeface="Calibri"/>
                <a:cs typeface="Calibri"/>
              </a:rPr>
              <a:t>guaranteed by</a:t>
            </a:r>
            <a:r>
              <a:rPr sz="2400" spc="-5" dirty="0">
                <a:latin typeface="Calibri"/>
                <a:cs typeface="Calibri"/>
              </a:rPr>
              <a:t> Linux</a:t>
            </a:r>
            <a:r>
              <a:rPr lang="en-US" sz="2400" spc="-5" dirty="0">
                <a:latin typeface="Calibri"/>
                <a:cs typeface="Calibri"/>
              </a:rPr>
              <a:t> to be  </a:t>
            </a:r>
            <a:r>
              <a:rPr lang="en-US" sz="2400" spc="-15" dirty="0">
                <a:latin typeface="Calibri"/>
                <a:cs typeface="Calibri"/>
              </a:rPr>
              <a:t>reentrant.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33435E-38AB-B39E-2044-37C361235BEB}"/>
              </a:ext>
            </a:extLst>
          </p:cNvPr>
          <p:cNvGrpSpPr/>
          <p:nvPr/>
        </p:nvGrpSpPr>
        <p:grpSpPr>
          <a:xfrm>
            <a:off x="3352800" y="1088136"/>
            <a:ext cx="8669732" cy="5179751"/>
            <a:chOff x="3352800" y="1088136"/>
            <a:chExt cx="8669732" cy="517975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AE8F280-815F-4347-8CD9-9A5803FB9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52800" y="1115568"/>
              <a:ext cx="4070697" cy="515231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AD6869-F67D-3F47-407A-EDA249339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72401" y="1088136"/>
              <a:ext cx="4250131" cy="49377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3577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Signal</a:t>
            </a:r>
            <a:r>
              <a:rPr spc="-160" dirty="0"/>
              <a:t> </a:t>
            </a:r>
            <a:r>
              <a:rPr spc="-25" dirty="0"/>
              <a:t>Sets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16939" y="1734431"/>
            <a:ext cx="10817861" cy="428790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2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address sets </a:t>
            </a:r>
            <a:r>
              <a:rPr sz="2800" spc="-5" dirty="0">
                <a:latin typeface="Calibri"/>
                <a:cs typeface="Calibri"/>
              </a:rPr>
              <a:t>of signals, </a:t>
            </a:r>
            <a:r>
              <a:rPr sz="2800" spc="-10" dirty="0">
                <a:latin typeface="Calibri"/>
                <a:cs typeface="Calibri"/>
              </a:rPr>
              <a:t>there </a:t>
            </a:r>
            <a:r>
              <a:rPr sz="2800" spc="-15" dirty="0">
                <a:latin typeface="Calibri"/>
                <a:cs typeface="Calibri"/>
              </a:rPr>
              <a:t>are </a:t>
            </a:r>
            <a:r>
              <a:rPr sz="2800" i="1" spc="-5" dirty="0">
                <a:latin typeface="Calibri"/>
                <a:cs typeface="Calibri"/>
              </a:rPr>
              <a:t>signal </a:t>
            </a:r>
            <a:r>
              <a:rPr sz="2800" i="1" spc="-10" dirty="0">
                <a:latin typeface="Calibri"/>
                <a:cs typeface="Calibri"/>
              </a:rPr>
              <a:t>set </a:t>
            </a:r>
            <a:r>
              <a:rPr sz="2800" i="1" spc="-5" dirty="0">
                <a:latin typeface="Calibri"/>
                <a:cs typeface="Calibri"/>
              </a:rPr>
              <a:t>operations</a:t>
            </a:r>
            <a:r>
              <a:rPr sz="2800" i="1" spc="1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(POSIX):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&lt;signal.h&gt;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7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sigemptyset (</a:t>
            </a:r>
            <a:r>
              <a:rPr sz="2000" b="1" dirty="0">
                <a:solidFill>
                  <a:srgbClr val="0070C0"/>
                </a:solidFill>
                <a:latin typeface="Consolas"/>
              </a:rPr>
              <a:t>sigset_t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 *set); 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// </a:t>
            </a: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E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mpties </a:t>
            </a:r>
            <a:r>
              <a:rPr sz="2000" i="1" dirty="0">
                <a:latin typeface="Consolas" panose="020B0609020204030204" pitchFamily="49" charset="0"/>
                <a:cs typeface="Calibri"/>
              </a:rPr>
              <a:t>the 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signal</a:t>
            </a: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 set</a:t>
            </a:r>
            <a:r>
              <a:rPr sz="2000" i="1" spc="-155" dirty="0">
                <a:latin typeface="Consolas" panose="020B0609020204030204" pitchFamily="49" charset="0"/>
                <a:cs typeface="Calibri"/>
              </a:rPr>
              <a:t> </a:t>
            </a:r>
            <a:r>
              <a:rPr sz="2000" dirty="0" err="1">
                <a:solidFill>
                  <a:srgbClr val="0070C0"/>
                </a:solidFill>
                <a:latin typeface="Consolas"/>
              </a:rPr>
              <a:t>set</a:t>
            </a: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.</a:t>
            </a:r>
            <a:endParaRPr sz="2000" i="1" spc="-5" dirty="0">
              <a:latin typeface="Consolas" panose="020B0609020204030204" pitchFamily="49" charset="0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04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sigfillset (</a:t>
            </a:r>
            <a:r>
              <a:rPr sz="2000" b="1" dirty="0">
                <a:solidFill>
                  <a:srgbClr val="0070C0"/>
                </a:solidFill>
                <a:latin typeface="Consolas"/>
              </a:rPr>
              <a:t>sigset_t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 *set); 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// </a:t>
            </a: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Includes all 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the signal</a:t>
            </a: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s in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set</a:t>
            </a: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.</a:t>
            </a:r>
            <a:endParaRPr sz="2000" dirty="0">
              <a:solidFill>
                <a:srgbClr val="0070C0"/>
              </a:solidFill>
              <a:latin typeface="Consolas"/>
            </a:endParaRPr>
          </a:p>
          <a:p>
            <a:pPr marL="469900">
              <a:spcBef>
                <a:spcPts val="219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sigaddset (</a:t>
            </a:r>
            <a:r>
              <a:rPr sz="2000" b="1" dirty="0">
                <a:solidFill>
                  <a:srgbClr val="0070C0"/>
                </a:solidFill>
                <a:latin typeface="Consolas"/>
              </a:rPr>
              <a:t>sigset_t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 *set,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signo); 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// </a:t>
            </a: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A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dd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signo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 to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set</a:t>
            </a: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.</a:t>
            </a:r>
            <a:endParaRPr sz="2000" dirty="0">
              <a:solidFill>
                <a:srgbClr val="0070C0"/>
              </a:solidFill>
              <a:latin typeface="Consolas"/>
            </a:endParaRPr>
          </a:p>
          <a:p>
            <a:pPr marL="469900">
              <a:lnSpc>
                <a:spcPct val="100000"/>
              </a:lnSpc>
              <a:spcBef>
                <a:spcPts val="21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sigdelset (</a:t>
            </a:r>
            <a:r>
              <a:rPr sz="2000" b="1" dirty="0">
                <a:solidFill>
                  <a:srgbClr val="0070C0"/>
                </a:solidFill>
                <a:latin typeface="Consolas"/>
              </a:rPr>
              <a:t>sigset_t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 *set,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signo); 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// </a:t>
            </a: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R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emoves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signo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 from the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set</a:t>
            </a: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.</a:t>
            </a:r>
            <a:endParaRPr sz="2000" i="1" spc="-5" dirty="0">
              <a:latin typeface="Consolas" panose="020B0609020204030204" pitchFamily="49" charset="0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04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sigismember </a:t>
            </a:r>
            <a:r>
              <a:rPr sz="2000" spc="5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spc="5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dirty="0">
                <a:solidFill>
                  <a:srgbClr val="0070C0"/>
                </a:solidFill>
                <a:latin typeface="Consolas"/>
              </a:rPr>
              <a:t>sigset_t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 *set,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signo); 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// </a:t>
            </a: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C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hecks if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signo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 is </a:t>
            </a: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  </a:t>
            </a:r>
          </a:p>
          <a:p>
            <a:pPr marL="469900">
              <a:lnSpc>
                <a:spcPct val="100000"/>
              </a:lnSpc>
              <a:spcBef>
                <a:spcPts val="204"/>
              </a:spcBef>
            </a:pP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                                                  // </a:t>
            </a:r>
            <a:r>
              <a:rPr sz="2000" i="1" spc="-5" dirty="0">
                <a:latin typeface="Consolas" panose="020B0609020204030204" pitchFamily="49" charset="0"/>
                <a:cs typeface="Calibri"/>
              </a:rPr>
              <a:t>in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set</a:t>
            </a:r>
            <a:r>
              <a:rPr lang="en-US" sz="2000" i="1" spc="-5" dirty="0">
                <a:latin typeface="Consolas" panose="020B0609020204030204" pitchFamily="49" charset="0"/>
                <a:cs typeface="Calibri"/>
              </a:rPr>
              <a:t>.</a:t>
            </a:r>
            <a:endParaRPr sz="2000" i="1" spc="-5" dirty="0">
              <a:latin typeface="Consolas" panose="020B0609020204030204" pitchFamily="49" charset="0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5" dirty="0">
                <a:latin typeface="Calibri"/>
                <a:cs typeface="Calibri"/>
              </a:rPr>
              <a:t>first </a:t>
            </a:r>
            <a:r>
              <a:rPr sz="2800" spc="-5" dirty="0">
                <a:latin typeface="Calibri"/>
                <a:cs typeface="Calibri"/>
              </a:rPr>
              <a:t>4 </a:t>
            </a:r>
            <a:r>
              <a:rPr sz="2800" spc="-10" dirty="0">
                <a:latin typeface="Calibri"/>
                <a:cs typeface="Calibri"/>
              </a:rPr>
              <a:t>functions </a:t>
            </a:r>
            <a:r>
              <a:rPr sz="2800" spc="-15" dirty="0">
                <a:latin typeface="Calibri"/>
                <a:cs typeface="Calibri"/>
              </a:rPr>
              <a:t>return </a:t>
            </a:r>
            <a:r>
              <a:rPr sz="2800" spc="-5" dirty="0">
                <a:latin typeface="Calibri"/>
                <a:cs typeface="Calibri"/>
              </a:rPr>
              <a:t>0 on success and -1 on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failure</a:t>
            </a:r>
            <a:r>
              <a:rPr lang="en-US" sz="2800" spc="-25" dirty="0">
                <a:latin typeface="Calibri"/>
                <a:cs typeface="Calibri"/>
              </a:rPr>
              <a:t> and set </a:t>
            </a:r>
            <a:r>
              <a:rPr lang="en-US" sz="2600" spc="-1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600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solidFill>
                  <a:srgbClr val="0070C0"/>
                </a:solidFill>
                <a:latin typeface="Consolas"/>
                <a:cs typeface="Consolas"/>
              </a:rPr>
              <a:t>sigismember</a:t>
            </a:r>
            <a:r>
              <a:rPr sz="2600" spc="-5" dirty="0">
                <a:solidFill>
                  <a:srgbClr val="0070C0"/>
                </a:solidFill>
                <a:latin typeface="Calibri"/>
                <a:cs typeface="Calibri"/>
              </a:rPr>
              <a:t>() </a:t>
            </a:r>
            <a:r>
              <a:rPr sz="2800" spc="-15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1 if </a:t>
            </a:r>
            <a:r>
              <a:rPr sz="2600" spc="-5" dirty="0">
                <a:solidFill>
                  <a:srgbClr val="0070C0"/>
                </a:solidFill>
                <a:latin typeface="Consolas"/>
              </a:rPr>
              <a:t>signo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in the </a:t>
            </a:r>
            <a:r>
              <a:rPr sz="2800" spc="-10" dirty="0">
                <a:latin typeface="Calibri"/>
                <a:cs typeface="Calibri"/>
              </a:rPr>
              <a:t>signal set given </a:t>
            </a:r>
            <a:r>
              <a:rPr sz="2800" spc="-15" dirty="0">
                <a:latin typeface="Calibri"/>
                <a:cs typeface="Calibri"/>
              </a:rPr>
              <a:t>by </a:t>
            </a:r>
            <a:r>
              <a:rPr sz="2600" spc="-5" dirty="0">
                <a:solidFill>
                  <a:srgbClr val="0070C0"/>
                </a:solidFill>
                <a:latin typeface="Consolas"/>
              </a:rPr>
              <a:t>set</a:t>
            </a:r>
            <a:r>
              <a:rPr sz="2800" spc="-10" dirty="0">
                <a:latin typeface="Calibri"/>
                <a:cs typeface="Calibri"/>
              </a:rPr>
              <a:t>, </a:t>
            </a:r>
            <a:r>
              <a:rPr sz="2800" spc="-5" dirty="0">
                <a:latin typeface="Calibri"/>
                <a:cs typeface="Calibri"/>
              </a:rPr>
              <a:t>0 if </a:t>
            </a:r>
            <a:r>
              <a:rPr sz="2800" spc="-25" dirty="0">
                <a:latin typeface="Calibri"/>
                <a:cs typeface="Calibri"/>
              </a:rPr>
              <a:t>it’s </a:t>
            </a:r>
            <a:r>
              <a:rPr sz="2800" spc="-5" dirty="0">
                <a:latin typeface="Calibri"/>
                <a:cs typeface="Calibri"/>
              </a:rPr>
              <a:t>not, and -1 on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error</a:t>
            </a:r>
            <a:r>
              <a:rPr lang="en-US" sz="2800" spc="-15" dirty="0">
                <a:latin typeface="Calibri"/>
                <a:cs typeface="Calibri"/>
              </a:rPr>
              <a:t> (+ sets </a:t>
            </a:r>
            <a:r>
              <a:rPr kumimoji="0" lang="en-US" sz="2600" b="0" i="0" u="none" strike="noStrike" kern="1200" cap="none" spc="-1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errno</a:t>
            </a:r>
            <a:r>
              <a:rPr lang="en-US" sz="2800" spc="-15" dirty="0">
                <a:latin typeface="Calibri"/>
                <a:cs typeface="Calibri"/>
              </a:rPr>
              <a:t>).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7359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More </a:t>
            </a:r>
            <a:r>
              <a:rPr spc="-25" dirty="0"/>
              <a:t>Signal Set</a:t>
            </a:r>
            <a:r>
              <a:rPr spc="-220" dirty="0"/>
              <a:t> </a:t>
            </a:r>
            <a:r>
              <a:rPr spc="-35" dirty="0"/>
              <a:t>Functions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6939" y="1731010"/>
            <a:ext cx="10741661" cy="43646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Linux </a:t>
            </a:r>
            <a:r>
              <a:rPr sz="2800" spc="-5" dirty="0">
                <a:latin typeface="Calibri"/>
                <a:cs typeface="Calibri"/>
              </a:rPr>
              <a:t>added </a:t>
            </a:r>
            <a:r>
              <a:rPr sz="2800" spc="-20" dirty="0">
                <a:latin typeface="Calibri"/>
                <a:cs typeface="Calibri"/>
              </a:rPr>
              <a:t>several </a:t>
            </a:r>
            <a:r>
              <a:rPr sz="2800" spc="-15" dirty="0">
                <a:latin typeface="Calibri"/>
                <a:cs typeface="Calibri"/>
              </a:rPr>
              <a:t>nonstandard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functions: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#define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_GNU_SOURCE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1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#define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&lt;signal.h&gt;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sigisemptyset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sigset_t</a:t>
            </a:r>
            <a:r>
              <a:rPr sz="20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*set);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sigorset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sigset_t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*dest,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sigset_t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*left,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sigset_t</a:t>
            </a:r>
            <a:r>
              <a:rPr sz="20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*right);</a:t>
            </a:r>
          </a:p>
          <a:p>
            <a:pPr marL="469900">
              <a:lnSpc>
                <a:spcPct val="100000"/>
              </a:lnSpc>
              <a:spcBef>
                <a:spcPts val="1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sigandset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sigset_t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*dest,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sigset_t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*left,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sigset_t</a:t>
            </a:r>
            <a:r>
              <a:rPr sz="2000" spc="7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*right);</a:t>
            </a:r>
          </a:p>
          <a:p>
            <a:pPr marL="241300" indent="-228600">
              <a:lnSpc>
                <a:spcPct val="100000"/>
              </a:lnSpc>
              <a:spcBef>
                <a:spcPts val="30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solidFill>
                  <a:srgbClr val="0070C0"/>
                </a:solidFill>
                <a:latin typeface="Consolas"/>
              </a:rPr>
              <a:t>sigisemptyset()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1 if the </a:t>
            </a:r>
            <a:r>
              <a:rPr sz="2600" spc="-5" dirty="0">
                <a:solidFill>
                  <a:srgbClr val="0070C0"/>
                </a:solidFill>
                <a:latin typeface="Consolas"/>
              </a:rPr>
              <a:t>set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0" dirty="0">
                <a:latin typeface="Calibri"/>
                <a:cs typeface="Calibri"/>
              </a:rPr>
              <a:t>empty </a:t>
            </a:r>
            <a:r>
              <a:rPr sz="2800" spc="-5" dirty="0">
                <a:latin typeface="Calibri"/>
                <a:cs typeface="Calibri"/>
              </a:rPr>
              <a:t>and 0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otherwise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2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solidFill>
                  <a:srgbClr val="0070C0"/>
                </a:solidFill>
                <a:latin typeface="Consolas"/>
              </a:rPr>
              <a:t>sigorset()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sets </a:t>
            </a:r>
            <a:r>
              <a:rPr lang="en-US" sz="2600" spc="-5" dirty="0" err="1">
                <a:solidFill>
                  <a:srgbClr val="0070C0"/>
                </a:solidFill>
                <a:latin typeface="Consolas"/>
              </a:rPr>
              <a:t>dest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 union (binary </a:t>
            </a:r>
            <a:r>
              <a:rPr sz="26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sz="2800" spc="-10" dirty="0">
                <a:latin typeface="Calibri"/>
                <a:cs typeface="Calibri"/>
              </a:rPr>
              <a:t>)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sets </a:t>
            </a:r>
            <a:r>
              <a:rPr sz="2600" spc="-5" dirty="0">
                <a:solidFill>
                  <a:srgbClr val="0070C0"/>
                </a:solidFill>
                <a:latin typeface="Consolas"/>
              </a:rPr>
              <a:t>left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600" spc="-5" dirty="0">
                <a:solidFill>
                  <a:srgbClr val="0070C0"/>
                </a:solidFill>
                <a:latin typeface="Consolas"/>
              </a:rPr>
              <a:t>right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spc="-5" dirty="0">
              <a:latin typeface="Calibri"/>
              <a:cs typeface="Calibri"/>
            </a:endParaRPr>
          </a:p>
          <a:p>
            <a:pPr marL="241300" indent="-228600">
              <a:lnSpc>
                <a:spcPts val="3025"/>
              </a:lnSpc>
              <a:spcBef>
                <a:spcPts val="325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solidFill>
                  <a:srgbClr val="0070C0"/>
                </a:solidFill>
                <a:latin typeface="Consolas"/>
              </a:rPr>
              <a:t>sigandset()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sets </a:t>
            </a:r>
            <a:r>
              <a:rPr kumimoji="0" lang="en-US" sz="2600" b="0" i="0" u="none" strike="noStrike" kern="1200" cap="none" spc="-5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dest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to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intersection </a:t>
            </a:r>
            <a:r>
              <a:rPr sz="2800" spc="-10" dirty="0">
                <a:latin typeface="Calibri"/>
                <a:cs typeface="Calibri"/>
              </a:rPr>
              <a:t>(binary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sz="2800" spc="-5" dirty="0">
                <a:latin typeface="Calibri"/>
                <a:cs typeface="Calibri"/>
              </a:rPr>
              <a:t>) of </a:t>
            </a:r>
            <a:r>
              <a:rPr sz="2800" spc="-10" dirty="0">
                <a:latin typeface="Calibri"/>
                <a:cs typeface="Calibri"/>
              </a:rPr>
              <a:t>sets </a:t>
            </a:r>
            <a:r>
              <a:rPr sz="2600" spc="-5" dirty="0">
                <a:solidFill>
                  <a:srgbClr val="0070C0"/>
                </a:solidFill>
                <a:latin typeface="Consolas"/>
              </a:rPr>
              <a:t>left</a:t>
            </a:r>
            <a:r>
              <a:rPr sz="2800" i="1" spc="2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</a:t>
            </a:r>
            <a:r>
              <a:rPr lang="en-US" sz="2800" spc="-5" dirty="0"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0070C0"/>
                </a:solidFill>
                <a:latin typeface="Consolas"/>
              </a:rPr>
              <a:t>right</a:t>
            </a:r>
            <a:r>
              <a:rPr sz="2800" spc="-15" dirty="0">
                <a:latin typeface="Calibri"/>
                <a:cs typeface="Calibri"/>
              </a:rPr>
              <a:t>. </a:t>
            </a:r>
            <a:r>
              <a:rPr sz="2800" spc="-5" dirty="0">
                <a:latin typeface="Calibri"/>
                <a:cs typeface="Calibri"/>
              </a:rPr>
              <a:t>Both </a:t>
            </a:r>
            <a:r>
              <a:rPr sz="2800" spc="-15" dirty="0">
                <a:latin typeface="Calibri"/>
                <a:cs typeface="Calibri"/>
              </a:rPr>
              <a:t>return </a:t>
            </a:r>
            <a:r>
              <a:rPr sz="2800" spc="-5" dirty="0">
                <a:latin typeface="Calibri"/>
                <a:cs typeface="Calibri"/>
              </a:rPr>
              <a:t>0 on </a:t>
            </a:r>
            <a:r>
              <a:rPr sz="2800" spc="-10" dirty="0">
                <a:latin typeface="Calibri"/>
                <a:cs typeface="Calibri"/>
              </a:rPr>
              <a:t>success </a:t>
            </a:r>
            <a:r>
              <a:rPr sz="2800" spc="-5" dirty="0">
                <a:latin typeface="Calibri"/>
                <a:cs typeface="Calibri"/>
              </a:rPr>
              <a:t>and -1 on</a:t>
            </a:r>
            <a:r>
              <a:rPr sz="2800" spc="2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error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Avoid </a:t>
            </a:r>
            <a:r>
              <a:rPr lang="en-US" sz="2800" spc="-20" dirty="0">
                <a:latin typeface="Calibri"/>
                <a:cs typeface="Calibri"/>
              </a:rPr>
              <a:t>using </a:t>
            </a:r>
            <a:r>
              <a:rPr sz="2800" spc="-5" dirty="0">
                <a:latin typeface="Calibri"/>
                <a:cs typeface="Calibri"/>
              </a:rPr>
              <a:t>these if POSIX </a:t>
            </a:r>
            <a:r>
              <a:rPr sz="2800" spc="-10" dirty="0">
                <a:latin typeface="Calibri"/>
                <a:cs typeface="Calibri"/>
              </a:rPr>
              <a:t>compliance </a:t>
            </a:r>
            <a:r>
              <a:rPr sz="2800" spc="-5" dirty="0">
                <a:latin typeface="Calibri"/>
                <a:cs typeface="Calibri"/>
              </a:rPr>
              <a:t>is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desired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6939" y="493598"/>
            <a:ext cx="3498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Blocking</a:t>
            </a:r>
            <a:r>
              <a:rPr spc="-165" dirty="0"/>
              <a:t> </a:t>
            </a:r>
            <a:r>
              <a:rPr spc="-25" dirty="0"/>
              <a:t>Signals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72211" y="1270508"/>
            <a:ext cx="11238789" cy="5195781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41300" marR="1336675" indent="-228600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What</a:t>
            </a:r>
            <a:r>
              <a:rPr lang="en-US" sz="2400" spc="-5" dirty="0">
                <a:latin typeface="Calibri"/>
                <a:cs typeface="Calibri"/>
              </a:rPr>
              <a:t> should you do if somewhere in </a:t>
            </a:r>
            <a:r>
              <a:rPr sz="2400" spc="-10" dirty="0">
                <a:latin typeface="Calibri"/>
                <a:cs typeface="Calibri"/>
              </a:rPr>
              <a:t>your </a:t>
            </a:r>
            <a:r>
              <a:rPr sz="2400" spc="-15" dirty="0">
                <a:latin typeface="Calibri"/>
                <a:cs typeface="Calibri"/>
              </a:rPr>
              <a:t>program </a:t>
            </a:r>
            <a:r>
              <a:rPr sz="2400" spc="-10" dirty="0">
                <a:latin typeface="Calibri"/>
                <a:cs typeface="Calibri"/>
              </a:rPr>
              <a:t>you </a:t>
            </a:r>
            <a:r>
              <a:rPr sz="2400" spc="-5" dirty="0">
                <a:latin typeface="Calibri"/>
                <a:cs typeface="Calibri"/>
              </a:rPr>
              <a:t>don’t </a:t>
            </a:r>
            <a:r>
              <a:rPr sz="2400" spc="-15" dirty="0">
                <a:latin typeface="Calibri"/>
                <a:cs typeface="Calibri"/>
              </a:rPr>
              <a:t>want </a:t>
            </a:r>
            <a:r>
              <a:rPr sz="2400" spc="-20" dirty="0">
                <a:latin typeface="Calibri"/>
                <a:cs typeface="Calibri"/>
              </a:rPr>
              <a:t>any </a:t>
            </a:r>
            <a:r>
              <a:rPr sz="2400" spc="-5" dirty="0">
                <a:latin typeface="Calibri"/>
                <a:cs typeface="Calibri"/>
              </a:rPr>
              <a:t>interruptions, </a:t>
            </a:r>
            <a:r>
              <a:rPr sz="2400" dirty="0">
                <a:latin typeface="Calibri"/>
                <a:cs typeface="Calibri"/>
              </a:rPr>
              <a:t>including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5" dirty="0">
                <a:latin typeface="Calibri"/>
                <a:cs typeface="Calibri"/>
              </a:rPr>
              <a:t>signal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handlers?</a:t>
            </a:r>
            <a:endParaRPr sz="2400" dirty="0">
              <a:latin typeface="Calibri"/>
              <a:cs typeface="Calibri"/>
            </a:endParaRPr>
          </a:p>
          <a:p>
            <a:pPr marL="241300" marR="1336675" indent="-228600">
              <a:lnSpc>
                <a:spcPct val="7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These parts of a program are called critical regions, which </a:t>
            </a:r>
            <a:r>
              <a:rPr lang="en-US" sz="2400" spc="-5" dirty="0">
                <a:latin typeface="Calibri"/>
                <a:cs typeface="Calibri"/>
              </a:rPr>
              <a:t>can be</a:t>
            </a:r>
            <a:r>
              <a:rPr sz="2400" spc="-5" dirty="0">
                <a:latin typeface="Calibri"/>
                <a:cs typeface="Calibri"/>
              </a:rPr>
              <a:t> protected by </a:t>
            </a:r>
            <a:r>
              <a:rPr lang="en-US" sz="2400" spc="-5" dirty="0">
                <a:latin typeface="Calibri"/>
                <a:cs typeface="Calibri"/>
              </a:rPr>
              <a:t>suspending</a:t>
            </a:r>
            <a:r>
              <a:rPr sz="2400" spc="-5" dirty="0">
                <a:latin typeface="Calibri"/>
                <a:cs typeface="Calibri"/>
              </a:rPr>
              <a:t> the delivery of signals (block</a:t>
            </a:r>
            <a:r>
              <a:rPr lang="en-US" sz="2400" spc="-5" dirty="0">
                <a:latin typeface="Calibri"/>
                <a:cs typeface="Calibri"/>
              </a:rPr>
              <a:t>ing them</a:t>
            </a:r>
            <a:r>
              <a:rPr sz="2400" spc="-5" dirty="0">
                <a:latin typeface="Calibri"/>
                <a:cs typeface="Calibri"/>
              </a:rPr>
              <a:t>)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4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5" dirty="0">
                <a:latin typeface="Calibri"/>
                <a:cs typeface="Calibri"/>
              </a:rPr>
              <a:t>Any </a:t>
            </a:r>
            <a:r>
              <a:rPr sz="2400" spc="-5" dirty="0">
                <a:latin typeface="Calibri"/>
                <a:cs typeface="Calibri"/>
              </a:rPr>
              <a:t>signals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10" dirty="0">
                <a:latin typeface="Calibri"/>
                <a:cs typeface="Calibri"/>
              </a:rPr>
              <a:t>raised </a:t>
            </a:r>
            <a:r>
              <a:rPr sz="2400" dirty="0">
                <a:latin typeface="Calibri"/>
                <a:cs typeface="Calibri"/>
              </a:rPr>
              <a:t>while </a:t>
            </a:r>
            <a:r>
              <a:rPr lang="en-US" sz="2400" dirty="0">
                <a:latin typeface="Calibri"/>
                <a:cs typeface="Calibri"/>
              </a:rPr>
              <a:t>being </a:t>
            </a:r>
            <a:r>
              <a:rPr sz="2400" spc="-15" dirty="0">
                <a:latin typeface="Calibri"/>
                <a:cs typeface="Calibri"/>
              </a:rPr>
              <a:t>blocked are </a:t>
            </a:r>
            <a:r>
              <a:rPr sz="2400" spc="-5" dirty="0">
                <a:latin typeface="Calibri"/>
                <a:cs typeface="Calibri"/>
              </a:rPr>
              <a:t>not handled </a:t>
            </a:r>
            <a:r>
              <a:rPr sz="2400" spc="-10" dirty="0">
                <a:latin typeface="Calibri"/>
                <a:cs typeface="Calibri"/>
              </a:rPr>
              <a:t>until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unblocked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37973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20" dirty="0">
                <a:latin typeface="Calibri"/>
                <a:cs typeface="Calibri"/>
              </a:rPr>
              <a:t>may </a:t>
            </a:r>
            <a:r>
              <a:rPr sz="2400" spc="-5" dirty="0">
                <a:latin typeface="Calibri"/>
                <a:cs typeface="Calibri"/>
              </a:rPr>
              <a:t>block </a:t>
            </a:r>
            <a:r>
              <a:rPr sz="2400" spc="-20" dirty="0">
                <a:latin typeface="Calibri"/>
                <a:cs typeface="Calibri"/>
              </a:rPr>
              <a:t>any </a:t>
            </a:r>
            <a:r>
              <a:rPr sz="2400" spc="-5" dirty="0">
                <a:latin typeface="Calibri"/>
                <a:cs typeface="Calibri"/>
              </a:rPr>
              <a:t>number of signals;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set of signals </a:t>
            </a:r>
            <a:r>
              <a:rPr sz="2400" spc="-15" dirty="0">
                <a:latin typeface="Calibri"/>
                <a:cs typeface="Calibri"/>
              </a:rPr>
              <a:t>blocked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dirty="0">
                <a:latin typeface="Calibri"/>
                <a:cs typeface="Calibri"/>
              </a:rPr>
              <a:t>is  </a:t>
            </a:r>
            <a:r>
              <a:rPr sz="2400" spc="-5" dirty="0">
                <a:latin typeface="Calibri"/>
                <a:cs typeface="Calibri"/>
              </a:rPr>
              <a:t>called </a:t>
            </a:r>
            <a:r>
              <a:rPr sz="2400" dirty="0">
                <a:latin typeface="Calibri"/>
                <a:cs typeface="Calibri"/>
              </a:rPr>
              <a:t>its </a:t>
            </a:r>
            <a:r>
              <a:rPr sz="2400" i="1" spc="-5" dirty="0">
                <a:latin typeface="Calibri"/>
                <a:cs typeface="Calibri"/>
              </a:rPr>
              <a:t>signal</a:t>
            </a:r>
            <a:r>
              <a:rPr sz="2400" i="1" spc="-30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mask</a:t>
            </a:r>
            <a:r>
              <a:rPr lang="en-US" sz="2400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469900">
              <a:lnSpc>
                <a:spcPts val="2010"/>
              </a:lnSpc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&lt;</a:t>
            </a:r>
            <a:r>
              <a:rPr sz="2000" dirty="0" err="1">
                <a:solidFill>
                  <a:srgbClr val="0070C0"/>
                </a:solidFill>
                <a:latin typeface="Consolas"/>
                <a:cs typeface="Consolas"/>
              </a:rPr>
              <a:t>signal.h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&gt;</a:t>
            </a:r>
          </a:p>
          <a:p>
            <a:pPr marL="469900">
              <a:lnSpc>
                <a:spcPts val="2190"/>
              </a:lnSpc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 err="1">
                <a:solidFill>
                  <a:srgbClr val="0070C0"/>
                </a:solidFill>
                <a:latin typeface="Consolas"/>
                <a:cs typeface="Consolas"/>
              </a:rPr>
              <a:t>sigprocmask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how,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dirty="0" err="1">
                <a:solidFill>
                  <a:srgbClr val="0070C0"/>
                </a:solidFill>
                <a:latin typeface="Consolas"/>
                <a:cs typeface="Consolas"/>
              </a:rPr>
              <a:t>sigset_t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 *set, </a:t>
            </a:r>
            <a:r>
              <a:rPr sz="2000" b="1" dirty="0" err="1">
                <a:solidFill>
                  <a:srgbClr val="0070C0"/>
                </a:solidFill>
                <a:latin typeface="Consolas"/>
                <a:cs typeface="Consolas"/>
              </a:rPr>
              <a:t>sigset_t</a:t>
            </a:r>
            <a:r>
              <a:rPr sz="2000" spc="1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</a:t>
            </a:r>
            <a:r>
              <a:rPr sz="2000" dirty="0" err="1">
                <a:solidFill>
                  <a:srgbClr val="0070C0"/>
                </a:solidFill>
                <a:latin typeface="Consolas"/>
                <a:cs typeface="Consolas"/>
              </a:rPr>
              <a:t>oldset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</a:p>
          <a:p>
            <a:pPr marL="241300" indent="-228600">
              <a:lnSpc>
                <a:spcPts val="2770"/>
              </a:lnSpc>
              <a:spcBef>
                <a:spcPts val="1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value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how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determines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behavior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function</a:t>
            </a:r>
            <a:r>
              <a:rPr lang="en-US" sz="2400" spc="-5" dirty="0"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SIG_SETMASK</a:t>
            </a:r>
            <a:r>
              <a:rPr sz="2200" spc="-5" dirty="0">
                <a:latin typeface="Calibri"/>
                <a:cs typeface="Calibri"/>
              </a:rPr>
              <a:t>: </a:t>
            </a:r>
            <a:r>
              <a:rPr sz="2200" dirty="0">
                <a:latin typeface="Calibri"/>
                <a:cs typeface="Calibri"/>
              </a:rPr>
              <a:t>the signal </a:t>
            </a:r>
            <a:r>
              <a:rPr sz="2200" spc="-5" dirty="0">
                <a:latin typeface="Calibri"/>
                <a:cs typeface="Calibri"/>
              </a:rPr>
              <a:t>mask </a:t>
            </a:r>
            <a:r>
              <a:rPr sz="2200" spc="-15" dirty="0">
                <a:latin typeface="Calibri"/>
                <a:cs typeface="Calibri"/>
              </a:rPr>
              <a:t>for </a:t>
            </a:r>
            <a:r>
              <a:rPr sz="220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caller </a:t>
            </a:r>
            <a:r>
              <a:rPr sz="2200" dirty="0">
                <a:latin typeface="Calibri"/>
                <a:cs typeface="Calibri"/>
              </a:rPr>
              <a:t>is changed </a:t>
            </a:r>
            <a:r>
              <a:rPr sz="2200" spc="-10" dirty="0">
                <a:latin typeface="Calibri"/>
                <a:cs typeface="Calibri"/>
              </a:rPr>
              <a:t>to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set</a:t>
            </a:r>
            <a:r>
              <a:rPr lang="en-US" sz="220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18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SIG_BLOCK</a:t>
            </a:r>
            <a:r>
              <a:rPr sz="2200" spc="-10" dirty="0">
                <a:latin typeface="Calibri"/>
                <a:cs typeface="Calibri"/>
              </a:rPr>
              <a:t>: </a:t>
            </a:r>
            <a:r>
              <a:rPr sz="2200" dirty="0">
                <a:latin typeface="Calibri"/>
                <a:cs typeface="Calibri"/>
              </a:rPr>
              <a:t>the signals in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set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dirty="0">
                <a:latin typeface="Calibri"/>
                <a:cs typeface="Calibri"/>
              </a:rPr>
              <a:t>added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caller’s </a:t>
            </a:r>
            <a:r>
              <a:rPr sz="2200" spc="-5" dirty="0">
                <a:latin typeface="Calibri"/>
                <a:cs typeface="Calibri"/>
              </a:rPr>
              <a:t>signal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mask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698500" lvl="1" indent="-229235">
              <a:lnSpc>
                <a:spcPts val="22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SIG_UNBLOCK</a:t>
            </a:r>
            <a:r>
              <a:rPr sz="2200" spc="-10" dirty="0">
                <a:latin typeface="Calibri"/>
                <a:cs typeface="Calibri"/>
              </a:rPr>
              <a:t>: </a:t>
            </a:r>
            <a:r>
              <a:rPr sz="2200" dirty="0">
                <a:latin typeface="Calibri"/>
                <a:cs typeface="Calibri"/>
              </a:rPr>
              <a:t>the </a:t>
            </a:r>
            <a:r>
              <a:rPr sz="2200" spc="-5" dirty="0">
                <a:latin typeface="Calibri"/>
                <a:cs typeface="Calibri"/>
              </a:rPr>
              <a:t>signals </a:t>
            </a:r>
            <a:r>
              <a:rPr sz="2200" dirty="0">
                <a:latin typeface="Calibri"/>
                <a:cs typeface="Calibri"/>
              </a:rPr>
              <a:t>in </a:t>
            </a:r>
            <a:r>
              <a:rPr sz="2000" dirty="0">
                <a:solidFill>
                  <a:srgbClr val="0070C0"/>
                </a:solidFill>
                <a:latin typeface="Consolas"/>
              </a:rPr>
              <a:t>set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 </a:t>
            </a:r>
            <a:r>
              <a:rPr sz="2200" spc="-15" dirty="0">
                <a:latin typeface="Calibri"/>
                <a:cs typeface="Calibri"/>
              </a:rPr>
              <a:t>removed </a:t>
            </a:r>
            <a:r>
              <a:rPr sz="2200" spc="-10" dirty="0">
                <a:latin typeface="Calibri"/>
                <a:cs typeface="Calibri"/>
              </a:rPr>
              <a:t>from </a:t>
            </a:r>
            <a:r>
              <a:rPr sz="2200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caller’s </a:t>
            </a:r>
            <a:r>
              <a:rPr sz="2200" spc="-5" dirty="0">
                <a:latin typeface="Calibri"/>
                <a:cs typeface="Calibri"/>
              </a:rPr>
              <a:t>signal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mask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41300" marR="89535" indent="-228600">
              <a:lnSpc>
                <a:spcPct val="70000"/>
              </a:lnSpc>
              <a:spcBef>
                <a:spcPts val="99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oldset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not 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400" dirty="0">
                <a:latin typeface="Calibri"/>
                <a:cs typeface="Calibri"/>
              </a:rPr>
              <a:t>, it </a:t>
            </a:r>
            <a:r>
              <a:rPr sz="2400" spc="-10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with the </a:t>
            </a:r>
            <a:r>
              <a:rPr sz="2400" spc="-10" dirty="0">
                <a:latin typeface="Calibri"/>
                <a:cs typeface="Calibri"/>
              </a:rPr>
              <a:t>previous </a:t>
            </a:r>
            <a:r>
              <a:rPr sz="2400" spc="-5" dirty="0">
                <a:latin typeface="Calibri"/>
                <a:cs typeface="Calibri"/>
              </a:rPr>
              <a:t>signal set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f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set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400" dirty="0">
                <a:latin typeface="Calibri"/>
                <a:cs typeface="Calibri"/>
              </a:rPr>
              <a:t>, the </a:t>
            </a:r>
            <a:r>
              <a:rPr sz="2400" spc="-5" dirty="0">
                <a:latin typeface="Calibri"/>
                <a:cs typeface="Calibri"/>
              </a:rPr>
              <a:t>function  </a:t>
            </a:r>
            <a:r>
              <a:rPr sz="2400" spc="-10" dirty="0">
                <a:latin typeface="Calibri"/>
                <a:cs typeface="Calibri"/>
              </a:rPr>
              <a:t>ignores </a:t>
            </a:r>
            <a:r>
              <a:rPr sz="2200" spc="-5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how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" dirty="0">
                <a:latin typeface="Calibri"/>
                <a:cs typeface="Calibri"/>
              </a:rPr>
              <a:t>doesn’t change </a:t>
            </a:r>
            <a:r>
              <a:rPr sz="2400" dirty="0">
                <a:latin typeface="Calibri"/>
                <a:cs typeface="Calibri"/>
              </a:rPr>
              <a:t>the mask, </a:t>
            </a:r>
            <a:r>
              <a:rPr sz="2400" spc="-5" dirty="0">
                <a:latin typeface="Calibri"/>
                <a:cs typeface="Calibri"/>
              </a:rPr>
              <a:t>but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" dirty="0">
                <a:latin typeface="Calibri"/>
                <a:cs typeface="Calibri"/>
              </a:rPr>
              <a:t>does place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previous </a:t>
            </a:r>
            <a:r>
              <a:rPr sz="2400" spc="-5" dirty="0">
                <a:latin typeface="Calibri"/>
                <a:cs typeface="Calibri"/>
              </a:rPr>
              <a:t>one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200" spc="-5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oldset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spc="-5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 </a:t>
            </a:r>
            <a:r>
              <a:rPr sz="2400" spc="-10" dirty="0">
                <a:latin typeface="Calibri"/>
                <a:cs typeface="Calibri"/>
              </a:rPr>
              <a:t>returns </a:t>
            </a:r>
            <a:r>
              <a:rPr sz="2400" dirty="0">
                <a:latin typeface="Calibri"/>
                <a:cs typeface="Calibri"/>
              </a:rPr>
              <a:t>0 </a:t>
            </a:r>
            <a:r>
              <a:rPr sz="2400" spc="-5" dirty="0">
                <a:latin typeface="Calibri"/>
                <a:cs typeface="Calibri"/>
              </a:rPr>
              <a:t>on success, -1 on </a:t>
            </a:r>
            <a:r>
              <a:rPr sz="2400" spc="-15" dirty="0">
                <a:latin typeface="Calibri"/>
                <a:cs typeface="Calibri"/>
              </a:rPr>
              <a:t>failure. </a:t>
            </a:r>
            <a:r>
              <a:rPr sz="2400" dirty="0">
                <a:latin typeface="Calibri"/>
                <a:cs typeface="Calibri"/>
              </a:rPr>
              <a:t>Blocking 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SIGKILL</a:t>
            </a:r>
            <a:r>
              <a:rPr sz="2400" spc="-15" dirty="0">
                <a:latin typeface="Calibri"/>
                <a:cs typeface="Calibri"/>
              </a:rPr>
              <a:t>/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SIGSTOP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not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allowed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7683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Retrieving Pending</a:t>
            </a:r>
            <a:r>
              <a:rPr spc="-185" dirty="0"/>
              <a:t> </a:t>
            </a:r>
            <a:r>
              <a:rPr spc="-25" dirty="0"/>
              <a:t>Signals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6939" y="1793189"/>
            <a:ext cx="10415270" cy="339984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8600" marR="63500" indent="-2286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28600" algn="l"/>
              </a:tabLst>
            </a:pPr>
            <a:r>
              <a:rPr sz="2800" spc="-5" dirty="0">
                <a:latin typeface="Calibri"/>
                <a:cs typeface="Calibri"/>
              </a:rPr>
              <a:t>When </a:t>
            </a:r>
            <a:r>
              <a:rPr lang="en-US"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kernel raises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20" dirty="0">
                <a:latin typeface="Calibri"/>
                <a:cs typeface="Calibri"/>
              </a:rPr>
              <a:t>blocked </a:t>
            </a:r>
            <a:r>
              <a:rPr sz="2800" spc="-5" dirty="0">
                <a:latin typeface="Calibri"/>
                <a:cs typeface="Calibri"/>
              </a:rPr>
              <a:t>signal, </a:t>
            </a:r>
            <a:r>
              <a:rPr sz="2800" spc="-25" dirty="0">
                <a:latin typeface="Calibri"/>
                <a:cs typeface="Calibri"/>
              </a:rPr>
              <a:t>it</a:t>
            </a:r>
            <a:r>
              <a:rPr lang="en-US" sz="2800" spc="-25" dirty="0">
                <a:latin typeface="Calibri"/>
                <a:cs typeface="Calibri"/>
              </a:rPr>
              <a:t> i</a:t>
            </a:r>
            <a:r>
              <a:rPr sz="2800" spc="-25" dirty="0">
                <a:latin typeface="Calibri"/>
                <a:cs typeface="Calibri"/>
              </a:rPr>
              <a:t>s </a:t>
            </a:r>
            <a:r>
              <a:rPr sz="2800" spc="-5" dirty="0">
                <a:latin typeface="Calibri"/>
                <a:cs typeface="Calibri"/>
              </a:rPr>
              <a:t>not </a:t>
            </a:r>
            <a:r>
              <a:rPr sz="2800" spc="-15" dirty="0">
                <a:latin typeface="Calibri"/>
                <a:cs typeface="Calibri"/>
              </a:rPr>
              <a:t>delivered </a:t>
            </a:r>
            <a:r>
              <a:rPr sz="2800" spc="-5" dirty="0">
                <a:latin typeface="Calibri"/>
                <a:cs typeface="Calibri"/>
              </a:rPr>
              <a:t>and said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</a:t>
            </a:r>
            <a:r>
              <a:rPr lang="en-US" sz="2800" spc="-1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pending</a:t>
            </a:r>
            <a:r>
              <a:rPr sz="2800" spc="-5" dirty="0">
                <a:latin typeface="Calibri"/>
                <a:cs typeface="Calibri"/>
              </a:rPr>
              <a:t>. When </a:t>
            </a:r>
            <a:r>
              <a:rPr sz="2800" spc="-25" dirty="0">
                <a:latin typeface="Calibri"/>
                <a:cs typeface="Calibri"/>
              </a:rPr>
              <a:t>it’s </a:t>
            </a:r>
            <a:r>
              <a:rPr sz="2800" spc="-15" dirty="0">
                <a:latin typeface="Calibri"/>
                <a:cs typeface="Calibri"/>
              </a:rPr>
              <a:t>later unblocked, </a:t>
            </a:r>
            <a:r>
              <a:rPr lang="en-US" sz="2800" spc="-15" dirty="0">
                <a:latin typeface="Calibri"/>
                <a:cs typeface="Calibri"/>
              </a:rPr>
              <a:t>the </a:t>
            </a:r>
            <a:r>
              <a:rPr sz="2800" spc="-20" dirty="0">
                <a:latin typeface="Calibri"/>
                <a:cs typeface="Calibri"/>
              </a:rPr>
              <a:t>kernel </a:t>
            </a:r>
            <a:r>
              <a:rPr sz="2800" spc="-10" dirty="0">
                <a:latin typeface="Calibri"/>
                <a:cs typeface="Calibri"/>
              </a:rPr>
              <a:t>will </a:t>
            </a:r>
            <a:r>
              <a:rPr sz="2800" spc="-15" dirty="0">
                <a:latin typeface="Calibri"/>
                <a:cs typeface="Calibri"/>
              </a:rPr>
              <a:t>deliver </a:t>
            </a: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lang="en-US" sz="2800" spc="-20" dirty="0">
                <a:latin typeface="Calibri"/>
                <a:cs typeface="Calibri"/>
              </a:rPr>
              <a:t> the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POSIX </a:t>
            </a:r>
            <a:r>
              <a:rPr sz="2800" spc="-10" dirty="0">
                <a:latin typeface="Calibri"/>
                <a:cs typeface="Calibri"/>
              </a:rPr>
              <a:t>defines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function </a:t>
            </a:r>
            <a:r>
              <a:rPr sz="2800" spc="-15" dirty="0">
                <a:latin typeface="Calibri"/>
                <a:cs typeface="Calibri"/>
              </a:rPr>
              <a:t>to retrieve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pending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signals: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2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&lt;signal.h&gt;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6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sigpending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sigset_t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*set);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5080" indent="-228600">
              <a:lnSpc>
                <a:spcPts val="302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It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0 and places the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pending signals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set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 success and </a:t>
            </a:r>
            <a:r>
              <a:rPr sz="2800" spc="-10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sets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EFAULT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on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failure</a:t>
            </a:r>
            <a:r>
              <a:rPr lang="en-US" sz="2800" spc="-2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875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Waiting for </a:t>
            </a:r>
            <a:r>
              <a:rPr dirty="0"/>
              <a:t>a </a:t>
            </a:r>
            <a:r>
              <a:rPr spc="-25" dirty="0"/>
              <a:t>Set </a:t>
            </a:r>
            <a:r>
              <a:rPr spc="-15" dirty="0"/>
              <a:t>of</a:t>
            </a:r>
            <a:r>
              <a:rPr spc="-320" dirty="0"/>
              <a:t> </a:t>
            </a:r>
            <a:r>
              <a:rPr spc="-25" dirty="0"/>
              <a:t>Signals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16938" y="1765757"/>
            <a:ext cx="10894062" cy="4562018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124460" indent="-228600">
              <a:lnSpc>
                <a:spcPts val="2500"/>
              </a:lnSpc>
              <a:spcBef>
                <a:spcPts val="7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POSIX </a:t>
            </a:r>
            <a:r>
              <a:rPr sz="2600" spc="-5" dirty="0">
                <a:latin typeface="Calibri"/>
                <a:cs typeface="Calibri"/>
              </a:rPr>
              <a:t>allows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process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temporarily change </a:t>
            </a:r>
            <a:r>
              <a:rPr sz="2600" dirty="0">
                <a:latin typeface="Calibri"/>
                <a:cs typeface="Calibri"/>
              </a:rPr>
              <a:t>its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dirty="0">
                <a:latin typeface="Calibri"/>
                <a:cs typeface="Calibri"/>
              </a:rPr>
              <a:t>mask and then </a:t>
            </a:r>
            <a:r>
              <a:rPr sz="2600" spc="-5" dirty="0">
                <a:latin typeface="Calibri"/>
                <a:cs typeface="Calibri"/>
              </a:rPr>
              <a:t>wait  until </a:t>
            </a:r>
            <a:r>
              <a:rPr sz="2600" dirty="0">
                <a:latin typeface="Calibri"/>
                <a:cs typeface="Calibri"/>
              </a:rPr>
              <a:t>a signal is </a:t>
            </a:r>
            <a:r>
              <a:rPr sz="2600" spc="-5" dirty="0">
                <a:latin typeface="Calibri"/>
                <a:cs typeface="Calibri"/>
              </a:rPr>
              <a:t>raised that </a:t>
            </a:r>
            <a:r>
              <a:rPr sz="2600" dirty="0">
                <a:latin typeface="Calibri"/>
                <a:cs typeface="Calibri"/>
              </a:rPr>
              <a:t>either </a:t>
            </a:r>
            <a:r>
              <a:rPr sz="2600" spc="-5" dirty="0">
                <a:latin typeface="Calibri"/>
                <a:cs typeface="Calibri"/>
              </a:rPr>
              <a:t>terminates </a:t>
            </a:r>
            <a:r>
              <a:rPr lang="en-US" sz="2600" dirty="0">
                <a:cs typeface="Calibri"/>
              </a:rPr>
              <a:t>the</a:t>
            </a:r>
            <a:r>
              <a:rPr lang="en-US" sz="2600" spc="-80" dirty="0">
                <a:cs typeface="Calibri"/>
              </a:rPr>
              <a:t> </a:t>
            </a:r>
            <a:r>
              <a:rPr lang="en-US" sz="2600" spc="-10" dirty="0"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or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handled </a:t>
            </a:r>
            <a:r>
              <a:rPr lang="en-US" sz="2600" spc="-5" dirty="0">
                <a:latin typeface="Calibri"/>
                <a:cs typeface="Calibri"/>
              </a:rPr>
              <a:t>there</a:t>
            </a:r>
            <a:r>
              <a:rPr sz="2600" spc="-5" dirty="0">
                <a:latin typeface="Calibri"/>
                <a:cs typeface="Calibri"/>
              </a:rPr>
              <a:t>by</a:t>
            </a:r>
            <a:r>
              <a:rPr lang="en-US" sz="2600" spc="-1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95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&lt;signal.h&gt;</a:t>
            </a:r>
          </a:p>
          <a:p>
            <a:pPr marL="469900">
              <a:lnSpc>
                <a:spcPct val="100000"/>
              </a:lnSpc>
              <a:spcBef>
                <a:spcPts val="35"/>
              </a:spcBef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sigsuspend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sigset_t</a:t>
            </a:r>
            <a:r>
              <a:rPr sz="2000" spc="6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*set);</a:t>
            </a:r>
          </a:p>
          <a:p>
            <a:pPr marL="241300" marR="5080" indent="-228600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10" dirty="0">
                <a:latin typeface="Calibri"/>
                <a:cs typeface="Calibri"/>
              </a:rPr>
              <a:t>Here</a:t>
            </a:r>
            <a:r>
              <a:rPr lang="en-US" sz="2600" spc="-10" dirty="0">
                <a:latin typeface="Calibri"/>
                <a:cs typeface="Calibri"/>
              </a:rPr>
              <a:t>,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set</a:t>
            </a:r>
            <a:r>
              <a:rPr sz="2600" i="1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 the mask </a:t>
            </a:r>
            <a:r>
              <a:rPr sz="2600" spc="-10" dirty="0">
                <a:latin typeface="Calibri"/>
                <a:cs typeface="Calibri"/>
              </a:rPr>
              <a:t>temporarily </a:t>
            </a:r>
            <a:r>
              <a:rPr sz="2600" dirty="0">
                <a:latin typeface="Calibri"/>
                <a:cs typeface="Calibri"/>
              </a:rPr>
              <a:t>in </a:t>
            </a:r>
            <a:r>
              <a:rPr sz="2600" spc="-15" dirty="0">
                <a:latin typeface="Calibri"/>
                <a:cs typeface="Calibri"/>
              </a:rPr>
              <a:t>effect. </a:t>
            </a:r>
            <a:r>
              <a:rPr sz="2600" dirty="0">
                <a:latin typeface="Calibri"/>
                <a:cs typeface="Calibri"/>
              </a:rPr>
              <a:t>If a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spc="-10" dirty="0">
                <a:latin typeface="Calibri"/>
                <a:cs typeface="Calibri"/>
              </a:rPr>
              <a:t>terminates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process, </a:t>
            </a:r>
            <a:r>
              <a:rPr sz="2400" spc="-5" dirty="0" err="1">
                <a:solidFill>
                  <a:srgbClr val="0070C0"/>
                </a:solidFill>
                <a:latin typeface="Consolas"/>
              </a:rPr>
              <a:t>sigsuspend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()</a:t>
            </a:r>
            <a:r>
              <a:rPr sz="2600" spc="-5" dirty="0">
                <a:latin typeface="Calibri"/>
                <a:cs typeface="Calibri"/>
              </a:rPr>
              <a:t> doesn’t return. </a:t>
            </a:r>
            <a:r>
              <a:rPr sz="2600" dirty="0">
                <a:latin typeface="Calibri"/>
                <a:cs typeface="Calibri"/>
              </a:rPr>
              <a:t>If a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handled, </a:t>
            </a:r>
            <a:r>
              <a:rPr sz="2600" dirty="0">
                <a:latin typeface="Calibri"/>
                <a:cs typeface="Calibri"/>
              </a:rPr>
              <a:t>it </a:t>
            </a:r>
            <a:r>
              <a:rPr sz="2600" spc="-5" dirty="0">
                <a:latin typeface="Calibri"/>
                <a:cs typeface="Calibri"/>
              </a:rPr>
              <a:t>returns -1 </a:t>
            </a:r>
            <a:r>
              <a:rPr sz="2600" spc="-10" dirty="0">
                <a:latin typeface="Calibri"/>
                <a:cs typeface="Calibri"/>
              </a:rPr>
              <a:t>after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signal handler returns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sets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EINTR</a:t>
            </a:r>
            <a:r>
              <a:rPr lang="en-US" sz="2600" spc="-5" dirty="0">
                <a:latin typeface="Calibri"/>
                <a:cs typeface="Calibri"/>
              </a:rPr>
              <a:t>. If </a:t>
            </a:r>
            <a:r>
              <a:rPr lang="en-US" sz="2400" spc="-5" dirty="0">
                <a:solidFill>
                  <a:srgbClr val="0070C0"/>
                </a:solidFill>
                <a:latin typeface="Consolas"/>
              </a:rPr>
              <a:t>set</a:t>
            </a:r>
            <a:r>
              <a:rPr lang="en-US" sz="2600" spc="-5" dirty="0">
                <a:latin typeface="Calibri"/>
                <a:cs typeface="Calibri"/>
              </a:rPr>
              <a:t> is an invalid pointer,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600" spc="-5" dirty="0">
                <a:latin typeface="Calibri"/>
                <a:cs typeface="Calibri"/>
              </a:rPr>
              <a:t> is set to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EFAULT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spc="-5" dirty="0">
              <a:latin typeface="Calibri"/>
              <a:cs typeface="Calibri"/>
            </a:endParaRPr>
          </a:p>
          <a:p>
            <a:pPr marL="241300" indent="-228600">
              <a:lnSpc>
                <a:spcPts val="3120"/>
              </a:lnSpc>
              <a:spcBef>
                <a:spcPts val="3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spc="-5" dirty="0">
                <a:latin typeface="Calibri"/>
                <a:cs typeface="Calibri"/>
              </a:rPr>
              <a:t>This </a:t>
            </a:r>
            <a:r>
              <a:rPr sz="2600" dirty="0">
                <a:latin typeface="Calibri"/>
                <a:cs typeface="Calibri"/>
              </a:rPr>
              <a:t>function is </a:t>
            </a:r>
            <a:r>
              <a:rPr sz="2600" spc="-5" dirty="0">
                <a:latin typeface="Calibri"/>
                <a:cs typeface="Calibri"/>
              </a:rPr>
              <a:t>commonly used </a:t>
            </a:r>
            <a:r>
              <a:rPr sz="2600" dirty="0">
                <a:latin typeface="Calibri"/>
                <a:cs typeface="Calibri"/>
              </a:rPr>
              <a:t>in </a:t>
            </a:r>
            <a:r>
              <a:rPr lang="en-US" sz="2600" dirty="0">
                <a:latin typeface="Calibri"/>
                <a:cs typeface="Calibri"/>
              </a:rPr>
              <a:t>the following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scenario</a:t>
            </a:r>
            <a:r>
              <a:rPr lang="en-US" sz="260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698500" marR="19050" lvl="1" indent="-228600">
              <a:lnSpc>
                <a:spcPct val="80000"/>
              </a:lnSpc>
              <a:spcBef>
                <a:spcPts val="52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The process </a:t>
            </a:r>
            <a:r>
              <a:rPr sz="2200" spc="-15" dirty="0">
                <a:latin typeface="Calibri"/>
                <a:cs typeface="Calibri"/>
              </a:rPr>
              <a:t>first </a:t>
            </a:r>
            <a:r>
              <a:rPr sz="2200" spc="-5" dirty="0">
                <a:latin typeface="Calibri"/>
                <a:cs typeface="Calibri"/>
              </a:rPr>
              <a:t>uses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sigprocmask</a:t>
            </a:r>
            <a:r>
              <a:rPr sz="2000" spc="-5" dirty="0">
                <a:solidFill>
                  <a:srgbClr val="0070C0"/>
                </a:solidFill>
                <a:latin typeface="Calibri"/>
                <a:cs typeface="Calibri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()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0" dirty="0">
                <a:latin typeface="Calibri"/>
                <a:cs typeface="Calibri"/>
              </a:rPr>
              <a:t>block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set </a:t>
            </a:r>
            <a:r>
              <a:rPr sz="2200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signals since </a:t>
            </a: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20" dirty="0">
                <a:latin typeface="Calibri"/>
                <a:cs typeface="Calibri"/>
              </a:rPr>
              <a:t>enters </a:t>
            </a:r>
            <a:r>
              <a:rPr sz="2200" spc="-5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critical  region. </a:t>
            </a: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15" dirty="0">
                <a:latin typeface="Calibri"/>
                <a:cs typeface="Calibri"/>
              </a:rPr>
              <a:t>saves </a:t>
            </a:r>
            <a:r>
              <a:rPr sz="2200" spc="-5" dirty="0">
                <a:latin typeface="Calibri"/>
                <a:cs typeface="Calibri"/>
              </a:rPr>
              <a:t>the old mask in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000" spc="-5" dirty="0" err="1">
                <a:solidFill>
                  <a:srgbClr val="0070C0"/>
                </a:solidFill>
                <a:latin typeface="Consolas"/>
              </a:rPr>
              <a:t>oldset</a:t>
            </a:r>
            <a:r>
              <a:rPr lang="en-US" sz="2200" spc="-5" dirty="0">
                <a:latin typeface="Calibri"/>
                <a:cs typeface="Calibri"/>
              </a:rPr>
              <a:t>.</a:t>
            </a:r>
            <a:endParaRPr sz="2200" spc="-5" dirty="0">
              <a:latin typeface="Calibri"/>
              <a:cs typeface="Calibri"/>
            </a:endParaRPr>
          </a:p>
          <a:p>
            <a:pPr marL="698500" marR="257175" lvl="1" indent="-228600">
              <a:lnSpc>
                <a:spcPct val="80000"/>
              </a:lnSpc>
              <a:spcBef>
                <a:spcPts val="490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200" spc="-10" dirty="0">
                <a:latin typeface="Calibri"/>
                <a:cs typeface="Calibri"/>
              </a:rPr>
              <a:t>After </a:t>
            </a:r>
            <a:r>
              <a:rPr sz="2200" spc="-15" dirty="0">
                <a:latin typeface="Calibri"/>
                <a:cs typeface="Calibri"/>
              </a:rPr>
              <a:t>exiting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critical region, during </a:t>
            </a:r>
            <a:r>
              <a:rPr sz="2200" spc="-5" dirty="0">
                <a:latin typeface="Calibri"/>
                <a:cs typeface="Calibri"/>
              </a:rPr>
              <a:t>which </a:t>
            </a:r>
            <a:r>
              <a:rPr sz="2200" spc="-10" dirty="0">
                <a:latin typeface="Calibri"/>
                <a:cs typeface="Calibri"/>
              </a:rPr>
              <a:t>there might </a:t>
            </a:r>
            <a:r>
              <a:rPr sz="2200" spc="-5" dirty="0">
                <a:latin typeface="Calibri"/>
                <a:cs typeface="Calibri"/>
              </a:rPr>
              <a:t>be signals </a:t>
            </a:r>
            <a:r>
              <a:rPr sz="2200" spc="-10" dirty="0">
                <a:latin typeface="Calibri"/>
                <a:cs typeface="Calibri"/>
              </a:rPr>
              <a:t>that </a:t>
            </a:r>
            <a:r>
              <a:rPr sz="2200" spc="-5" dirty="0">
                <a:latin typeface="Calibri"/>
                <a:cs typeface="Calibri"/>
              </a:rPr>
              <a:t>arrived </a:t>
            </a:r>
            <a:r>
              <a:rPr sz="2200" spc="-10" dirty="0">
                <a:latin typeface="Calibri"/>
                <a:cs typeface="Calibri"/>
              </a:rPr>
              <a:t>but  </a:t>
            </a:r>
            <a:r>
              <a:rPr sz="2200" spc="-15" dirty="0">
                <a:latin typeface="Calibri"/>
                <a:cs typeface="Calibri"/>
              </a:rPr>
              <a:t>were blocked,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process calls 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sigsuspend()</a:t>
            </a:r>
            <a:r>
              <a:rPr sz="2200" spc="-5" dirty="0">
                <a:latin typeface="Calibri"/>
                <a:cs typeface="Calibri"/>
              </a:rPr>
              <a:t> using </a:t>
            </a:r>
            <a:r>
              <a:rPr sz="2000" spc="-5" dirty="0">
                <a:solidFill>
                  <a:srgbClr val="0070C0"/>
                </a:solidFill>
                <a:latin typeface="Consolas"/>
              </a:rPr>
              <a:t>oldset</a:t>
            </a:r>
            <a:r>
              <a:rPr sz="2200" i="1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to </a:t>
            </a:r>
            <a:r>
              <a:rPr sz="2200" spc="-15" dirty="0">
                <a:latin typeface="Calibri"/>
                <a:cs typeface="Calibri"/>
              </a:rPr>
              <a:t>retrieve </a:t>
            </a:r>
            <a:r>
              <a:rPr sz="2200" spc="-5" dirty="0">
                <a:latin typeface="Calibri"/>
                <a:cs typeface="Calibri"/>
              </a:rPr>
              <a:t>those </a:t>
            </a:r>
            <a:r>
              <a:rPr sz="2200" spc="-10" dirty="0">
                <a:latin typeface="Calibri"/>
                <a:cs typeface="Calibri"/>
              </a:rPr>
              <a:t>signals</a:t>
            </a:r>
            <a:r>
              <a:rPr lang="en-US" sz="2200" spc="-10" dirty="0"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6903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0" dirty="0"/>
              <a:t>Advanced </a:t>
            </a:r>
            <a:r>
              <a:rPr spc="-25" dirty="0"/>
              <a:t>Signal</a:t>
            </a:r>
            <a:r>
              <a:rPr spc="-215" dirty="0"/>
              <a:t> </a:t>
            </a:r>
            <a:r>
              <a:rPr spc="-45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17600" y="1751152"/>
            <a:ext cx="10712400" cy="42761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831850" indent="-241300">
              <a:lnSpc>
                <a:spcPts val="3195"/>
              </a:lnSpc>
              <a:spcBef>
                <a:spcPts val="9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600" spc="-10" dirty="0">
                <a:solidFill>
                  <a:srgbClr val="0070C0"/>
                </a:solidFill>
                <a:latin typeface="Consolas"/>
                <a:cs typeface="Consolas"/>
              </a:rPr>
              <a:t>signal</a:t>
            </a:r>
            <a:r>
              <a:rPr sz="2600" spc="-10" dirty="0">
                <a:solidFill>
                  <a:srgbClr val="0070C0"/>
                </a:solidFill>
                <a:latin typeface="Calibri"/>
                <a:cs typeface="Calibri"/>
              </a:rPr>
              <a:t>()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function is </a:t>
            </a:r>
            <a:r>
              <a:rPr sz="2800" spc="-10" dirty="0">
                <a:latin typeface="Calibri"/>
                <a:cs typeface="Calibri"/>
              </a:rPr>
              <a:t>very </a:t>
            </a:r>
            <a:r>
              <a:rPr sz="2800" spc="-5" dirty="0">
                <a:latin typeface="Calibri"/>
                <a:cs typeface="Calibri"/>
              </a:rPr>
              <a:t>basic. </a:t>
            </a:r>
            <a:r>
              <a:rPr sz="2800" spc="-10" dirty="0">
                <a:latin typeface="Calibri"/>
                <a:cs typeface="Calibri"/>
              </a:rPr>
              <a:t>POSIX </a:t>
            </a:r>
            <a:r>
              <a:rPr sz="2800" spc="-5" dirty="0">
                <a:latin typeface="Calibri"/>
                <a:cs typeface="Calibri"/>
              </a:rPr>
              <a:t>also </a:t>
            </a:r>
            <a:r>
              <a:rPr sz="2800" spc="-20" dirty="0">
                <a:latin typeface="Calibri"/>
                <a:cs typeface="Calibri"/>
              </a:rPr>
              <a:t>standardizes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endParaRPr lang="en-US" sz="2800" dirty="0">
              <a:latin typeface="Calibri"/>
              <a:cs typeface="Calibri"/>
            </a:endParaRPr>
          </a:p>
          <a:p>
            <a:pPr marR="831850">
              <a:lnSpc>
                <a:spcPts val="3195"/>
              </a:lnSpc>
              <a:spcBef>
                <a:spcPts val="95"/>
              </a:spcBef>
              <a:tabLst>
                <a:tab pos="241300" algn="l"/>
              </a:tabLst>
            </a:pPr>
            <a:r>
              <a:rPr lang="en-US" sz="2800" spc="-10" dirty="0">
                <a:solidFill>
                  <a:srgbClr val="0070C0"/>
                </a:solidFill>
                <a:latin typeface="Calibri"/>
                <a:cs typeface="Calibri"/>
              </a:rPr>
              <a:t>   </a:t>
            </a:r>
            <a:r>
              <a:rPr sz="2600" spc="-10" dirty="0" err="1">
                <a:solidFill>
                  <a:srgbClr val="0070C0"/>
                </a:solidFill>
                <a:latin typeface="Consolas"/>
              </a:rPr>
              <a:t>sigaction</a:t>
            </a:r>
            <a:r>
              <a:rPr sz="2600" spc="-10" dirty="0">
                <a:solidFill>
                  <a:srgbClr val="0070C0"/>
                </a:solidFill>
                <a:latin typeface="Consolas"/>
              </a:rPr>
              <a:t>()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syscall</a:t>
            </a:r>
            <a:r>
              <a:rPr lang="en-US" sz="2800" spc="-20" dirty="0">
                <a:latin typeface="Calibri"/>
                <a:cs typeface="Calibri"/>
              </a:rPr>
              <a:t>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which </a:t>
            </a:r>
            <a:r>
              <a:rPr sz="2800" spc="-15" dirty="0">
                <a:latin typeface="Calibri"/>
                <a:cs typeface="Calibri"/>
              </a:rPr>
              <a:t>provides </a:t>
            </a:r>
            <a:r>
              <a:rPr sz="2800" spc="-5" dirty="0">
                <a:latin typeface="Calibri"/>
                <a:cs typeface="Calibri"/>
              </a:rPr>
              <a:t>much </a:t>
            </a:r>
            <a:r>
              <a:rPr sz="2800" spc="-15" dirty="0">
                <a:latin typeface="Calibri"/>
                <a:cs typeface="Calibri"/>
              </a:rPr>
              <a:t>greater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capabilities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20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&lt;signal.h&gt;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4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sigaction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signo,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const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struct sigaction</a:t>
            </a:r>
            <a:r>
              <a:rPr sz="20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*act,</a:t>
            </a:r>
            <a:endParaRPr lang="en-US"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54"/>
              </a:spcBef>
            </a:pPr>
            <a:r>
              <a:rPr lang="en-US" sz="2000" b="1" dirty="0">
                <a:solidFill>
                  <a:srgbClr val="0070C0"/>
                </a:solidFill>
                <a:latin typeface="Consolas"/>
                <a:cs typeface="Consolas"/>
              </a:rPr>
              <a:t>             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struct sigaction</a:t>
            </a:r>
            <a:r>
              <a:rPr sz="2000" spc="-2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*oldact);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This call changes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behavior </a:t>
            </a:r>
            <a:r>
              <a:rPr sz="2800" spc="-5" dirty="0">
                <a:latin typeface="Calibri"/>
                <a:cs typeface="Calibri"/>
              </a:rPr>
              <a:t>of the </a:t>
            </a:r>
            <a:r>
              <a:rPr sz="2800" spc="-10" dirty="0">
                <a:latin typeface="Calibri"/>
                <a:cs typeface="Calibri"/>
              </a:rPr>
              <a:t>signal </a:t>
            </a:r>
            <a:r>
              <a:rPr sz="2600" spc="-10" dirty="0" err="1">
                <a:solidFill>
                  <a:srgbClr val="0070C0"/>
                </a:solidFill>
                <a:latin typeface="Consolas"/>
              </a:rPr>
              <a:t>signo</a:t>
            </a:r>
            <a:r>
              <a:rPr lang="en-US" sz="2800" spc="-5" dirty="0">
                <a:latin typeface="Calibri"/>
                <a:cs typeface="Calibri"/>
              </a:rPr>
              <a:t> as follows</a:t>
            </a:r>
            <a:r>
              <a:rPr lang="en-US" sz="2800" spc="-10" dirty="0">
                <a:latin typeface="Calibri"/>
                <a:cs typeface="Calibri"/>
              </a:rPr>
              <a:t>:</a:t>
            </a:r>
            <a:endParaRPr sz="2800" spc="-10" dirty="0">
              <a:latin typeface="Calibri"/>
              <a:cs typeface="Calibri"/>
            </a:endParaRPr>
          </a:p>
          <a:p>
            <a:pPr marL="698500" marR="451484" lvl="1" indent="-228600">
              <a:lnSpc>
                <a:spcPts val="3030"/>
              </a:lnSpc>
              <a:spcBef>
                <a:spcPts val="103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If </a:t>
            </a:r>
            <a:r>
              <a:rPr sz="2200" spc="-10" dirty="0">
                <a:solidFill>
                  <a:srgbClr val="0070C0"/>
                </a:solidFill>
                <a:latin typeface="Consolas"/>
              </a:rPr>
              <a:t>act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 not 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400" dirty="0">
                <a:latin typeface="Calibri"/>
                <a:cs typeface="Calibri"/>
              </a:rPr>
              <a:t>, </a:t>
            </a:r>
            <a:r>
              <a:rPr sz="2400" spc="-5" dirty="0">
                <a:latin typeface="Calibri"/>
                <a:cs typeface="Calibri"/>
              </a:rPr>
              <a:t>this </a:t>
            </a:r>
            <a:r>
              <a:rPr sz="2400" spc="-10" dirty="0">
                <a:latin typeface="Calibri"/>
                <a:cs typeface="Calibri"/>
              </a:rPr>
              <a:t>call </a:t>
            </a:r>
            <a:r>
              <a:rPr sz="2400" spc="-5" dirty="0">
                <a:latin typeface="Calibri"/>
                <a:cs typeface="Calibri"/>
              </a:rPr>
              <a:t>changes the </a:t>
            </a:r>
            <a:r>
              <a:rPr sz="2400" spc="-15" dirty="0">
                <a:latin typeface="Calibri"/>
                <a:cs typeface="Calibri"/>
              </a:rPr>
              <a:t>current behavior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200" spc="-10" dirty="0">
                <a:solidFill>
                  <a:srgbClr val="0070C0"/>
                </a:solidFill>
                <a:latin typeface="Consolas"/>
              </a:rPr>
              <a:t>signo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as </a:t>
            </a:r>
            <a:r>
              <a:rPr sz="2400" spc="-10" dirty="0">
                <a:latin typeface="Calibri"/>
                <a:cs typeface="Calibri"/>
              </a:rPr>
              <a:t>specified </a:t>
            </a:r>
            <a:r>
              <a:rPr sz="2400" spc="-15" dirty="0">
                <a:latin typeface="Calibri"/>
                <a:cs typeface="Calibri"/>
              </a:rPr>
              <a:t>by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070C0"/>
                </a:solidFill>
                <a:latin typeface="Consolas"/>
              </a:rPr>
              <a:t>act</a:t>
            </a:r>
            <a:r>
              <a:rPr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302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If </a:t>
            </a:r>
            <a:r>
              <a:rPr sz="2200" spc="-10" dirty="0">
                <a:solidFill>
                  <a:srgbClr val="0070C0"/>
                </a:solidFill>
                <a:latin typeface="Consolas"/>
              </a:rPr>
              <a:t>oldact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 </a:t>
            </a:r>
            <a:r>
              <a:rPr sz="2400" spc="-10" dirty="0">
                <a:latin typeface="Calibri"/>
                <a:cs typeface="Calibri"/>
              </a:rPr>
              <a:t>not 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400" dirty="0">
                <a:latin typeface="Calibri"/>
                <a:cs typeface="Calibri"/>
              </a:rPr>
              <a:t>,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call </a:t>
            </a:r>
            <a:r>
              <a:rPr sz="2400" spc="-20" dirty="0">
                <a:latin typeface="Calibri"/>
                <a:cs typeface="Calibri"/>
              </a:rPr>
              <a:t>stores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previous behavior </a:t>
            </a:r>
            <a:r>
              <a:rPr sz="2400" spc="-5" dirty="0">
                <a:latin typeface="Calibri"/>
                <a:cs typeface="Calibri"/>
              </a:rPr>
              <a:t>of the </a:t>
            </a:r>
            <a:r>
              <a:rPr sz="2400" spc="-10" dirty="0">
                <a:latin typeface="Calibri"/>
                <a:cs typeface="Calibri"/>
              </a:rPr>
              <a:t>given </a:t>
            </a:r>
            <a:r>
              <a:rPr sz="2400" spc="-5" dirty="0">
                <a:latin typeface="Calibri"/>
                <a:cs typeface="Calibri"/>
              </a:rPr>
              <a:t>signal </a:t>
            </a:r>
            <a:r>
              <a:rPr lang="en-US" sz="2400" spc="-10" dirty="0">
                <a:latin typeface="Calibri"/>
                <a:cs typeface="Calibri"/>
              </a:rPr>
              <a:t>in the variable </a:t>
            </a:r>
            <a:r>
              <a:rPr kumimoji="0" lang="en-US" sz="2200" b="0" i="0" u="none" strike="noStrike" kern="1200" cap="none" spc="-1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oldact</a:t>
            </a:r>
            <a:r>
              <a:rPr sz="2400" spc="-10" dirty="0">
                <a:latin typeface="Calibri"/>
                <a:cs typeface="Calibri"/>
              </a:rPr>
              <a:t>. </a:t>
            </a:r>
            <a:r>
              <a:rPr sz="2400" spc="-5" dirty="0">
                <a:latin typeface="Calibri"/>
                <a:cs typeface="Calibri"/>
              </a:rPr>
              <a:t>But if </a:t>
            </a:r>
            <a:r>
              <a:rPr sz="2200" spc="-10" dirty="0">
                <a:solidFill>
                  <a:srgbClr val="0070C0"/>
                </a:solidFill>
                <a:latin typeface="Consolas"/>
              </a:rPr>
              <a:t>act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is </a:t>
            </a: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sz="2400" dirty="0">
                <a:latin typeface="Calibri"/>
                <a:cs typeface="Calibri"/>
              </a:rPr>
              <a:t>, </a:t>
            </a:r>
            <a:r>
              <a:rPr sz="2200" spc="-10" dirty="0" err="1">
                <a:solidFill>
                  <a:srgbClr val="0070C0"/>
                </a:solidFill>
                <a:latin typeface="Consolas"/>
              </a:rPr>
              <a:t>oldact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lang="en-US" sz="2400" spc="-15" dirty="0">
                <a:latin typeface="Calibri"/>
                <a:cs typeface="Calibri"/>
              </a:rPr>
              <a:t>stores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current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behavior</a:t>
            </a:r>
            <a:r>
              <a:rPr lang="en-US" sz="2400" spc="-1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11200"/>
            <a:ext cx="59270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z="4200" dirty="0">
                <a:latin typeface="Consolas"/>
                <a:cs typeface="Consolas"/>
              </a:rPr>
              <a:t>sigaction</a:t>
            </a:r>
            <a:r>
              <a:rPr b="1" spc="-1535" dirty="0">
                <a:latin typeface="Consolas"/>
                <a:cs typeface="Consolas"/>
              </a:rPr>
              <a:t> </a:t>
            </a:r>
            <a:r>
              <a:rPr spc="-40" dirty="0"/>
              <a:t>Structure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916939" y="1499742"/>
            <a:ext cx="10849610" cy="138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45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pc="-5" dirty="0"/>
              <a:t>The </a:t>
            </a:r>
            <a:r>
              <a:rPr sz="2000" kern="1200" dirty="0">
                <a:solidFill>
                  <a:srgbClr val="0070C0"/>
                </a:solidFill>
                <a:latin typeface="Consolas"/>
              </a:rPr>
              <a:t>sigaction</a:t>
            </a:r>
            <a:r>
              <a:rPr i="1" spc="-5" dirty="0">
                <a:latin typeface="Calibri"/>
                <a:cs typeface="Calibri"/>
              </a:rPr>
              <a:t> </a:t>
            </a:r>
            <a:r>
              <a:rPr spc="-10" dirty="0"/>
              <a:t>structure allows </a:t>
            </a:r>
            <a:r>
              <a:rPr spc="-20" dirty="0"/>
              <a:t>for </a:t>
            </a:r>
            <a:r>
              <a:rPr spc="-5" dirty="0"/>
              <a:t>fine-grained </a:t>
            </a:r>
            <a:r>
              <a:rPr spc="-15" dirty="0"/>
              <a:t>control over </a:t>
            </a:r>
            <a:r>
              <a:rPr spc="-5" dirty="0"/>
              <a:t>signals</a:t>
            </a:r>
            <a:r>
              <a:rPr lang="en-US" spc="-5" dirty="0"/>
              <a:t> and is</a:t>
            </a:r>
            <a:r>
              <a:rPr spc="-5" dirty="0"/>
              <a:t> </a:t>
            </a:r>
            <a:r>
              <a:rPr spc="-10" dirty="0"/>
              <a:t>defined</a:t>
            </a:r>
            <a:r>
              <a:rPr spc="55" dirty="0"/>
              <a:t> </a:t>
            </a:r>
            <a:r>
              <a:rPr dirty="0"/>
              <a:t>in</a:t>
            </a:r>
          </a:p>
          <a:p>
            <a:pPr marL="241300">
              <a:lnSpc>
                <a:spcPts val="2395"/>
              </a:lnSpc>
            </a:pP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&lt;sys/signal.h&gt;</a:t>
            </a:r>
            <a:r>
              <a:rPr spc="-10" dirty="0"/>
              <a:t>, </a:t>
            </a:r>
            <a:r>
              <a:rPr lang="en-US" spc="-10" dirty="0"/>
              <a:t>which is </a:t>
            </a:r>
            <a:r>
              <a:rPr dirty="0"/>
              <a:t>included in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sz="22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signal.h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pc="-15" dirty="0"/>
              <a:t>.</a:t>
            </a:r>
            <a:endParaRPr spc="-15" dirty="0"/>
          </a:p>
          <a:p>
            <a:pPr marL="469900">
              <a:lnSpc>
                <a:spcPts val="1935"/>
              </a:lnSpc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struct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sigaction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</a:p>
          <a:p>
            <a:pPr marL="927100">
              <a:lnSpc>
                <a:spcPts val="1925"/>
              </a:lnSpc>
              <a:tabLst>
                <a:tab pos="4584700" algn="l"/>
              </a:tabLst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2000" b="1" spc="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(*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sa_handler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);	</a:t>
            </a:r>
            <a:r>
              <a:rPr lang="en-US" sz="20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i="1" spc="-5" dirty="0">
                <a:latin typeface="Consolas"/>
                <a:cs typeface="Consolas"/>
              </a:rPr>
              <a:t>/* signal </a:t>
            </a:r>
            <a:r>
              <a:rPr sz="2000" i="1" dirty="0">
                <a:latin typeface="Consolas"/>
                <a:cs typeface="Consolas"/>
              </a:rPr>
              <a:t>handler </a:t>
            </a:r>
            <a:r>
              <a:rPr sz="2000" i="1" spc="-5" dirty="0">
                <a:latin typeface="Consolas"/>
                <a:cs typeface="Consolas"/>
              </a:rPr>
              <a:t>or </a:t>
            </a:r>
            <a:r>
              <a:rPr sz="2000" i="1" dirty="0">
                <a:latin typeface="Consolas"/>
                <a:cs typeface="Consolas"/>
              </a:rPr>
              <a:t>action</a:t>
            </a:r>
            <a:r>
              <a:rPr sz="2000" i="1" spc="5" dirty="0">
                <a:latin typeface="Consolas"/>
                <a:cs typeface="Consolas"/>
              </a:rPr>
              <a:t> </a:t>
            </a:r>
            <a:r>
              <a:rPr sz="2000" i="1" spc="-5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927100">
              <a:lnSpc>
                <a:spcPts val="1980"/>
              </a:lnSpc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(*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sa_sigaction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siginfo_t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2000" b="1" spc="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1594" y="2842641"/>
            <a:ext cx="3731006" cy="7719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985"/>
              </a:lnSpc>
              <a:spcBef>
                <a:spcPts val="105"/>
              </a:spcBef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sigset_t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sa_mask;</a:t>
            </a:r>
          </a:p>
          <a:p>
            <a:pPr marL="12700">
              <a:lnSpc>
                <a:spcPts val="1925"/>
              </a:lnSpc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sa_flags;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ts val="1980"/>
              </a:lnSpc>
            </a:pP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2000" b="1" spc="-5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(*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sa_restorer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);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32704" y="2842641"/>
            <a:ext cx="4264025" cy="77194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985"/>
              </a:lnSpc>
              <a:spcBef>
                <a:spcPts val="105"/>
              </a:spcBef>
            </a:pPr>
            <a:r>
              <a:rPr sz="2000" i="1" spc="-5" dirty="0">
                <a:latin typeface="Consolas"/>
                <a:cs typeface="Consolas"/>
              </a:rPr>
              <a:t>/* </a:t>
            </a:r>
            <a:r>
              <a:rPr lang="en-US" sz="2000" i="1" spc="-5" dirty="0">
                <a:latin typeface="Consolas"/>
                <a:cs typeface="Consolas"/>
              </a:rPr>
              <a:t>set of </a:t>
            </a:r>
            <a:r>
              <a:rPr sz="2000" i="1" spc="-5" dirty="0">
                <a:latin typeface="Consolas"/>
                <a:cs typeface="Consolas"/>
              </a:rPr>
              <a:t>signals </a:t>
            </a:r>
            <a:r>
              <a:rPr sz="2000" i="1" dirty="0">
                <a:latin typeface="Consolas"/>
                <a:cs typeface="Consolas"/>
              </a:rPr>
              <a:t>to </a:t>
            </a:r>
            <a:r>
              <a:rPr sz="2000" i="1" spc="-5" dirty="0">
                <a:latin typeface="Consolas"/>
                <a:cs typeface="Consolas"/>
              </a:rPr>
              <a:t>block</a:t>
            </a:r>
            <a:r>
              <a:rPr sz="2000" i="1" dirty="0">
                <a:latin typeface="Consolas"/>
                <a:cs typeface="Consolas"/>
              </a:rPr>
              <a:t> </a:t>
            </a:r>
            <a:r>
              <a:rPr sz="2000" i="1" spc="-5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ts val="1925"/>
              </a:lnSpc>
            </a:pPr>
            <a:r>
              <a:rPr sz="2000" i="1" spc="-5" dirty="0">
                <a:latin typeface="Consolas"/>
                <a:cs typeface="Consolas"/>
              </a:rPr>
              <a:t>/* flags */</a:t>
            </a:r>
            <a:endParaRPr sz="2000" dirty="0">
              <a:latin typeface="Consolas"/>
              <a:cs typeface="Consolas"/>
            </a:endParaRPr>
          </a:p>
          <a:p>
            <a:pPr marL="12700">
              <a:lnSpc>
                <a:spcPts val="1980"/>
              </a:lnSpc>
            </a:pPr>
            <a:r>
              <a:rPr sz="2000" i="1" spc="-5" dirty="0">
                <a:latin typeface="Consolas"/>
                <a:cs typeface="Consolas"/>
              </a:rPr>
              <a:t>/* obsolete </a:t>
            </a:r>
            <a:r>
              <a:rPr sz="2000" i="1" dirty="0">
                <a:latin typeface="Consolas"/>
                <a:cs typeface="Consolas"/>
              </a:rPr>
              <a:t>and non-POSIX</a:t>
            </a:r>
            <a:r>
              <a:rPr sz="2000" i="1" spc="-20" dirty="0">
                <a:latin typeface="Consolas"/>
                <a:cs typeface="Consolas"/>
              </a:rPr>
              <a:t> </a:t>
            </a:r>
            <a:r>
              <a:rPr sz="2000" i="1" dirty="0">
                <a:latin typeface="Consolas"/>
                <a:cs typeface="Consolas"/>
              </a:rPr>
              <a:t>*/</a:t>
            </a:r>
            <a:endParaRPr sz="2000" dirty="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8" y="3577209"/>
            <a:ext cx="10849609" cy="28552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};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8600">
              <a:lnSpc>
                <a:spcPts val="2450"/>
              </a:lnSpc>
              <a:spcBef>
                <a:spcPts val="1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200" b="1" dirty="0">
                <a:solidFill>
                  <a:srgbClr val="0070C0"/>
                </a:solidFill>
                <a:latin typeface="Consolas"/>
              </a:rPr>
              <a:t>sa_handler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field specifies </a:t>
            </a:r>
            <a:r>
              <a:rPr sz="2400" dirty="0">
                <a:latin typeface="Calibri"/>
                <a:cs typeface="Calibri"/>
              </a:rPr>
              <a:t>the action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5" dirty="0">
                <a:latin typeface="Calibri"/>
                <a:cs typeface="Calibri"/>
              </a:rPr>
              <a:t>take </a:t>
            </a:r>
            <a:r>
              <a:rPr sz="2400" spc="-5" dirty="0">
                <a:latin typeface="Calibri"/>
                <a:cs typeface="Calibri"/>
              </a:rPr>
              <a:t>on receiving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signal, </a:t>
            </a:r>
            <a:r>
              <a:rPr sz="2400" dirty="0">
                <a:latin typeface="Calibri"/>
                <a:cs typeface="Calibri"/>
              </a:rPr>
              <a:t>and it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could</a:t>
            </a:r>
            <a:r>
              <a:rPr lang="en-US" sz="2400" spc="-10" dirty="0">
                <a:latin typeface="Calibri"/>
                <a:cs typeface="Calibri"/>
              </a:rPr>
              <a:t> also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SIG_DFL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(default) </a:t>
            </a:r>
            <a:r>
              <a:rPr sz="2400" spc="-5" dirty="0">
                <a:latin typeface="Calibri"/>
                <a:cs typeface="Calibri"/>
              </a:rPr>
              <a:t>or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SIG_IGN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(ignore)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41300" marR="80010" indent="-228600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If </a:t>
            </a:r>
            <a:r>
              <a:rPr lang="en-US" sz="2400" dirty="0">
                <a:latin typeface="Calibri"/>
                <a:cs typeface="Calibri"/>
              </a:rPr>
              <a:t>you set </a:t>
            </a:r>
            <a:r>
              <a:rPr lang="en-US" sz="2200" dirty="0" err="1">
                <a:solidFill>
                  <a:srgbClr val="0070C0"/>
                </a:solidFill>
                <a:latin typeface="Consolas"/>
              </a:rPr>
              <a:t>sa_flags</a:t>
            </a:r>
            <a:r>
              <a:rPr lang="en-US" sz="2400" dirty="0">
                <a:latin typeface="Calibri"/>
                <a:cs typeface="Calibri"/>
              </a:rPr>
              <a:t> to be </a:t>
            </a:r>
            <a:r>
              <a:rPr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SA_SIGINFO</a:t>
            </a:r>
            <a:r>
              <a:rPr sz="2400" spc="-5" dirty="0">
                <a:latin typeface="Calibri"/>
                <a:cs typeface="Calibri"/>
              </a:rPr>
              <a:t>,</a:t>
            </a:r>
            <a:r>
              <a:rPr lang="en-US" sz="2400" spc="-5" dirty="0">
                <a:latin typeface="Calibri"/>
                <a:cs typeface="Calibri"/>
              </a:rPr>
              <a:t> then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200" b="1" dirty="0" err="1">
                <a:solidFill>
                  <a:srgbClr val="0070C0"/>
                </a:solidFill>
                <a:latin typeface="Consolas"/>
              </a:rPr>
              <a:t>sa_sigaction</a:t>
            </a:r>
            <a:r>
              <a:rPr lang="en-US" sz="22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cs typeface="Calibri"/>
              </a:rPr>
              <a:t>is </a:t>
            </a:r>
            <a:r>
              <a:rPr lang="en-US" sz="2400" spc="-5" dirty="0">
                <a:cs typeface="Calibri"/>
              </a:rPr>
              <a:t>used instead of</a:t>
            </a:r>
            <a:r>
              <a:rPr lang="en-US" sz="2400" i="1" spc="-5" dirty="0">
                <a:cs typeface="Calibri"/>
              </a:rPr>
              <a:t> </a:t>
            </a:r>
            <a:r>
              <a:rPr sz="2200" b="1" dirty="0" err="1">
                <a:solidFill>
                  <a:srgbClr val="0070C0"/>
                </a:solidFill>
                <a:latin typeface="Consolas"/>
              </a:rPr>
              <a:t>sa_handler</a:t>
            </a:r>
            <a:r>
              <a:rPr sz="2400" spc="-5" dirty="0">
                <a:latin typeface="Calibri"/>
                <a:cs typeface="Calibri"/>
              </a:rPr>
              <a:t>, </a:t>
            </a:r>
            <a:r>
              <a:rPr sz="2400" dirty="0">
                <a:latin typeface="Calibri"/>
                <a:cs typeface="Calibri"/>
              </a:rPr>
              <a:t>which </a:t>
            </a:r>
            <a:r>
              <a:rPr sz="2400" spc="-5" dirty="0">
                <a:latin typeface="Calibri"/>
                <a:cs typeface="Calibri"/>
              </a:rPr>
              <a:t>has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5" dirty="0">
                <a:latin typeface="Calibri"/>
                <a:cs typeface="Calibri"/>
              </a:rPr>
              <a:t>prototype</a:t>
            </a:r>
            <a:r>
              <a:rPr sz="2400" dirty="0">
                <a:latin typeface="Calibri"/>
                <a:cs typeface="Calibri"/>
              </a:rPr>
              <a:t>:</a:t>
            </a:r>
          </a:p>
          <a:p>
            <a:pPr marL="469900">
              <a:lnSpc>
                <a:spcPts val="2110"/>
              </a:lnSpc>
              <a:spcBef>
                <a:spcPts val="30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my_handler (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signo,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siginfo_t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 *si,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2000" b="1" spc="8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*ucontext);</a:t>
            </a:r>
          </a:p>
          <a:p>
            <a:pPr marL="698500" marR="5080" lvl="1" indent="-228600">
              <a:lnSpc>
                <a:spcPct val="700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200" b="1" dirty="0">
                <a:solidFill>
                  <a:srgbClr val="0070C0"/>
                </a:solidFill>
                <a:latin typeface="Consolas"/>
              </a:rPr>
              <a:t>siginfo_t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 provides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lot of </a:t>
            </a:r>
            <a:r>
              <a:rPr sz="2400" spc="-10" dirty="0">
                <a:latin typeface="Calibri"/>
                <a:cs typeface="Calibri"/>
              </a:rPr>
              <a:t>information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signal handler (see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later </a:t>
            </a:r>
            <a:r>
              <a:rPr sz="2400" spc="-5" dirty="0">
                <a:latin typeface="Calibri"/>
                <a:cs typeface="Calibri"/>
              </a:rPr>
              <a:t>slide</a:t>
            </a:r>
            <a:r>
              <a:rPr lang="en-US" sz="2400" spc="-5" dirty="0">
                <a:cs typeface="Calibri"/>
              </a:rPr>
              <a:t>,</a:t>
            </a:r>
            <a:r>
              <a:rPr sz="2400" spc="-5" dirty="0">
                <a:latin typeface="Calibri"/>
                <a:cs typeface="Calibri"/>
              </a:rPr>
              <a:t>) whereas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ucontext</a:t>
            </a:r>
            <a:r>
              <a:rPr sz="2400" i="1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some signal </a:t>
            </a:r>
            <a:r>
              <a:rPr sz="2400" spc="-15" dirty="0">
                <a:latin typeface="Calibri"/>
                <a:cs typeface="Calibri"/>
              </a:rPr>
              <a:t>context </a:t>
            </a:r>
            <a:r>
              <a:rPr sz="2400" spc="-25" dirty="0">
                <a:latin typeface="Calibri"/>
                <a:cs typeface="Calibri"/>
              </a:rPr>
              <a:t>info, </a:t>
            </a:r>
            <a:r>
              <a:rPr sz="2200" dirty="0">
                <a:solidFill>
                  <a:srgbClr val="0070C0"/>
                </a:solidFill>
                <a:latin typeface="Consolas"/>
              </a:rPr>
              <a:t>ucontext_t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structure, </a:t>
            </a:r>
            <a:r>
              <a:rPr lang="en-US" sz="2400" spc="-10" dirty="0">
                <a:latin typeface="Calibri"/>
                <a:cs typeface="Calibri"/>
              </a:rPr>
              <a:t>usually unused </a:t>
            </a:r>
            <a:r>
              <a:rPr sz="2400" spc="-10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handler </a:t>
            </a:r>
            <a:r>
              <a:rPr sz="2400" spc="-20" dirty="0">
                <a:latin typeface="Calibri"/>
                <a:cs typeface="Calibri"/>
              </a:rPr>
              <a:t>(refer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sigaction(2)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page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11200"/>
            <a:ext cx="75044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z="4200" dirty="0">
                <a:latin typeface="Consolas"/>
              </a:rPr>
              <a:t>sigaction</a:t>
            </a:r>
            <a:r>
              <a:rPr b="1" spc="-1590" dirty="0">
                <a:latin typeface="Consolas"/>
                <a:cs typeface="Consolas"/>
              </a:rPr>
              <a:t> </a:t>
            </a:r>
            <a:r>
              <a:rPr spc="-40" dirty="0"/>
              <a:t>Structure </a:t>
            </a:r>
            <a:r>
              <a:rPr spc="-15" dirty="0"/>
              <a:t>(cont’)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793189"/>
            <a:ext cx="11122661" cy="39409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10795" indent="-228600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sa_mask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field </a:t>
            </a:r>
            <a:r>
              <a:rPr sz="2800" spc="-15" dirty="0">
                <a:latin typeface="Calibri"/>
                <a:cs typeface="Calibri"/>
              </a:rPr>
              <a:t>provides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set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signals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5" dirty="0">
                <a:latin typeface="Calibri"/>
                <a:cs typeface="Calibri"/>
              </a:rPr>
              <a:t>system </a:t>
            </a:r>
            <a:r>
              <a:rPr sz="2800" spc="-10" dirty="0">
                <a:latin typeface="Calibri"/>
                <a:cs typeface="Calibri"/>
              </a:rPr>
              <a:t>should block </a:t>
            </a:r>
            <a:r>
              <a:rPr sz="2800" spc="-5" dirty="0">
                <a:latin typeface="Calibri"/>
                <a:cs typeface="Calibri"/>
              </a:rPr>
              <a:t>while  the </a:t>
            </a:r>
            <a:r>
              <a:rPr sz="2800" spc="-10" dirty="0">
                <a:latin typeface="Calibri"/>
                <a:cs typeface="Calibri"/>
              </a:rPr>
              <a:t>signal handler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20" dirty="0">
                <a:latin typeface="Calibri"/>
                <a:cs typeface="Calibri"/>
              </a:rPr>
              <a:t>executing.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signal currently being handled </a:t>
            </a:r>
            <a:r>
              <a:rPr sz="2800" spc="-5" dirty="0">
                <a:latin typeface="Calibri"/>
                <a:cs typeface="Calibri"/>
              </a:rPr>
              <a:t>is also  </a:t>
            </a:r>
            <a:r>
              <a:rPr sz="2800" spc="-15" dirty="0">
                <a:latin typeface="Calibri"/>
                <a:cs typeface="Calibri"/>
              </a:rPr>
              <a:t>blocked </a:t>
            </a:r>
            <a:r>
              <a:rPr sz="2800" spc="-5" dirty="0">
                <a:latin typeface="Calibri"/>
                <a:cs typeface="Calibri"/>
              </a:rPr>
              <a:t>(if </a:t>
            </a:r>
            <a:r>
              <a:rPr sz="2800" spc="-20" dirty="0">
                <a:latin typeface="Calibri"/>
                <a:cs typeface="Calibri"/>
              </a:rPr>
              <a:t>it’s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600" dirty="0" err="1">
                <a:solidFill>
                  <a:srgbClr val="0070C0"/>
                </a:solidFill>
                <a:latin typeface="Consolas"/>
              </a:rPr>
              <a:t>sa_mask</a:t>
            </a:r>
            <a:r>
              <a:rPr lang="en-US" sz="2800" spc="-5" dirty="0">
                <a:cs typeface="Calibri"/>
              </a:rPr>
              <a:t>,</a:t>
            </a:r>
            <a:r>
              <a:rPr sz="2800" spc="-5" dirty="0">
                <a:latin typeface="Calibri"/>
                <a:cs typeface="Calibri"/>
              </a:rPr>
              <a:t>) unless the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SA_NODEFER</a:t>
            </a:r>
            <a:r>
              <a:rPr sz="2800" spc="-10" dirty="0">
                <a:latin typeface="Calibri"/>
                <a:cs typeface="Calibri"/>
              </a:rPr>
              <a:t> flag is set </a:t>
            </a:r>
            <a:r>
              <a:rPr sz="2800" spc="-5" dirty="0">
                <a:latin typeface="Calibri"/>
                <a:cs typeface="Calibri"/>
              </a:rPr>
              <a:t>in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sa_flags</a:t>
            </a:r>
            <a:r>
              <a:rPr sz="2800" spc="-5" dirty="0">
                <a:latin typeface="Calibri"/>
                <a:cs typeface="Calibri"/>
              </a:rPr>
              <a:t>. </a:t>
            </a:r>
            <a:r>
              <a:rPr lang="en-US" sz="2800" spc="-5" dirty="0">
                <a:latin typeface="Calibri"/>
                <a:cs typeface="Calibri"/>
              </a:rPr>
              <a:t>However,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you </a:t>
            </a:r>
            <a:r>
              <a:rPr sz="2800" spc="-5" dirty="0">
                <a:latin typeface="Calibri"/>
                <a:cs typeface="Calibri"/>
              </a:rPr>
              <a:t>cannot </a:t>
            </a:r>
            <a:r>
              <a:rPr sz="2800" spc="-10" dirty="0">
                <a:latin typeface="Calibri"/>
                <a:cs typeface="Calibri"/>
              </a:rPr>
              <a:t>block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SIGKILL</a:t>
            </a:r>
            <a:r>
              <a:rPr sz="2800" spc="-5" dirty="0">
                <a:latin typeface="Calibri"/>
                <a:cs typeface="Calibri"/>
              </a:rPr>
              <a:t> or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6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SIGSTOP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spc="-5" dirty="0">
              <a:latin typeface="Calibri"/>
              <a:cs typeface="Calibri"/>
            </a:endParaRPr>
          </a:p>
          <a:p>
            <a:pPr marL="241300" marR="5080" indent="-228600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sa_flags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field </a:t>
            </a:r>
            <a:r>
              <a:rPr sz="2800" spc="-5" dirty="0">
                <a:latin typeface="Calibri"/>
                <a:cs typeface="Calibri"/>
              </a:rPr>
              <a:t>is a </a:t>
            </a:r>
            <a:r>
              <a:rPr sz="2800" spc="-10" dirty="0">
                <a:latin typeface="Calibri"/>
                <a:cs typeface="Calibri"/>
              </a:rPr>
              <a:t>bitmask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35" dirty="0">
                <a:latin typeface="Calibri"/>
                <a:cs typeface="Calibri"/>
              </a:rPr>
              <a:t>zero, </a:t>
            </a:r>
            <a:r>
              <a:rPr sz="2800" spc="-10" dirty="0">
                <a:latin typeface="Calibri"/>
                <a:cs typeface="Calibri"/>
              </a:rPr>
              <a:t>one, </a:t>
            </a:r>
            <a:r>
              <a:rPr sz="2800" spc="-5" dirty="0">
                <a:latin typeface="Calibri"/>
                <a:cs typeface="Calibri"/>
              </a:rPr>
              <a:t>or </a:t>
            </a:r>
            <a:r>
              <a:rPr sz="2800" spc="-15" dirty="0">
                <a:latin typeface="Calibri"/>
                <a:cs typeface="Calibri"/>
              </a:rPr>
              <a:t>more </a:t>
            </a:r>
            <a:r>
              <a:rPr sz="2800" spc="-10" dirty="0">
                <a:latin typeface="Calibri"/>
                <a:cs typeface="Calibri"/>
              </a:rPr>
              <a:t>flags that change </a:t>
            </a:r>
            <a:r>
              <a:rPr sz="2800" spc="-5" dirty="0">
                <a:latin typeface="Calibri"/>
                <a:cs typeface="Calibri"/>
              </a:rPr>
              <a:t>the  </a:t>
            </a:r>
            <a:r>
              <a:rPr sz="2800" spc="-10" dirty="0">
                <a:latin typeface="Calibri"/>
                <a:cs typeface="Calibri"/>
              </a:rPr>
              <a:t>handling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signal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signo</a:t>
            </a:r>
            <a:r>
              <a:rPr sz="2800" i="1" spc="-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(refer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lang="en-US" sz="2800" spc="-10" dirty="0">
                <a:latin typeface="Calibri"/>
                <a:cs typeface="Calibri"/>
              </a:rPr>
              <a:t>pages 354-355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lang="en-US" sz="2800" spc="-2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complete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list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r>
              <a:rPr sz="2800" spc="-15" dirty="0">
                <a:latin typeface="Calibri"/>
                <a:cs typeface="Calibri"/>
              </a:rPr>
              <a:t>)</a:t>
            </a:r>
            <a:endParaRPr sz="2800" dirty="0">
              <a:latin typeface="Calibri"/>
              <a:cs typeface="Calibri"/>
            </a:endParaRPr>
          </a:p>
          <a:p>
            <a:pPr marL="698500" lvl="1" indent="-229235">
              <a:lnSpc>
                <a:spcPct val="100000"/>
              </a:lnSpc>
              <a:spcBef>
                <a:spcPts val="195"/>
              </a:spcBef>
              <a:buClr>
                <a:schemeClr val="tx1"/>
              </a:buClr>
              <a:buFont typeface="Arial"/>
              <a:buChar char="•"/>
              <a:tabLst>
                <a:tab pos="699135" algn="l"/>
              </a:tabLst>
            </a:pPr>
            <a:r>
              <a:rPr sz="2200" dirty="0">
                <a:latin typeface="Courier New" panose="02070309020205020404" pitchFamily="49" charset="0"/>
                <a:cs typeface="Courier New" panose="02070309020205020404" pitchFamily="49" charset="0"/>
              </a:rPr>
              <a:t>SA_SIGINFO</a:t>
            </a:r>
            <a:r>
              <a:rPr sz="2400" spc="-5" dirty="0">
                <a:latin typeface="Calibri"/>
                <a:cs typeface="Calibri"/>
              </a:rPr>
              <a:t>: uses </a:t>
            </a:r>
            <a:r>
              <a:rPr sz="2200" b="1" dirty="0">
                <a:solidFill>
                  <a:srgbClr val="0070C0"/>
                </a:solidFill>
                <a:latin typeface="Consolas"/>
              </a:rPr>
              <a:t>sa_sigaction</a:t>
            </a:r>
            <a:r>
              <a:rPr sz="2400" i="1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instead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200" b="1" dirty="0" err="1">
                <a:solidFill>
                  <a:srgbClr val="0070C0"/>
                </a:solidFill>
                <a:latin typeface="Consolas"/>
              </a:rPr>
              <a:t>sa_sighandler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The </a:t>
            </a:r>
            <a:r>
              <a:rPr sz="2600" dirty="0">
                <a:solidFill>
                  <a:srgbClr val="0070C0"/>
                </a:solidFill>
                <a:latin typeface="Consolas"/>
              </a:rPr>
              <a:t>sa_restorer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field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spc="-15" dirty="0">
                <a:latin typeface="Calibri"/>
                <a:cs typeface="Calibri"/>
              </a:rPr>
              <a:t>obsolete </a:t>
            </a:r>
            <a:r>
              <a:rPr sz="2800" spc="-5" dirty="0">
                <a:latin typeface="Calibri"/>
                <a:cs typeface="Calibri"/>
              </a:rPr>
              <a:t>and no </a:t>
            </a:r>
            <a:r>
              <a:rPr sz="2800" spc="-10" dirty="0">
                <a:latin typeface="Calibri"/>
                <a:cs typeface="Calibri"/>
              </a:rPr>
              <a:t>longer used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Linux</a:t>
            </a:r>
            <a:r>
              <a:rPr lang="en-US"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Clr>
                <a:schemeClr val="tx1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solidFill>
                  <a:srgbClr val="0070C0"/>
                </a:solidFill>
                <a:latin typeface="Consolas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sigaction()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returns </a:t>
            </a:r>
            <a:r>
              <a:rPr sz="2800" spc="-5" dirty="0">
                <a:latin typeface="Calibri"/>
                <a:cs typeface="Calibri"/>
              </a:rPr>
              <a:t>0 on </a:t>
            </a:r>
            <a:r>
              <a:rPr sz="2800" spc="-10" dirty="0">
                <a:latin typeface="Calibri"/>
                <a:cs typeface="Calibri"/>
              </a:rPr>
              <a:t>success</a:t>
            </a:r>
            <a:r>
              <a:rPr lang="en-US" sz="2800" spc="-10" dirty="0">
                <a:latin typeface="Calibri"/>
                <a:cs typeface="Calibri"/>
              </a:rPr>
              <a:t>;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lang="en-US" sz="2800" spc="-5" dirty="0">
                <a:cs typeface="Calibri"/>
              </a:rPr>
              <a:t>on </a:t>
            </a:r>
            <a:r>
              <a:rPr lang="en-US" sz="2800" spc="-20" dirty="0">
                <a:cs typeface="Calibri"/>
              </a:rPr>
              <a:t>failure, it returns </a:t>
            </a:r>
            <a:r>
              <a:rPr sz="2800" spc="-5" dirty="0">
                <a:latin typeface="Calibri"/>
                <a:cs typeface="Calibri"/>
              </a:rPr>
              <a:t>-1 and </a:t>
            </a:r>
            <a:r>
              <a:rPr sz="2800" spc="-10" dirty="0">
                <a:latin typeface="Calibri"/>
                <a:cs typeface="Calibri"/>
              </a:rPr>
              <a:t>sets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sz="2800" spc="-5" dirty="0">
                <a:latin typeface="Calibri"/>
                <a:cs typeface="Calibri"/>
              </a:rPr>
              <a:t>.</a:t>
            </a:r>
            <a:endParaRPr sz="2800" spc="-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11200"/>
            <a:ext cx="61125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The </a:t>
            </a:r>
            <a:r>
              <a:rPr sz="4200" dirty="0">
                <a:latin typeface="Consolas"/>
              </a:rPr>
              <a:t>siginfo_t</a:t>
            </a:r>
            <a:r>
              <a:rPr spc="-20" dirty="0"/>
              <a:t> </a:t>
            </a:r>
            <a:r>
              <a:rPr spc="-40" dirty="0"/>
              <a:t>Structure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0481"/>
            <a:ext cx="10231755" cy="1303562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25"/>
              </a:spcBef>
              <a:buFont typeface="Arial"/>
              <a:buChar char="•"/>
              <a:tabLst>
                <a:tab pos="241300" algn="l"/>
              </a:tabLst>
            </a:pP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</a:t>
            </a:r>
            <a:r>
              <a:rPr kumimoji="0" lang="en-US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siginfo_t</a:t>
            </a:r>
            <a:r>
              <a:rPr kumimoji="0" lang="en-US" sz="2400" b="0" i="1" u="none" strike="noStrike" kern="120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structure is defined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&lt;sys/signal.h&gt;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(POSIX only </a:t>
            </a:r>
            <a:r>
              <a:rPr sz="2400" spc="-10" dirty="0">
                <a:latin typeface="Calibri"/>
                <a:cs typeface="Calibri"/>
              </a:rPr>
              <a:t>guarantees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0" dirty="0">
                <a:latin typeface="Calibri"/>
                <a:cs typeface="Calibri"/>
              </a:rPr>
              <a:t>first </a:t>
            </a:r>
            <a:r>
              <a:rPr sz="2400" dirty="0">
                <a:latin typeface="Calibri"/>
                <a:cs typeface="Calibri"/>
              </a:rPr>
              <a:t>3 </a:t>
            </a:r>
            <a:r>
              <a:rPr sz="2400" spc="-5" dirty="0">
                <a:latin typeface="Calibri"/>
                <a:cs typeface="Calibri"/>
              </a:rPr>
              <a:t>fields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10" dirty="0">
                <a:latin typeface="Calibri"/>
                <a:cs typeface="Calibri"/>
              </a:rPr>
              <a:t>valid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lang="en-US" sz="2400" dirty="0">
                <a:latin typeface="Calibri"/>
                <a:cs typeface="Calibri"/>
              </a:rPr>
              <a:t> types of signals.</a:t>
            </a:r>
            <a:r>
              <a:rPr sz="2400" dirty="0">
                <a:latin typeface="Calibri"/>
                <a:cs typeface="Calibri"/>
              </a:rPr>
              <a:t>)</a:t>
            </a:r>
          </a:p>
          <a:p>
            <a:pPr marL="241300" indent="-228600">
              <a:lnSpc>
                <a:spcPct val="100000"/>
              </a:lnSpc>
              <a:spcBef>
                <a:spcPts val="4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Provides </a:t>
            </a:r>
            <a:r>
              <a:rPr sz="2400" spc="-15" dirty="0">
                <a:latin typeface="Calibri"/>
                <a:cs typeface="Calibri"/>
              </a:rPr>
              <a:t>info to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signal </a:t>
            </a:r>
            <a:r>
              <a:rPr sz="2400" spc="-30" dirty="0">
                <a:latin typeface="Calibri"/>
                <a:cs typeface="Calibri"/>
              </a:rPr>
              <a:t>handler,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200" b="1" dirty="0" err="1">
                <a:solidFill>
                  <a:srgbClr val="0070C0"/>
                </a:solidFill>
                <a:latin typeface="Consolas"/>
              </a:rPr>
              <a:t>sa_sigaction</a:t>
            </a:r>
            <a:r>
              <a:rPr lang="en-US" sz="2400" spc="-30" dirty="0">
                <a:latin typeface="Calibri"/>
                <a:cs typeface="Calibri"/>
              </a:rPr>
              <a:t>:</a:t>
            </a:r>
            <a:endParaRPr sz="2400" spc="-3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F03B3CF-2936-B5C7-720E-44A532952638}"/>
              </a:ext>
            </a:extLst>
          </p:cNvPr>
          <p:cNvGrpSpPr/>
          <p:nvPr/>
        </p:nvGrpSpPr>
        <p:grpSpPr>
          <a:xfrm>
            <a:off x="380999" y="2935224"/>
            <a:ext cx="11658601" cy="3493008"/>
            <a:chOff x="380999" y="2935224"/>
            <a:chExt cx="11658601" cy="3493008"/>
          </a:xfrm>
        </p:grpSpPr>
        <p:sp>
          <p:nvSpPr>
            <p:cNvPr id="5" name="object 5"/>
            <p:cNvSpPr txBox="1"/>
            <p:nvPr/>
          </p:nvSpPr>
          <p:spPr>
            <a:xfrm>
              <a:off x="5774055" y="3119979"/>
              <a:ext cx="6265545" cy="3154069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>
                <a:lnSpc>
                  <a:spcPts val="1800"/>
                </a:lnSpc>
                <a:spcBef>
                  <a:spcPts val="95"/>
                </a:spcBef>
              </a:pPr>
              <a:r>
                <a:rPr sz="1600" spc="-5" dirty="0">
                  <a:latin typeface="Wingdings"/>
                  <a:cs typeface="Wingdings"/>
                </a:rPr>
                <a:t></a:t>
              </a:r>
              <a:r>
                <a:rPr sz="1600" spc="-5" dirty="0">
                  <a:latin typeface="Times New Roman"/>
                  <a:cs typeface="Times New Roman"/>
                </a:rPr>
                <a:t> </a:t>
              </a:r>
              <a:r>
                <a:rPr lang="en-US" sz="1600" spc="-10" dirty="0">
                  <a:latin typeface="Calibri"/>
                  <a:cs typeface="Calibri"/>
                </a:rPr>
                <a:t>Same</a:t>
              </a:r>
              <a:r>
                <a:rPr sz="1600" spc="-10" dirty="0">
                  <a:latin typeface="Calibri"/>
                  <a:cs typeface="Calibri"/>
                </a:rPr>
                <a:t> </a:t>
              </a:r>
              <a:r>
                <a:rPr sz="1600" spc="-5" dirty="0">
                  <a:latin typeface="Calibri"/>
                  <a:cs typeface="Calibri"/>
                </a:rPr>
                <a:t>as the </a:t>
              </a:r>
              <a:r>
                <a:rPr sz="1600" spc="-15" dirty="0">
                  <a:latin typeface="Calibri"/>
                  <a:cs typeface="Calibri"/>
                </a:rPr>
                <a:t>first </a:t>
              </a:r>
              <a:r>
                <a:rPr sz="1600" spc="-10" dirty="0">
                  <a:latin typeface="Calibri"/>
                  <a:cs typeface="Calibri"/>
                </a:rPr>
                <a:t>argument </a:t>
              </a:r>
              <a:r>
                <a:rPr lang="en-US" sz="1600" spc="-5" dirty="0">
                  <a:latin typeface="Calibri"/>
                  <a:cs typeface="Calibri"/>
                </a:rPr>
                <a:t>to</a:t>
              </a:r>
              <a:r>
                <a:rPr sz="1600" spc="5" dirty="0">
                  <a:latin typeface="Calibri"/>
                  <a:cs typeface="Calibri"/>
                </a:rPr>
                <a:t> </a:t>
              </a:r>
              <a:r>
                <a:rPr sz="1400" b="1" spc="-10" dirty="0" err="1">
                  <a:solidFill>
                    <a:srgbClr val="0070C0"/>
                  </a:solidFill>
                  <a:latin typeface="Consolas" panose="020B0609020204030204" pitchFamily="49" charset="0"/>
                  <a:cs typeface="Calibri"/>
                </a:rPr>
                <a:t>sa_sigaction</a:t>
              </a:r>
              <a:r>
                <a:rPr lang="en-US" sz="1600" spc="-10" dirty="0">
                  <a:latin typeface="Calibri"/>
                  <a:cs typeface="Calibri"/>
                </a:rPr>
                <a:t>.</a:t>
              </a:r>
              <a:endParaRPr sz="1600" spc="-10" dirty="0">
                <a:latin typeface="Calibri"/>
                <a:cs typeface="Calibri"/>
              </a:endParaRPr>
            </a:p>
            <a:p>
              <a:pPr>
                <a:lnSpc>
                  <a:spcPts val="1685"/>
                </a:lnSpc>
              </a:pPr>
              <a:r>
                <a:rPr sz="1600" spc="-5" dirty="0">
                  <a:latin typeface="Wingdings"/>
                  <a:cs typeface="Wingdings"/>
                </a:rPr>
                <a:t></a:t>
              </a:r>
              <a:r>
                <a:rPr sz="1600" spc="-5" dirty="0">
                  <a:latin typeface="Times New Roman"/>
                  <a:cs typeface="Times New Roman"/>
                </a:rPr>
                <a:t> </a:t>
              </a:r>
              <a:r>
                <a:rPr sz="1600" spc="-5" dirty="0">
                  <a:latin typeface="Calibri"/>
                  <a:cs typeface="Calibri"/>
                </a:rPr>
                <a:t>If </a:t>
              </a:r>
              <a:r>
                <a:rPr sz="1600" spc="-20" dirty="0">
                  <a:latin typeface="Calibri"/>
                  <a:cs typeface="Calibri"/>
                </a:rPr>
                <a:t>nonzero, </a:t>
              </a:r>
              <a:r>
                <a:rPr lang="en-US" sz="1600" spc="-20" dirty="0">
                  <a:latin typeface="Calibri"/>
                  <a:cs typeface="Calibri"/>
                </a:rPr>
                <a:t>will contain </a:t>
              </a:r>
              <a:r>
                <a:rPr sz="1600" spc="-5" dirty="0">
                  <a:latin typeface="Calibri"/>
                  <a:cs typeface="Calibri"/>
                </a:rPr>
                <a:t>the </a:t>
              </a:r>
              <a:r>
                <a:rPr sz="1600" spc="-15" dirty="0">
                  <a:latin typeface="Calibri"/>
                  <a:cs typeface="Calibri"/>
                </a:rPr>
                <a:t>error </a:t>
              </a:r>
              <a:r>
                <a:rPr sz="1600" spc="-10" dirty="0">
                  <a:latin typeface="Calibri"/>
                  <a:cs typeface="Calibri"/>
                </a:rPr>
                <a:t>code </a:t>
              </a:r>
              <a:r>
                <a:rPr sz="1600" spc="-5" dirty="0">
                  <a:latin typeface="Calibri"/>
                  <a:cs typeface="Calibri"/>
                </a:rPr>
                <a:t>associated with this</a:t>
              </a:r>
              <a:r>
                <a:rPr sz="1600" spc="65" dirty="0">
                  <a:latin typeface="Calibri"/>
                  <a:cs typeface="Calibri"/>
                </a:rPr>
                <a:t> </a:t>
              </a:r>
              <a:r>
                <a:rPr sz="1600" spc="-5" dirty="0">
                  <a:latin typeface="Calibri"/>
                  <a:cs typeface="Calibri"/>
                </a:rPr>
                <a:t>signal</a:t>
              </a:r>
              <a:r>
                <a:rPr lang="en-US" sz="1600" spc="-5" dirty="0">
                  <a:latin typeface="Calibri"/>
                  <a:cs typeface="Calibri"/>
                </a:rPr>
                <a:t>.</a:t>
              </a:r>
              <a:endParaRPr sz="1600" dirty="0">
                <a:latin typeface="Calibri"/>
                <a:cs typeface="Calibri"/>
              </a:endParaRPr>
            </a:p>
            <a:p>
              <a:pPr>
                <a:lnSpc>
                  <a:spcPts val="1800"/>
                </a:lnSpc>
              </a:pPr>
              <a:r>
                <a:rPr sz="1600" spc="-5" dirty="0">
                  <a:latin typeface="Wingdings"/>
                  <a:cs typeface="Wingdings"/>
                </a:rPr>
                <a:t></a:t>
              </a:r>
              <a:r>
                <a:rPr sz="1600" spc="-5" dirty="0">
                  <a:latin typeface="Times New Roman"/>
                  <a:cs typeface="Times New Roman"/>
                </a:rPr>
                <a:t> </a:t>
              </a:r>
              <a:r>
                <a:rPr sz="1600" spc="-5" dirty="0">
                  <a:latin typeface="Calibri"/>
                  <a:cs typeface="Calibri"/>
                </a:rPr>
                <a:t>An </a:t>
              </a:r>
              <a:r>
                <a:rPr sz="1600" spc="-10" dirty="0">
                  <a:latin typeface="Calibri"/>
                  <a:cs typeface="Calibri"/>
                </a:rPr>
                <a:t>explanation </a:t>
              </a:r>
              <a:r>
                <a:rPr sz="1600" spc="-5" dirty="0">
                  <a:latin typeface="Calibri"/>
                  <a:cs typeface="Calibri"/>
                </a:rPr>
                <a:t>of </a:t>
              </a:r>
              <a:r>
                <a:rPr sz="1600" spc="-10" dirty="0">
                  <a:latin typeface="Calibri"/>
                  <a:cs typeface="Calibri"/>
                </a:rPr>
                <a:t>why/where </a:t>
              </a:r>
              <a:r>
                <a:rPr sz="1600" spc="-5" dirty="0">
                  <a:latin typeface="Calibri"/>
                  <a:cs typeface="Calibri"/>
                </a:rPr>
                <a:t>the </a:t>
              </a:r>
              <a:r>
                <a:rPr sz="1600" spc="-15" dirty="0">
                  <a:latin typeface="Calibri"/>
                  <a:cs typeface="Calibri"/>
                </a:rPr>
                <a:t>process </a:t>
              </a:r>
              <a:r>
                <a:rPr sz="1600" spc="-10" dirty="0">
                  <a:latin typeface="Calibri"/>
                  <a:cs typeface="Calibri"/>
                </a:rPr>
                <a:t>received </a:t>
              </a:r>
              <a:r>
                <a:rPr sz="1600" spc="-5" dirty="0">
                  <a:latin typeface="Calibri"/>
                  <a:cs typeface="Calibri"/>
                </a:rPr>
                <a:t>the</a:t>
              </a:r>
              <a:r>
                <a:rPr sz="1600" spc="95" dirty="0">
                  <a:latin typeface="Calibri"/>
                  <a:cs typeface="Calibri"/>
                </a:rPr>
                <a:t> </a:t>
              </a:r>
              <a:r>
                <a:rPr sz="1600" spc="-5" dirty="0">
                  <a:latin typeface="Calibri"/>
                  <a:cs typeface="Calibri"/>
                </a:rPr>
                <a:t>signal</a:t>
              </a:r>
              <a:r>
                <a:rPr lang="en-US" sz="1600" spc="-5" dirty="0">
                  <a:latin typeface="Calibri"/>
                  <a:cs typeface="Calibri"/>
                </a:rPr>
                <a:t>.</a:t>
              </a:r>
              <a:endParaRPr sz="1600" dirty="0">
                <a:latin typeface="Calibri"/>
                <a:cs typeface="Calibri"/>
              </a:endParaRPr>
            </a:p>
            <a:p>
              <a:pPr>
                <a:lnSpc>
                  <a:spcPts val="1870"/>
                </a:lnSpc>
              </a:pPr>
              <a:r>
                <a:rPr sz="1600" spc="-5" dirty="0">
                  <a:latin typeface="Wingdings"/>
                  <a:cs typeface="Wingdings"/>
                </a:rPr>
                <a:t></a:t>
              </a:r>
              <a:r>
                <a:rPr sz="1600" spc="-5" dirty="0">
                  <a:latin typeface="Times New Roman"/>
                  <a:cs typeface="Times New Roman"/>
                </a:rPr>
                <a:t> </a:t>
              </a:r>
              <a:r>
                <a:rPr sz="1600" spc="-15" dirty="0">
                  <a:latin typeface="Calibri"/>
                  <a:cs typeface="Calibri"/>
                </a:rPr>
                <a:t>For </a:t>
              </a:r>
              <a:r>
                <a:rPr sz="1400" b="1" spc="-1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SIGCHLD</a:t>
              </a:r>
              <a:r>
                <a:rPr sz="1600" spc="-10" dirty="0">
                  <a:latin typeface="Calibri"/>
                  <a:cs typeface="Calibri"/>
                </a:rPr>
                <a:t>, </a:t>
              </a:r>
              <a:r>
                <a:rPr sz="1600" dirty="0">
                  <a:latin typeface="Calibri"/>
                  <a:cs typeface="Calibri"/>
                </a:rPr>
                <a:t>the </a:t>
              </a:r>
              <a:r>
                <a:rPr sz="1400" spc="-10" dirty="0">
                  <a:solidFill>
                    <a:srgbClr val="0070C0"/>
                  </a:solidFill>
                  <a:latin typeface="Consolas" panose="020B0609020204030204" pitchFamily="49" charset="0"/>
                  <a:cs typeface="Calibri"/>
                </a:rPr>
                <a:t>pid</a:t>
              </a:r>
              <a:r>
                <a:rPr sz="1600" spc="-5" dirty="0">
                  <a:latin typeface="Calibri"/>
                  <a:cs typeface="Calibri"/>
                </a:rPr>
                <a:t> of the </a:t>
              </a:r>
              <a:r>
                <a:rPr sz="1600" spc="-10" dirty="0">
                  <a:latin typeface="Calibri"/>
                  <a:cs typeface="Calibri"/>
                </a:rPr>
                <a:t>process </a:t>
              </a:r>
              <a:r>
                <a:rPr sz="1600" spc="-5" dirty="0">
                  <a:latin typeface="Calibri"/>
                  <a:cs typeface="Calibri"/>
                </a:rPr>
                <a:t>that</a:t>
              </a:r>
              <a:r>
                <a:rPr sz="1600" spc="40" dirty="0">
                  <a:latin typeface="Calibri"/>
                  <a:cs typeface="Calibri"/>
                </a:rPr>
                <a:t> </a:t>
              </a:r>
              <a:r>
                <a:rPr sz="1600" spc="-10" dirty="0">
                  <a:latin typeface="Calibri"/>
                  <a:cs typeface="Calibri"/>
                </a:rPr>
                <a:t>terminated</a:t>
              </a:r>
              <a:r>
                <a:rPr lang="en-US" sz="1600" spc="-10" dirty="0">
                  <a:latin typeface="Calibri"/>
                  <a:cs typeface="Calibri"/>
                </a:rPr>
                <a:t>.</a:t>
              </a:r>
              <a:endParaRPr sz="1600" dirty="0">
                <a:latin typeface="Calibri"/>
                <a:cs typeface="Calibri"/>
              </a:endParaRPr>
            </a:p>
            <a:p>
              <a:pPr>
                <a:lnSpc>
                  <a:spcPts val="1685"/>
                </a:lnSpc>
              </a:pPr>
              <a:r>
                <a:rPr sz="1600" spc="-5" dirty="0">
                  <a:latin typeface="Wingdings"/>
                  <a:cs typeface="Wingdings"/>
                </a:rPr>
                <a:t></a:t>
              </a:r>
              <a:r>
                <a:rPr sz="1600" spc="-5" dirty="0">
                  <a:latin typeface="Times New Roman"/>
                  <a:cs typeface="Times New Roman"/>
                </a:rPr>
                <a:t> </a:t>
              </a:r>
              <a:r>
                <a:rPr sz="1600" spc="-15" dirty="0">
                  <a:latin typeface="Calibri"/>
                  <a:cs typeface="Calibri"/>
                </a:rPr>
                <a:t>For </a:t>
              </a:r>
              <a:r>
                <a:rPr sz="1400" b="1" spc="-1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SIGCHLD</a:t>
              </a:r>
              <a:r>
                <a:rPr sz="1600" spc="-10" dirty="0">
                  <a:latin typeface="Calibri"/>
                  <a:cs typeface="Calibri"/>
                </a:rPr>
                <a:t>, </a:t>
              </a:r>
              <a:r>
                <a:rPr sz="1600" spc="-5" dirty="0">
                  <a:latin typeface="Calibri"/>
                  <a:cs typeface="Calibri"/>
                </a:rPr>
                <a:t>the owner </a:t>
              </a:r>
              <a:r>
                <a:rPr sz="1400" spc="-10" dirty="0">
                  <a:solidFill>
                    <a:srgbClr val="0070C0"/>
                  </a:solidFill>
                  <a:latin typeface="Consolas" panose="020B0609020204030204" pitchFamily="49" charset="0"/>
                  <a:cs typeface="Calibri"/>
                </a:rPr>
                <a:t>uid</a:t>
              </a:r>
              <a:r>
                <a:rPr sz="1600" spc="-5" dirty="0">
                  <a:latin typeface="Calibri"/>
                  <a:cs typeface="Calibri"/>
                </a:rPr>
                <a:t> of the </a:t>
              </a:r>
              <a:r>
                <a:rPr sz="1600" spc="-15" dirty="0">
                  <a:latin typeface="Calibri"/>
                  <a:cs typeface="Calibri"/>
                </a:rPr>
                <a:t>process </a:t>
              </a:r>
              <a:r>
                <a:rPr sz="1600" spc="-10" dirty="0">
                  <a:latin typeface="Calibri"/>
                  <a:cs typeface="Calibri"/>
                </a:rPr>
                <a:t>that</a:t>
              </a:r>
              <a:r>
                <a:rPr sz="1600" spc="150" dirty="0">
                  <a:latin typeface="Calibri"/>
                  <a:cs typeface="Calibri"/>
                </a:rPr>
                <a:t> </a:t>
              </a:r>
              <a:r>
                <a:rPr sz="1600" spc="-10" dirty="0">
                  <a:latin typeface="Calibri"/>
                  <a:cs typeface="Calibri"/>
                </a:rPr>
                <a:t>terminated</a:t>
              </a:r>
              <a:r>
                <a:rPr lang="en-US" sz="1600" spc="-10" dirty="0">
                  <a:latin typeface="Calibri"/>
                  <a:cs typeface="Calibri"/>
                </a:rPr>
                <a:t>.</a:t>
              </a:r>
              <a:endParaRPr sz="1600" dirty="0">
                <a:latin typeface="Calibri"/>
                <a:cs typeface="Calibri"/>
              </a:endParaRPr>
            </a:p>
            <a:p>
              <a:pPr>
                <a:lnSpc>
                  <a:spcPts val="1689"/>
                </a:lnSpc>
              </a:pPr>
              <a:r>
                <a:rPr sz="1600" spc="-5" dirty="0">
                  <a:latin typeface="Wingdings"/>
                  <a:cs typeface="Wingdings"/>
                </a:rPr>
                <a:t></a:t>
              </a:r>
              <a:r>
                <a:rPr sz="1600" spc="-5" dirty="0">
                  <a:latin typeface="Times New Roman"/>
                  <a:cs typeface="Times New Roman"/>
                </a:rPr>
                <a:t> </a:t>
              </a:r>
              <a:r>
                <a:rPr sz="1600" spc="-15" dirty="0">
                  <a:latin typeface="Calibri"/>
                  <a:cs typeface="Calibri"/>
                </a:rPr>
                <a:t>For </a:t>
              </a:r>
              <a:r>
                <a:rPr sz="1400" b="1" spc="-1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SIGCHLD</a:t>
              </a:r>
              <a:r>
                <a:rPr sz="1600" spc="-10" dirty="0">
                  <a:latin typeface="Calibri"/>
                  <a:cs typeface="Calibri"/>
                </a:rPr>
                <a:t>, </a:t>
              </a:r>
              <a:r>
                <a:rPr sz="1600" spc="-5" dirty="0">
                  <a:latin typeface="Calibri"/>
                  <a:cs typeface="Calibri"/>
                </a:rPr>
                <a:t>the </a:t>
              </a:r>
              <a:r>
                <a:rPr sz="1600" spc="-10" dirty="0">
                  <a:latin typeface="Calibri"/>
                  <a:cs typeface="Calibri"/>
                </a:rPr>
                <a:t>exit status </a:t>
              </a:r>
              <a:r>
                <a:rPr sz="1600" spc="-5" dirty="0">
                  <a:latin typeface="Calibri"/>
                  <a:cs typeface="Calibri"/>
                </a:rPr>
                <a:t>of the </a:t>
              </a:r>
              <a:r>
                <a:rPr sz="1600" spc="-10" dirty="0">
                  <a:latin typeface="Calibri"/>
                  <a:cs typeface="Calibri"/>
                </a:rPr>
                <a:t>process </a:t>
              </a:r>
              <a:r>
                <a:rPr sz="1600" spc="-5" dirty="0">
                  <a:latin typeface="Calibri"/>
                  <a:cs typeface="Calibri"/>
                </a:rPr>
                <a:t>that</a:t>
              </a:r>
              <a:r>
                <a:rPr sz="1600" spc="35" dirty="0">
                  <a:latin typeface="Calibri"/>
                  <a:cs typeface="Calibri"/>
                </a:rPr>
                <a:t> </a:t>
              </a:r>
              <a:r>
                <a:rPr sz="1600" spc="-5" dirty="0">
                  <a:latin typeface="Calibri"/>
                  <a:cs typeface="Calibri"/>
                </a:rPr>
                <a:t>terminated</a:t>
              </a:r>
              <a:r>
                <a:rPr lang="en-US" sz="1600" spc="-5" dirty="0">
                  <a:latin typeface="Calibri"/>
                  <a:cs typeface="Calibri"/>
                </a:rPr>
                <a:t>.</a:t>
              </a:r>
              <a:endParaRPr sz="1600" dirty="0">
                <a:latin typeface="Calibri"/>
                <a:cs typeface="Calibri"/>
              </a:endParaRPr>
            </a:p>
            <a:p>
              <a:pPr>
                <a:lnSpc>
                  <a:spcPts val="1825"/>
                </a:lnSpc>
              </a:pPr>
              <a:r>
                <a:rPr sz="1600" spc="-5" dirty="0">
                  <a:latin typeface="Wingdings"/>
                  <a:cs typeface="Wingdings"/>
                </a:rPr>
                <a:t></a:t>
              </a:r>
              <a:r>
                <a:rPr sz="1600" spc="-5" dirty="0">
                  <a:latin typeface="Times New Roman"/>
                  <a:cs typeface="Times New Roman"/>
                </a:rPr>
                <a:t> </a:t>
              </a:r>
              <a:r>
                <a:rPr sz="1600" spc="-15" dirty="0">
                  <a:latin typeface="Calibri"/>
                  <a:cs typeface="Calibri"/>
                </a:rPr>
                <a:t>For </a:t>
              </a:r>
              <a:r>
                <a:rPr sz="1400" b="1" spc="-1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SIGCHLD</a:t>
              </a:r>
              <a:r>
                <a:rPr sz="1600" spc="-10" dirty="0">
                  <a:latin typeface="Calibri"/>
                  <a:cs typeface="Calibri"/>
                </a:rPr>
                <a:t>, </a:t>
              </a:r>
              <a:r>
                <a:rPr sz="1600" spc="-5" dirty="0">
                  <a:latin typeface="Calibri"/>
                  <a:cs typeface="Calibri"/>
                </a:rPr>
                <a:t>the user time </a:t>
              </a:r>
              <a:r>
                <a:rPr sz="1600" spc="-10" dirty="0">
                  <a:latin typeface="Calibri"/>
                  <a:cs typeface="Calibri"/>
                </a:rPr>
                <a:t>consumed </a:t>
              </a:r>
              <a:r>
                <a:rPr sz="1600" spc="-5" dirty="0">
                  <a:latin typeface="Calibri"/>
                  <a:cs typeface="Calibri"/>
                </a:rPr>
                <a:t>of the </a:t>
              </a:r>
              <a:r>
                <a:rPr sz="1600" spc="-10" dirty="0">
                  <a:latin typeface="Calibri"/>
                  <a:cs typeface="Calibri"/>
                </a:rPr>
                <a:t>process </a:t>
              </a:r>
              <a:r>
                <a:rPr sz="1600" spc="-5" dirty="0">
                  <a:latin typeface="Calibri"/>
                  <a:cs typeface="Calibri"/>
                </a:rPr>
                <a:t>that</a:t>
              </a:r>
              <a:r>
                <a:rPr sz="1600" spc="120" dirty="0">
                  <a:latin typeface="Calibri"/>
                  <a:cs typeface="Calibri"/>
                </a:rPr>
                <a:t> </a:t>
              </a:r>
              <a:r>
                <a:rPr sz="1600" spc="-5" dirty="0">
                  <a:latin typeface="Calibri"/>
                  <a:cs typeface="Calibri"/>
                </a:rPr>
                <a:t>terminated</a:t>
              </a:r>
              <a:r>
                <a:rPr lang="en-US" sz="1600" spc="-5" dirty="0">
                  <a:latin typeface="Calibri"/>
                  <a:cs typeface="Calibri"/>
                </a:rPr>
                <a:t>.</a:t>
              </a:r>
              <a:endParaRPr sz="1600" dirty="0">
                <a:latin typeface="Calibri"/>
                <a:cs typeface="Calibri"/>
              </a:endParaRPr>
            </a:p>
            <a:p>
              <a:pPr>
                <a:lnSpc>
                  <a:spcPts val="1660"/>
                </a:lnSpc>
              </a:pPr>
              <a:r>
                <a:rPr sz="1600" spc="-5" dirty="0">
                  <a:latin typeface="Wingdings"/>
                  <a:cs typeface="Wingdings"/>
                </a:rPr>
                <a:t></a:t>
              </a:r>
              <a:r>
                <a:rPr sz="1600" spc="-5" dirty="0">
                  <a:latin typeface="Times New Roman"/>
                  <a:cs typeface="Times New Roman"/>
                </a:rPr>
                <a:t> </a:t>
              </a:r>
              <a:r>
                <a:rPr sz="1600" spc="-15" dirty="0">
                  <a:latin typeface="Calibri"/>
                  <a:cs typeface="Calibri"/>
                </a:rPr>
                <a:t>For </a:t>
              </a:r>
              <a:r>
                <a:rPr sz="1400" b="1" spc="-1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SIGCHLD</a:t>
              </a:r>
              <a:r>
                <a:rPr sz="1600" spc="-10" dirty="0">
                  <a:latin typeface="Calibri"/>
                  <a:cs typeface="Calibri"/>
                </a:rPr>
                <a:t>, </a:t>
              </a:r>
              <a:r>
                <a:rPr sz="1600" spc="-5" dirty="0">
                  <a:latin typeface="Calibri"/>
                  <a:cs typeface="Calibri"/>
                </a:rPr>
                <a:t>the </a:t>
              </a:r>
              <a:r>
                <a:rPr sz="1600" spc="-15" dirty="0">
                  <a:latin typeface="Calibri"/>
                  <a:cs typeface="Calibri"/>
                </a:rPr>
                <a:t>system </a:t>
              </a:r>
              <a:r>
                <a:rPr sz="1600" spc="-5" dirty="0">
                  <a:latin typeface="Calibri"/>
                  <a:cs typeface="Calibri"/>
                </a:rPr>
                <a:t>time </a:t>
              </a:r>
              <a:r>
                <a:rPr sz="1600" spc="-10" dirty="0">
                  <a:latin typeface="Calibri"/>
                  <a:cs typeface="Calibri"/>
                </a:rPr>
                <a:t>consumed </a:t>
              </a:r>
              <a:r>
                <a:rPr sz="1600" spc="-5" dirty="0">
                  <a:latin typeface="Calibri"/>
                  <a:cs typeface="Calibri"/>
                </a:rPr>
                <a:t>of the </a:t>
              </a:r>
              <a:r>
                <a:rPr sz="1600" spc="-10" dirty="0">
                  <a:latin typeface="Calibri"/>
                  <a:cs typeface="Calibri"/>
                </a:rPr>
                <a:t>process </a:t>
              </a:r>
              <a:r>
                <a:rPr sz="1600" spc="-5" dirty="0">
                  <a:latin typeface="Calibri"/>
                  <a:cs typeface="Calibri"/>
                </a:rPr>
                <a:t>that</a:t>
              </a:r>
              <a:r>
                <a:rPr sz="1600" spc="120" dirty="0">
                  <a:latin typeface="Calibri"/>
                  <a:cs typeface="Calibri"/>
                </a:rPr>
                <a:t> </a:t>
              </a:r>
              <a:r>
                <a:rPr sz="1600" spc="-5" dirty="0">
                  <a:latin typeface="Calibri"/>
                  <a:cs typeface="Calibri"/>
                </a:rPr>
                <a:t>terminated</a:t>
              </a:r>
              <a:r>
                <a:rPr lang="en-US" sz="1600" spc="-5" dirty="0">
                  <a:latin typeface="Calibri"/>
                  <a:cs typeface="Calibri"/>
                </a:rPr>
                <a:t>.</a:t>
              </a:r>
              <a:endParaRPr sz="1600" dirty="0">
                <a:latin typeface="Calibri"/>
                <a:cs typeface="Calibri"/>
              </a:endParaRPr>
            </a:p>
            <a:p>
              <a:pPr>
                <a:lnSpc>
                  <a:spcPts val="1580"/>
                </a:lnSpc>
              </a:pPr>
              <a:r>
                <a:rPr sz="1600" spc="-5" dirty="0">
                  <a:latin typeface="Wingdings"/>
                  <a:cs typeface="Wingdings"/>
                </a:rPr>
                <a:t></a:t>
              </a:r>
              <a:r>
                <a:rPr sz="1600" spc="-5" dirty="0">
                  <a:latin typeface="Times New Roman"/>
                  <a:cs typeface="Times New Roman"/>
                </a:rPr>
                <a:t> </a:t>
              </a:r>
              <a:r>
                <a:rPr sz="1600" spc="-5" dirty="0">
                  <a:latin typeface="Calibri"/>
                  <a:cs typeface="Calibri"/>
                </a:rPr>
                <a:t>A union of </a:t>
              </a:r>
              <a:r>
                <a:rPr sz="1400" spc="-10" dirty="0">
                  <a:solidFill>
                    <a:srgbClr val="0070C0"/>
                  </a:solidFill>
                  <a:latin typeface="Consolas" panose="020B0609020204030204" pitchFamily="49" charset="0"/>
                  <a:cs typeface="Calibri"/>
                </a:rPr>
                <a:t>si_int</a:t>
              </a:r>
              <a:r>
                <a:rPr sz="1600" spc="-10" dirty="0">
                  <a:latin typeface="Calibri"/>
                  <a:cs typeface="Calibri"/>
                </a:rPr>
                <a:t> </a:t>
              </a:r>
              <a:r>
                <a:rPr sz="1600" spc="-5" dirty="0">
                  <a:latin typeface="Calibri"/>
                  <a:cs typeface="Calibri"/>
                </a:rPr>
                <a:t>and</a:t>
              </a:r>
              <a:r>
                <a:rPr sz="1600" spc="-50" dirty="0">
                  <a:latin typeface="Calibri"/>
                  <a:cs typeface="Calibri"/>
                </a:rPr>
                <a:t> </a:t>
              </a:r>
              <a:r>
                <a:rPr sz="1400" spc="-10" dirty="0" err="1">
                  <a:solidFill>
                    <a:srgbClr val="0070C0"/>
                  </a:solidFill>
                  <a:latin typeface="Consolas" panose="020B0609020204030204" pitchFamily="49" charset="0"/>
                  <a:cs typeface="Calibri"/>
                </a:rPr>
                <a:t>si_ptr</a:t>
              </a:r>
              <a:r>
                <a:rPr lang="en-US" sz="1600" spc="-5" dirty="0">
                  <a:latin typeface="Calibri"/>
                  <a:cs typeface="Calibri"/>
                </a:rPr>
                <a:t>.</a:t>
              </a:r>
              <a:endParaRPr sz="1600" spc="-5" dirty="0">
                <a:latin typeface="Calibri"/>
                <a:cs typeface="Calibri"/>
              </a:endParaRPr>
            </a:p>
            <a:p>
              <a:pPr>
                <a:lnSpc>
                  <a:spcPts val="1635"/>
                </a:lnSpc>
              </a:pPr>
              <a:r>
                <a:rPr sz="1600" spc="-5" dirty="0">
                  <a:latin typeface="Wingdings"/>
                  <a:cs typeface="Wingdings"/>
                </a:rPr>
                <a:t></a:t>
              </a:r>
              <a:r>
                <a:rPr sz="1600" spc="-5" dirty="0">
                  <a:latin typeface="Times New Roman"/>
                  <a:cs typeface="Times New Roman"/>
                </a:rPr>
                <a:t> </a:t>
              </a:r>
              <a:r>
                <a:rPr sz="1600" spc="-10" dirty="0">
                  <a:latin typeface="Calibri"/>
                  <a:cs typeface="Calibri"/>
                </a:rPr>
                <a:t>Payload</a:t>
              </a:r>
              <a:r>
                <a:rPr lang="en-US" sz="1600" spc="-10" dirty="0">
                  <a:latin typeface="Calibri"/>
                  <a:cs typeface="Calibri"/>
                </a:rPr>
                <a:t> (data you wish to pass)</a:t>
              </a:r>
              <a:r>
                <a:rPr sz="1600" spc="-10" dirty="0">
                  <a:latin typeface="Calibri"/>
                  <a:cs typeface="Calibri"/>
                </a:rPr>
                <a:t> </a:t>
              </a:r>
              <a:r>
                <a:rPr lang="en-US" sz="1600" spc="-5" dirty="0">
                  <a:latin typeface="Calibri"/>
                  <a:cs typeface="Calibri"/>
                </a:rPr>
                <a:t>in a form of </a:t>
              </a:r>
              <a:r>
                <a:rPr sz="1600" spc="-5" dirty="0">
                  <a:latin typeface="Calibri"/>
                  <a:cs typeface="Calibri"/>
                </a:rPr>
                <a:t>an</a:t>
              </a:r>
              <a:r>
                <a:rPr sz="1600" spc="-45" dirty="0">
                  <a:latin typeface="Calibri"/>
                  <a:cs typeface="Calibri"/>
                </a:rPr>
                <a:t> </a:t>
              </a:r>
              <a:r>
                <a:rPr sz="1600" spc="-10" dirty="0">
                  <a:latin typeface="Calibri"/>
                  <a:cs typeface="Calibri"/>
                </a:rPr>
                <a:t>integer</a:t>
              </a:r>
              <a:r>
                <a:rPr lang="en-US" sz="1600" spc="-10" dirty="0">
                  <a:latin typeface="Calibri"/>
                  <a:cs typeface="Calibri"/>
                </a:rPr>
                <a:t>.</a:t>
              </a:r>
              <a:endParaRPr sz="1600" dirty="0">
                <a:latin typeface="Calibri"/>
                <a:cs typeface="Calibri"/>
              </a:endParaRPr>
            </a:p>
            <a:p>
              <a:pPr>
                <a:lnSpc>
                  <a:spcPts val="1764"/>
                </a:lnSpc>
              </a:pPr>
              <a:r>
                <a:rPr sz="1600" spc="-5" dirty="0">
                  <a:latin typeface="Wingdings"/>
                  <a:cs typeface="Wingdings"/>
                </a:rPr>
                <a:t></a:t>
              </a:r>
              <a:r>
                <a:rPr sz="1600" spc="-5" dirty="0">
                  <a:latin typeface="Times New Roman"/>
                  <a:cs typeface="Times New Roman"/>
                </a:rPr>
                <a:t> </a:t>
              </a:r>
              <a:r>
                <a:rPr sz="1600" spc="-15" dirty="0">
                  <a:latin typeface="Calibri"/>
                  <a:cs typeface="Calibri"/>
                </a:rPr>
                <a:t>Payload </a:t>
              </a:r>
              <a:r>
                <a:rPr lang="en-US" sz="1600" spc="-10" dirty="0">
                  <a:latin typeface="Calibri"/>
                  <a:cs typeface="Calibri"/>
                </a:rPr>
                <a:t>(data you wish to pass) </a:t>
              </a:r>
              <a:r>
                <a:rPr lang="en-US" sz="1600" spc="-5" dirty="0">
                  <a:latin typeface="Calibri"/>
                  <a:cs typeface="Calibri"/>
                </a:rPr>
                <a:t>in a form of </a:t>
              </a:r>
              <a:r>
                <a:rPr sz="1600" spc="-5" dirty="0">
                  <a:latin typeface="Calibri"/>
                  <a:cs typeface="Calibri"/>
                </a:rPr>
                <a:t>a </a:t>
              </a:r>
              <a:r>
                <a:rPr sz="1600" spc="-10" dirty="0">
                  <a:latin typeface="Calibri"/>
                  <a:cs typeface="Calibri"/>
                </a:rPr>
                <a:t>void</a:t>
              </a:r>
              <a:r>
                <a:rPr sz="1600" spc="-25" dirty="0">
                  <a:latin typeface="Calibri"/>
                  <a:cs typeface="Calibri"/>
                </a:rPr>
                <a:t> </a:t>
              </a:r>
              <a:r>
                <a:rPr sz="1600" spc="-10" dirty="0">
                  <a:latin typeface="Calibri"/>
                  <a:cs typeface="Calibri"/>
                </a:rPr>
                <a:t>pointer</a:t>
              </a:r>
              <a:r>
                <a:rPr lang="en-US" sz="1600" spc="-10" dirty="0">
                  <a:latin typeface="Calibri"/>
                  <a:cs typeface="Calibri"/>
                </a:rPr>
                <a:t>.</a:t>
              </a:r>
              <a:endParaRPr lang="en-US" sz="1600" dirty="0">
                <a:latin typeface="Calibri"/>
                <a:cs typeface="Calibri"/>
              </a:endParaRPr>
            </a:p>
            <a:p>
              <a:pPr>
                <a:lnSpc>
                  <a:spcPts val="1764"/>
                </a:lnSpc>
              </a:pPr>
              <a:r>
                <a:rPr lang="en-US" sz="1600" spc="-5" dirty="0">
                  <a:latin typeface="Calibri"/>
                  <a:cs typeface="Calibri"/>
                </a:rPr>
                <a:t>               </a:t>
              </a:r>
              <a:r>
                <a:rPr lang="en-US" sz="1600" spc="-5" dirty="0">
                  <a:latin typeface="Calibri"/>
                  <a:cs typeface="Calibri"/>
                  <a:sym typeface="Wingdings" panose="05000000000000000000" pitchFamily="2" charset="2"/>
                </a:rPr>
                <a:t> For </a:t>
              </a:r>
              <a:r>
                <a:rPr lang="en-US" sz="1400" b="1" spc="-1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SIGBUS</a:t>
              </a:r>
              <a:r>
                <a:rPr lang="en-US" sz="1600" spc="-5" dirty="0">
                  <a:latin typeface="Calibri"/>
                  <a:cs typeface="Calibri"/>
                </a:rPr>
                <a:t>, </a:t>
              </a:r>
              <a:r>
                <a:rPr lang="en-US" sz="1400" b="1" spc="-1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SIGFPE</a:t>
              </a:r>
              <a:r>
                <a:rPr lang="en-US" sz="1600" spc="-5" dirty="0">
                  <a:latin typeface="Calibri"/>
                  <a:cs typeface="Calibri"/>
                </a:rPr>
                <a:t>, </a:t>
              </a:r>
              <a:r>
                <a:rPr lang="en-US" sz="1400" b="1" spc="-1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SIGILL</a:t>
              </a:r>
              <a:r>
                <a:rPr lang="en-US" sz="1600" spc="-5" dirty="0">
                  <a:latin typeface="Calibri"/>
                  <a:cs typeface="Calibri"/>
                </a:rPr>
                <a:t>, </a:t>
              </a:r>
              <a:r>
                <a:rPr lang="en-US" sz="1400" b="1" spc="-1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SIGSEGV</a:t>
              </a:r>
              <a:r>
                <a:rPr lang="en-US" sz="1600" spc="-5" dirty="0">
                  <a:latin typeface="Calibri"/>
                  <a:cs typeface="Calibri"/>
                </a:rPr>
                <a:t>, and </a:t>
              </a:r>
              <a:r>
                <a:rPr lang="en-US" sz="1400" b="1" spc="-1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SIGTRAP</a:t>
              </a:r>
              <a:r>
                <a:rPr lang="en-US" sz="1600" spc="-5" dirty="0">
                  <a:latin typeface="Calibri"/>
                  <a:cs typeface="Calibri"/>
                </a:rPr>
                <a:t> only.</a:t>
              </a:r>
            </a:p>
            <a:p>
              <a:pPr>
                <a:lnSpc>
                  <a:spcPts val="1764"/>
                </a:lnSpc>
              </a:pPr>
              <a:r>
                <a:rPr sz="1600" spc="-5" dirty="0">
                  <a:latin typeface="Wingdings"/>
                  <a:cs typeface="Wingdings"/>
                </a:rPr>
                <a:t></a:t>
              </a:r>
              <a:r>
                <a:rPr sz="1600" spc="-5" dirty="0">
                  <a:latin typeface="Times New Roman"/>
                  <a:cs typeface="Times New Roman"/>
                </a:rPr>
                <a:t> </a:t>
              </a:r>
              <a:r>
                <a:rPr sz="1600" spc="-15" dirty="0">
                  <a:latin typeface="Calibri"/>
                  <a:cs typeface="Calibri"/>
                </a:rPr>
                <a:t>For </a:t>
              </a:r>
              <a:r>
                <a:rPr sz="1400" b="1" spc="-1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SIGPOLL</a:t>
              </a:r>
              <a:r>
                <a:rPr sz="1600" spc="-5" dirty="0">
                  <a:latin typeface="Calibri"/>
                  <a:cs typeface="Calibri"/>
                </a:rPr>
                <a:t> (pollable </a:t>
              </a:r>
              <a:r>
                <a:rPr sz="1600" spc="-10" dirty="0">
                  <a:latin typeface="Calibri"/>
                  <a:cs typeface="Calibri"/>
                </a:rPr>
                <a:t>events), </a:t>
              </a:r>
              <a:r>
                <a:rPr sz="1600" spc="-5" dirty="0">
                  <a:latin typeface="Calibri"/>
                  <a:cs typeface="Calibri"/>
                </a:rPr>
                <a:t>out-of-band/priority </a:t>
              </a:r>
              <a:r>
                <a:rPr sz="1600" spc="-15" dirty="0">
                  <a:latin typeface="Calibri"/>
                  <a:cs typeface="Calibri"/>
                </a:rPr>
                <a:t>info for</a:t>
              </a:r>
              <a:r>
                <a:rPr sz="1600" spc="80" dirty="0">
                  <a:latin typeface="Calibri"/>
                  <a:cs typeface="Calibri"/>
                </a:rPr>
                <a:t> </a:t>
              </a:r>
              <a:r>
                <a:rPr sz="1400" spc="-10" dirty="0" err="1">
                  <a:solidFill>
                    <a:srgbClr val="0070C0"/>
                  </a:solidFill>
                  <a:latin typeface="Consolas" panose="020B0609020204030204" pitchFamily="49" charset="0"/>
                  <a:cs typeface="Calibri"/>
                </a:rPr>
                <a:t>si_fd</a:t>
              </a:r>
              <a:r>
                <a:rPr lang="en-US" sz="1600" spc="-5" dirty="0">
                  <a:latin typeface="Calibri"/>
                  <a:cs typeface="Calibri"/>
                </a:rPr>
                <a:t>.</a:t>
              </a:r>
              <a:endParaRPr sz="1600" spc="-5" dirty="0">
                <a:latin typeface="Calibri"/>
                <a:cs typeface="Calibri"/>
              </a:endParaRPr>
            </a:p>
            <a:p>
              <a:pPr>
                <a:lnSpc>
                  <a:spcPts val="1755"/>
                </a:lnSpc>
              </a:pPr>
              <a:r>
                <a:rPr sz="1600" spc="-5" dirty="0">
                  <a:latin typeface="Wingdings"/>
                  <a:cs typeface="Wingdings"/>
                </a:rPr>
                <a:t></a:t>
              </a:r>
              <a:r>
                <a:rPr sz="1600" spc="-5" dirty="0">
                  <a:latin typeface="Times New Roman"/>
                  <a:cs typeface="Times New Roman"/>
                </a:rPr>
                <a:t> </a:t>
              </a:r>
              <a:r>
                <a:rPr sz="1600" spc="-15" dirty="0">
                  <a:latin typeface="Calibri"/>
                  <a:cs typeface="Calibri"/>
                </a:rPr>
                <a:t>For </a:t>
              </a:r>
              <a:r>
                <a:rPr sz="1400" b="1" spc="-10" dirty="0">
                  <a:latin typeface="Courier New" panose="02070309020205020404" pitchFamily="49" charset="0"/>
                  <a:cs typeface="Courier New" panose="02070309020205020404" pitchFamily="49" charset="0"/>
                </a:rPr>
                <a:t>SIGPOLL</a:t>
              </a:r>
              <a:r>
                <a:rPr sz="1600" spc="-5" dirty="0">
                  <a:latin typeface="Calibri"/>
                  <a:cs typeface="Calibri"/>
                </a:rPr>
                <a:t>, the </a:t>
              </a:r>
              <a:r>
                <a:rPr sz="1400" spc="-10" dirty="0">
                  <a:solidFill>
                    <a:srgbClr val="0070C0"/>
                  </a:solidFill>
                  <a:latin typeface="Consolas" panose="020B0609020204030204" pitchFamily="49" charset="0"/>
                  <a:cs typeface="Calibri"/>
                </a:rPr>
                <a:t>fd</a:t>
              </a:r>
              <a:r>
                <a:rPr sz="1600" spc="-20" dirty="0">
                  <a:latin typeface="Calibri"/>
                  <a:cs typeface="Calibri"/>
                </a:rPr>
                <a:t> </a:t>
              </a:r>
              <a:r>
                <a:rPr sz="1600" spc="-15" dirty="0">
                  <a:latin typeface="Calibri"/>
                  <a:cs typeface="Calibri"/>
                </a:rPr>
                <a:t>for </a:t>
              </a:r>
              <a:r>
                <a:rPr sz="1600" spc="-5" dirty="0">
                  <a:latin typeface="Calibri"/>
                  <a:cs typeface="Calibri"/>
                </a:rPr>
                <a:t>the file whose </a:t>
              </a:r>
              <a:r>
                <a:rPr sz="1600" spc="-15" dirty="0">
                  <a:latin typeface="Calibri"/>
                  <a:cs typeface="Calibri"/>
                </a:rPr>
                <a:t>operation</a:t>
              </a:r>
              <a:r>
                <a:rPr sz="1600" spc="95" dirty="0">
                  <a:latin typeface="Calibri"/>
                  <a:cs typeface="Calibri"/>
                </a:rPr>
                <a:t> </a:t>
              </a:r>
              <a:r>
                <a:rPr sz="1600" spc="-10" dirty="0">
                  <a:latin typeface="Calibri"/>
                  <a:cs typeface="Calibri"/>
                </a:rPr>
                <a:t>completed</a:t>
              </a:r>
              <a:r>
                <a:rPr lang="en-US" sz="1600" spc="-10" dirty="0">
                  <a:latin typeface="Calibri"/>
                  <a:cs typeface="Calibri"/>
                </a:rPr>
                <a:t>.</a:t>
              </a:r>
              <a:endParaRPr sz="1600" dirty="0">
                <a:latin typeface="Calibri"/>
                <a:cs typeface="Calibri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7041B0A-4FB1-07B7-028D-CA212CEB3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80999" y="2935224"/>
              <a:ext cx="6048868" cy="34930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179061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45" dirty="0"/>
              <a:t>What </a:t>
            </a:r>
            <a:r>
              <a:rPr spc="-10" dirty="0"/>
              <a:t>is in</a:t>
            </a:r>
            <a:r>
              <a:rPr spc="-235" dirty="0"/>
              <a:t> </a:t>
            </a:r>
            <a:r>
              <a:rPr sz="4200" dirty="0">
                <a:latin typeface="Consolas"/>
              </a:rPr>
              <a:t>si_code</a:t>
            </a:r>
            <a:r>
              <a:rPr spc="-3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01317"/>
            <a:ext cx="10741661" cy="48028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775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The </a:t>
            </a:r>
            <a:r>
              <a:rPr sz="22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si_code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field </a:t>
            </a:r>
            <a:r>
              <a:rPr sz="2400" spc="-10" dirty="0">
                <a:latin typeface="Calibri"/>
                <a:cs typeface="Calibri"/>
              </a:rPr>
              <a:t>indicates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cause of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signal</a:t>
            </a:r>
            <a:r>
              <a:rPr lang="en-US" sz="2400" spc="-5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alibri"/>
                <a:cs typeface="Calibri"/>
              </a:rPr>
              <a:t>For </a:t>
            </a:r>
            <a:r>
              <a:rPr sz="2000" spc="-5" dirty="0">
                <a:latin typeface="Calibri"/>
                <a:cs typeface="Calibri"/>
              </a:rPr>
              <a:t>user-sent signals, </a:t>
            </a:r>
            <a:r>
              <a:rPr sz="2000" dirty="0">
                <a:latin typeface="Calibri"/>
                <a:cs typeface="Calibri"/>
              </a:rPr>
              <a:t>it </a:t>
            </a:r>
            <a:r>
              <a:rPr sz="2000" spc="-10" dirty="0">
                <a:latin typeface="Calibri"/>
                <a:cs typeface="Calibri"/>
              </a:rPr>
              <a:t>indicates </a:t>
            </a:r>
            <a:r>
              <a:rPr sz="2000" spc="-5" dirty="0">
                <a:latin typeface="Calibri"/>
                <a:cs typeface="Calibri"/>
              </a:rPr>
              <a:t>how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signal </a:t>
            </a:r>
            <a:r>
              <a:rPr sz="2000" spc="-10" dirty="0">
                <a:latin typeface="Calibri"/>
                <a:cs typeface="Calibri"/>
              </a:rPr>
              <a:t>was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sent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698500" lvl="1" indent="-229235">
              <a:lnSpc>
                <a:spcPts val="2285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2000" spc="-10" dirty="0">
                <a:latin typeface="Calibri"/>
                <a:cs typeface="Calibri"/>
              </a:rPr>
              <a:t>For kernel-sent </a:t>
            </a:r>
            <a:r>
              <a:rPr sz="2000" spc="-5" dirty="0">
                <a:latin typeface="Calibri"/>
                <a:cs typeface="Calibri"/>
              </a:rPr>
              <a:t>signals, </a:t>
            </a:r>
            <a:r>
              <a:rPr sz="2000" dirty="0">
                <a:latin typeface="Calibri"/>
                <a:cs typeface="Calibri"/>
              </a:rPr>
              <a:t>it </a:t>
            </a:r>
            <a:r>
              <a:rPr sz="2000" spc="-10" dirty="0">
                <a:latin typeface="Calibri"/>
                <a:cs typeface="Calibri"/>
              </a:rPr>
              <a:t>indicates </a:t>
            </a:r>
            <a:r>
              <a:rPr sz="2000" spc="-15" dirty="0">
                <a:latin typeface="Calibri"/>
                <a:cs typeface="Calibri"/>
              </a:rPr>
              <a:t>why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5" dirty="0">
                <a:latin typeface="Calibri"/>
                <a:cs typeface="Calibri"/>
              </a:rPr>
              <a:t>signal </a:t>
            </a:r>
            <a:r>
              <a:rPr sz="2000" spc="-10" dirty="0">
                <a:latin typeface="Calibri"/>
                <a:cs typeface="Calibri"/>
              </a:rPr>
              <a:t>was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sent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ts val="2450"/>
              </a:lnSpc>
              <a:spcBef>
                <a:spcPts val="1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Choices of </a:t>
            </a:r>
            <a:r>
              <a:rPr sz="22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si_code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10" dirty="0">
                <a:latin typeface="Calibri"/>
                <a:cs typeface="Calibri"/>
              </a:rPr>
              <a:t>valid </a:t>
            </a:r>
            <a:r>
              <a:rPr sz="2400" spc="-20" dirty="0">
                <a:latin typeface="Calibri"/>
                <a:cs typeface="Calibri"/>
              </a:rPr>
              <a:t>for any </a:t>
            </a:r>
            <a:r>
              <a:rPr sz="2400" spc="-5" dirty="0">
                <a:latin typeface="Calibri"/>
                <a:cs typeface="Calibri"/>
              </a:rPr>
              <a:t>signal </a:t>
            </a:r>
            <a:r>
              <a:rPr sz="2400" spc="-20" dirty="0">
                <a:latin typeface="Calibri"/>
                <a:cs typeface="Calibri"/>
              </a:rPr>
              <a:t>(refer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lang="en-US" sz="2400" spc="-5" dirty="0">
                <a:latin typeface="Calibri"/>
                <a:cs typeface="Calibri"/>
              </a:rPr>
              <a:t>page 358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complete</a:t>
            </a:r>
            <a:r>
              <a:rPr lang="en-US" sz="240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l</a:t>
            </a:r>
            <a:r>
              <a:rPr sz="2400" spc="-10" dirty="0">
                <a:latin typeface="Calibri"/>
                <a:cs typeface="Calibri"/>
              </a:rPr>
              <a:t>ist</a:t>
            </a:r>
            <a:r>
              <a:rPr lang="en-US" sz="2400" spc="-10" dirty="0">
                <a:latin typeface="Calibri"/>
                <a:cs typeface="Calibri"/>
              </a:rPr>
              <a:t>: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605"/>
              </a:spcBef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SI_ASYNCIO</a:t>
            </a:r>
            <a:r>
              <a:rPr sz="2000" spc="-5" dirty="0">
                <a:latin typeface="Calibri"/>
                <a:cs typeface="Calibri"/>
              </a:rPr>
              <a:t> (async </a:t>
            </a:r>
            <a:r>
              <a:rPr sz="2000" dirty="0">
                <a:latin typeface="Calibri"/>
                <a:cs typeface="Calibri"/>
              </a:rPr>
              <a:t>I/O </a:t>
            </a:r>
            <a:r>
              <a:rPr sz="2000" spc="-5" dirty="0">
                <a:latin typeface="Calibri"/>
                <a:cs typeface="Calibri"/>
              </a:rPr>
              <a:t>finished),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SI_KERNEL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(signal </a:t>
            </a:r>
            <a:r>
              <a:rPr sz="2000" spc="-10" dirty="0">
                <a:latin typeface="Calibri"/>
                <a:cs typeface="Calibri"/>
              </a:rPr>
              <a:t>raised </a:t>
            </a:r>
            <a:r>
              <a:rPr sz="2000" spc="-5" dirty="0">
                <a:latin typeface="Calibri"/>
                <a:cs typeface="Calibri"/>
              </a:rPr>
              <a:t>by </a:t>
            </a:r>
            <a:r>
              <a:rPr sz="2000" spc="-10" dirty="0">
                <a:latin typeface="Calibri"/>
                <a:cs typeface="Calibri"/>
              </a:rPr>
              <a:t>kernel),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SI_QUEUE</a:t>
            </a:r>
            <a:r>
              <a:rPr sz="2000" dirty="0">
                <a:latin typeface="Calibri"/>
                <a:cs typeface="Calibri"/>
              </a:rPr>
              <a:t>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SI_TIMER</a:t>
            </a:r>
            <a:r>
              <a:rPr sz="2000" spc="-5" dirty="0">
                <a:latin typeface="Calibri"/>
                <a:cs typeface="Calibri"/>
              </a:rPr>
              <a:t>, 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SI_SIGIO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SI_USER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(signal </a:t>
            </a:r>
            <a:r>
              <a:rPr sz="2000" spc="-10" dirty="0">
                <a:latin typeface="Calibri"/>
                <a:cs typeface="Calibri"/>
              </a:rPr>
              <a:t>was sent </a:t>
            </a:r>
            <a:r>
              <a:rPr sz="2000" spc="-5" dirty="0">
                <a:latin typeface="Calibri"/>
                <a:cs typeface="Calibri"/>
              </a:rPr>
              <a:t>by </a:t>
            </a:r>
            <a:r>
              <a:rPr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kill()</a:t>
            </a:r>
            <a:r>
              <a:rPr sz="2000" spc="-5" dirty="0">
                <a:latin typeface="Calibri"/>
                <a:cs typeface="Calibri"/>
              </a:rPr>
              <a:t> or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raise()</a:t>
            </a:r>
            <a:r>
              <a:rPr lang="en-US" sz="2000" spc="-10" dirty="0">
                <a:latin typeface="Calibri"/>
                <a:cs typeface="Calibri"/>
              </a:rPr>
              <a:t>.</a:t>
            </a:r>
            <a:r>
              <a:rPr sz="2000" spc="-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241300" marR="407670" indent="-228600">
              <a:lnSpc>
                <a:spcPct val="7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Choices of </a:t>
            </a:r>
            <a:r>
              <a:rPr sz="22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si_code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10" dirty="0">
                <a:latin typeface="Calibri"/>
                <a:cs typeface="Calibri"/>
              </a:rPr>
              <a:t>valid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spc="-35" dirty="0">
                <a:cs typeface="Calibri"/>
              </a:rPr>
              <a:t>only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SIGBUS</a:t>
            </a:r>
            <a:r>
              <a:rPr sz="2400" spc="-5" dirty="0">
                <a:latin typeface="Calibri"/>
                <a:cs typeface="Calibri"/>
              </a:rPr>
              <a:t> (bad </a:t>
            </a:r>
            <a:r>
              <a:rPr sz="2400" dirty="0">
                <a:latin typeface="Calibri"/>
                <a:cs typeface="Calibri"/>
              </a:rPr>
              <a:t>memory access)</a:t>
            </a:r>
            <a:r>
              <a:rPr sz="2400" spc="-35" dirty="0">
                <a:latin typeface="Calibri"/>
                <a:cs typeface="Calibri"/>
              </a:rPr>
              <a:t>. </a:t>
            </a:r>
            <a:r>
              <a:rPr sz="2400" spc="-10" dirty="0">
                <a:latin typeface="Calibri"/>
                <a:cs typeface="Calibri"/>
              </a:rPr>
              <a:t>They indicate </a:t>
            </a:r>
            <a:r>
              <a:rPr sz="2400" dirty="0">
                <a:latin typeface="Calibri"/>
                <a:cs typeface="Calibri"/>
              </a:rPr>
              <a:t>the type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5" dirty="0">
                <a:latin typeface="Calibri"/>
                <a:cs typeface="Calibri"/>
              </a:rPr>
              <a:t>hardware </a:t>
            </a:r>
            <a:r>
              <a:rPr sz="2400" spc="-5" dirty="0">
                <a:latin typeface="Calibri"/>
                <a:cs typeface="Calibri"/>
              </a:rPr>
              <a:t>error 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occurred: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18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BUS_ADRALN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(alignment </a:t>
            </a:r>
            <a:r>
              <a:rPr sz="2000" spc="-10" dirty="0">
                <a:latin typeface="Calibri"/>
                <a:cs typeface="Calibri"/>
              </a:rPr>
              <a:t>error),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BUS_ADDRERR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(invalid </a:t>
            </a:r>
            <a:r>
              <a:rPr sz="2000" dirty="0">
                <a:latin typeface="Calibri"/>
                <a:cs typeface="Calibri"/>
              </a:rPr>
              <a:t>addr), </a:t>
            </a:r>
            <a:r>
              <a:rPr sz="19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BUS_OBJERR</a:t>
            </a:r>
            <a:r>
              <a:rPr lang="en-US" sz="2000" spc="-10" dirty="0">
                <a:latin typeface="Calibri"/>
                <a:cs typeface="Calibri"/>
              </a:rPr>
              <a:t> (hardware error)</a:t>
            </a:r>
            <a:endParaRPr sz="2000" spc="-10" dirty="0">
              <a:latin typeface="Calibri"/>
              <a:cs typeface="Calibri"/>
            </a:endParaRPr>
          </a:p>
          <a:p>
            <a:pPr marL="241300" indent="-228600">
              <a:lnSpc>
                <a:spcPts val="2770"/>
              </a:lnSpc>
              <a:spcBef>
                <a:spcPts val="1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Choices of </a:t>
            </a:r>
            <a:r>
              <a:rPr sz="22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si_code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valid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only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SIGCHLD</a:t>
            </a:r>
            <a:r>
              <a:rPr sz="2400" spc="-5" dirty="0">
                <a:latin typeface="Calibri"/>
                <a:cs typeface="Calibri"/>
              </a:rPr>
              <a:t> identifying </a:t>
            </a:r>
            <a:r>
              <a:rPr sz="2400" spc="-10" dirty="0">
                <a:latin typeface="Calibri"/>
                <a:cs typeface="Calibri"/>
              </a:rPr>
              <a:t>what </a:t>
            </a:r>
            <a:r>
              <a:rPr sz="2400" dirty="0">
                <a:latin typeface="Calibri"/>
                <a:cs typeface="Calibri"/>
              </a:rPr>
              <a:t>the child </a:t>
            </a:r>
            <a:r>
              <a:rPr sz="2400" spc="-5" dirty="0">
                <a:latin typeface="Calibri"/>
                <a:cs typeface="Calibri"/>
              </a:rPr>
              <a:t>did: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2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CLD_CONTINUED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CLD_DUMPED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CLD_EXITED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CLD_KILLED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CLD_STOPPED</a:t>
            </a:r>
            <a:r>
              <a:rPr sz="2000" spc="-15" dirty="0">
                <a:latin typeface="Calibri"/>
                <a:cs typeface="Calibri"/>
              </a:rPr>
              <a:t>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CLD_TRAPPED</a:t>
            </a:r>
          </a:p>
          <a:p>
            <a:pPr marL="241300" indent="-228600">
              <a:lnSpc>
                <a:spcPts val="2770"/>
              </a:lnSpc>
              <a:spcBef>
                <a:spcPts val="14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Calibri"/>
                <a:cs typeface="Calibri"/>
              </a:rPr>
              <a:t>Choices of </a:t>
            </a:r>
            <a:r>
              <a:rPr sz="2200" spc="-10" dirty="0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si_code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valid </a:t>
            </a:r>
            <a:r>
              <a:rPr lang="en-US" sz="2400" spc="-10" dirty="0">
                <a:latin typeface="Calibri"/>
                <a:cs typeface="Calibri"/>
              </a:rPr>
              <a:t>only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SIGFPE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(floating-point exception</a:t>
            </a:r>
            <a:r>
              <a:rPr lang="en-US" sz="2400" spc="-10" dirty="0">
                <a:latin typeface="Calibri"/>
                <a:cs typeface="Calibri"/>
              </a:rPr>
              <a:t>: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698500" lvl="1" indent="-229235">
              <a:lnSpc>
                <a:spcPts val="2290"/>
              </a:lnSpc>
              <a:buFont typeface="Arial"/>
              <a:buChar char="•"/>
              <a:tabLst>
                <a:tab pos="698500" algn="l"/>
                <a:tab pos="699135" algn="l"/>
              </a:tabLst>
            </a:pPr>
            <a:r>
              <a:rPr sz="19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FPE_FLTDIV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(division by </a:t>
            </a:r>
            <a:r>
              <a:rPr sz="2000" dirty="0">
                <a:latin typeface="Calibri"/>
                <a:cs typeface="Calibri"/>
              </a:rPr>
              <a:t>0),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FPE_FLTOVF</a:t>
            </a:r>
            <a:r>
              <a:rPr sz="2000" spc="-40" dirty="0">
                <a:latin typeface="Calibri"/>
                <a:cs typeface="Calibri"/>
              </a:rPr>
              <a:t>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FPE_FLTINV</a:t>
            </a:r>
            <a:r>
              <a:rPr sz="2000" spc="-30" dirty="0">
                <a:latin typeface="Calibri"/>
                <a:cs typeface="Calibri"/>
              </a:rPr>
              <a:t>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FPE_FLTRES</a:t>
            </a:r>
            <a:r>
              <a:rPr sz="2000" spc="-20" dirty="0">
                <a:latin typeface="Calibri"/>
                <a:cs typeface="Calibri"/>
              </a:rPr>
              <a:t>, </a:t>
            </a:r>
            <a:r>
              <a:rPr sz="19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FPE_FLTSUB</a:t>
            </a:r>
            <a:r>
              <a:rPr sz="2000" spc="-20" dirty="0">
                <a:latin typeface="Calibri"/>
                <a:cs typeface="Calibri"/>
              </a:rPr>
              <a:t>,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…</a:t>
            </a:r>
          </a:p>
          <a:p>
            <a:pPr marL="241300" indent="-228600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241300" algn="l"/>
              </a:tabLst>
            </a:pPr>
            <a:r>
              <a:rPr lang="en-US" sz="2400" spc="-5" dirty="0">
                <a:latin typeface="Calibri"/>
                <a:cs typeface="Calibri"/>
              </a:rPr>
              <a:t>Pages 359-361 also describe c</a:t>
            </a:r>
            <a:r>
              <a:rPr sz="2400" spc="-5" dirty="0">
                <a:latin typeface="Calibri"/>
                <a:cs typeface="Calibri"/>
              </a:rPr>
              <a:t>hoices of </a:t>
            </a:r>
            <a:r>
              <a:rPr sz="2200" spc="-10" dirty="0" err="1">
                <a:solidFill>
                  <a:srgbClr val="0070C0"/>
                </a:solidFill>
                <a:latin typeface="Consolas" panose="020B0609020204030204" pitchFamily="49" charset="0"/>
                <a:cs typeface="Calibri"/>
              </a:rPr>
              <a:t>si_code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that are </a:t>
            </a:r>
            <a:r>
              <a:rPr sz="2400" spc="-10" dirty="0">
                <a:latin typeface="Calibri"/>
                <a:cs typeface="Calibri"/>
              </a:rPr>
              <a:t>valid</a:t>
            </a:r>
            <a:r>
              <a:rPr lang="en-US" sz="2400" spc="-10" dirty="0">
                <a:latin typeface="Calibri"/>
                <a:cs typeface="Calibri"/>
              </a:rPr>
              <a:t> only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lang="en-US" sz="22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SIGILL</a:t>
            </a:r>
            <a:r>
              <a:rPr lang="en-US" sz="2400" spc="-10" dirty="0">
                <a:latin typeface="Calibri"/>
                <a:cs typeface="Calibri"/>
              </a:rPr>
              <a:t>, </a:t>
            </a:r>
            <a:r>
              <a:rPr sz="22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SIGPOLL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200" spc="-10" dirty="0">
                <a:latin typeface="Courier New" panose="02070309020205020404" pitchFamily="49" charset="0"/>
                <a:cs typeface="Courier New" panose="02070309020205020404" pitchFamily="49" charset="0"/>
              </a:rPr>
              <a:t>SIGSEGV</a:t>
            </a:r>
            <a:r>
              <a:rPr sz="2400" spc="-10" dirty="0">
                <a:latin typeface="Calibri"/>
                <a:cs typeface="Calibri"/>
              </a:rPr>
              <a:t>, </a:t>
            </a:r>
            <a:r>
              <a:rPr sz="22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SIGTRAP</a:t>
            </a:r>
            <a:r>
              <a:rPr lang="en-US" sz="2400" spc="-10" dirty="0">
                <a:latin typeface="Calibri"/>
                <a:cs typeface="Calibri"/>
              </a:rPr>
              <a:t>.</a:t>
            </a:r>
            <a:endParaRPr sz="2400" spc="-1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3670" y="246075"/>
            <a:ext cx="892992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 </a:t>
            </a:r>
            <a:r>
              <a:rPr spc="-25" dirty="0"/>
              <a:t>Basic </a:t>
            </a:r>
            <a:r>
              <a:rPr spc="-45" dirty="0"/>
              <a:t>Example </a:t>
            </a:r>
            <a:r>
              <a:rPr spc="-15" dirty="0"/>
              <a:t>of </a:t>
            </a:r>
            <a:r>
              <a:rPr spc="-30" dirty="0"/>
              <a:t>Using</a:t>
            </a:r>
            <a:r>
              <a:rPr spc="-340" dirty="0"/>
              <a:t> </a:t>
            </a:r>
            <a:r>
              <a:rPr sz="4200" dirty="0">
                <a:latin typeface="Consolas"/>
              </a:rPr>
              <a:t>sigaction()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sz="half" idx="3"/>
          </p:nvPr>
        </p:nvSpPr>
        <p:spPr>
          <a:xfrm>
            <a:off x="6781800" y="1451987"/>
            <a:ext cx="5181600" cy="4682051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53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pc="-5" dirty="0"/>
              <a:t>This </a:t>
            </a:r>
            <a:r>
              <a:rPr spc="-15" dirty="0"/>
              <a:t>program </a:t>
            </a:r>
            <a:r>
              <a:rPr spc="-5" dirty="0"/>
              <a:t>reads </a:t>
            </a:r>
            <a:r>
              <a:rPr dirty="0"/>
              <a:t>the </a:t>
            </a:r>
            <a:r>
              <a:rPr spc="-5" dirty="0"/>
              <a:t>previous </a:t>
            </a:r>
            <a:r>
              <a:rPr sz="1600" kern="1200" spc="-10" dirty="0" err="1">
                <a:solidFill>
                  <a:srgbClr val="0070C0"/>
                </a:solidFill>
                <a:latin typeface="Consolas"/>
              </a:rPr>
              <a:t>sigaction</a:t>
            </a:r>
            <a:r>
              <a:rPr spc="40" dirty="0"/>
              <a:t> </a:t>
            </a:r>
            <a:r>
              <a:rPr spc="-10" dirty="0"/>
              <a:t>into</a:t>
            </a:r>
            <a:r>
              <a:rPr lang="en-US" spc="-10" dirty="0"/>
              <a:t> </a:t>
            </a:r>
            <a:r>
              <a:rPr sz="1600" kern="1200" spc="-10" dirty="0">
                <a:solidFill>
                  <a:srgbClr val="0070C0"/>
                </a:solidFill>
                <a:latin typeface="Consolas"/>
              </a:rPr>
              <a:t>act</a:t>
            </a:r>
            <a:r>
              <a:rPr lang="en-US" sz="1600" kern="1200" spc="-10" dirty="0">
                <a:solidFill>
                  <a:srgbClr val="0070C0"/>
                </a:solidFill>
                <a:latin typeface="Consolas"/>
              </a:rPr>
              <a:t>.</a:t>
            </a:r>
            <a:endParaRPr sz="1200" kern="1200" spc="-10" dirty="0">
              <a:solidFill>
                <a:srgbClr val="0070C0"/>
              </a:solidFill>
              <a:latin typeface="Consolas"/>
            </a:endParaRPr>
          </a:p>
          <a:p>
            <a:pPr marL="241300" marR="22860" indent="-228600">
              <a:lnSpc>
                <a:spcPct val="120000"/>
              </a:lnSpc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/>
              <a:t>If the </a:t>
            </a:r>
            <a:r>
              <a:rPr spc="-5" dirty="0"/>
              <a:t>previous action is </a:t>
            </a:r>
            <a:r>
              <a:rPr spc="-10" dirty="0"/>
              <a:t>default (termination) </a:t>
            </a:r>
            <a:r>
              <a:rPr spc="-15" dirty="0"/>
              <a:t>for </a:t>
            </a:r>
            <a:r>
              <a:rPr spc="-5" dirty="0"/>
              <a:t>the </a:t>
            </a:r>
            <a:r>
              <a:rPr sz="1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SIGINT</a:t>
            </a:r>
            <a:r>
              <a:rPr spc="-5" dirty="0"/>
              <a:t> signal </a:t>
            </a:r>
            <a:r>
              <a:rPr spc="-10" dirty="0"/>
              <a:t>(triggered </a:t>
            </a:r>
            <a:r>
              <a:rPr spc="-5" dirty="0"/>
              <a:t>by </a:t>
            </a:r>
            <a:r>
              <a:rPr dirty="0"/>
              <a:t>user </a:t>
            </a:r>
            <a:r>
              <a:rPr spc="-10" dirty="0"/>
              <a:t>pressing </a:t>
            </a:r>
            <a:r>
              <a:rPr sz="16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Ctrl</a:t>
            </a:r>
            <a:r>
              <a:rPr lang="en-US" spc="-5" dirty="0" err="1"/>
              <a:t>+</a:t>
            </a:r>
            <a:r>
              <a:rPr sz="1600" spc="-5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spc="-5" dirty="0"/>
              <a:t>), it changes </a:t>
            </a:r>
            <a:r>
              <a:rPr dirty="0"/>
              <a:t>it </a:t>
            </a:r>
            <a:r>
              <a:rPr spc="-10" dirty="0"/>
              <a:t>to Ignore </a:t>
            </a:r>
            <a:r>
              <a:rPr spc="-5" dirty="0"/>
              <a:t>(so </a:t>
            </a:r>
            <a:r>
              <a:rPr kumimoji="0" lang="en-US" sz="1600" b="0" i="0" u="none" strike="noStrike" kern="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Ctrl</a:t>
            </a:r>
            <a:r>
              <a:rPr kumimoji="0" lang="en-US" sz="1800" b="0" i="0" u="none" strike="noStrike" kern="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lang="en-US" sz="1600" b="0" i="0" u="none" strike="noStrike" kern="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</a:t>
            </a:r>
            <a:r>
              <a:rPr spc="-5" dirty="0"/>
              <a:t> has no </a:t>
            </a:r>
            <a:r>
              <a:rPr spc="-15" dirty="0"/>
              <a:t>effect</a:t>
            </a:r>
            <a:r>
              <a:rPr lang="en-US" spc="-15" dirty="0"/>
              <a:t>.</a:t>
            </a:r>
            <a:r>
              <a:rPr spc="-15" dirty="0"/>
              <a:t>)</a:t>
            </a:r>
          </a:p>
          <a:p>
            <a:pPr marL="241300" marR="182880" indent="-228600">
              <a:lnSpc>
                <a:spcPct val="12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/>
              <a:t>It then </a:t>
            </a:r>
            <a:r>
              <a:rPr spc="-10" dirty="0"/>
              <a:t>tests </a:t>
            </a:r>
            <a:r>
              <a:rPr dirty="0"/>
              <a:t>the </a:t>
            </a:r>
            <a:r>
              <a:rPr spc="-5" dirty="0"/>
              <a:t>new action by sleeping </a:t>
            </a:r>
            <a:r>
              <a:rPr spc="-15" dirty="0"/>
              <a:t>for </a:t>
            </a:r>
            <a:r>
              <a:rPr dirty="0"/>
              <a:t>10  </a:t>
            </a:r>
            <a:r>
              <a:rPr spc="-5" dirty="0"/>
              <a:t>seconds </a:t>
            </a:r>
            <a:r>
              <a:rPr spc="-15" dirty="0"/>
              <a:t>before </a:t>
            </a:r>
            <a:r>
              <a:rPr spc="-5" dirty="0"/>
              <a:t>doing </a:t>
            </a:r>
            <a:r>
              <a:rPr dirty="0"/>
              <a:t>a simple</a:t>
            </a:r>
            <a:r>
              <a:rPr spc="20" dirty="0"/>
              <a:t> </a:t>
            </a:r>
            <a:r>
              <a:rPr spc="-5" dirty="0"/>
              <a:t>arithmetic</a:t>
            </a:r>
            <a:r>
              <a:rPr lang="en-US" spc="-5" dirty="0"/>
              <a:t>.</a:t>
            </a:r>
            <a:endParaRPr spc="-5" dirty="0"/>
          </a:p>
          <a:p>
            <a:pPr marL="241300" marR="5080" indent="-228600">
              <a:lnSpc>
                <a:spcPts val="2590"/>
              </a:lnSpc>
              <a:spcBef>
                <a:spcPts val="16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pc="-50" dirty="0"/>
              <a:t>You </a:t>
            </a:r>
            <a:r>
              <a:rPr spc="-5" dirty="0"/>
              <a:t>can </a:t>
            </a:r>
            <a:r>
              <a:rPr spc="-15" dirty="0"/>
              <a:t>test </a:t>
            </a:r>
            <a:r>
              <a:rPr spc="-5" dirty="0"/>
              <a:t>this by running it </a:t>
            </a:r>
            <a:r>
              <a:rPr dirty="0"/>
              <a:t>then </a:t>
            </a:r>
            <a:r>
              <a:rPr spc="-5" dirty="0"/>
              <a:t>immediately  </a:t>
            </a:r>
            <a:r>
              <a:rPr spc="-10" dirty="0"/>
              <a:t>hitting </a:t>
            </a:r>
            <a:r>
              <a:rPr kumimoji="0" lang="en-US" sz="1600" b="0" i="0" u="none" strike="noStrike" kern="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Ctrl</a:t>
            </a:r>
            <a:r>
              <a:rPr kumimoji="0" lang="en-US" sz="1800" b="0" i="0" u="none" strike="noStrike" kern="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lang="en-US" sz="1600" b="0" i="0" u="none" strike="noStrike" kern="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</a:t>
            </a:r>
            <a:r>
              <a:rPr spc="-5" dirty="0"/>
              <a:t>, </a:t>
            </a:r>
            <a:r>
              <a:rPr dirty="0"/>
              <a:t>trying </a:t>
            </a:r>
            <a:r>
              <a:rPr spc="-10" dirty="0"/>
              <a:t>to interrupt</a:t>
            </a:r>
            <a:r>
              <a:rPr spc="60" dirty="0"/>
              <a:t> </a:t>
            </a:r>
            <a:r>
              <a:rPr spc="-5" dirty="0"/>
              <a:t>it.</a:t>
            </a:r>
          </a:p>
          <a:p>
            <a:pPr marL="241300" marR="27940" indent="-228600">
              <a:lnSpc>
                <a:spcPts val="259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dirty="0"/>
              <a:t>If </a:t>
            </a:r>
            <a:r>
              <a:rPr spc="-10" dirty="0"/>
              <a:t>you </a:t>
            </a:r>
            <a:r>
              <a:rPr spc="-5" dirty="0"/>
              <a:t>can’t </a:t>
            </a:r>
            <a:r>
              <a:rPr spc="-10" dirty="0"/>
              <a:t>terminate </a:t>
            </a:r>
            <a:r>
              <a:rPr spc="-5" dirty="0"/>
              <a:t>it </a:t>
            </a:r>
            <a:r>
              <a:rPr spc="-10" dirty="0"/>
              <a:t>by </a:t>
            </a:r>
            <a:r>
              <a:rPr kumimoji="0" lang="en-US" sz="1600" b="0" i="0" u="none" strike="noStrike" kern="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Ctrl</a:t>
            </a:r>
            <a:r>
              <a:rPr kumimoji="0" lang="en-US" sz="1800" b="0" i="0" u="none" strike="noStrike" kern="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lang="en-US" sz="1600" b="0" i="0" u="none" strike="noStrike" kern="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</a:t>
            </a:r>
            <a:r>
              <a:rPr spc="-5" dirty="0"/>
              <a:t>, it </a:t>
            </a:r>
            <a:r>
              <a:rPr dirty="0"/>
              <a:t>means the  </a:t>
            </a:r>
            <a:r>
              <a:rPr sz="1600" spc="-5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SIG_IGN</a:t>
            </a:r>
            <a:r>
              <a:rPr spc="-5" dirty="0"/>
              <a:t> </a:t>
            </a:r>
            <a:r>
              <a:rPr spc="-10" dirty="0"/>
              <a:t>(</a:t>
            </a:r>
            <a:r>
              <a:rPr lang="en-US" spc="-10" dirty="0"/>
              <a:t>ignoration</a:t>
            </a:r>
            <a:r>
              <a:rPr spc="-10" dirty="0"/>
              <a:t>) </a:t>
            </a:r>
            <a:r>
              <a:rPr spc="-5" dirty="0"/>
              <a:t>action</a:t>
            </a:r>
            <a:r>
              <a:rPr lang="en-US" spc="-5" dirty="0"/>
              <a:t> that we set</a:t>
            </a:r>
            <a:r>
              <a:rPr spc="-5" dirty="0"/>
              <a:t> is working, </a:t>
            </a:r>
            <a:r>
              <a:rPr dirty="0"/>
              <a:t>and </a:t>
            </a:r>
            <a:r>
              <a:rPr spc="-10" dirty="0"/>
              <a:t>you </a:t>
            </a:r>
            <a:r>
              <a:rPr spc="-5" dirty="0"/>
              <a:t>will see </a:t>
            </a:r>
            <a:r>
              <a:rPr dirty="0"/>
              <a:t>the </a:t>
            </a:r>
            <a:r>
              <a:rPr spc="-5" dirty="0"/>
              <a:t>result of </a:t>
            </a:r>
            <a:r>
              <a:rPr dirty="0"/>
              <a:t>the </a:t>
            </a:r>
            <a:r>
              <a:rPr spc="-5" dirty="0"/>
              <a:t>arithmetic being</a:t>
            </a:r>
            <a:r>
              <a:rPr spc="15" dirty="0"/>
              <a:t> </a:t>
            </a:r>
            <a:r>
              <a:rPr spc="-10" dirty="0"/>
              <a:t>printed:</a:t>
            </a:r>
            <a:endParaRPr lang="en-US" spc="-10" dirty="0"/>
          </a:p>
          <a:p>
            <a:pPr marL="241300" marR="27940" indent="-228600">
              <a:lnSpc>
                <a:spcPts val="259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endParaRPr spc="-10" dirty="0"/>
          </a:p>
          <a:p>
            <a:pPr marL="241300">
              <a:lnSpc>
                <a:spcPct val="100000"/>
              </a:lnSpc>
              <a:spcBef>
                <a:spcPts val="280"/>
              </a:spcBef>
            </a:pPr>
            <a:r>
              <a:rPr lang="en-US" sz="1600" spc="-5" dirty="0">
                <a:latin typeface="Consolas" panose="020B0609020204030204" pitchFamily="49" charset="0"/>
              </a:rPr>
              <a:t>The result is</a:t>
            </a:r>
            <a:r>
              <a:rPr sz="1600" spc="15" dirty="0">
                <a:latin typeface="Consolas" panose="020B0609020204030204" pitchFamily="49" charset="0"/>
              </a:rPr>
              <a:t> </a:t>
            </a:r>
            <a:r>
              <a:rPr sz="1600" dirty="0">
                <a:latin typeface="Consolas" panose="020B0609020204030204" pitchFamily="49" charset="0"/>
              </a:rPr>
              <a:t>2</a:t>
            </a:r>
            <a:r>
              <a:rPr lang="en-US" sz="1600" dirty="0">
                <a:latin typeface="Consolas" panose="020B0609020204030204" pitchFamily="49" charset="0"/>
              </a:rPr>
              <a:t>.</a:t>
            </a:r>
            <a:endParaRPr dirty="0"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BF6F1C-8568-049F-7A88-13E2C3A0C361}"/>
              </a:ext>
            </a:extLst>
          </p:cNvPr>
          <p:cNvSpPr txBox="1"/>
          <p:nvPr/>
        </p:nvSpPr>
        <p:spPr>
          <a:xfrm>
            <a:off x="457200" y="914400"/>
            <a:ext cx="9372600" cy="606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spcBef>
                <a:spcPts val="360"/>
              </a:spcBef>
            </a:pPr>
            <a:r>
              <a:rPr lang="en-US" sz="1200" dirty="0">
                <a:solidFill>
                  <a:srgbClr val="229A86"/>
                </a:solidFill>
                <a:latin typeface="Consolas"/>
              </a:rPr>
              <a:t>#include &lt;</a:t>
            </a:r>
            <a:r>
              <a:rPr lang="en-US" sz="1200" dirty="0" err="1">
                <a:solidFill>
                  <a:srgbClr val="229A86"/>
                </a:solidFill>
                <a:latin typeface="Consolas"/>
              </a:rPr>
              <a:t>signal.h</a:t>
            </a:r>
            <a:r>
              <a:rPr lang="en-US" sz="1200" dirty="0">
                <a:solidFill>
                  <a:srgbClr val="229A86"/>
                </a:solidFill>
                <a:latin typeface="Consolas"/>
              </a:rPr>
              <a:t>&gt;</a:t>
            </a:r>
          </a:p>
          <a:p>
            <a:pPr marL="12700">
              <a:spcBef>
                <a:spcPts val="360"/>
              </a:spcBef>
            </a:pPr>
            <a:r>
              <a:rPr lang="en-US" sz="1200" dirty="0">
                <a:solidFill>
                  <a:srgbClr val="229A86"/>
                </a:solidFill>
                <a:latin typeface="Consolas"/>
              </a:rPr>
              <a:t>#include &lt;</a:t>
            </a:r>
            <a:r>
              <a:rPr lang="en-US" sz="1200" dirty="0" err="1">
                <a:solidFill>
                  <a:srgbClr val="229A86"/>
                </a:solidFill>
                <a:latin typeface="Consolas"/>
              </a:rPr>
              <a:t>stdio.h</a:t>
            </a:r>
            <a:r>
              <a:rPr lang="en-US" sz="1200" dirty="0">
                <a:solidFill>
                  <a:srgbClr val="229A86"/>
                </a:solidFill>
                <a:latin typeface="Consolas"/>
              </a:rPr>
              <a:t>&gt;</a:t>
            </a:r>
          </a:p>
          <a:p>
            <a:pPr marL="12700">
              <a:spcBef>
                <a:spcPts val="360"/>
              </a:spcBef>
            </a:pPr>
            <a:r>
              <a:rPr lang="en-US" sz="1200" dirty="0">
                <a:solidFill>
                  <a:srgbClr val="229A86"/>
                </a:solidFill>
                <a:latin typeface="Consolas"/>
              </a:rPr>
              <a:t>#include &lt;</a:t>
            </a:r>
            <a:r>
              <a:rPr lang="en-US" sz="1200" dirty="0" err="1">
                <a:solidFill>
                  <a:srgbClr val="229A86"/>
                </a:solidFill>
                <a:latin typeface="Consolas"/>
              </a:rPr>
              <a:t>stdlib.h</a:t>
            </a:r>
            <a:r>
              <a:rPr lang="en-US" sz="1200" dirty="0">
                <a:solidFill>
                  <a:srgbClr val="229A86"/>
                </a:solidFill>
                <a:latin typeface="Consolas"/>
              </a:rPr>
              <a:t>&gt;</a:t>
            </a:r>
          </a:p>
          <a:p>
            <a:pPr marL="12700">
              <a:spcBef>
                <a:spcPts val="360"/>
              </a:spcBef>
            </a:pPr>
            <a:r>
              <a:rPr lang="en-US" sz="1200" dirty="0">
                <a:solidFill>
                  <a:srgbClr val="229A86"/>
                </a:solidFill>
                <a:latin typeface="Consolas"/>
              </a:rPr>
              <a:t>#include &lt;</a:t>
            </a:r>
            <a:r>
              <a:rPr lang="en-US" sz="1200" dirty="0" err="1">
                <a:solidFill>
                  <a:srgbClr val="229A86"/>
                </a:solidFill>
                <a:latin typeface="Consolas"/>
              </a:rPr>
              <a:t>unistd.h</a:t>
            </a:r>
            <a:r>
              <a:rPr lang="en-US" sz="1200" dirty="0">
                <a:solidFill>
                  <a:srgbClr val="229A86"/>
                </a:solidFill>
                <a:latin typeface="Consolas"/>
              </a:rPr>
              <a:t>&gt;</a:t>
            </a: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endParaRPr lang="en-US" sz="1200" b="1" spc="-5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lang="en-US" sz="1200" b="1" dirty="0">
                <a:solidFill>
                  <a:srgbClr val="229A86"/>
                </a:solidFill>
                <a:latin typeface="Consolas"/>
              </a:rPr>
              <a:t>int</a:t>
            </a:r>
            <a:r>
              <a:rPr lang="en-US" sz="12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FF00FF"/>
                </a:solidFill>
                <a:latin typeface="Consolas"/>
              </a:rPr>
              <a:t>main</a:t>
            </a:r>
            <a:r>
              <a:rPr lang="en-US" sz="1200" spc="-10" dirty="0">
                <a:latin typeface="Consolas"/>
                <a:cs typeface="Consolas"/>
              </a:rPr>
              <a:t>()</a:t>
            </a:r>
            <a:r>
              <a:rPr lang="en-US" sz="1200" spc="-25" dirty="0"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  <a:cs typeface="Consolas"/>
              </a:rPr>
              <a:t>{</a:t>
            </a: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lang="en-US" sz="1200" b="1" spc="-10" dirty="0">
                <a:solidFill>
                  <a:srgbClr val="0070C0"/>
                </a:solidFill>
                <a:latin typeface="Consolas"/>
                <a:cs typeface="Consolas"/>
              </a:rPr>
              <a:t>       </a:t>
            </a:r>
            <a:r>
              <a:rPr lang="en-US" sz="1200" b="1" dirty="0">
                <a:solidFill>
                  <a:srgbClr val="229A86"/>
                </a:solidFill>
                <a:latin typeface="Consolas"/>
              </a:rPr>
              <a:t>struct </a:t>
            </a:r>
            <a:r>
              <a:rPr lang="en-US" sz="1200" b="1" dirty="0" err="1">
                <a:solidFill>
                  <a:srgbClr val="229A86"/>
                </a:solidFill>
                <a:latin typeface="Consolas"/>
              </a:rPr>
              <a:t>sigaction</a:t>
            </a:r>
            <a:r>
              <a:rPr lang="en-US" sz="1200" b="1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rgbClr val="003BB0"/>
                </a:solidFill>
                <a:latin typeface="Consolas"/>
              </a:rPr>
              <a:t>act</a:t>
            </a:r>
            <a:r>
              <a:rPr lang="en-US" sz="1200" dirty="0"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en-US" sz="1200" spc="-10" dirty="0">
              <a:latin typeface="Consolas"/>
            </a:endParaRPr>
          </a:p>
          <a:p>
            <a:pPr marL="622300">
              <a:lnSpc>
                <a:spcPct val="100000"/>
              </a:lnSpc>
            </a:pPr>
            <a:r>
              <a:rPr lang="en-US" sz="1200" i="1" spc="-10" dirty="0">
                <a:latin typeface="Consolas"/>
                <a:cs typeface="Consolas"/>
              </a:rPr>
              <a:t>// Find </a:t>
            </a:r>
            <a:r>
              <a:rPr lang="en-US" sz="1200" i="1" spc="-5" dirty="0">
                <a:latin typeface="Consolas"/>
                <a:cs typeface="Consolas"/>
              </a:rPr>
              <a:t>the current </a:t>
            </a:r>
            <a:r>
              <a:rPr lang="en-US" sz="1200" i="1" spc="-10" dirty="0">
                <a:latin typeface="Consolas"/>
                <a:cs typeface="Consolas"/>
              </a:rPr>
              <a:t>action </a:t>
            </a:r>
            <a:r>
              <a:rPr lang="en-US" sz="1200" i="1" spc="-5" dirty="0">
                <a:latin typeface="Consolas"/>
                <a:cs typeface="Consolas"/>
              </a:rPr>
              <a:t>of</a:t>
            </a:r>
            <a:r>
              <a:rPr lang="en-US" sz="1200" i="1" spc="-50" dirty="0">
                <a:latin typeface="Consolas"/>
                <a:cs typeface="Consolas"/>
              </a:rPr>
              <a:t> </a:t>
            </a:r>
            <a:r>
              <a:rPr lang="en-US" sz="1200" i="1" spc="-10" dirty="0">
                <a:latin typeface="Consolas"/>
                <a:cs typeface="Consolas"/>
              </a:rPr>
              <a:t>SIGINT:</a:t>
            </a:r>
            <a:endParaRPr lang="en-US" sz="1200" i="1" dirty="0">
              <a:latin typeface="Consolas"/>
              <a:cs typeface="Consolas"/>
            </a:endParaRPr>
          </a:p>
          <a:p>
            <a:pPr marL="622300">
              <a:lnSpc>
                <a:spcPct val="100000"/>
              </a:lnSpc>
              <a:spcBef>
                <a:spcPts val="265"/>
              </a:spcBef>
            </a:pPr>
            <a:r>
              <a:rPr lang="en-US" sz="1200" b="1" dirty="0">
                <a:solidFill>
                  <a:srgbClr val="229A86"/>
                </a:solidFill>
                <a:latin typeface="Consolas"/>
              </a:rPr>
              <a:t>if</a:t>
            </a:r>
            <a:r>
              <a:rPr lang="en-US" sz="12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(</a:t>
            </a:r>
            <a:r>
              <a:rPr lang="en-US" sz="1200" dirty="0" err="1">
                <a:solidFill>
                  <a:srgbClr val="003BB0"/>
                </a:solidFill>
                <a:latin typeface="Consolas"/>
              </a:rPr>
              <a:t>sigaction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SIGINT</a:t>
            </a:r>
            <a:r>
              <a:rPr lang="en-US" sz="1200" dirty="0">
                <a:latin typeface="Consolas"/>
              </a:rPr>
              <a:t>,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NULL</a:t>
            </a:r>
            <a:r>
              <a:rPr lang="en-US" sz="1200" dirty="0">
                <a:latin typeface="Consolas"/>
              </a:rPr>
              <a:t>, &amp;</a:t>
            </a:r>
            <a:r>
              <a:rPr lang="en-US" sz="1200" dirty="0">
                <a:solidFill>
                  <a:srgbClr val="003BB0"/>
                </a:solidFill>
                <a:latin typeface="Consolas"/>
              </a:rPr>
              <a:t>act</a:t>
            </a:r>
            <a:r>
              <a:rPr lang="en-US" sz="1200" dirty="0">
                <a:latin typeface="Consolas"/>
              </a:rPr>
              <a:t>) ==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-1</a:t>
            </a:r>
            <a:r>
              <a:rPr lang="en-US" sz="1200" dirty="0">
                <a:latin typeface="Consolas"/>
              </a:rPr>
              <a:t>) {</a:t>
            </a:r>
          </a:p>
          <a:p>
            <a:pPr marL="850900">
              <a:lnSpc>
                <a:spcPct val="100000"/>
              </a:lnSpc>
              <a:spcBef>
                <a:spcPts val="265"/>
              </a:spcBef>
            </a:pPr>
            <a:r>
              <a:rPr lang="en-US" sz="1200" dirty="0" err="1">
                <a:solidFill>
                  <a:srgbClr val="003BB0"/>
                </a:solidFill>
                <a:latin typeface="Consolas"/>
              </a:rPr>
              <a:t>perror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(</a:t>
            </a:r>
            <a:r>
              <a:rPr lang="en-US" sz="1200" dirty="0">
                <a:solidFill>
                  <a:srgbClr val="C00000"/>
                </a:solidFill>
                <a:latin typeface="Consolas"/>
              </a:rPr>
              <a:t>"Could not obtain old disposition for SIGINT"</a:t>
            </a:r>
            <a:r>
              <a:rPr lang="en-US" sz="1200" dirty="0">
                <a:latin typeface="Consolas"/>
              </a:rPr>
              <a:t>);</a:t>
            </a:r>
          </a:p>
          <a:p>
            <a:pPr marL="850900">
              <a:lnSpc>
                <a:spcPct val="100000"/>
              </a:lnSpc>
              <a:spcBef>
                <a:spcPts val="265"/>
              </a:spcBef>
            </a:pPr>
            <a:r>
              <a:rPr lang="en-US" sz="1200" dirty="0">
                <a:solidFill>
                  <a:srgbClr val="003BB0"/>
                </a:solidFill>
                <a:latin typeface="Consolas"/>
              </a:rPr>
              <a:t>exit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EXIT_FAILURE</a:t>
            </a:r>
            <a:r>
              <a:rPr lang="en-US" sz="1200" dirty="0">
                <a:latin typeface="Consolas"/>
              </a:rPr>
              <a:t>);</a:t>
            </a:r>
          </a:p>
          <a:p>
            <a:pPr marL="622300">
              <a:lnSpc>
                <a:spcPct val="100000"/>
              </a:lnSpc>
              <a:spcBef>
                <a:spcPts val="265"/>
              </a:spcBef>
            </a:pPr>
            <a:r>
              <a:rPr lang="en-US" sz="1200" dirty="0">
                <a:latin typeface="Consolas"/>
              </a:rPr>
              <a:t>}</a:t>
            </a:r>
          </a:p>
          <a:p>
            <a:pPr marL="622300">
              <a:lnSpc>
                <a:spcPct val="100000"/>
              </a:lnSpc>
              <a:spcBef>
                <a:spcPts val="260"/>
              </a:spcBef>
            </a:pPr>
            <a:r>
              <a:rPr lang="en-US" sz="1200" i="1" spc="-10" dirty="0">
                <a:latin typeface="Consolas"/>
                <a:cs typeface="Consolas"/>
              </a:rPr>
              <a:t>// If </a:t>
            </a:r>
            <a:r>
              <a:rPr lang="en-US" sz="1200" i="1" spc="-5" dirty="0">
                <a:latin typeface="Consolas"/>
                <a:cs typeface="Consolas"/>
              </a:rPr>
              <a:t>the </a:t>
            </a:r>
            <a:r>
              <a:rPr lang="en-US" sz="1200" i="1" spc="-10" dirty="0">
                <a:latin typeface="Consolas"/>
                <a:cs typeface="Consolas"/>
              </a:rPr>
              <a:t>action i</a:t>
            </a:r>
            <a:r>
              <a:rPr lang="en-US" sz="1200" i="1" spc="-5" dirty="0">
                <a:latin typeface="Consolas"/>
                <a:cs typeface="Consolas"/>
              </a:rPr>
              <a:t>s the </a:t>
            </a:r>
            <a:r>
              <a:rPr lang="en-US" sz="1200" i="1" spc="-10" dirty="0">
                <a:latin typeface="Consolas"/>
                <a:cs typeface="Consolas"/>
              </a:rPr>
              <a:t>default (termination), change </a:t>
            </a:r>
            <a:r>
              <a:rPr lang="en-US" sz="1200" i="1" spc="-5" dirty="0">
                <a:latin typeface="Consolas"/>
                <a:cs typeface="Consolas"/>
              </a:rPr>
              <a:t>it to</a:t>
            </a:r>
            <a:r>
              <a:rPr lang="en-US" sz="1200" i="1" spc="-20" dirty="0">
                <a:latin typeface="Consolas"/>
                <a:cs typeface="Consolas"/>
              </a:rPr>
              <a:t> </a:t>
            </a:r>
            <a:r>
              <a:rPr lang="en-US" sz="1200" i="1" spc="-10" dirty="0">
                <a:latin typeface="Consolas"/>
                <a:cs typeface="Consolas"/>
              </a:rPr>
              <a:t>ignore:</a:t>
            </a:r>
            <a:endParaRPr lang="en-US" sz="1200" i="1" dirty="0">
              <a:latin typeface="Consolas"/>
              <a:cs typeface="Consolas"/>
            </a:endParaRPr>
          </a:p>
          <a:p>
            <a:pPr marL="622300">
              <a:lnSpc>
                <a:spcPct val="100000"/>
              </a:lnSpc>
              <a:spcBef>
                <a:spcPts val="265"/>
              </a:spcBef>
            </a:pPr>
            <a:r>
              <a:rPr lang="en-US" sz="1200" b="1" dirty="0">
                <a:solidFill>
                  <a:srgbClr val="229A86"/>
                </a:solidFill>
                <a:latin typeface="Consolas"/>
              </a:rPr>
              <a:t>if</a:t>
            </a:r>
            <a:r>
              <a:rPr lang="en-US" sz="12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(</a:t>
            </a:r>
            <a:r>
              <a:rPr lang="en-US" sz="1200" dirty="0" err="1">
                <a:solidFill>
                  <a:srgbClr val="003BB0"/>
                </a:solidFill>
                <a:latin typeface="Consolas"/>
              </a:rPr>
              <a:t>act</a:t>
            </a:r>
            <a:r>
              <a:rPr lang="en-US" sz="1200" dirty="0" err="1">
                <a:latin typeface="Consolas"/>
              </a:rPr>
              <a:t>.</a:t>
            </a:r>
            <a:r>
              <a:rPr lang="en-US" sz="1200" dirty="0" err="1">
                <a:solidFill>
                  <a:srgbClr val="003BB0"/>
                </a:solidFill>
                <a:latin typeface="Consolas"/>
              </a:rPr>
              <a:t>sa_handler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==</a:t>
            </a:r>
            <a:r>
              <a:rPr lang="en-US" sz="12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/>
              </a:rPr>
              <a:t>SIG_DFL</a:t>
            </a:r>
            <a:r>
              <a:rPr lang="en-US" sz="1200" dirty="0">
                <a:latin typeface="Consolas"/>
              </a:rPr>
              <a:t>)</a:t>
            </a:r>
            <a:r>
              <a:rPr lang="en-US" sz="1200" spc="-4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{</a:t>
            </a:r>
          </a:p>
          <a:p>
            <a:pPr marL="850900">
              <a:lnSpc>
                <a:spcPct val="100000"/>
              </a:lnSpc>
              <a:spcBef>
                <a:spcPts val="265"/>
              </a:spcBef>
            </a:pPr>
            <a:r>
              <a:rPr lang="en-US" sz="1200" dirty="0" err="1">
                <a:solidFill>
                  <a:srgbClr val="003BB0"/>
                </a:solidFill>
                <a:latin typeface="Consolas"/>
              </a:rPr>
              <a:t>act</a:t>
            </a:r>
            <a:r>
              <a:rPr lang="en-US" sz="1200" dirty="0" err="1">
                <a:latin typeface="Consolas"/>
              </a:rPr>
              <a:t>.</a:t>
            </a:r>
            <a:r>
              <a:rPr lang="en-US" sz="1200" dirty="0" err="1">
                <a:solidFill>
                  <a:srgbClr val="003BB0"/>
                </a:solidFill>
                <a:latin typeface="Consolas"/>
              </a:rPr>
              <a:t>sa_handler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=</a:t>
            </a:r>
            <a:r>
              <a:rPr lang="en-US" sz="1200" spc="-2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 err="1">
                <a:solidFill>
                  <a:schemeClr val="accent6">
                    <a:lumMod val="75000"/>
                  </a:schemeClr>
                </a:solidFill>
                <a:latin typeface="Consolas"/>
              </a:rPr>
              <a:t>SIG_IGN</a:t>
            </a:r>
            <a:r>
              <a:rPr lang="en-US" sz="1200" dirty="0">
                <a:latin typeface="Consolas"/>
              </a:rPr>
              <a:t>;</a:t>
            </a:r>
          </a:p>
          <a:p>
            <a:pPr marL="1079500" marR="1605280" indent="-228600">
              <a:lnSpc>
                <a:spcPct val="120000"/>
              </a:lnSpc>
            </a:pPr>
            <a:r>
              <a:rPr lang="en-US" sz="1200" b="1" dirty="0">
                <a:solidFill>
                  <a:srgbClr val="229A86"/>
                </a:solidFill>
                <a:latin typeface="Consolas"/>
              </a:rPr>
              <a:t>if</a:t>
            </a:r>
            <a:r>
              <a:rPr lang="en-US" sz="12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(</a:t>
            </a:r>
            <a:r>
              <a:rPr lang="en-US" sz="1200" dirty="0" err="1">
                <a:solidFill>
                  <a:srgbClr val="003BB0"/>
                </a:solidFill>
                <a:latin typeface="Consolas"/>
              </a:rPr>
              <a:t>sigaction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SIGINT</a:t>
            </a:r>
            <a:r>
              <a:rPr lang="en-US" sz="1200" dirty="0">
                <a:latin typeface="Consolas"/>
              </a:rPr>
              <a:t>, &amp;</a:t>
            </a:r>
            <a:r>
              <a:rPr lang="en-US" sz="1200" dirty="0">
                <a:solidFill>
                  <a:srgbClr val="003BB0"/>
                </a:solidFill>
                <a:latin typeface="Consolas"/>
              </a:rPr>
              <a:t>act</a:t>
            </a:r>
            <a:r>
              <a:rPr lang="en-US" sz="1200" dirty="0">
                <a:latin typeface="Consolas"/>
              </a:rPr>
              <a:t>,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NULL</a:t>
            </a:r>
            <a:r>
              <a:rPr lang="en-US" sz="1200" dirty="0">
                <a:latin typeface="Consolas"/>
              </a:rPr>
              <a:t>)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==</a:t>
            </a:r>
            <a:r>
              <a:rPr lang="en-US" sz="12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-1</a:t>
            </a:r>
            <a:r>
              <a:rPr lang="en-US" sz="1200" dirty="0">
                <a:latin typeface="Consolas"/>
              </a:rPr>
              <a:t>) {</a:t>
            </a:r>
          </a:p>
          <a:p>
            <a:pPr marL="1079500" marR="1605280" indent="-228600">
              <a:lnSpc>
                <a:spcPct val="120000"/>
              </a:lnSpc>
            </a:pPr>
            <a:r>
              <a:rPr lang="en-US" sz="1200" spc="-5" dirty="0">
                <a:solidFill>
                  <a:srgbClr val="0070C0"/>
                </a:solidFill>
                <a:latin typeface="Consolas"/>
                <a:cs typeface="Consolas"/>
              </a:rPr>
              <a:t>   </a:t>
            </a:r>
            <a:r>
              <a:rPr lang="en-US" sz="1200" dirty="0" err="1">
                <a:solidFill>
                  <a:srgbClr val="003BB0"/>
                </a:solidFill>
                <a:latin typeface="Consolas"/>
              </a:rPr>
              <a:t>perror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(</a:t>
            </a:r>
            <a:r>
              <a:rPr lang="en-US" sz="1200" dirty="0">
                <a:solidFill>
                  <a:srgbClr val="C00000"/>
                </a:solidFill>
                <a:latin typeface="Consolas"/>
              </a:rPr>
              <a:t>"Could not ignore SIGINT"</a:t>
            </a:r>
            <a:r>
              <a:rPr lang="en-US" sz="1200" dirty="0">
                <a:latin typeface="Consolas"/>
              </a:rPr>
              <a:t>);</a:t>
            </a:r>
          </a:p>
          <a:p>
            <a:pPr marL="1079500" marR="1605280" indent="-228600">
              <a:lnSpc>
                <a:spcPct val="120000"/>
              </a:lnSpc>
            </a:pPr>
            <a:r>
              <a:rPr lang="en-US" sz="1200" spc="-25" dirty="0">
                <a:solidFill>
                  <a:srgbClr val="0070C0"/>
                </a:solidFill>
                <a:latin typeface="Consolas"/>
                <a:cs typeface="Consolas"/>
              </a:rPr>
              <a:t>   </a:t>
            </a:r>
            <a:r>
              <a:rPr lang="en-US" sz="1200" dirty="0">
                <a:solidFill>
                  <a:srgbClr val="003BB0"/>
                </a:solidFill>
                <a:latin typeface="Consolas"/>
              </a:rPr>
              <a:t>exit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EXIT_FAILURE</a:t>
            </a:r>
            <a:r>
              <a:rPr lang="en-US" sz="1200" dirty="0">
                <a:latin typeface="Consolas"/>
              </a:rPr>
              <a:t>);</a:t>
            </a:r>
          </a:p>
          <a:p>
            <a:pPr marL="850900">
              <a:lnSpc>
                <a:spcPct val="100000"/>
              </a:lnSpc>
              <a:spcBef>
                <a:spcPts val="265"/>
              </a:spcBef>
            </a:pPr>
            <a:r>
              <a:rPr lang="en-US" sz="1200" dirty="0">
                <a:latin typeface="Consolas"/>
              </a:rPr>
              <a:t>}</a:t>
            </a:r>
          </a:p>
          <a:p>
            <a:pPr marL="622300">
              <a:lnSpc>
                <a:spcPct val="100000"/>
              </a:lnSpc>
              <a:spcBef>
                <a:spcPts val="265"/>
              </a:spcBef>
            </a:pPr>
            <a:r>
              <a:rPr lang="en-US" sz="1200" dirty="0">
                <a:latin typeface="Consolas"/>
              </a:rPr>
              <a:t>}</a:t>
            </a:r>
          </a:p>
          <a:p>
            <a:pPr marL="622300">
              <a:lnSpc>
                <a:spcPct val="100000"/>
              </a:lnSpc>
              <a:spcBef>
                <a:spcPts val="265"/>
              </a:spcBef>
            </a:pPr>
            <a:r>
              <a:rPr lang="en-US" sz="1200" i="1" spc="-10" dirty="0">
                <a:latin typeface="Consolas"/>
                <a:cs typeface="Consolas"/>
              </a:rPr>
              <a:t>// Invoke </a:t>
            </a:r>
            <a:r>
              <a:rPr lang="en-US" sz="1200" i="1" spc="-5" dirty="0">
                <a:latin typeface="Consolas"/>
                <a:cs typeface="Consolas"/>
              </a:rPr>
              <a:t>sleep to try and kill the </a:t>
            </a:r>
            <a:r>
              <a:rPr lang="en-US" sz="1200" i="1" spc="-10" dirty="0">
                <a:latin typeface="Consolas"/>
                <a:cs typeface="Consolas"/>
              </a:rPr>
              <a:t>process </a:t>
            </a:r>
            <a:r>
              <a:rPr lang="en-US" sz="1200" i="1" spc="-5" dirty="0">
                <a:latin typeface="Consolas"/>
                <a:cs typeface="Consolas"/>
              </a:rPr>
              <a:t>with</a:t>
            </a:r>
            <a:r>
              <a:rPr lang="en-US" sz="1200" i="1" spc="-75" dirty="0">
                <a:latin typeface="Consolas"/>
                <a:cs typeface="Consolas"/>
              </a:rPr>
              <a:t> </a:t>
            </a:r>
            <a:r>
              <a:rPr lang="en-US" sz="12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Ctrl</a:t>
            </a:r>
            <a:r>
              <a:rPr lang="en-US" sz="1200" spc="-10" dirty="0" err="1">
                <a:latin typeface="Consolas"/>
                <a:cs typeface="Consolas"/>
              </a:rPr>
              <a:t>+</a:t>
            </a:r>
            <a:r>
              <a:rPr lang="en-US" sz="1200" spc="-1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sz="1200" i="1" spc="-10" dirty="0">
                <a:latin typeface="Consolas"/>
                <a:cs typeface="Consolas"/>
              </a:rPr>
              <a:t>:</a:t>
            </a:r>
            <a:endParaRPr lang="en-US" sz="1200" i="1" dirty="0">
              <a:latin typeface="Consolas"/>
              <a:cs typeface="Consolas"/>
            </a:endParaRPr>
          </a:p>
          <a:p>
            <a:pPr marL="622300" marR="4577715">
              <a:lnSpc>
                <a:spcPct val="120000"/>
              </a:lnSpc>
            </a:pPr>
            <a:r>
              <a:rPr lang="en-US" sz="1200" dirty="0">
                <a:solidFill>
                  <a:srgbClr val="003BB0"/>
                </a:solidFill>
                <a:latin typeface="Consolas"/>
              </a:rPr>
              <a:t>sleep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(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10</a:t>
            </a:r>
            <a:r>
              <a:rPr lang="en-US" sz="1200" dirty="0">
                <a:latin typeface="Consolas"/>
              </a:rPr>
              <a:t>); </a:t>
            </a:r>
            <a:r>
              <a:rPr lang="en-US" sz="1200" i="1" dirty="0">
                <a:latin typeface="Consolas"/>
              </a:rPr>
              <a:t>//</a:t>
            </a:r>
            <a:r>
              <a:rPr lang="en-US" sz="1200" dirty="0">
                <a:latin typeface="Consolas"/>
              </a:rPr>
              <a:t> </a:t>
            </a:r>
            <a:r>
              <a:rPr kumimoji="0" lang="en-US" sz="12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Ctrl</a:t>
            </a:r>
            <a:r>
              <a:rPr kumimoji="0" lang="en-US" sz="12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/>
                <a:ea typeface="+mn-ea"/>
                <a:cs typeface="Consolas"/>
              </a:rPr>
              <a:t>+</a:t>
            </a:r>
            <a:r>
              <a:rPr kumimoji="0" lang="en-US" sz="12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</a:t>
            </a:r>
            <a:r>
              <a:rPr lang="en-US" sz="1200" dirty="0">
                <a:latin typeface="Consolas"/>
              </a:rPr>
              <a:t> </a:t>
            </a:r>
            <a:r>
              <a:rPr lang="en-US" sz="1200" i="1" dirty="0">
                <a:latin typeface="Consolas"/>
              </a:rPr>
              <a:t>won't kill the program!</a:t>
            </a:r>
          </a:p>
          <a:p>
            <a:pPr marL="622300" marR="4577715">
              <a:lnSpc>
                <a:spcPct val="120000"/>
              </a:lnSpc>
            </a:pPr>
            <a:r>
              <a:rPr lang="en-US" sz="1200" dirty="0" err="1">
                <a:solidFill>
                  <a:srgbClr val="003BB0"/>
                </a:solidFill>
                <a:latin typeface="Consolas"/>
              </a:rPr>
              <a:t>printf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latin typeface="Consolas"/>
              </a:rPr>
              <a:t>(</a:t>
            </a:r>
            <a:r>
              <a:rPr lang="en-US" sz="1200" dirty="0">
                <a:solidFill>
                  <a:srgbClr val="C00000"/>
                </a:solidFill>
                <a:latin typeface="Consolas"/>
              </a:rPr>
              <a:t>“\</a:t>
            </a:r>
            <a:r>
              <a:rPr lang="en-US" sz="1200" dirty="0" err="1">
                <a:solidFill>
                  <a:srgbClr val="C00000"/>
                </a:solidFill>
                <a:latin typeface="Consolas"/>
              </a:rPr>
              <a:t>nThe</a:t>
            </a:r>
            <a:r>
              <a:rPr lang="en-US" sz="1200" dirty="0">
                <a:solidFill>
                  <a:srgbClr val="C00000"/>
                </a:solidFill>
                <a:latin typeface="Consolas"/>
              </a:rPr>
              <a:t> result is %d.\n"</a:t>
            </a:r>
            <a:r>
              <a:rPr lang="en-US" sz="1200" dirty="0">
                <a:latin typeface="Consolas"/>
              </a:rPr>
              <a:t>,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10</a:t>
            </a:r>
            <a:r>
              <a:rPr lang="en-US" sz="1200" dirty="0">
                <a:latin typeface="Consolas"/>
              </a:rPr>
              <a:t>/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5</a:t>
            </a:r>
            <a:r>
              <a:rPr lang="en-US" sz="1200" dirty="0">
                <a:latin typeface="Consolas"/>
              </a:rPr>
              <a:t>);</a:t>
            </a:r>
          </a:p>
          <a:p>
            <a:pPr marL="622300" marR="3358515">
              <a:lnSpc>
                <a:spcPct val="120000"/>
              </a:lnSpc>
            </a:pPr>
            <a:r>
              <a:rPr lang="en-US" sz="1200" b="1" dirty="0">
                <a:solidFill>
                  <a:srgbClr val="229A86"/>
                </a:solidFill>
                <a:latin typeface="Consolas"/>
              </a:rPr>
              <a:t>return</a:t>
            </a:r>
            <a:r>
              <a:rPr lang="en-US" sz="12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1200" dirty="0">
                <a:solidFill>
                  <a:schemeClr val="accent6">
                    <a:lumMod val="75000"/>
                  </a:schemeClr>
                </a:solidFill>
                <a:latin typeface="Consolas"/>
              </a:rPr>
              <a:t>EXIT_SUCCESS</a:t>
            </a:r>
            <a:r>
              <a:rPr lang="en-US" sz="1200" dirty="0">
                <a:latin typeface="Consolas"/>
              </a:rPr>
              <a:t>;</a:t>
            </a: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lang="en-US" sz="12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8903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Sending </a:t>
            </a:r>
            <a:r>
              <a:rPr dirty="0"/>
              <a:t>a </a:t>
            </a:r>
            <a:r>
              <a:rPr spc="-25" dirty="0"/>
              <a:t>Signal </a:t>
            </a:r>
            <a:r>
              <a:rPr spc="-20" dirty="0"/>
              <a:t>with </a:t>
            </a:r>
            <a:r>
              <a:rPr dirty="0"/>
              <a:t>a</a:t>
            </a:r>
            <a:r>
              <a:rPr spc="-350" dirty="0"/>
              <a:t> </a:t>
            </a:r>
            <a:r>
              <a:rPr spc="-55" dirty="0"/>
              <a:t>Payload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12494" y="1736801"/>
            <a:ext cx="12664440" cy="478784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241300" marR="782955" indent="-229235">
              <a:lnSpc>
                <a:spcPts val="2800"/>
              </a:lnSpc>
              <a:spcBef>
                <a:spcPts val="104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With </a:t>
            </a:r>
            <a:r>
              <a:rPr sz="2400" b="1" spc="-5" dirty="0" err="1">
                <a:solidFill>
                  <a:srgbClr val="0070C0"/>
                </a:solidFill>
                <a:latin typeface="Consolas"/>
              </a:rPr>
              <a:t>sa_sigaction</a:t>
            </a:r>
            <a:r>
              <a:rPr lang="en-US" sz="26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 the </a:t>
            </a:r>
            <a:r>
              <a:rPr sz="2600" spc="-35" dirty="0">
                <a:latin typeface="Calibri"/>
                <a:cs typeface="Calibri"/>
              </a:rPr>
              <a:t>handler,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si_value</a:t>
            </a:r>
            <a:r>
              <a:rPr sz="2600" i="1" spc="-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field </a:t>
            </a:r>
            <a:r>
              <a:rPr sz="2600" dirty="0">
                <a:latin typeface="Calibri"/>
                <a:cs typeface="Calibri"/>
              </a:rPr>
              <a:t>is an </a:t>
            </a:r>
            <a:r>
              <a:rPr sz="2600" spc="-5" dirty="0">
                <a:latin typeface="Calibri"/>
                <a:cs typeface="Calibri"/>
              </a:rPr>
              <a:t>optional </a:t>
            </a:r>
            <a:r>
              <a:rPr sz="2600" spc="-10" dirty="0">
                <a:latin typeface="Calibri"/>
                <a:cs typeface="Calibri"/>
              </a:rPr>
              <a:t>payload</a:t>
            </a:r>
            <a:r>
              <a:rPr lang="en-US" sz="2600" spc="-10" dirty="0">
                <a:latin typeface="Calibri"/>
                <a:cs typeface="Calibri"/>
              </a:rPr>
              <a:t> (data)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passed </a:t>
            </a:r>
            <a:r>
              <a:rPr sz="2600" spc="-10" dirty="0">
                <a:latin typeface="Calibri"/>
                <a:cs typeface="Calibri"/>
              </a:rPr>
              <a:t>from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spc="-15" dirty="0">
                <a:latin typeface="Calibri"/>
                <a:cs typeface="Calibri"/>
              </a:rPr>
              <a:t>generator to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signal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receiver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marR="1084580" indent="-229235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5" dirty="0"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sigqueue()</a:t>
            </a:r>
            <a:r>
              <a:rPr sz="2600" spc="-5" dirty="0">
                <a:latin typeface="Calibri"/>
                <a:cs typeface="Calibri"/>
              </a:rPr>
              <a:t> function </a:t>
            </a:r>
            <a:r>
              <a:rPr sz="2600" dirty="0">
                <a:latin typeface="Calibri"/>
                <a:cs typeface="Calibri"/>
              </a:rPr>
              <a:t>(POSIX) </a:t>
            </a:r>
            <a:r>
              <a:rPr sz="2600" spc="-10" dirty="0">
                <a:latin typeface="Calibri"/>
                <a:cs typeface="Calibri"/>
              </a:rPr>
              <a:t>allows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alibri"/>
                <a:cs typeface="Calibri"/>
              </a:rPr>
              <a:t>send </a:t>
            </a:r>
            <a:r>
              <a:rPr sz="2600" dirty="0">
                <a:latin typeface="Calibri"/>
                <a:cs typeface="Calibri"/>
              </a:rPr>
              <a:t>a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600" dirty="0">
                <a:latin typeface="Calibri"/>
                <a:cs typeface="Calibri"/>
              </a:rPr>
              <a:t>with this </a:t>
            </a:r>
            <a:r>
              <a:rPr sz="2600" spc="-10" dirty="0">
                <a:latin typeface="Calibri"/>
                <a:cs typeface="Calibri"/>
              </a:rPr>
              <a:t>payload</a:t>
            </a:r>
            <a:r>
              <a:rPr lang="en-US" sz="2600" spc="-1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ts val="2075"/>
              </a:lnSpc>
              <a:spcBef>
                <a:spcPts val="600"/>
              </a:spcBef>
              <a:spcAft>
                <a:spcPts val="600"/>
              </a:spcAft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#include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&lt;signal.h&gt;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ts val="2295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sigqueue (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pid_t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pid,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int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signo, </a:t>
            </a:r>
            <a:r>
              <a:rPr sz="2000" b="1" spc="-5" dirty="0">
                <a:solidFill>
                  <a:srgbClr val="0070C0"/>
                </a:solidFill>
                <a:latin typeface="Consolas"/>
                <a:cs typeface="Consolas"/>
              </a:rPr>
              <a:t>const union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sigval</a:t>
            </a:r>
            <a:r>
              <a:rPr sz="2000" spc="3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value);</a:t>
            </a:r>
          </a:p>
          <a:p>
            <a:pPr marL="241300" marR="5080" indent="-229235">
              <a:lnSpc>
                <a:spcPts val="2800"/>
              </a:lnSpc>
              <a:spcBef>
                <a:spcPts val="994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It </a:t>
            </a:r>
            <a:r>
              <a:rPr sz="2600" spc="-15" dirty="0">
                <a:latin typeface="Calibri"/>
                <a:cs typeface="Calibri"/>
              </a:rPr>
              <a:t>works </a:t>
            </a:r>
            <a:r>
              <a:rPr sz="2600" spc="-5" dirty="0">
                <a:latin typeface="Calibri"/>
                <a:cs typeface="Calibri"/>
              </a:rPr>
              <a:t>similarly </a:t>
            </a:r>
            <a:r>
              <a:rPr sz="2600" spc="-10" dirty="0">
                <a:latin typeface="Calibri"/>
                <a:cs typeface="Calibri"/>
              </a:rPr>
              <a:t>to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kill()</a:t>
            </a:r>
            <a:r>
              <a:rPr sz="2600" spc="-5" dirty="0">
                <a:latin typeface="Calibri"/>
                <a:cs typeface="Calibri"/>
              </a:rPr>
              <a:t>. On success,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" dirty="0">
                <a:latin typeface="Calibri"/>
                <a:cs typeface="Calibri"/>
              </a:rPr>
              <a:t>signal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signo</a:t>
            </a:r>
            <a:r>
              <a:rPr sz="2600" i="1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queued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10" dirty="0">
                <a:latin typeface="Calibri"/>
                <a:cs typeface="Calibri"/>
              </a:rPr>
              <a:t>process </a:t>
            </a:r>
            <a:r>
              <a:rPr sz="2600" spc="-5" dirty="0">
                <a:latin typeface="Calibri"/>
                <a:cs typeface="Calibri"/>
              </a:rPr>
              <a:t>or </a:t>
            </a:r>
            <a:r>
              <a:rPr sz="2600" spc="-10" dirty="0">
                <a:latin typeface="Calibri"/>
                <a:cs typeface="Calibri"/>
              </a:rPr>
              <a:t>process group </a:t>
            </a:r>
            <a:r>
              <a:rPr sz="2600" spc="-5" dirty="0">
                <a:latin typeface="Calibri"/>
                <a:cs typeface="Calibri"/>
              </a:rPr>
              <a:t>identified </a:t>
            </a:r>
            <a:r>
              <a:rPr sz="2600" spc="-10" dirty="0">
                <a:latin typeface="Calibri"/>
                <a:cs typeface="Calibri"/>
              </a:rPr>
              <a:t>by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pid</a:t>
            </a:r>
            <a:r>
              <a:rPr sz="2600" dirty="0">
                <a:latin typeface="Calibri"/>
                <a:cs typeface="Calibri"/>
              </a:rPr>
              <a:t>, and it </a:t>
            </a:r>
            <a:r>
              <a:rPr sz="2600" spc="-5" dirty="0">
                <a:latin typeface="Calibri"/>
                <a:cs typeface="Calibri"/>
              </a:rPr>
              <a:t>returns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0</a:t>
            </a:r>
            <a:r>
              <a:rPr lang="en-US" sz="2600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  <a:p>
            <a:pPr marL="241300" indent="-229235">
              <a:lnSpc>
                <a:spcPts val="3015"/>
              </a:lnSpc>
              <a:spcBef>
                <a:spcPts val="60"/>
              </a:spcBef>
              <a:buFont typeface="Arial"/>
              <a:buChar char="•"/>
              <a:tabLst>
                <a:tab pos="241935" algn="l"/>
              </a:tabLst>
            </a:pPr>
            <a:r>
              <a:rPr sz="2600" spc="-5" dirty="0">
                <a:latin typeface="Calibri"/>
                <a:cs typeface="Calibri"/>
              </a:rPr>
              <a:t>The </a:t>
            </a:r>
            <a:r>
              <a:rPr sz="2600" spc="-25" dirty="0">
                <a:latin typeface="Calibri"/>
                <a:cs typeface="Calibri"/>
              </a:rPr>
              <a:t>signal’s </a:t>
            </a:r>
            <a:r>
              <a:rPr sz="2600" spc="-10" dirty="0">
                <a:latin typeface="Calibri"/>
                <a:cs typeface="Calibri"/>
              </a:rPr>
              <a:t>payload </a:t>
            </a:r>
            <a:r>
              <a:rPr sz="2600" dirty="0">
                <a:latin typeface="Calibri"/>
                <a:cs typeface="Calibri"/>
              </a:rPr>
              <a:t>is </a:t>
            </a:r>
            <a:r>
              <a:rPr sz="2600" spc="-5" dirty="0">
                <a:latin typeface="Calibri"/>
                <a:cs typeface="Calibri"/>
              </a:rPr>
              <a:t>given by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value</a:t>
            </a:r>
            <a:r>
              <a:rPr sz="2600" dirty="0">
                <a:latin typeface="Calibri"/>
                <a:cs typeface="Calibri"/>
              </a:rPr>
              <a:t>, which is a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union:</a:t>
            </a:r>
            <a:endParaRPr sz="2600" dirty="0">
              <a:latin typeface="Calibri"/>
              <a:cs typeface="Calibri"/>
            </a:endParaRPr>
          </a:p>
          <a:p>
            <a:pPr marL="469900">
              <a:lnSpc>
                <a:spcPts val="2185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union 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sigval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{</a:t>
            </a:r>
            <a:r>
              <a:rPr lang="en-US" sz="200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lang="en-US" sz="2000" i="1" dirty="0">
                <a:latin typeface="Consolas"/>
                <a:cs typeface="Consolas"/>
              </a:rPr>
              <a:t>// About unions: </a:t>
            </a:r>
            <a:r>
              <a:rPr lang="en-US" sz="2000" i="1" dirty="0">
                <a:latin typeface="Consolas"/>
                <a:cs typeface="Consola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www.tutorialspoint.com/cprogramming/c_unions.htm</a:t>
            </a:r>
            <a:endParaRPr sz="2000" i="1" dirty="0">
              <a:latin typeface="Consolas"/>
              <a:cs typeface="Consolas"/>
            </a:endParaRPr>
          </a:p>
          <a:p>
            <a:pPr marL="927100">
              <a:lnSpc>
                <a:spcPts val="2180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b="1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sival_int;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>
              <a:lnSpc>
                <a:spcPts val="2285"/>
              </a:lnSpc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void</a:t>
            </a:r>
            <a:r>
              <a:rPr sz="2000" b="1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*</a:t>
            </a:r>
            <a:r>
              <a:rPr sz="2000" spc="-5" dirty="0" err="1">
                <a:solidFill>
                  <a:srgbClr val="0070C0"/>
                </a:solidFill>
                <a:latin typeface="Consolas"/>
                <a:cs typeface="Consolas"/>
              </a:rPr>
              <a:t>sival_ptr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;</a:t>
            </a:r>
            <a:r>
              <a:rPr lang="en-US" sz="2000" spc="-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};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indent="-229235">
              <a:lnSpc>
                <a:spcPts val="2655"/>
              </a:lnSpc>
              <a:spcBef>
                <a:spcPts val="60"/>
              </a:spcBef>
              <a:buFont typeface="Arial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On </a:t>
            </a:r>
            <a:r>
              <a:rPr sz="2600" spc="-10" dirty="0">
                <a:latin typeface="Calibri"/>
                <a:cs typeface="Calibri"/>
              </a:rPr>
              <a:t>failure, </a:t>
            </a:r>
            <a:r>
              <a:rPr sz="2600" dirty="0">
                <a:latin typeface="Calibri"/>
                <a:cs typeface="Calibri"/>
              </a:rPr>
              <a:t>it </a:t>
            </a:r>
            <a:r>
              <a:rPr sz="2600" spc="-5" dirty="0">
                <a:latin typeface="Calibri"/>
                <a:cs typeface="Calibri"/>
              </a:rPr>
              <a:t>returns -1 </a:t>
            </a:r>
            <a:r>
              <a:rPr sz="2600" dirty="0">
                <a:latin typeface="Calibri"/>
                <a:cs typeface="Calibri"/>
              </a:rPr>
              <a:t>and </a:t>
            </a:r>
            <a:r>
              <a:rPr sz="2600" spc="-5" dirty="0">
                <a:latin typeface="Calibri"/>
                <a:cs typeface="Calibri"/>
              </a:rPr>
              <a:t>sets </a:t>
            </a:r>
            <a:r>
              <a:rPr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sz="2600" dirty="0">
                <a:latin typeface="Calibri"/>
                <a:cs typeface="Calibri"/>
              </a:rPr>
              <a:t>. </a:t>
            </a:r>
            <a:r>
              <a:rPr sz="2600" spc="5" dirty="0">
                <a:latin typeface="Calibri"/>
                <a:cs typeface="Calibri"/>
              </a:rPr>
              <a:t>As </a:t>
            </a:r>
            <a:r>
              <a:rPr sz="2600" dirty="0">
                <a:latin typeface="Calibri"/>
                <a:cs typeface="Calibri"/>
              </a:rPr>
              <a:t>with </a:t>
            </a:r>
            <a:r>
              <a:rPr sz="2400" spc="-5" dirty="0">
                <a:solidFill>
                  <a:srgbClr val="0070C0"/>
                </a:solidFill>
                <a:latin typeface="Consolas"/>
              </a:rPr>
              <a:t>kill()</a:t>
            </a:r>
            <a:r>
              <a:rPr sz="2600" spc="-5" dirty="0">
                <a:latin typeface="Calibri"/>
                <a:cs typeface="Calibri"/>
              </a:rPr>
              <a:t>, </a:t>
            </a:r>
            <a:r>
              <a:rPr sz="2600" spc="-15" dirty="0">
                <a:latin typeface="Calibri"/>
                <a:cs typeface="Calibri"/>
              </a:rPr>
              <a:t>you may </a:t>
            </a:r>
            <a:r>
              <a:rPr sz="2600" spc="-5" dirty="0">
                <a:latin typeface="Calibri"/>
                <a:cs typeface="Calibri"/>
              </a:rPr>
              <a:t>pass null signal</a:t>
            </a:r>
            <a:r>
              <a:rPr sz="2600" spc="-114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for</a:t>
            </a:r>
            <a:endParaRPr sz="2600" dirty="0">
              <a:latin typeface="Calibri"/>
              <a:cs typeface="Calibri"/>
            </a:endParaRPr>
          </a:p>
          <a:p>
            <a:pPr marL="241300">
              <a:lnSpc>
                <a:spcPts val="2655"/>
              </a:lnSpc>
            </a:pPr>
            <a:r>
              <a:rPr sz="2400" spc="-5" dirty="0">
                <a:solidFill>
                  <a:srgbClr val="0070C0"/>
                </a:solidFill>
                <a:latin typeface="Consolas"/>
              </a:rPr>
              <a:t>signo</a:t>
            </a:r>
            <a:r>
              <a:rPr sz="2600" i="1" spc="-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 test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permissions</a:t>
            </a:r>
            <a:r>
              <a:rPr lang="en-US" sz="2600" spc="-5" dirty="0"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pc="-5" dirty="0"/>
              <a:t>Copyright (c) </a:t>
            </a:r>
            <a:r>
              <a:rPr dirty="0"/>
              <a:t>2013 </a:t>
            </a:r>
            <a:r>
              <a:rPr spc="-5" dirty="0"/>
              <a:t>Robert Love. </a:t>
            </a:r>
            <a:r>
              <a:rPr dirty="0"/>
              <a:t>All </a:t>
            </a:r>
            <a:r>
              <a:rPr spc="-5" dirty="0"/>
              <a:t>rights reserved,</a:t>
            </a:r>
            <a:r>
              <a:rPr spc="-50" dirty="0"/>
              <a:t> </a:t>
            </a:r>
            <a:r>
              <a:rPr spc="-5" dirty="0"/>
              <a:t>O'Reilly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1365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Signal </a:t>
            </a:r>
            <a:r>
              <a:rPr spc="-55" dirty="0"/>
              <a:t>Payload</a:t>
            </a:r>
            <a:r>
              <a:rPr spc="-210" dirty="0"/>
              <a:t> </a:t>
            </a:r>
            <a:r>
              <a:rPr spc="-4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8" y="1793189"/>
            <a:ext cx="10360661" cy="41440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Th</a:t>
            </a:r>
            <a:r>
              <a:rPr lang="en-US" sz="2800" spc="-5" dirty="0">
                <a:latin typeface="Calibri"/>
                <a:cs typeface="Calibri"/>
              </a:rPr>
              <a:t>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example </a:t>
            </a:r>
            <a:r>
              <a:rPr lang="en-US" sz="2800" spc="-20" dirty="0">
                <a:latin typeface="Calibri"/>
                <a:cs typeface="Calibri"/>
              </a:rPr>
              <a:t>below </a:t>
            </a:r>
            <a:r>
              <a:rPr sz="2800" spc="-5" dirty="0">
                <a:latin typeface="Calibri"/>
                <a:cs typeface="Calibri"/>
              </a:rPr>
              <a:t>sends </a:t>
            </a:r>
            <a:r>
              <a:rPr sz="2800" spc="-10" dirty="0">
                <a:latin typeface="Calibri"/>
                <a:cs typeface="Calibri"/>
              </a:rPr>
              <a:t>process </a:t>
            </a:r>
            <a:r>
              <a:rPr sz="2800" spc="-5" dirty="0">
                <a:latin typeface="Calibri"/>
                <a:cs typeface="Calibri"/>
              </a:rPr>
              <a:t>1722 with a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SIGUSR2</a:t>
            </a:r>
            <a:r>
              <a:rPr sz="2800" spc="-5" dirty="0">
                <a:latin typeface="Calibri"/>
                <a:cs typeface="Calibri"/>
              </a:rPr>
              <a:t> signal </a:t>
            </a:r>
            <a:r>
              <a:rPr sz="2800" spc="-15" dirty="0">
                <a:latin typeface="Calibri"/>
                <a:cs typeface="Calibri"/>
              </a:rPr>
              <a:t>(</a:t>
            </a:r>
            <a:r>
              <a:rPr lang="en-US" sz="2800" spc="-1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user-defined </a:t>
            </a:r>
            <a:r>
              <a:rPr sz="2800" spc="-10" dirty="0">
                <a:latin typeface="Calibri"/>
                <a:cs typeface="Calibri"/>
              </a:rPr>
              <a:t>signal</a:t>
            </a:r>
            <a:r>
              <a:rPr sz="2800" spc="-5" dirty="0">
                <a:latin typeface="Calibri"/>
                <a:cs typeface="Calibri"/>
              </a:rPr>
              <a:t>) with a </a:t>
            </a:r>
            <a:r>
              <a:rPr sz="2800" spc="-15" dirty="0">
                <a:latin typeface="Calibri"/>
                <a:cs typeface="Calibri"/>
              </a:rPr>
              <a:t>payload </a:t>
            </a:r>
            <a:r>
              <a:rPr sz="2800" spc="-5" dirty="0">
                <a:latin typeface="Calibri"/>
                <a:cs typeface="Calibri"/>
              </a:rPr>
              <a:t>of an </a:t>
            </a:r>
            <a:r>
              <a:rPr sz="2800" spc="-15" dirty="0">
                <a:latin typeface="Calibri"/>
                <a:cs typeface="Calibri"/>
              </a:rPr>
              <a:t>integer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0070C0"/>
                </a:solidFill>
                <a:latin typeface="Consolas"/>
              </a:rPr>
              <a:t>404</a:t>
            </a:r>
            <a:r>
              <a:rPr lang="en-US" sz="2800" spc="-15" dirty="0">
                <a:latin typeface="Calibri"/>
                <a:cs typeface="Calibri"/>
              </a:rPr>
              <a:t>.</a:t>
            </a:r>
            <a:endParaRPr sz="2800" spc="-15" dirty="0">
              <a:latin typeface="Calibri"/>
              <a:cs typeface="Calibri"/>
            </a:endParaRPr>
          </a:p>
          <a:p>
            <a:pPr marL="469900" marR="7960359">
              <a:lnSpc>
                <a:spcPct val="110500"/>
              </a:lnSpc>
              <a:spcBef>
                <a:spcPts val="30"/>
              </a:spcBef>
            </a:pP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sigval</a:t>
            </a:r>
            <a:r>
              <a:rPr sz="2000" spc="-7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value;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int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ret;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>
              <a:lnSpc>
                <a:spcPct val="100000"/>
              </a:lnSpc>
              <a:spcBef>
                <a:spcPts val="265"/>
              </a:spcBef>
            </a:pP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value.sival_int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=</a:t>
            </a:r>
            <a:r>
              <a:rPr sz="2000" spc="-10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404;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469900" marR="4467860">
              <a:lnSpc>
                <a:spcPct val="110500"/>
              </a:lnSpc>
              <a:spcBef>
                <a:spcPts val="10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ret =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sigqueue (1722, </a:t>
            </a: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SIGUSR2,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value);  </a:t>
            </a:r>
            <a:r>
              <a:rPr sz="2000" b="1" dirty="0">
                <a:solidFill>
                  <a:srgbClr val="0070C0"/>
                </a:solidFill>
                <a:latin typeface="Consolas"/>
                <a:cs typeface="Consolas"/>
              </a:rPr>
              <a:t>if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 (ret)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solidFill>
                  <a:srgbClr val="0070C0"/>
                </a:solidFill>
                <a:latin typeface="Consolas"/>
                <a:cs typeface="Consolas"/>
              </a:rPr>
              <a:t>perror</a:t>
            </a:r>
            <a:r>
              <a:rPr sz="2000" spc="-15" dirty="0">
                <a:solidFill>
                  <a:srgbClr val="0070C0"/>
                </a:solidFill>
                <a:latin typeface="Consolas"/>
                <a:cs typeface="Consolas"/>
              </a:rPr>
              <a:t> </a:t>
            </a:r>
            <a:r>
              <a:rPr sz="2000" spc="-5" dirty="0">
                <a:solidFill>
                  <a:srgbClr val="0070C0"/>
                </a:solidFill>
                <a:latin typeface="Consolas"/>
                <a:cs typeface="Consolas"/>
              </a:rPr>
              <a:t>("sigqueue");</a:t>
            </a:r>
            <a:endParaRPr sz="2000" dirty="0">
              <a:solidFill>
                <a:srgbClr val="0070C0"/>
              </a:solidFill>
              <a:latin typeface="Consolas"/>
              <a:cs typeface="Consolas"/>
            </a:endParaRPr>
          </a:p>
          <a:p>
            <a:pPr marL="241300" marR="182880" indent="-228600">
              <a:lnSpc>
                <a:spcPts val="302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libri"/>
                <a:cs typeface="Calibri"/>
              </a:rPr>
              <a:t>If </a:t>
            </a:r>
            <a:r>
              <a:rPr sz="2800" spc="-10" dirty="0">
                <a:latin typeface="Calibri"/>
                <a:cs typeface="Calibri"/>
              </a:rPr>
              <a:t>process </a:t>
            </a:r>
            <a:r>
              <a:rPr sz="2800" spc="-5" dirty="0">
                <a:latin typeface="Calibri"/>
                <a:cs typeface="Calibri"/>
              </a:rPr>
              <a:t>1722 </a:t>
            </a:r>
            <a:r>
              <a:rPr sz="2800" spc="-10" dirty="0">
                <a:latin typeface="Calibri"/>
                <a:cs typeface="Calibri"/>
              </a:rPr>
              <a:t>handles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SIGUSR2</a:t>
            </a:r>
            <a:r>
              <a:rPr sz="2800" spc="-5" dirty="0">
                <a:latin typeface="Calibri"/>
                <a:cs typeface="Calibri"/>
              </a:rPr>
              <a:t> with an </a:t>
            </a:r>
            <a:r>
              <a:rPr sz="2600" spc="-5" dirty="0">
                <a:solidFill>
                  <a:srgbClr val="0070C0"/>
                </a:solidFill>
                <a:latin typeface="Consolas"/>
              </a:rPr>
              <a:t>SA_SIGINFO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handler, </a:t>
            </a:r>
            <a:r>
              <a:rPr sz="2800" spc="-5" dirty="0">
                <a:latin typeface="Calibri"/>
                <a:cs typeface="Calibri"/>
              </a:rPr>
              <a:t>i.e.  </a:t>
            </a:r>
            <a:r>
              <a:rPr sz="2600" b="1" spc="-5" dirty="0">
                <a:solidFill>
                  <a:srgbClr val="0070C0"/>
                </a:solidFill>
                <a:latin typeface="Consolas"/>
              </a:rPr>
              <a:t>sa_sigaction()</a:t>
            </a:r>
            <a:r>
              <a:rPr sz="2800" spc="-5" dirty="0">
                <a:latin typeface="Calibri"/>
                <a:cs typeface="Calibri"/>
              </a:rPr>
              <a:t>, it </a:t>
            </a:r>
            <a:r>
              <a:rPr sz="2800" spc="-10" dirty="0">
                <a:latin typeface="Calibri"/>
                <a:cs typeface="Calibri"/>
              </a:rPr>
              <a:t>will </a:t>
            </a:r>
            <a:r>
              <a:rPr lang="en-US" sz="2800" spc="-10" dirty="0">
                <a:latin typeface="Calibri"/>
                <a:cs typeface="Calibri"/>
              </a:rPr>
              <a:t>set</a:t>
            </a:r>
            <a:r>
              <a:rPr lang="en-US" sz="2400" spc="-10" dirty="0">
                <a:cs typeface="Calibri"/>
              </a:rPr>
              <a:t> </a:t>
            </a:r>
            <a:r>
              <a:rPr sz="2600" spc="-5" dirty="0" err="1">
                <a:solidFill>
                  <a:srgbClr val="0070C0"/>
                </a:solidFill>
                <a:latin typeface="Consolas"/>
              </a:rPr>
              <a:t>signo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600" spc="-5" dirty="0">
                <a:latin typeface="Courier New" panose="02070309020205020404" pitchFamily="49" charset="0"/>
                <a:cs typeface="Courier New" panose="02070309020205020404" pitchFamily="49" charset="0"/>
              </a:rPr>
              <a:t>SIGUSR2</a:t>
            </a:r>
            <a:r>
              <a:rPr sz="2800" spc="-5" dirty="0">
                <a:latin typeface="Calibri"/>
                <a:cs typeface="Calibri"/>
              </a:rPr>
              <a:t>, </a:t>
            </a:r>
            <a:r>
              <a:rPr sz="2600" spc="-5" dirty="0">
                <a:solidFill>
                  <a:srgbClr val="0070C0"/>
                </a:solidFill>
                <a:latin typeface="Consolas"/>
              </a:rPr>
              <a:t>si-&gt;</a:t>
            </a:r>
            <a:r>
              <a:rPr sz="2600" spc="-5" dirty="0" err="1">
                <a:solidFill>
                  <a:srgbClr val="0070C0"/>
                </a:solidFill>
                <a:latin typeface="Consolas"/>
              </a:rPr>
              <a:t>si_int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 </a:t>
            </a:r>
            <a:r>
              <a:rPr sz="2600" spc="-5" dirty="0">
                <a:solidFill>
                  <a:srgbClr val="0070C0"/>
                </a:solidFill>
                <a:latin typeface="Consolas"/>
              </a:rPr>
              <a:t>404</a:t>
            </a:r>
            <a:r>
              <a:rPr sz="2800" spc="-5" dirty="0">
                <a:latin typeface="Calibri"/>
                <a:cs typeface="Calibri"/>
              </a:rPr>
              <a:t>, and </a:t>
            </a:r>
            <a:r>
              <a:rPr sz="2600" spc="-5" dirty="0">
                <a:solidFill>
                  <a:srgbClr val="0070C0"/>
                </a:solidFill>
                <a:latin typeface="Consolas"/>
              </a:rPr>
              <a:t>si-&gt;</a:t>
            </a:r>
            <a:r>
              <a:rPr sz="2600" spc="-5" dirty="0" err="1">
                <a:solidFill>
                  <a:srgbClr val="0070C0"/>
                </a:solidFill>
                <a:latin typeface="Consolas"/>
              </a:rPr>
              <a:t>si_code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0070C0"/>
                </a:solidFill>
                <a:latin typeface="Consolas"/>
              </a:rPr>
              <a:t>SI_QUEUE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1366</TotalTime>
  <Words>5829</Words>
  <Application>Microsoft Office PowerPoint</Application>
  <PresentationFormat>Widescreen</PresentationFormat>
  <Paragraphs>368</Paragraphs>
  <Slides>35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Calibri Light</vt:lpstr>
      <vt:lpstr>Consolas</vt:lpstr>
      <vt:lpstr>Courier New</vt:lpstr>
      <vt:lpstr>Times New Roman</vt:lpstr>
      <vt:lpstr>Wingdings</vt:lpstr>
      <vt:lpstr>Office Theme</vt:lpstr>
      <vt:lpstr>Linux System Programming Talking directly to the kernel and C library</vt:lpstr>
      <vt:lpstr>Ch10: Signals</vt:lpstr>
      <vt:lpstr>Signal Concepts</vt:lpstr>
      <vt:lpstr>Signal Identifiers</vt:lpstr>
      <vt:lpstr>Signal Supported by Linux</vt:lpstr>
      <vt:lpstr>Explanations of All 31 Signals</vt:lpstr>
      <vt:lpstr>Explanations of All Signals (cont’)</vt:lpstr>
      <vt:lpstr>Explanations of All Signals (cont’)</vt:lpstr>
      <vt:lpstr>Explanations of All Signals (cont’)</vt:lpstr>
      <vt:lpstr>Explanations of All Signals (cont’)</vt:lpstr>
      <vt:lpstr>Explanations of All Signals (cont’)</vt:lpstr>
      <vt:lpstr>Basic Signal Management</vt:lpstr>
      <vt:lpstr>Basic Signal Management (cont’)</vt:lpstr>
      <vt:lpstr>Waiting for Any Signal</vt:lpstr>
      <vt:lpstr>Ex-1</vt:lpstr>
      <vt:lpstr>Execution and Inheritance</vt:lpstr>
      <vt:lpstr>Mapping Signal Numbers to Strings</vt:lpstr>
      <vt:lpstr>Sending a Signal</vt:lpstr>
      <vt:lpstr>Permissions</vt:lpstr>
      <vt:lpstr>Sending a Signal to Yourself or a Process Group</vt:lpstr>
      <vt:lpstr>Reentrancy</vt:lpstr>
      <vt:lpstr>Reentrant-Guaranteed Functions</vt:lpstr>
      <vt:lpstr>Signal Sets</vt:lpstr>
      <vt:lpstr>More Signal Set Functions</vt:lpstr>
      <vt:lpstr>Blocking Signals</vt:lpstr>
      <vt:lpstr>Retrieving Pending Signals</vt:lpstr>
      <vt:lpstr>Waiting for a Set of Signals</vt:lpstr>
      <vt:lpstr>Advanced Signal Management</vt:lpstr>
      <vt:lpstr>The sigaction Structure</vt:lpstr>
      <vt:lpstr>The sigaction Structure (cont’)</vt:lpstr>
      <vt:lpstr>The siginfo_t Structure</vt:lpstr>
      <vt:lpstr>What is in si_code?</vt:lpstr>
      <vt:lpstr>A Basic Example of Using sigaction()</vt:lpstr>
      <vt:lpstr>Sending a Signal with a Payload</vt:lpstr>
      <vt:lpstr>Signal Payload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Programming</dc:title>
  <dc:creator>xiang</dc:creator>
  <cp:lastModifiedBy>Miriam Briskman</cp:lastModifiedBy>
  <cp:revision>382</cp:revision>
  <dcterms:created xsi:type="dcterms:W3CDTF">2021-02-04T01:14:31Z</dcterms:created>
  <dcterms:modified xsi:type="dcterms:W3CDTF">2023-04-30T12:31:35Z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2020-05-18T00:00:00Z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2021-02-04T00:00:00Z</vt:filetime>
  </property>
</Properties>
</file>